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b2244cedd443f0" /><Relationship Type="http://schemas.openxmlformats.org/officeDocument/2006/relationships/extended-properties" Target="/docProps/app.xml" Id="R6649cc4368964c5d" /><Relationship Type="http://schemas.openxmlformats.org/officeDocument/2006/relationships/officeDocument" Target="/ppt/presentation.xml" Id="Rf609e69c6e8244d1" /></Relationships>
</file>

<file path=ppt/presentation.xml><?xml version="1.0" encoding="utf-8"?>
<p:presentation xmlns:p="http://schemas.openxmlformats.org/presentationml/2006/main">
  <p:sldMasterIdLst>
    <p:sldMasterId xmlns:r="http://schemas.openxmlformats.org/officeDocument/2006/relationships" id="2147483648" r:id="R16bea782030546b3"/>
  </p:sldMasterIdLst>
  <p:notesMasterIdLst>
    <p:notesMasterId xmlns:r="http://schemas.openxmlformats.org/officeDocument/2006/relationships" r:id="Rbcd8cbdb77fa4abe"/>
  </p:notesMasterIdLst>
  <p:sldIdLst>
    <p:sldId xmlns:r="http://schemas.openxmlformats.org/officeDocument/2006/relationships" id="256" r:id="Ra6fd954876dd4805"/>
    <p:sldId xmlns:r="http://schemas.openxmlformats.org/officeDocument/2006/relationships" id="257" r:id="R566ff154fb214e16"/>
    <p:sldId xmlns:r="http://schemas.openxmlformats.org/officeDocument/2006/relationships" id="258" r:id="Ra1aea9c2b119496a"/>
    <p:sldId xmlns:r="http://schemas.openxmlformats.org/officeDocument/2006/relationships" id="259" r:id="R590471b9b27c44b5"/>
    <p:sldId xmlns:r="http://schemas.openxmlformats.org/officeDocument/2006/relationships" id="260" r:id="Rdc5dcd113cc74d2b"/>
    <p:sldId xmlns:r="http://schemas.openxmlformats.org/officeDocument/2006/relationships" id="261" r:id="R3877e5608a924a82"/>
    <p:sldId xmlns:r="http://schemas.openxmlformats.org/officeDocument/2006/relationships" id="262" r:id="R42da8575ab71407b"/>
    <p:sldId xmlns:r="http://schemas.openxmlformats.org/officeDocument/2006/relationships" id="263" r:id="R651873b0bfe245ca"/>
    <p:sldId xmlns:r="http://schemas.openxmlformats.org/officeDocument/2006/relationships" id="264" r:id="Rf1c3072ac1d34813"/>
    <p:sldId xmlns:r="http://schemas.openxmlformats.org/officeDocument/2006/relationships" id="265" r:id="R55e818190bf84a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8393065e664ab6" /><Relationship Type="http://schemas.openxmlformats.org/officeDocument/2006/relationships/slideMaster" Target="/ppt/slideMasters/slideMaster1.xml" Id="R16bea782030546b3" /><Relationship Type="http://schemas.openxmlformats.org/officeDocument/2006/relationships/notesMaster" Target="/ppt/notesMasters/notesMaster1.xml" Id="Rbcd8cbdb77fa4abe" /><Relationship Type="http://schemas.openxmlformats.org/officeDocument/2006/relationships/presProps" Target="/ppt/presProps.xml" Id="Rd41f3157f9344d44" /><Relationship Type="http://schemas.openxmlformats.org/officeDocument/2006/relationships/tableStyles" Target="/ppt/tableStyles.xml" Id="Rf64e38cd2a9041a3" /><Relationship Type="http://schemas.openxmlformats.org/officeDocument/2006/relationships/slide" Target="/ppt/slides/slide1.xml" Id="Ra6fd954876dd4805" /><Relationship Type="http://schemas.openxmlformats.org/officeDocument/2006/relationships/slide" Target="/ppt/slides/slide2.xml" Id="R566ff154fb214e16" /><Relationship Type="http://schemas.openxmlformats.org/officeDocument/2006/relationships/slide" Target="/ppt/slides/slide3.xml" Id="Ra1aea9c2b119496a" /><Relationship Type="http://schemas.openxmlformats.org/officeDocument/2006/relationships/slide" Target="/ppt/slides/slide4.xml" Id="R590471b9b27c44b5" /><Relationship Type="http://schemas.openxmlformats.org/officeDocument/2006/relationships/slide" Target="/ppt/slides/slide5.xml" Id="Rdc5dcd113cc74d2b" /><Relationship Type="http://schemas.openxmlformats.org/officeDocument/2006/relationships/slide" Target="/ppt/slides/slide6.xml" Id="R3877e5608a924a82" /><Relationship Type="http://schemas.openxmlformats.org/officeDocument/2006/relationships/slide" Target="/ppt/slides/slide7.xml" Id="R42da8575ab71407b" /><Relationship Type="http://schemas.openxmlformats.org/officeDocument/2006/relationships/slide" Target="/ppt/slides/slide8.xml" Id="R651873b0bfe245ca" /><Relationship Type="http://schemas.openxmlformats.org/officeDocument/2006/relationships/slide" Target="/ppt/slides/slide9.xml" Id="Rf1c3072ac1d34813" /><Relationship Type="http://schemas.openxmlformats.org/officeDocument/2006/relationships/slide" Target="/ppt/slides/slide10.xml" Id="R55e818190bf84a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0a035c8f9b4e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05badcdae34d75" /><Relationship Type="http://schemas.openxmlformats.org/officeDocument/2006/relationships/notesMaster" Target="/ppt/notesMasters/notesMaster1.xml" Id="R07ee3b62df794b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6e1dfaf5084ac2" /><Relationship Type="http://schemas.openxmlformats.org/officeDocument/2006/relationships/notesMaster" Target="/ppt/notesMasters/notesMaster1.xml" Id="R74db879b98d64e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addb7a95ff4571" /><Relationship Type="http://schemas.openxmlformats.org/officeDocument/2006/relationships/notesMaster" Target="/ppt/notesMasters/notesMaster1.xml" Id="R02116527b4eb48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7563ee692f49a3" /><Relationship Type="http://schemas.openxmlformats.org/officeDocument/2006/relationships/notesMaster" Target="/ppt/notesMasters/notesMaster1.xml" Id="R6fab7bf548fa41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9bc8b6131b4e58" /><Relationship Type="http://schemas.openxmlformats.org/officeDocument/2006/relationships/notesMaster" Target="/ppt/notesMasters/notesMaster1.xml" Id="R1e99f2015be94c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48835f30064436" /><Relationship Type="http://schemas.openxmlformats.org/officeDocument/2006/relationships/notesMaster" Target="/ppt/notesMasters/notesMaster1.xml" Id="R2c45818ae97644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bb155a468c481c" /><Relationship Type="http://schemas.openxmlformats.org/officeDocument/2006/relationships/notesMaster" Target="/ppt/notesMasters/notesMaster1.xml" Id="Ra985879ae4dc43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ddeff43a5540eb" /><Relationship Type="http://schemas.openxmlformats.org/officeDocument/2006/relationships/notesMaster" Target="/ppt/notesMasters/notesMaster1.xml" Id="R45062ca3158042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f3266d691c493b" /><Relationship Type="http://schemas.openxmlformats.org/officeDocument/2006/relationships/notesMaster" Target="/ppt/notesMasters/notesMaster1.xml" Id="R1770da70458946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bc9413f48d4fed" /><Relationship Type="http://schemas.openxmlformats.org/officeDocument/2006/relationships/notesMaster" Target="/ppt/notesMasters/notesMaster1.xml" Id="R7f242519069b42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Founding Product Designer (TripSuite), https://job-boards.greenhouse.io/applytotripsuite/jobs/4625794004 . TripSuite is a prospective employer; the displayed projects are prior FactorLab and Oak work. Decorative cover uses existing canonical artwork and is not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suggested-question state and project walkthroughs in canonical design.json. Selecting a suggestion was intended to populate the input for review or editing. Design variant and engineering handoff; release of each variant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Flint original loading state and canonical design case waiting decision. This is a design exploration and discussion of constraints, not a measured wait-time reduction or evidence of a shipped animation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About Me original Figma design and April–May 2026 walkthroughs, canonical design.json. Kyle developed page directions, content families and visual alternatives. Product lead and engineering clarified data availability, existing capabilities and routes into detail. Team release of web/server changes is confirmed September 2, 2026; the exact pictured layout is unverified. The crop preserves original source pixels.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widget-system direction and canonical detail for the summary decision. Source values and content are design examples, not measured user results. The screenshot shows View why and an action route. Exact released layout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UI Kit V2 export tied to User Story 444 and canonical design.json. Focused color specification; no complete design-system coverage or accessibility-compliance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learning/design approach for a future TripSuite project. Official https://www.tripsuite.com/ describes CRM, commissions, accounting, itineraries, analytics and permissions; the role expects close engineering collaboration. No travel-finance expertise, existing interface defect, prior TripSuite work or tested solution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portfolio and six application files are tailored for TripSuite’s current US-based fully remote role. Kyle’s history combines research and hands-on product design; no prior founding design-function ownership or unverified three years solely in product design is asserted. Compensation is unpublished and no offer is accepted.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9f087b63d148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cb9265c41d4217" /><Relationship Type="http://schemas.openxmlformats.org/officeDocument/2006/relationships/slideLayout" Target="/ppt/slideLayouts/slideLayout1.xml" Id="R6c30dc1cb8834c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30dc1cb8834c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c26be0d3be490f" /><Relationship Type="http://schemas.openxmlformats.org/officeDocument/2006/relationships/image" Target="/ppt/media/image.png" Id="R41e6081a8bc345a5" /><Relationship Type="http://schemas.openxmlformats.org/officeDocument/2006/relationships/notesSlide" Target="/ppt/notesSlides/notesSlide1.xml" Id="Rcd4bf5b4b08143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5cc060678b44e8" /><Relationship Type="http://schemas.openxmlformats.org/officeDocument/2006/relationships/image" Target="/ppt/media/image2.png" Id="R432b298b718e4fcd" /><Relationship Type="http://schemas.openxmlformats.org/officeDocument/2006/relationships/notesSlide" Target="/ppt/notesSlides/notesSlide2.xml" Id="R4e9349b92a954d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a234525b14473a" /><Relationship Type="http://schemas.openxmlformats.org/officeDocument/2006/relationships/image" Target="/ppt/media/image3.png" Id="Rc9bae24eed2e4170" /><Relationship Type="http://schemas.openxmlformats.org/officeDocument/2006/relationships/notesSlide" Target="/ppt/notesSlides/notesSlide3.xml" Id="R99db9ece35e947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6c3163318a4bb4" /><Relationship Type="http://schemas.openxmlformats.org/officeDocument/2006/relationships/image" Target="/ppt/media/image4.png" Id="R18c0fd4201604dc7" /><Relationship Type="http://schemas.openxmlformats.org/officeDocument/2006/relationships/image" Target="/ppt/media/image5.png" Id="R25beab589dce4231" /><Relationship Type="http://schemas.openxmlformats.org/officeDocument/2006/relationships/notesSlide" Target="/ppt/notesSlides/notesSlide4.xml" Id="R4ee1b713cb9c45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10d89b33604465" /><Relationship Type="http://schemas.openxmlformats.org/officeDocument/2006/relationships/image" Target="/ppt/media/image6.png" Id="R769b9094389848d6" /><Relationship Type="http://schemas.openxmlformats.org/officeDocument/2006/relationships/notesSlide" Target="/ppt/notesSlides/notesSlide5.xml" Id="R0426a2917d874e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9b0739c6bc4f7c" /><Relationship Type="http://schemas.openxmlformats.org/officeDocument/2006/relationships/image" Target="/ppt/media/image7.png" Id="Rd4a28c70956142c7" /><Relationship Type="http://schemas.openxmlformats.org/officeDocument/2006/relationships/notesSlide" Target="/ppt/notesSlides/notesSlide6.xml" Id="R9288ab0ca01b4c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52ebca237f4472" /><Relationship Type="http://schemas.openxmlformats.org/officeDocument/2006/relationships/image" Target="/ppt/media/image8.png" Id="Rbd5cb56f628c4be6" /><Relationship Type="http://schemas.openxmlformats.org/officeDocument/2006/relationships/image" Target="/ppt/media/image9.png" Id="Rf94ad80e87494197" /><Relationship Type="http://schemas.openxmlformats.org/officeDocument/2006/relationships/image" Target="/ppt/media/image10.png" Id="Rfccb177a506f4ccd" /><Relationship Type="http://schemas.openxmlformats.org/officeDocument/2006/relationships/notesSlide" Target="/ppt/notesSlides/notesSlide7.xml" Id="R0b9a870dfb2f46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b86eab1db3454f" /><Relationship Type="http://schemas.openxmlformats.org/officeDocument/2006/relationships/image" Target="/ppt/media/image11.png" Id="R1e7e22a87a3a4b24" /><Relationship Type="http://schemas.openxmlformats.org/officeDocument/2006/relationships/notesSlide" Target="/ppt/notesSlides/notesSlide8.xml" Id="Ra5d3af68ef444e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a530e002334858" /><Relationship Type="http://schemas.openxmlformats.org/officeDocument/2006/relationships/notesSlide" Target="/ppt/notesSlides/notesSlide9.xml" Id="R6ae2b5ada1504e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fb7708c5844c88" /><Relationship Type="http://schemas.openxmlformats.org/officeDocument/2006/relationships/hyperlink" Target="mailto:JonathanKyleHobson@gmail.com" TargetMode="External" Id="R107d317f41374312" /><Relationship Type="http://schemas.openxmlformats.org/officeDocument/2006/relationships/hyperlink" Target="https://jonathankhobson.github.io/application-portfolios/tripsuite-product-designer/" TargetMode="External" Id="R85001930ae654b42" /><Relationship Type="http://schemas.openxmlformats.org/officeDocument/2006/relationships/notesSlide" Target="/ppt/notesSlides/notesSlide10.xml" Id="Rfef4d1fd74c242d2"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1e6081a8bc345a5"/>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73197C37-1280-47B9-B624-61D6396BB43A}"/>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TRIPSUITE · PRODUCT DESIGN</a:t>
            </a:r>
          </a:p>
        </p:txBody>
      </p:sp>
      <p:sp>
        <p:nvSpPr>
          <p:cNvPr id="3" name="headline">
            <a:extLst xmlns:a="http://schemas.openxmlformats.org/drawingml/2006/main">
              <a:ext uri="{FF2B5EF4-FFF2-40B4-BE49-F238E27FC236}">
                <a16:creationId xmlns:a16="http://schemas.microsoft.com/office/drawing/2014/main" id="{5B3B6EA8-34C0-47EB-A506-FD67DB399628}"/>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Make the next step clear.</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Keep the work moving.</a:t>
            </a:r>
          </a:p>
        </p:txBody>
      </p:sp>
      <p:sp>
        <p:nvSpPr>
          <p:cNvPr id="4" name="cover-intro">
            <a:extLst xmlns:a="http://schemas.openxmlformats.org/drawingml/2006/main">
              <a:ext uri="{FF2B5EF4-FFF2-40B4-BE49-F238E27FC236}">
                <a16:creationId xmlns:a16="http://schemas.microsoft.com/office/drawing/2014/main" id="{C6A06169-56F4-49A8-9490-7A6CF2E1ABD1}"/>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Operational workflows, reusable patterns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research-informed interface decisions.</a:t>
            </a:r>
          </a:p>
        </p:txBody>
      </p:sp>
      <p:sp>
        <p:nvSpPr>
          <p:cNvPr id="5" name="cover-role">
            <a:extLst xmlns:a="http://schemas.openxmlformats.org/drawingml/2006/main">
              <a:ext uri="{FF2B5EF4-FFF2-40B4-BE49-F238E27FC236}">
                <a16:creationId xmlns:a16="http://schemas.microsoft.com/office/drawing/2014/main" id="{0CBB16D4-1882-4EBD-B0B3-34F6F79D3E55}"/>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Founding Product Designer application · September 2026</a:t>
            </a:r>
          </a:p>
        </p:txBody>
      </p:sp>
      <p:sp>
        <p:nvSpPr>
          <p:cNvPr id="6" name="slide-number">
            <a:extLst xmlns:a="http://schemas.openxmlformats.org/drawingml/2006/main">
              <a:ext uri="{FF2B5EF4-FFF2-40B4-BE49-F238E27FC236}">
                <a16:creationId xmlns:a16="http://schemas.microsoft.com/office/drawing/2014/main" id="{9E397DD6-F020-4B2A-A7A6-AAF7E465291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985985125"/>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8989CC8-21EC-4AE3-9A6A-B64B50EED58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INTERACTION DESIGN, 2025–2026</a:t>
            </a:r>
          </a:p>
        </p:txBody>
      </p:sp>
      <p:sp>
        <p:nvSpPr>
          <p:cNvPr id="2" name="headline">
            <a:extLst xmlns:a="http://schemas.openxmlformats.org/drawingml/2006/main">
              <a:ext uri="{FF2B5EF4-FFF2-40B4-BE49-F238E27FC236}">
                <a16:creationId xmlns:a16="http://schemas.microsoft.com/office/drawing/2014/main" id="{34FBE379-8F2A-4F3D-A7BD-721768BDE2C3}"/>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the first question</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easier to ask</a:t>
            </a:r>
          </a:p>
        </p:txBody>
      </p:sp>
      <p:sp>
        <p:nvSpPr>
          <p:cNvPr id="3" name="entry-decision">
            <a:extLst xmlns:a="http://schemas.openxmlformats.org/drawingml/2006/main">
              <a:ext uri="{FF2B5EF4-FFF2-40B4-BE49-F238E27FC236}">
                <a16:creationId xmlns:a16="http://schemas.microsoft.com/office/drawing/2014/main" id="{04E2418D-CADF-4442-A5CB-4F9C23B99714}"/>
              </a:ext>
            </a:extLst>
          </p:cNvPr>
          <p:cNvSpPr>
            <a:spLocks xmlns:a="http://schemas.openxmlformats.org/drawingml/2006/main" noGrp="1"/>
          </p:cNvSpPr>
          <p:nvPr/>
        </p:nvSpPr>
        <p:spPr>
          <a:xfrm xmlns:a="http://schemas.openxmlformats.org/drawingml/2006/main">
            <a:off x="609600" y="3152775"/>
            <a:ext cx="5905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Suggested questions offered a starting point while leaving the person free to edit or ask something else.</a:t>
            </a:r>
          </a:p>
        </p:txBody>
      </p:sp>
      <p:sp>
        <p:nvSpPr>
          <p:cNvPr id="4" name="entry-scope">
            <a:extLst xmlns:a="http://schemas.openxmlformats.org/drawingml/2006/main">
              <a:ext uri="{FF2B5EF4-FFF2-40B4-BE49-F238E27FC236}">
                <a16:creationId xmlns:a16="http://schemas.microsoft.com/office/drawing/2014/main" id="{77594759-04DF-44D5-8F95-122664F4DF9D}"/>
              </a:ext>
            </a:extLst>
          </p:cNvPr>
          <p:cNvSpPr>
            <a:spLocks xmlns:a="http://schemas.openxmlformats.org/drawingml/2006/main" noGrp="1"/>
          </p:cNvSpPr>
          <p:nvPr/>
        </p:nvSpPr>
        <p:spPr>
          <a:xfrm xmlns:a="http://schemas.openxmlformats.org/drawingml/2006/main">
            <a:off x="609600" y="4991100"/>
            <a:ext cx="5905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worked within the existing product, keeping the answer layout and agreed phase scope in view.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32b298b718e4fcd"/>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E7AB2122-897A-42E3-8DEB-CF73A705102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55616082"/>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D319434-DCFB-481B-AF33-12C5A31C8B1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RESPONSE IN PROGRESS</a:t>
            </a:r>
          </a:p>
        </p:txBody>
      </p:sp>
      <p:sp>
        <p:nvSpPr>
          <p:cNvPr id="2" name="headline">
            <a:extLst xmlns:a="http://schemas.openxmlformats.org/drawingml/2006/main">
              <a:ext uri="{FF2B5EF4-FFF2-40B4-BE49-F238E27FC236}">
                <a16:creationId xmlns:a16="http://schemas.microsoft.com/office/drawing/2014/main" id="{427C6147-DD91-4FC5-A121-38601E01B7C3}"/>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Keep the request visible</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while it runs</a:t>
            </a:r>
          </a:p>
        </p:txBody>
      </p:sp>
      <p:sp>
        <p:nvSpPr>
          <p:cNvPr id="3" name="waiting-need">
            <a:extLst xmlns:a="http://schemas.openxmlformats.org/drawingml/2006/main">
              <a:ext uri="{FF2B5EF4-FFF2-40B4-BE49-F238E27FC236}">
                <a16:creationId xmlns:a16="http://schemas.microsoft.com/office/drawing/2014/main" id="{2EB97A4C-6C02-4B09-8019-0D807B7A7846}"/>
              </a:ext>
            </a:extLst>
          </p:cNvPr>
          <p:cNvSpPr>
            <a:spLocks xmlns:a="http://schemas.openxmlformats.org/drawingml/2006/main" noGrp="1"/>
          </p:cNvSpPr>
          <p:nvPr/>
        </p:nvSpPr>
        <p:spPr>
          <a:xfrm xmlns:a="http://schemas.openxmlformats.org/drawingml/2006/main">
            <a:off x="609600" y="3152775"/>
            <a:ext cx="58864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conversation needed to show that a request was still in progress, without making a new result appear before it existed.</a:t>
            </a:r>
          </a:p>
        </p:txBody>
      </p:sp>
      <p:sp>
        <p:nvSpPr>
          <p:cNvPr id="4" name="waiting-scope">
            <a:extLst xmlns:a="http://schemas.openxmlformats.org/drawingml/2006/main">
              <a:ext uri="{FF2B5EF4-FFF2-40B4-BE49-F238E27FC236}">
                <a16:creationId xmlns:a16="http://schemas.microsoft.com/office/drawing/2014/main" id="{454E304B-DBAC-4279-9FBC-34E58A81ACFE}"/>
              </a:ext>
            </a:extLst>
          </p:cNvPr>
          <p:cNvSpPr>
            <a:spLocks xmlns:a="http://schemas.openxmlformats.org/drawingml/2006/main" noGrp="1"/>
          </p:cNvSpPr>
          <p:nvPr/>
        </p:nvSpPr>
        <p:spPr>
          <a:xfrm xmlns:a="http://schemas.openxmlformats.org/drawingml/2006/main">
            <a:off x="609600" y="5086350"/>
            <a:ext cx="58864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explored waiting feedback within the existing conversation and worked through animation constraints with the product lead.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9bae24eed2e4170"/>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03BE3ABC-AA03-46BA-9966-FB1F8489872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47773423"/>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4D322537-8E9F-4DB8-B7F8-25695307B83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41AA82D1-3763-4088-811B-52A5583591CF}"/>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C8BFC912-54B5-40BA-B3B9-B87BCCCC023E}"/>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42119475-4A95-4637-B8B9-7030ED43C088}"/>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F9744F7F-F86D-4309-B83D-7CF7BAE8ECE5}"/>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EC989539-558B-4444-8EAA-03785490AC7C}"/>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8c0fd4201604dc7"/>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5beab589dce4231"/>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C54ABE93-AA2E-4D44-839B-7498D977BCE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541062067"/>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316D1926-7EAC-4DB4-9671-285B6B4DD5D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INFORMATION ARCHITECTURE, 2026</a:t>
            </a:r>
          </a:p>
        </p:txBody>
      </p:sp>
      <p:sp>
        <p:nvSpPr>
          <p:cNvPr id="2" name="headline">
            <a:extLst xmlns:a="http://schemas.openxmlformats.org/drawingml/2006/main">
              <a:ext uri="{FF2B5EF4-FFF2-40B4-BE49-F238E27FC236}">
                <a16:creationId xmlns:a16="http://schemas.microsoft.com/office/drawing/2014/main" id="{AB813502-4E90-4A18-988F-ABD8F2CA881A}"/>
              </a:ext>
            </a:extLst>
          </p:cNvPr>
          <p:cNvSpPr>
            <a:spLocks xmlns:a="http://schemas.openxmlformats.org/drawingml/2006/main" noGrp="1"/>
          </p:cNvSpPr>
          <p:nvPr/>
        </p:nvSpPr>
        <p:spPr>
          <a:xfrm xmlns:a="http://schemas.openxmlformats.org/drawingml/2006/main">
            <a:off x="609600" y="1104900"/>
            <a:ext cx="619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Organize content by</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question it answers</a:t>
            </a:r>
          </a:p>
        </p:txBody>
      </p:sp>
      <p:sp>
        <p:nvSpPr>
          <p:cNvPr id="3" name="families">
            <a:extLst xmlns:a="http://schemas.openxmlformats.org/drawingml/2006/main">
              <a:ext uri="{FF2B5EF4-FFF2-40B4-BE49-F238E27FC236}">
                <a16:creationId xmlns:a16="http://schemas.microsoft.com/office/drawing/2014/main" id="{17B6045F-5D27-49C6-B1D6-C45B9609C4F1}"/>
              </a:ext>
            </a:extLst>
          </p:cNvPr>
          <p:cNvSpPr>
            <a:spLocks xmlns:a="http://schemas.openxmlformats.org/drawingml/2006/main" noGrp="1"/>
          </p:cNvSpPr>
          <p:nvPr/>
        </p:nvSpPr>
        <p:spPr>
          <a:xfrm xmlns:a="http://schemas.openxmlformats.org/drawingml/2006/main">
            <a:off x="609600" y="31527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192B25"/>
                </a:solidFill>
                <a:latin typeface="Helvetica Neue"/>
                <a:ea typeface="Helvetica Neue"/>
                <a:cs typeface="Helvetica Neue"/>
              </a:defRPr>
            </a:pPr>
            <a:r>
              <a:rPr sz="2100" b="1">
                <a:solidFill>
                  <a:srgbClr val="192B25"/>
                </a:solidFill>
                <a:latin typeface="Helvetica Neue"/>
                <a:ea typeface="Helvetica Neue"/>
                <a:cs typeface="Helvetica Neue"/>
              </a:rPr>
              <a:t>Summaries. Recommendations. Simple 7. Comparisons. Accomplishments.</a:t>
            </a:r>
          </a:p>
        </p:txBody>
      </p:sp>
      <p:sp>
        <p:nvSpPr>
          <p:cNvPr id="4" name="families-rationale">
            <a:extLst xmlns:a="http://schemas.openxmlformats.org/drawingml/2006/main">
              <a:ext uri="{FF2B5EF4-FFF2-40B4-BE49-F238E27FC236}">
                <a16:creationId xmlns:a16="http://schemas.microsoft.com/office/drawing/2014/main" id="{D69EDE9E-0DA0-403C-895A-1720A76D6743}"/>
              </a:ext>
            </a:extLst>
          </p:cNvPr>
          <p:cNvSpPr>
            <a:spLocks xmlns:a="http://schemas.openxmlformats.org/drawingml/2006/main" noGrp="1"/>
          </p:cNvSpPr>
          <p:nvPr/>
        </p:nvSpPr>
        <p:spPr>
          <a:xfrm xmlns:a="http://schemas.openxmlformats.org/drawingml/2006/main">
            <a:off x="609600" y="4610100"/>
            <a:ext cx="5381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I explored content density and reusable widget structures, then worked with engineers on what each action opened.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69b9094389848d6"/>
          <a:stretch xmlns:a="http://schemas.openxmlformats.org/drawingml/2006/main"/>
        </p:blipFill>
        <p:spPr>
          <a:xfrm xmlns:a="http://schemas.openxmlformats.org/drawingml/2006/main">
            <a:off x="6896100" y="2241046"/>
            <a:ext cx="4648200" cy="2280659"/>
          </a:xfrm>
          <a:prstGeom xmlns:a="http://schemas.openxmlformats.org/drawingml/2006/main" prst="rect">
            <a:avLst/>
          </a:prstGeom>
        </p:spPr>
      </p:pic>
      <p:sp>
        <p:nvSpPr>
          <p:cNvPr id="6" name="families-caption">
            <a:extLst xmlns:a="http://schemas.openxmlformats.org/drawingml/2006/main">
              <a:ext uri="{FF2B5EF4-FFF2-40B4-BE49-F238E27FC236}">
                <a16:creationId xmlns:a16="http://schemas.microsoft.com/office/drawing/2014/main" id="{B15810CC-949D-4E0E-9C7B-2F808BE69363}"/>
              </a:ext>
            </a:extLst>
          </p:cNvPr>
          <p:cNvSpPr>
            <a:spLocks xmlns:a="http://schemas.openxmlformats.org/drawingml/2006/main" noGrp="1"/>
          </p:cNvSpPr>
          <p:nvPr/>
        </p:nvSpPr>
        <p:spPr>
          <a:xfrm xmlns:a="http://schemas.openxmlformats.org/drawingml/2006/main">
            <a:off x="6896100" y="4991100"/>
            <a:ext cx="4667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design detail · sample content</a:t>
            </a:r>
          </a:p>
        </p:txBody>
      </p:sp>
      <p:sp>
        <p:nvSpPr>
          <p:cNvPr id="7" name="slide-number">
            <a:extLst xmlns:a="http://schemas.openxmlformats.org/drawingml/2006/main">
              <a:ext uri="{FF2B5EF4-FFF2-40B4-BE49-F238E27FC236}">
                <a16:creationId xmlns:a16="http://schemas.microsoft.com/office/drawing/2014/main" id="{033038B0-A2A3-4F69-8390-C4708165E74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562778907"/>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80340AE8-C87E-4D39-97D9-40EED68EBB3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SUMMARY TO SUPPORTING DETAIL</a:t>
            </a:r>
          </a:p>
        </p:txBody>
      </p:sp>
      <p:sp>
        <p:nvSpPr>
          <p:cNvPr id="2" name="headline">
            <a:extLst xmlns:a="http://schemas.openxmlformats.org/drawingml/2006/main">
              <a:ext uri="{FF2B5EF4-FFF2-40B4-BE49-F238E27FC236}">
                <a16:creationId xmlns:a16="http://schemas.microsoft.com/office/drawing/2014/main" id="{0A031C13-12DD-444E-A07C-6FC49B130138}"/>
              </a:ext>
            </a:extLst>
          </p:cNvPr>
          <p:cNvSpPr>
            <a:spLocks xmlns:a="http://schemas.openxmlformats.org/drawingml/2006/main" noGrp="1"/>
          </p:cNvSpPr>
          <p:nvPr/>
        </p:nvSpPr>
        <p:spPr>
          <a:xfrm xmlns:a="http://schemas.openxmlformats.org/drawingml/2006/main">
            <a:off x="609600" y="1104900"/>
            <a:ext cx="5886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Let people inspect</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recommendation</a:t>
            </a:r>
          </a:p>
        </p:txBody>
      </p:sp>
      <p:sp>
        <p:nvSpPr>
          <p:cNvPr id="3" name="proof-need">
            <a:extLst xmlns:a="http://schemas.openxmlformats.org/drawingml/2006/main">
              <a:ext uri="{FF2B5EF4-FFF2-40B4-BE49-F238E27FC236}">
                <a16:creationId xmlns:a16="http://schemas.microsoft.com/office/drawing/2014/main" id="{C8575FD8-22ED-4924-BD73-B8A7052D4C4C}"/>
              </a:ext>
            </a:extLst>
          </p:cNvPr>
          <p:cNvSpPr>
            <a:spLocks xmlns:a="http://schemas.openxmlformats.org/drawingml/2006/main" noGrp="1"/>
          </p:cNvSpPr>
          <p:nvPr/>
        </p:nvSpPr>
        <p:spPr>
          <a:xfrm xmlns:a="http://schemas.openxmlformats.org/drawingml/2006/main">
            <a:off x="609600" y="3171825"/>
            <a:ext cx="52197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short summary needs a route to the observations behind it and to a useful next action.</a:t>
            </a:r>
          </a:p>
        </p:txBody>
      </p:sp>
      <p:sp>
        <p:nvSpPr>
          <p:cNvPr id="4" name="proof-design">
            <a:extLst xmlns:a="http://schemas.openxmlformats.org/drawingml/2006/main">
              <a:ext uri="{FF2B5EF4-FFF2-40B4-BE49-F238E27FC236}">
                <a16:creationId xmlns:a16="http://schemas.microsoft.com/office/drawing/2014/main" id="{06D449B0-488E-49F1-B795-0F0ABDCD8CC6}"/>
              </a:ext>
            </a:extLst>
          </p:cNvPr>
          <p:cNvSpPr>
            <a:spLocks xmlns:a="http://schemas.openxmlformats.org/drawingml/2006/main" noGrp="1"/>
          </p:cNvSpPr>
          <p:nvPr/>
        </p:nvSpPr>
        <p:spPr>
          <a:xfrm xmlns:a="http://schemas.openxmlformats.org/drawingml/2006/main">
            <a:off x="609600" y="5057775"/>
            <a:ext cx="5219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explored that connection before expanding the range of widgets and content on the page.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4a28c70956142c7"/>
          <a:stretch xmlns:a="http://schemas.openxmlformats.org/drawingml/2006/main"/>
        </p:blipFill>
        <p:spPr>
          <a:xfrm xmlns:a="http://schemas.openxmlformats.org/drawingml/2006/main">
            <a:off x="7007315" y="2228850"/>
            <a:ext cx="4120970" cy="4048125"/>
          </a:xfrm>
          <a:prstGeom xmlns:a="http://schemas.openxmlformats.org/drawingml/2006/main" prst="rect">
            <a:avLst/>
          </a:prstGeom>
        </p:spPr>
      </p:pic>
      <p:sp>
        <p:nvSpPr>
          <p:cNvPr id="6" name="proof-caption">
            <a:extLst xmlns:a="http://schemas.openxmlformats.org/drawingml/2006/main">
              <a:ext uri="{FF2B5EF4-FFF2-40B4-BE49-F238E27FC236}">
                <a16:creationId xmlns:a16="http://schemas.microsoft.com/office/drawing/2014/main" id="{1FA66FCB-5595-4973-8DD9-18FF8C3C78AE}"/>
              </a:ext>
            </a:extLst>
          </p:cNvPr>
          <p:cNvSpPr>
            <a:spLocks xmlns:a="http://schemas.openxmlformats.org/drawingml/2006/main" noGrp="1"/>
          </p:cNvSpPr>
          <p:nvPr/>
        </p:nvSpPr>
        <p:spPr>
          <a:xfrm xmlns:a="http://schemas.openxmlformats.org/drawingml/2006/main">
            <a:off x="6705600" y="6391275"/>
            <a:ext cx="4724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direction exploration · sample content</a:t>
            </a:r>
          </a:p>
        </p:txBody>
      </p:sp>
      <p:sp>
        <p:nvSpPr>
          <p:cNvPr id="7" name="slide-number">
            <a:extLst xmlns:a="http://schemas.openxmlformats.org/drawingml/2006/main">
              <a:ext uri="{FF2B5EF4-FFF2-40B4-BE49-F238E27FC236}">
                <a16:creationId xmlns:a16="http://schemas.microsoft.com/office/drawing/2014/main" id="{49898F20-CCF6-4185-B432-2FB0D6FB461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17024511"/>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98B17998-2568-45C6-ADC8-B82D0776067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D1A448DA-3DD9-43BD-A4D4-9B88B8C7A562}"/>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2C342E06-95BE-4A63-A826-67812F0085D5}"/>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3A7A2C25-FDDF-444C-B94D-2F590298164E}"/>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201C5B89-6DFE-4849-8156-53A1BD0ABE93}"/>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A7CCB422-6D67-437F-839E-7EB7AD9BD1A4}"/>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d5cb56f628c4be6"/>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94ad80e87494197"/>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3E707CD2-39B6-4928-8859-B0E276D6DBF4}"/>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ccb177a506f4ccd"/>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2F9FC928-6B59-4E72-8678-0D076FCB58EE}"/>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CE981931-D91E-450A-9E48-1E7B2C37838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478373262"/>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F278CD2-A3A4-4FA2-BE3E-63183641421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VISUAL GUIDANCE</a:t>
            </a:r>
          </a:p>
        </p:txBody>
      </p:sp>
      <p:sp>
        <p:nvSpPr>
          <p:cNvPr id="2" name="headline">
            <a:extLst xmlns:a="http://schemas.openxmlformats.org/drawingml/2006/main">
              <a:ext uri="{FF2B5EF4-FFF2-40B4-BE49-F238E27FC236}">
                <a16:creationId xmlns:a16="http://schemas.microsoft.com/office/drawing/2014/main" id="{A6C599D4-0973-4235-90A1-79179460FB42}"/>
              </a:ext>
            </a:extLst>
          </p:cNvPr>
          <p:cNvSpPr>
            <a:spLocks xmlns:a="http://schemas.openxmlformats.org/drawingml/2006/main" noGrp="1"/>
          </p:cNvSpPr>
          <p:nvPr/>
        </p:nvSpPr>
        <p:spPr>
          <a:xfrm xmlns:a="http://schemas.openxmlformats.org/drawingml/2006/main">
            <a:off x="609600" y="1104900"/>
            <a:ext cx="4914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Give color</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defined job</a:t>
            </a:r>
          </a:p>
        </p:txBody>
      </p:sp>
      <p:sp>
        <p:nvSpPr>
          <p:cNvPr id="3" name="color-purpose">
            <a:extLst xmlns:a="http://schemas.openxmlformats.org/drawingml/2006/main">
              <a:ext uri="{FF2B5EF4-FFF2-40B4-BE49-F238E27FC236}">
                <a16:creationId xmlns:a16="http://schemas.microsoft.com/office/drawing/2014/main" id="{CF3BDCDC-917D-4C69-B5C1-F2F5C30559D4}"/>
              </a:ext>
            </a:extLst>
          </p:cNvPr>
          <p:cNvSpPr>
            <a:spLocks xmlns:a="http://schemas.openxmlformats.org/drawingml/2006/main" noGrp="1"/>
          </p:cNvSpPr>
          <p:nvPr/>
        </p:nvSpPr>
        <p:spPr>
          <a:xfrm xmlns:a="http://schemas.openxmlformats.org/drawingml/2006/main">
            <a:off x="609600" y="30099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Brand, backgrounds, text and feedback needed consistent roles across the interface.</a:t>
            </a:r>
          </a:p>
        </p:txBody>
      </p:sp>
      <p:sp>
        <p:nvSpPr>
          <p:cNvPr id="4" name="color-scope">
            <a:extLst xmlns:a="http://schemas.openxmlformats.org/drawingml/2006/main">
              <a:ext uri="{FF2B5EF4-FFF2-40B4-BE49-F238E27FC236}">
                <a16:creationId xmlns:a16="http://schemas.microsoft.com/office/drawing/2014/main" id="{B073DE74-6DE3-4BF5-B5CE-0282ACB0BFFF}"/>
              </a:ext>
            </a:extLst>
          </p:cNvPr>
          <p:cNvSpPr>
            <a:spLocks xmlns:a="http://schemas.openxmlformats.org/drawingml/2006/main" noGrp="1"/>
          </p:cNvSpPr>
          <p:nvPr/>
        </p:nvSpPr>
        <p:spPr>
          <a:xfrm xmlns:a="http://schemas.openxmlformats.org/drawingml/2006/main">
            <a:off x="609600" y="476250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documented those roles for the next design iteration. This focused guide did not establish a complete component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e7e22a87a3a4b24"/>
          <a:stretch xmlns:a="http://schemas.openxmlformats.org/drawingml/2006/main"/>
        </p:blipFill>
        <p:spPr>
          <a:xfrm xmlns:a="http://schemas.openxmlformats.org/drawingml/2006/main">
            <a:off x="7081470" y="885825"/>
            <a:ext cx="3429734" cy="55626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F78082C0-F636-44AA-9BFF-936B4660DF7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489901700"/>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3470FD47-5FB2-4059-89C0-05AA97B54F9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LEARNING TRIPSUITE’S WORKFLOWS</a:t>
            </a:r>
          </a:p>
        </p:txBody>
      </p:sp>
      <p:sp>
        <p:nvSpPr>
          <p:cNvPr id="2" name="headline">
            <a:extLst xmlns:a="http://schemas.openxmlformats.org/drawingml/2006/main">
              <a:ext uri="{FF2B5EF4-FFF2-40B4-BE49-F238E27FC236}">
                <a16:creationId xmlns:a16="http://schemas.microsoft.com/office/drawing/2014/main" id="{FC508C47-BAE6-4C8B-A657-4B74DE35D749}"/>
              </a:ext>
            </a:extLst>
          </p:cNvPr>
          <p:cNvSpPr>
            <a:spLocks xmlns:a="http://schemas.openxmlformats.org/drawingml/2006/main" noGrp="1"/>
          </p:cNvSpPr>
          <p:nvPr/>
        </p:nvSpPr>
        <p:spPr>
          <a:xfrm xmlns:a="http://schemas.openxmlformats.org/drawingml/2006/main">
            <a:off x="609600" y="1076325"/>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Follow one operational task end to end</a:t>
            </a:r>
          </a:p>
        </p:txBody>
      </p:sp>
      <p:sp>
        <p:nvSpPr>
          <p:cNvPr id="3" name="purpose-heading">
            <a:extLst xmlns:a="http://schemas.openxmlformats.org/drawingml/2006/main">
              <a:ext uri="{FF2B5EF4-FFF2-40B4-BE49-F238E27FC236}">
                <a16:creationId xmlns:a16="http://schemas.microsoft.com/office/drawing/2014/main" id="{54237A67-805C-46E9-925F-32C7FD1A8E77}"/>
              </a:ext>
            </a:extLst>
          </p:cNvPr>
          <p:cNvSpPr>
            <a:spLocks xmlns:a="http://schemas.openxmlformats.org/drawingml/2006/main" noGrp="1"/>
          </p:cNvSpPr>
          <p:nvPr/>
        </p:nvSpPr>
        <p:spPr>
          <a:xfrm xmlns:a="http://schemas.openxmlformats.org/drawingml/2006/main">
            <a:off x="609600" y="2952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Learn the actual task</a:t>
            </a:r>
          </a:p>
        </p:txBody>
      </p:sp>
      <p:sp>
        <p:nvSpPr>
          <p:cNvPr id="4" name="purpose-body">
            <a:extLst xmlns:a="http://schemas.openxmlformats.org/drawingml/2006/main">
              <a:ext uri="{FF2B5EF4-FFF2-40B4-BE49-F238E27FC236}">
                <a16:creationId xmlns:a16="http://schemas.microsoft.com/office/drawing/2014/main" id="{AA732A01-F207-4450-AB55-616E54FF84EA}"/>
              </a:ext>
            </a:extLst>
          </p:cNvPr>
          <p:cNvSpPr>
            <a:spLocks xmlns:a="http://schemas.openxmlformats.org/drawingml/2006/main" noGrp="1"/>
          </p:cNvSpPr>
          <p:nvPr/>
        </p:nvSpPr>
        <p:spPr>
          <a:xfrm xmlns:a="http://schemas.openxmlformats.org/drawingml/2006/main">
            <a:off x="609600" y="35052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Observe an agency manager or advisor.</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Understand the decision, supporting records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and handoffs involved.</a:t>
            </a:r>
          </a:p>
        </p:txBody>
      </p:sp>
      <p:sp>
        <p:nvSpPr>
          <p:cNvPr id="5" name="structure-heading">
            <a:extLst xmlns:a="http://schemas.openxmlformats.org/drawingml/2006/main">
              <a:ext uri="{FF2B5EF4-FFF2-40B4-BE49-F238E27FC236}">
                <a16:creationId xmlns:a16="http://schemas.microsoft.com/office/drawing/2014/main" id="{21FAC688-AB81-48A0-8C67-75B8689153CE}"/>
              </a:ext>
            </a:extLst>
          </p:cNvPr>
          <p:cNvSpPr>
            <a:spLocks xmlns:a="http://schemas.openxmlformats.org/drawingml/2006/main" noGrp="1"/>
          </p:cNvSpPr>
          <p:nvPr/>
        </p:nvSpPr>
        <p:spPr>
          <a:xfrm xmlns:a="http://schemas.openxmlformats.org/drawingml/2006/main">
            <a:off x="6705600" y="2952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Map the states and exceptions</a:t>
            </a:r>
          </a:p>
        </p:txBody>
      </p:sp>
      <p:sp>
        <p:nvSpPr>
          <p:cNvPr id="6" name="structure-body">
            <a:extLst xmlns:a="http://schemas.openxmlformats.org/drawingml/2006/main">
              <a:ext uri="{FF2B5EF4-FFF2-40B4-BE49-F238E27FC236}">
                <a16:creationId xmlns:a16="http://schemas.microsoft.com/office/drawing/2014/main" id="{7EBBE808-8173-4CCB-955A-C7D01AAF837A}"/>
              </a:ext>
            </a:extLst>
          </p:cNvPr>
          <p:cNvSpPr>
            <a:spLocks xmlns:a="http://schemas.openxmlformats.org/drawingml/2006/main" noGrp="1"/>
          </p:cNvSpPr>
          <p:nvPr/>
        </p:nvSpPr>
        <p:spPr>
          <a:xfrm xmlns:a="http://schemas.openxmlformats.org/drawingml/2006/main">
            <a:off x="6705600" y="3505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Work with engineers on available data,</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permissions and failure states. Keep domain</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assumptions open for review.</a:t>
            </a:r>
          </a:p>
        </p:txBody>
      </p:sp>
      <p:sp>
        <p:nvSpPr>
          <p:cNvPr id="7" name="compare-heading">
            <a:extLst xmlns:a="http://schemas.openxmlformats.org/drawingml/2006/main">
              <a:ext uri="{FF2B5EF4-FFF2-40B4-BE49-F238E27FC236}">
                <a16:creationId xmlns:a16="http://schemas.microsoft.com/office/drawing/2014/main" id="{602F114C-511F-4E41-A8B5-89B005AFE8D1}"/>
              </a:ext>
            </a:extLst>
          </p:cNvPr>
          <p:cNvSpPr>
            <a:spLocks xmlns:a="http://schemas.openxmlformats.org/drawingml/2006/main" noGrp="1"/>
          </p:cNvSpPr>
          <p:nvPr/>
        </p:nvSpPr>
        <p:spPr>
          <a:xfrm xmlns:a="http://schemas.openxmlformats.org/drawingml/2006/main">
            <a:off x="609600" y="4857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Compare a small flow</a:t>
            </a:r>
          </a:p>
        </p:txBody>
      </p:sp>
      <p:sp>
        <p:nvSpPr>
          <p:cNvPr id="8" name="compare-body">
            <a:extLst xmlns:a="http://schemas.openxmlformats.org/drawingml/2006/main">
              <a:ext uri="{FF2B5EF4-FFF2-40B4-BE49-F238E27FC236}">
                <a16:creationId xmlns:a16="http://schemas.microsoft.com/office/drawing/2014/main" id="{DB1336B7-72D8-4DDB-997F-51013B2DC2E3}"/>
              </a:ext>
            </a:extLst>
          </p:cNvPr>
          <p:cNvSpPr>
            <a:spLocks xmlns:a="http://schemas.openxmlformats.org/drawingml/2006/main" noGrp="1"/>
          </p:cNvSpPr>
          <p:nvPr/>
        </p:nvSpPr>
        <p:spPr>
          <a:xfrm xmlns:a="http://schemas.openxmlformats.org/drawingml/2006/main">
            <a:off x="609600" y="541020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Prototype one task with reusable patterns.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Explain alternatives and scope before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expanding the design.</a:t>
            </a:r>
          </a:p>
        </p:txBody>
      </p:sp>
      <p:sp>
        <p:nvSpPr>
          <p:cNvPr id="9" name="handoff-heading">
            <a:extLst xmlns:a="http://schemas.openxmlformats.org/drawingml/2006/main">
              <a:ext uri="{FF2B5EF4-FFF2-40B4-BE49-F238E27FC236}">
                <a16:creationId xmlns:a16="http://schemas.microsoft.com/office/drawing/2014/main" id="{A6A405A2-618B-4747-B0D4-36BBBE962DCE}"/>
              </a:ext>
            </a:extLst>
          </p:cNvPr>
          <p:cNvSpPr>
            <a:spLocks xmlns:a="http://schemas.openxmlformats.org/drawingml/2006/main" noGrp="1"/>
          </p:cNvSpPr>
          <p:nvPr/>
        </p:nvSpPr>
        <p:spPr>
          <a:xfrm xmlns:a="http://schemas.openxmlformats.org/drawingml/2006/main">
            <a:off x="6705600" y="4857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Test and hand off the decision</a:t>
            </a:r>
          </a:p>
        </p:txBody>
      </p:sp>
      <p:sp>
        <p:nvSpPr>
          <p:cNvPr id="10" name="handoff-body">
            <a:extLst xmlns:a="http://schemas.openxmlformats.org/drawingml/2006/main">
              <a:ext uri="{FF2B5EF4-FFF2-40B4-BE49-F238E27FC236}">
                <a16:creationId xmlns:a16="http://schemas.microsoft.com/office/drawing/2014/main" id="{9EED3B13-700A-4BC2-A993-F4003583FDE5}"/>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Check whether people understand the state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and choose a useful next action. Document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behavior and remaining questions.</a:t>
            </a:r>
          </a:p>
        </p:txBody>
      </p:sp>
      <p:sp>
        <p:nvSpPr>
          <p:cNvPr id="11" name="slide-number">
            <a:extLst xmlns:a="http://schemas.openxmlformats.org/drawingml/2006/main">
              <a:ext uri="{FF2B5EF4-FFF2-40B4-BE49-F238E27FC236}">
                <a16:creationId xmlns:a16="http://schemas.microsoft.com/office/drawing/2014/main" id="{388A6E73-FCFC-4D59-A293-BACA7450976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514332597"/>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4409A57-09CC-4D7F-9A0F-7072B6AC8B2C}"/>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TRIPSUITE · PRODUCT DESIGN</a:t>
            </a:r>
          </a:p>
        </p:txBody>
      </p:sp>
      <p:sp>
        <p:nvSpPr>
          <p:cNvPr id="2" name="headline">
            <a:extLst xmlns:a="http://schemas.openxmlformats.org/drawingml/2006/main">
              <a:ext uri="{FF2B5EF4-FFF2-40B4-BE49-F238E27FC236}">
                <a16:creationId xmlns:a16="http://schemas.microsoft.com/office/drawing/2014/main" id="{47CFE732-B355-4283-B81F-D4562BEA9B5C}"/>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Let’s make complex work</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easier to follow</a:t>
            </a:r>
          </a:p>
        </p:txBody>
      </p:sp>
      <p:sp>
        <p:nvSpPr>
          <p:cNvPr id="3" name="contact-intent">
            <a:extLst xmlns:a="http://schemas.openxmlformats.org/drawingml/2006/main">
              <a:ext uri="{FF2B5EF4-FFF2-40B4-BE49-F238E27FC236}">
                <a16:creationId xmlns:a16="http://schemas.microsoft.com/office/drawing/2014/main" id="{B5296C57-7B12-4CBE-B6AF-FAAB039BA09C}"/>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D2364CE4-BAD8-4B59-AA6A-4356F40D36F2}"/>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107d317f41374312"/>
              </a:rPr>
              <a:t>JonathanKyleHobson@gmail.com</a:t>
            </a:r>
          </a:p>
        </p:txBody>
      </p:sp>
      <p:sp>
        <p:nvSpPr>
          <p:cNvPr id="5" name="portfolio">
            <a:extLst xmlns:a="http://schemas.openxmlformats.org/drawingml/2006/main">
              <a:ext uri="{FF2B5EF4-FFF2-40B4-BE49-F238E27FC236}">
                <a16:creationId xmlns:a16="http://schemas.microsoft.com/office/drawing/2014/main" id="{953DC7B5-E749-46FA-82AA-77C4EACA7215}"/>
              </a:ext>
            </a:extLst>
          </p:cNvPr>
          <p:cNvSpPr>
            <a:spLocks xmlns:a="http://schemas.openxmlformats.org/drawingml/2006/main" noGrp="1"/>
          </p:cNvSpPr>
          <p:nvPr/>
        </p:nvSpPr>
        <p:spPr>
          <a:xfrm xmlns:a="http://schemas.openxmlformats.org/drawingml/2006/main">
            <a:off x="647700" y="57054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85001930ae654b42"/>
              </a:rPr>
              <a:t>jonathankhobson.github.io/application-portfolios/tripsuite-product-designer</a:t>
            </a:r>
          </a:p>
        </p:txBody>
      </p:sp>
      <p:sp>
        <p:nvSpPr>
          <p:cNvPr id="6" name="slide-number">
            <a:extLst xmlns:a="http://schemas.openxmlformats.org/drawingml/2006/main">
              <a:ext uri="{FF2B5EF4-FFF2-40B4-BE49-F238E27FC236}">
                <a16:creationId xmlns:a16="http://schemas.microsoft.com/office/drawing/2014/main" id="{E9074278-AC7B-4D7F-88D0-51746FB1BF0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1667223625"/>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2026-09-09T02:36:05.1880000Z</dcterms:created>
  <dcterms:modified xsi:type="dcterms:W3CDTF">2026-09-09T02:36:05.1880000Z</dcterms:modified>
</coreProperties>
</file>