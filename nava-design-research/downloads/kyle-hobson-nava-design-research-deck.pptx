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5ae0c5fc564ee6" /><Relationship Type="http://schemas.openxmlformats.org/officeDocument/2006/relationships/extended-properties" Target="/docProps/app.xml" Id="Rb6f51c717a914b6b" /><Relationship Type="http://schemas.openxmlformats.org/officeDocument/2006/relationships/officeDocument" Target="/ppt/presentation.xml" Id="R0de2d749db7441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f68857ac764faa"/>
  </p:sldMasterIdLst>
  <p:notesMasterIdLst>
    <p:notesMasterId xmlns:r="http://schemas.openxmlformats.org/officeDocument/2006/relationships" r:id="Rf159715b57334858"/>
  </p:notesMasterIdLst>
  <p:sldIdLst>
    <p:sldId xmlns:r="http://schemas.openxmlformats.org/officeDocument/2006/relationships" id="256" r:id="R8d2bd78ac85f48ce"/>
    <p:sldId xmlns:r="http://schemas.openxmlformats.org/officeDocument/2006/relationships" id="257" r:id="Re28c947d3e2149bb"/>
    <p:sldId xmlns:r="http://schemas.openxmlformats.org/officeDocument/2006/relationships" id="258" r:id="R73082e8de8a24a28"/>
    <p:sldId xmlns:r="http://schemas.openxmlformats.org/officeDocument/2006/relationships" id="259" r:id="Rd18453a676be46de"/>
    <p:sldId xmlns:r="http://schemas.openxmlformats.org/officeDocument/2006/relationships" id="260" r:id="Rd58cde5ee9e74128"/>
    <p:sldId xmlns:r="http://schemas.openxmlformats.org/officeDocument/2006/relationships" id="261" r:id="R083ae73362634b22"/>
    <p:sldId xmlns:r="http://schemas.openxmlformats.org/officeDocument/2006/relationships" id="262" r:id="R3bb1288b82594677"/>
    <p:sldId xmlns:r="http://schemas.openxmlformats.org/officeDocument/2006/relationships" id="263" r:id="R7e06a72736824c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812c1ad7cd4782" /><Relationship Type="http://schemas.openxmlformats.org/officeDocument/2006/relationships/slideMaster" Target="/ppt/slideMasters/slideMaster1.xml" Id="R64f68857ac764faa" /><Relationship Type="http://schemas.openxmlformats.org/officeDocument/2006/relationships/notesMaster" Target="/ppt/notesMasters/notesMaster1.xml" Id="Rf159715b57334858" /><Relationship Type="http://schemas.openxmlformats.org/officeDocument/2006/relationships/presProps" Target="/ppt/presProps.xml" Id="R0f697e4b05ba4295" /><Relationship Type="http://schemas.openxmlformats.org/officeDocument/2006/relationships/tableStyles" Target="/ppt/tableStyles.xml" Id="R9f7450247d864f23" /><Relationship Type="http://schemas.openxmlformats.org/officeDocument/2006/relationships/slide" Target="/ppt/slides/slide1.xml" Id="R8d2bd78ac85f48ce" /><Relationship Type="http://schemas.openxmlformats.org/officeDocument/2006/relationships/slide" Target="/ppt/slides/slide2.xml" Id="Re28c947d3e2149bb" /><Relationship Type="http://schemas.openxmlformats.org/officeDocument/2006/relationships/slide" Target="/ppt/slides/slide3.xml" Id="R73082e8de8a24a28" /><Relationship Type="http://schemas.openxmlformats.org/officeDocument/2006/relationships/slide" Target="/ppt/slides/slide4.xml" Id="Rd18453a676be46de" /><Relationship Type="http://schemas.openxmlformats.org/officeDocument/2006/relationships/slide" Target="/ppt/slides/slide5.xml" Id="Rd58cde5ee9e74128" /><Relationship Type="http://schemas.openxmlformats.org/officeDocument/2006/relationships/slide" Target="/ppt/slides/slide6.xml" Id="R083ae73362634b22" /><Relationship Type="http://schemas.openxmlformats.org/officeDocument/2006/relationships/slide" Target="/ppt/slides/slide7.xml" Id="R3bb1288b82594677" /><Relationship Type="http://schemas.openxmlformats.org/officeDocument/2006/relationships/slide" Target="/ppt/slides/slide8.xml" Id="R7e06a72736824c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d1dff4b82b42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eb6ee6b4904a52" /><Relationship Type="http://schemas.openxmlformats.org/officeDocument/2006/relationships/notesMaster" Target="/ppt/notesMasters/notesMaster1.xml" Id="R61fa8bf33d004e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2391e938434402" /><Relationship Type="http://schemas.openxmlformats.org/officeDocument/2006/relationships/notesMaster" Target="/ppt/notesMasters/notesMaster1.xml" Id="Rc30f473bdd6942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78cb0054c44b04" /><Relationship Type="http://schemas.openxmlformats.org/officeDocument/2006/relationships/notesMaster" Target="/ppt/notesMasters/notesMaster1.xml" Id="R15afdd576f9c47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b636e406774102" /><Relationship Type="http://schemas.openxmlformats.org/officeDocument/2006/relationships/notesMaster" Target="/ppt/notesMasters/notesMaster1.xml" Id="R6cab6e0f1d2a44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dd3b3ea7d84681" /><Relationship Type="http://schemas.openxmlformats.org/officeDocument/2006/relationships/notesMaster" Target="/ppt/notesMasters/notesMaster1.xml" Id="R32d9e3ac5a634e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9e8f33614d4da1" /><Relationship Type="http://schemas.openxmlformats.org/officeDocument/2006/relationships/notesMaster" Target="/ppt/notesMasters/notesMaster1.xml" Id="R440c368d9c3e4c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22be7bc94e41a7" /><Relationship Type="http://schemas.openxmlformats.org/officeDocument/2006/relationships/notesMaster" Target="/ppt/notesMasters/notesMaster1.xml" Id="R17cde4fa802d42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841b1598ea4808" /><Relationship Type="http://schemas.openxmlformats.org/officeDocument/2006/relationships/notesMaster" Target="/ppt/notesMasters/notesMaster1.xml" Id="R7bb28d98ea3c4b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Prepared for Nava Design &amp; Research Resume Drop Off, https://job-boards.greenhouse.io/navapbc/jobs/4140877009 . This is an explicit talent pool for future roles, not a current vacancy. The packet presents operational software, research and education work. No government-contract delivery is claimed. Existing paper-path art is decorative.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Kyle explored About Me information models and widget families in original April–May 2026 design walkthroughs. Source: reviewed portfolio-suite design About Me case and original about-me-widget-system.png. Numbers and named content inside the design are interface example data, not measured outcomes. September 2 release evidence supports web/server feature release, not this exact variant or mobile rollout. Public case: https://jonathankhobson.github.io/portfolio/design/case/about-me/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FactorLab About Me design variant. Source about-me-comparison.png and reviewed design source map. Chart is retained as a source screenshot to show the actual interface design; it is not an editable analytic chart or report of real user performance. Kyle’s contribution was comparison language and interface reasoning; no measured user outcome or public-service delivery is inferred.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FactorLab UX Designer &amp; Researcher (Contract), October 2025–Present. Original Kyle-authored Figma designs and March 27 error-state walkthrough. Entry, waiting, saved questions and response actions are organized with engineering annotations. These are design and handoff artifacts; the exact states are not verified as shipped. Public case: https://jonathankhobson.github.io/portfolio/design/case/flint/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Oak original DesignRecOak findings and recommendations, reviewed September 2026. Kyle led UX research and developed navigation/error-feedback recommendations with the lead UX designer. The public crop preserves the original proposed treatment; no production deployment, conversion gain or ownership of every design element is inferred. Public case: https://jonathankhobson.github.io/portfolio/design/case/oak/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 claim map C06/C08/C14/C18: ASU Knowledge Enterprise instructional design, ASU Learning Innovations proposed prompt architecture, current Oppia volunteer exit-dialog review. Coursera original ai-course-goals.png is approved published-course evidence; no raw private correspondence is displayed. These are education and design contributions, not government-contract delivery.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starting approach for a future Nava project, not delivered work, a product audit or an invented government contract. The official future design/research pool is https://job-boards.greenhouse.io/navapbc/jobs/4140877009 . Company context: Nava Labs Caseworker Empowerment Toolkit, April 30, 2026, https://www.navapbc.com/news/ai-caseworker-tools . The toolkit source explains policy citations and caseworker review before form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Candidate confirmed Mesa location, U.S. work authorization without sponsorship and ASAP start. Portfolio links to an isolated introduction for the Nava talent pool. No current vacancy, government-contract delivery or prior Nava employment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bc3e3724744b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c9d997611c4edd" /><Relationship Type="http://schemas.openxmlformats.org/officeDocument/2006/relationships/slideLayout" Target="/ppt/slideLayouts/slideLayout1.xml" Id="R376bc5dfe9934f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6bc5dfe9934f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58b13d94d41de" /><Relationship Type="http://schemas.openxmlformats.org/officeDocument/2006/relationships/image" Target="/ppt/media/image.png" Id="R46e2367f998b4f6d" /><Relationship Type="http://schemas.openxmlformats.org/officeDocument/2006/relationships/notesSlide" Target="/ppt/notesSlides/notesSlide1.xml" Id="Rf8b0b9d0b6fc4b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d0965c7014e08" /><Relationship Type="http://schemas.openxmlformats.org/officeDocument/2006/relationships/image" Target="/ppt/media/image2.png" Id="R2f588c48733f4b68" /><Relationship Type="http://schemas.openxmlformats.org/officeDocument/2006/relationships/notesSlide" Target="/ppt/notesSlides/notesSlide2.xml" Id="R7e81eda6a37a41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b2a509e234c5a" /><Relationship Type="http://schemas.openxmlformats.org/officeDocument/2006/relationships/image" Target="/ppt/media/image3.png" Id="Re3095ffff2984a82" /><Relationship Type="http://schemas.openxmlformats.org/officeDocument/2006/relationships/notesSlide" Target="/ppt/notesSlides/notesSlide3.xml" Id="Ra939b5a3900b4c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503d588f4433c" /><Relationship Type="http://schemas.openxmlformats.org/officeDocument/2006/relationships/image" Target="/ppt/media/image4.png" Id="Ra9dfd74fd2e047c7" /><Relationship Type="http://schemas.openxmlformats.org/officeDocument/2006/relationships/image" Target="/ppt/media/image5.png" Id="R3d66cb3af1f24e5a" /><Relationship Type="http://schemas.openxmlformats.org/officeDocument/2006/relationships/notesSlide" Target="/ppt/notesSlides/notesSlide4.xml" Id="R35c5559b47e446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90b9e7ba941aa" /><Relationship Type="http://schemas.openxmlformats.org/officeDocument/2006/relationships/image" Target="/ppt/media/image6.png" Id="R3cd9e5badc094471" /><Relationship Type="http://schemas.openxmlformats.org/officeDocument/2006/relationships/notesSlide" Target="/ppt/notesSlides/notesSlide5.xml" Id="R67087dafd6b144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b9414d8914166" /><Relationship Type="http://schemas.openxmlformats.org/officeDocument/2006/relationships/image" Target="/ppt/media/image7.png" Id="R9013e3dc5c374486" /><Relationship Type="http://schemas.openxmlformats.org/officeDocument/2006/relationships/notesSlide" Target="/ppt/notesSlides/notesSlide6.xml" Id="Rf2adcf434dbf47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0a8a4d8cb493b" /><Relationship Type="http://schemas.openxmlformats.org/officeDocument/2006/relationships/notesSlide" Target="/ppt/notesSlides/notesSlide7.xml" Id="R69c9ad4844cb42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7d8d2b06b4231" /><Relationship Type="http://schemas.openxmlformats.org/officeDocument/2006/relationships/hyperlink" Target="mailto:JonathanKyleHobson@gmail.com" TargetMode="External" Id="R7dd24cdb5bdd46b5" /><Relationship Type="http://schemas.openxmlformats.org/officeDocument/2006/relationships/hyperlink" Target="https://jonathankhobson.github.io/application-portfolios/nava-design-research/" TargetMode="External" Id="R7144e9c98157433b" /><Relationship Type="http://schemas.openxmlformats.org/officeDocument/2006/relationships/notesSlide" Target="/ppt/notesSlides/notesSlide8.xml" Id="R2a1b9e5392eb42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2367f998b4f6d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8A86D39-0422-4E45-89E9-4201363D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KYLE HOBSON   /   NAVA DESIGN &amp; RESEARCH TALENT POOL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06BF6989-B2B2-4F8C-A3FB-765619D1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7632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41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Show what happened.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41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Make the next step clear.</a:t>
            </a:r>
          </a:p>
        </p:txBody>
      </p:sp>
      <p:sp>
        <p:nvSpPr>
          <p:cNvPr id="4" name="cover-intro">
            <a:extLst xmlns:a="http://schemas.openxmlformats.org/drawingml/2006/main">
              <a:ext uri="{FF2B5EF4-FFF2-40B4-BE49-F238E27FC236}">
                <a16:creationId xmlns:a16="http://schemas.microsoft.com/office/drawing/2014/main" id="{73FD3D88-5754-45D2-AAE8-D9B4DE86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UX research, operational product design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and accessible learning experiences</a:t>
            </a:r>
          </a:p>
        </p:txBody>
      </p:sp>
      <p:sp>
        <p:nvSpPr>
          <p:cNvPr id="5" name="cover-role">
            <a:extLst xmlns:a="http://schemas.openxmlformats.org/drawingml/2006/main">
              <a:ext uri="{FF2B5EF4-FFF2-40B4-BE49-F238E27FC236}">
                <a16:creationId xmlns:a16="http://schemas.microsoft.com/office/drawing/2014/main" id="{DCC0FC2B-FB38-41A0-8026-5118316E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19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Future opportunities · Remote (US)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79C1A6F-B8C4-46B6-9CA8-CC94549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986616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AA1F34B-1A98-46B3-BBBF-407B3E74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FACTORLAB   /   SMARTTAGIT ABOUT ME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08B4FAAE-A2D7-43E3-930D-291A6965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95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summary connected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to its evidence</a:t>
            </a:r>
          </a:p>
        </p:txBody>
      </p:sp>
      <p:sp>
        <p:nvSpPr>
          <p:cNvPr id="3" name="about-me-work">
            <a:extLst xmlns:a="http://schemas.openxmlformats.org/drawingml/2006/main">
              <a:ext uri="{FF2B5EF4-FFF2-40B4-BE49-F238E27FC236}">
                <a16:creationId xmlns:a16="http://schemas.microsoft.com/office/drawing/2014/main" id="{3075BA92-DC4B-4781-A594-AC44C66B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096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explored feedback layouts, widget families and content density so people could inspect the basis of a summary and find a useful next action.</a:t>
            </a:r>
          </a:p>
        </p:txBody>
      </p:sp>
      <p:sp>
        <p:nvSpPr>
          <p:cNvPr id="4" name="about-me-boundary">
            <a:extLst xmlns:a="http://schemas.openxmlformats.org/drawingml/2006/main">
              <a:ext uri="{FF2B5EF4-FFF2-40B4-BE49-F238E27FC236}">
                <a16:creationId xmlns:a16="http://schemas.microsoft.com/office/drawing/2014/main" id="{60E1C272-17F3-4DA6-A70E-A2162A43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6381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design iteration. About Me web/server changes released September 2, 2026; this pictured variant is not claimed as the final released layout.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88c48733f4b68"/>
          <a:stretch xmlns:a="http://schemas.openxmlformats.org/drawingml/2006/main"/>
        </p:blipFill>
        <p:spPr>
          <a:xfrm xmlns:a="http://schemas.openxmlformats.org/drawingml/2006/main">
            <a:off x="8142684" y="1381125"/>
            <a:ext cx="2802731" cy="4714875"/>
          </a:xfrm>
          <a:prstGeom xmlns:a="http://schemas.openxmlformats.org/drawingml/2006/main" prst="rect">
            <a:avLst/>
          </a:prstGeom>
        </p:spPr>
      </p:pic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181B928-E5D9-40E9-A637-521C44A3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30800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DB4CAED-D2EC-43BF-ADF5-4DD44BF2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FACTORLAB   /   ABOUT ME COMPARISON DESIGN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2E6A19D1-CEF4-4AFA-A2D1-F7A2B521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108966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comparison needs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careful explanation</a:t>
            </a:r>
          </a:p>
        </p:txBody>
      </p:sp>
      <p:sp>
        <p:nvSpPr>
          <p:cNvPr id="3" name="comparison-decision">
            <a:extLst xmlns:a="http://schemas.openxmlformats.org/drawingml/2006/main">
              <a:ext uri="{FF2B5EF4-FFF2-40B4-BE49-F238E27FC236}">
                <a16:creationId xmlns:a16="http://schemas.microsoft.com/office/drawing/2014/main" id="{20BF48C7-FF1F-4244-BB20-F1FBEF8D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477202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The caption describes how often a topic appears in a cohort. It avoids turning a difference into an unsupported performance judgment.</a:t>
            </a:r>
          </a:p>
        </p:txBody>
      </p:sp>
      <p:sp>
        <p:nvSpPr>
          <p:cNvPr id="4" name="comparison-boundary">
            <a:extLst xmlns:a="http://schemas.openxmlformats.org/drawingml/2006/main">
              <a:ext uri="{FF2B5EF4-FFF2-40B4-BE49-F238E27FC236}">
                <a16:creationId xmlns:a16="http://schemas.microsoft.com/office/drawing/2014/main" id="{E5CB93F8-53AA-4AD4-9746-421BF15E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interface design with example data. No measured performance result is shown.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95ffff2984a82"/>
          <a:stretch xmlns:a="http://schemas.openxmlformats.org/drawingml/2006/main"/>
        </p:blipFill>
        <p:spPr>
          <a:xfrm xmlns:a="http://schemas.openxmlformats.org/drawingml/2006/main">
            <a:off x="5924550" y="2763677"/>
            <a:ext cx="5572125" cy="3692847"/>
          </a:xfrm>
          <a:prstGeom xmlns:a="http://schemas.openxmlformats.org/drawingml/2006/main" prst="rect">
            <a:avLst/>
          </a:prstGeom>
        </p:spPr>
      </p:pic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D16DD49-E108-4E73-96C3-D7E7B08C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95960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FC89CE8-D185-46A0-B599-E673FC4E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FACTORLAB   /   FLINT CONVERSATIONAL PRODUCT DESIGN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8B179351-6C94-4387-89A6-3864540A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5905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Recovery depends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on what happened</a:t>
            </a:r>
          </a:p>
        </p:txBody>
      </p:sp>
      <p:sp>
        <p:nvSpPr>
          <p:cNvPr id="3" name="flint-specific">
            <a:extLst xmlns:a="http://schemas.openxmlformats.org/drawingml/2006/main">
              <a:ext uri="{FF2B5EF4-FFF2-40B4-BE49-F238E27FC236}">
                <a16:creationId xmlns:a16="http://schemas.microsoft.com/office/drawing/2014/main" id="{5D1A93B9-0C35-4872-9079-77202097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47687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An interrupted answer and a lost connection leave different information available. I designed their messages and actions, then annotated the behavior for engineering.</a:t>
            </a:r>
          </a:p>
        </p:txBody>
      </p:sp>
      <p:sp>
        <p:nvSpPr>
          <p:cNvPr id="4" name="flint-boundary">
            <a:extLst xmlns:a="http://schemas.openxmlformats.org/drawingml/2006/main">
              <a:ext uri="{FF2B5EF4-FFF2-40B4-BE49-F238E27FC236}">
                <a16:creationId xmlns:a16="http://schemas.microsoft.com/office/drawing/2014/main" id="{129D600F-513F-414E-811F-31FCB019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5476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mobile designs and handoff. No claim that the pictured states are shipped.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fd74fd2e047c7"/>
          <a:stretch xmlns:a="http://schemas.openxmlformats.org/drawingml/2006/main"/>
        </p:blipFill>
        <p:spPr>
          <a:xfrm xmlns:a="http://schemas.openxmlformats.org/drawingml/2006/main">
            <a:off x="6629400" y="1326390"/>
            <a:ext cx="2238375" cy="4795771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6cb3af1f24e5a"/>
          <a:stretch xmlns:a="http://schemas.openxmlformats.org/drawingml/2006/main"/>
        </p:blipFill>
        <p:spPr>
          <a:xfrm xmlns:a="http://schemas.openxmlformats.org/drawingml/2006/main">
            <a:off x="9210675" y="1326390"/>
            <a:ext cx="2238375" cy="4795771"/>
          </a:xfrm>
          <a:prstGeom xmlns:a="http://schemas.openxmlformats.org/drawingml/2006/main" prst="rect">
            <a:avLst/>
          </a:prstGeom>
        </p:spPr>
      </p:pic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540FF8-8BDA-40D3-B9A8-3FCFC46E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86454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C47344C-FF3D-420D-8530-EAC70AB5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OAK AI   /   LEAD UX RESEARCHER, 2023–2025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F43C45EA-02DB-4B11-9B70-7AA0132E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108966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finding becomes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visible recommendation</a:t>
            </a:r>
          </a:p>
        </p:txBody>
      </p:sp>
      <p:sp>
        <p:nvSpPr>
          <p:cNvPr id="3" name="oak-reason">
            <a:extLst xmlns:a="http://schemas.openxmlformats.org/drawingml/2006/main">
              <a:ext uri="{FF2B5EF4-FFF2-40B4-BE49-F238E27FC236}">
                <a16:creationId xmlns:a16="http://schemas.microsoft.com/office/drawing/2014/main" id="{03BABCE6-30EB-4EBA-BBF8-74FC397B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7625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The audit identified vague login feedback. I recommended locating the error beside the relevant field so people could see what to correct.</a:t>
            </a:r>
          </a:p>
        </p:txBody>
      </p:sp>
      <p:sp>
        <p:nvSpPr>
          <p:cNvPr id="4" name="oak-boundary">
            <a:extLst xmlns:a="http://schemas.openxmlformats.org/drawingml/2006/main">
              <a:ext uri="{FF2B5EF4-FFF2-40B4-BE49-F238E27FC236}">
                <a16:creationId xmlns:a16="http://schemas.microsoft.com/office/drawing/2014/main" id="{C99E8358-78E1-475C-A528-00E0E61D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4762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proposed interface. This is evaluation and design guidance, not a measured conversion improvement.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9e5badc094471"/>
          <a:stretch xmlns:a="http://schemas.openxmlformats.org/drawingml/2006/main"/>
        </p:blipFill>
        <p:spPr>
          <a:xfrm xmlns:a="http://schemas.openxmlformats.org/drawingml/2006/main">
            <a:off x="6207199" y="2790825"/>
            <a:ext cx="4997302" cy="3581400"/>
          </a:xfrm>
          <a:prstGeom xmlns:a="http://schemas.openxmlformats.org/drawingml/2006/main" prst="rect">
            <a:avLst/>
          </a:prstGeom>
        </p:spPr>
      </p:pic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A139C56-4641-400F-BDD8-C3337C16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18230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F154561-BCD6-4895-9673-7044EEC9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ASU · OPPIA · COURSERA   /   LEARNING AND EXPLANATION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844B8D6E-D596-4D40-9B0D-47E42B1F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896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Learning experience informs the interface</a:t>
            </a:r>
          </a:p>
        </p:txBody>
      </p:sp>
      <p:sp>
        <p:nvSpPr>
          <p:cNvPr id="3" name="learning-work">
            <a:extLst xmlns:a="http://schemas.openxmlformats.org/drawingml/2006/main">
              <a:ext uri="{FF2B5EF4-FFF2-40B4-BE49-F238E27FC236}">
                <a16:creationId xmlns:a16="http://schemas.microsoft.com/office/drawing/2014/main" id="{EB66820A-62FE-4418-B3F4-EC0F7955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47625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At ASU, I developed learning materials and proposed AI workflows with mentor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8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At Oppia, I questioned autosave and save-on-exit before finalizing dialog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8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My Coursera lesson makes iteration a practice activity.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3e3dc5c374486"/>
          <a:stretch xmlns:a="http://schemas.openxmlformats.org/drawingml/2006/main"/>
        </p:blipFill>
        <p:spPr>
          <a:xfrm xmlns:a="http://schemas.openxmlformats.org/drawingml/2006/main">
            <a:off x="5907554" y="2771775"/>
            <a:ext cx="5596593" cy="3152775"/>
          </a:xfrm>
          <a:prstGeom xmlns:a="http://schemas.openxmlformats.org/drawingml/2006/main" prst="rect">
            <a:avLst/>
          </a:prstGeom>
        </p:spPr>
      </p:pic>
      <p:sp>
        <p:nvSpPr>
          <p:cNvPr id="5" name="learning-boundary">
            <a:extLst xmlns:a="http://schemas.openxmlformats.org/drawingml/2006/main">
              <a:ext uri="{FF2B5EF4-FFF2-40B4-BE49-F238E27FC236}">
                <a16:creationId xmlns:a16="http://schemas.microsoft.com/office/drawing/2014/main" id="{6734865C-6C0B-46B2-BF67-15DB1A02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89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2024 Coursera lesson slide. ASU workflow was proposed; Oppia example is a design review.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E6995A0-2B05-4D24-95E8-605B0C87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108847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E7EEE4B-5B05-4996-8D46-DBDCE3DE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NAVA PBC   /   PROPOSED APPROACH FOR A FUTURE PROJECT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B5033A5A-F1AE-4F89-964B-D5C20248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896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Follow one task across the service</a:t>
            </a:r>
          </a:p>
        </p:txBody>
      </p:sp>
      <p:sp>
        <p:nvSpPr>
          <p:cNvPr id="3" name="proposal-intro">
            <a:extLst xmlns:a="http://schemas.openxmlformats.org/drawingml/2006/main">
              <a:ext uri="{FF2B5EF4-FFF2-40B4-BE49-F238E27FC236}">
                <a16:creationId xmlns:a16="http://schemas.microsoft.com/office/drawing/2014/main" id="{287F6694-CE89-4CF4-B71D-7A179645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Nava’s caseworker toolkit pairs cited answers with staff review. For a future project, I would begin by understanding that task and its constraints.</a:t>
            </a:r>
          </a:p>
        </p:txBody>
      </p:sp>
      <p:sp>
        <p:nvSpPr>
          <p:cNvPr id="4" name="proposal-steps">
            <a:extLst xmlns:a="http://schemas.openxmlformats.org/drawingml/2006/main">
              <a:ext uri="{FF2B5EF4-FFF2-40B4-BE49-F238E27FC236}">
                <a16:creationId xmlns:a16="http://schemas.microsoft.com/office/drawing/2014/main" id="{7C4DC4C5-7190-4604-89B7-3754936C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04775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Map the task, decisions and handoffs with the team.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Find where a rule or system state becomes confusing.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Prototype a manageable change and check comprehension.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Document the behavior, review implementation and learn from use.</a:t>
            </a:r>
          </a:p>
        </p:txBody>
      </p:sp>
      <p:sp>
        <p:nvSpPr>
          <p:cNvPr id="5" name="proposal-boundary">
            <a:extLst xmlns:a="http://schemas.openxmlformats.org/drawingml/2006/main">
              <a:ext uri="{FF2B5EF4-FFF2-40B4-BE49-F238E27FC236}">
                <a16:creationId xmlns:a16="http://schemas.microsoft.com/office/drawing/2014/main" id="{3B329E41-DDF4-4935-9E0B-62CA5DF9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71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Proposed approach for future opportunities; not a Nava project or prior government-contract work.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60D5C7A-B288-4798-9C00-4B15DD32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869839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4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4B2577B-CFDB-4FB9-BE8B-9FF7D6AF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KYLE HOBSON   /   NAVA DESIGN &amp; RESEARCH TALENT POOL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25C4B57F-3A03-49A5-B998-74DBE87A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763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48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Design &amp; Research</a:t>
            </a:r>
          </a:p>
        </p:txBody>
      </p:sp>
      <p:sp>
        <p:nvSpPr>
          <p:cNvPr id="3" name="contact-intent">
            <a:extLst xmlns:a="http://schemas.openxmlformats.org/drawingml/2006/main">
              <a:ext uri="{FF2B5EF4-FFF2-40B4-BE49-F238E27FC236}">
                <a16:creationId xmlns:a16="http://schemas.microsoft.com/office/drawing/2014/main" id="{58D22606-077A-4CBC-8C20-7763F0BE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10572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Mesa, Arizona · Available for U.S. remote work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Future opportunities · Research, design and learning</a:t>
            </a:r>
          </a:p>
        </p:txBody>
      </p:sp>
      <p:sp>
        <p:nvSpPr>
          <p:cNvPr id="4" name="email">
            <a:extLst xmlns:a="http://schemas.openxmlformats.org/drawingml/2006/main">
              <a:ext uri="{FF2B5EF4-FFF2-40B4-BE49-F238E27FC236}">
                <a16:creationId xmlns:a16="http://schemas.microsoft.com/office/drawing/2014/main" id="{9B2F73C1-89F1-4E5A-B42B-00341860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7dd24cdb5bdd46b5"/>
              </a:rPr>
              <a:t>JonathanKyleHobson@gmail.com</a:t>
            </a:r>
          </a:p>
        </p:txBody>
      </p:sp>
      <p:sp>
        <p:nvSpPr>
          <p:cNvPr id="5" name="portfolio">
            <a:extLst xmlns:a="http://schemas.openxmlformats.org/drawingml/2006/main">
              <a:ext uri="{FF2B5EF4-FFF2-40B4-BE49-F238E27FC236}">
                <a16:creationId xmlns:a16="http://schemas.microsoft.com/office/drawing/2014/main" id="{9A144B82-D384-4418-B2DE-416F3186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7144e9c98157433b"/>
              </a:rPr>
              <a:t>View the Nava design and research portfolio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3C5E995-9FEE-454B-BE88-2BAE8D31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13816300"/>
      </p:ext>
    </p:extLst>
  </p:cSld>
</p:sld>
</file>

<file path=ppt/theme/theme1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2026-09-09T00:53:30.4290000Z</dcterms:created>
  <dcterms:modified xsi:type="dcterms:W3CDTF">2026-09-09T00:53:30.4290000Z</dcterms:modified>
</coreProperties>
</file>