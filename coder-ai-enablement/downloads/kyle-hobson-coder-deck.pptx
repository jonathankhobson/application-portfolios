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905cd21dca94fc6" /><Relationship Type="http://schemas.openxmlformats.org/officeDocument/2006/relationships/extended-properties" Target="/docProps/app.xml" Id="Rf5486c0d396c44dc" /><Relationship Type="http://schemas.openxmlformats.org/officeDocument/2006/relationships/officeDocument" Target="/ppt/presentation.xml" Id="R489f0dd29ca34ecb" /></Relationships>
</file>

<file path=ppt/presentation.xml><?xml version="1.0" encoding="utf-8"?>
<p:presentation xmlns:p="http://schemas.openxmlformats.org/presentationml/2006/main">
  <p:sldMasterIdLst>
    <p:sldMasterId xmlns:r="http://schemas.openxmlformats.org/officeDocument/2006/relationships" id="2147483648" r:id="Rd8eb34fe43424b96"/>
  </p:sldMasterIdLst>
  <p:notesMasterIdLst>
    <p:notesMasterId xmlns:r="http://schemas.openxmlformats.org/officeDocument/2006/relationships" r:id="R81be559e60ac43d6"/>
  </p:notesMasterIdLst>
  <p:sldIdLst>
    <p:sldId xmlns:r="http://schemas.openxmlformats.org/officeDocument/2006/relationships" id="256" r:id="Re54080b695e9481e"/>
    <p:sldId xmlns:r="http://schemas.openxmlformats.org/officeDocument/2006/relationships" id="257" r:id="R8c61fa4a70ff4107"/>
    <p:sldId xmlns:r="http://schemas.openxmlformats.org/officeDocument/2006/relationships" id="258" r:id="R7f0a1fa65d1d4e0d"/>
    <p:sldId xmlns:r="http://schemas.openxmlformats.org/officeDocument/2006/relationships" id="259" r:id="Raf36d748d87f4653"/>
    <p:sldId xmlns:r="http://schemas.openxmlformats.org/officeDocument/2006/relationships" id="260" r:id="Rde861af942954621"/>
    <p:sldId xmlns:r="http://schemas.openxmlformats.org/officeDocument/2006/relationships" id="261" r:id="Re18bf02fa2054b04"/>
    <p:sldId xmlns:r="http://schemas.openxmlformats.org/officeDocument/2006/relationships" id="262" r:id="R1abf3c0ec8ea490d"/>
    <p:sldId xmlns:r="http://schemas.openxmlformats.org/officeDocument/2006/relationships" id="263" r:id="R06d3b96c104f4b3d"/>
    <p:sldId xmlns:r="http://schemas.openxmlformats.org/officeDocument/2006/relationships" id="264" r:id="R0223291e15f44564"/>
    <p:sldId xmlns:r="http://schemas.openxmlformats.org/officeDocument/2006/relationships" id="265" r:id="R99f83f296e564c2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3c31160236e4ace" /><Relationship Type="http://schemas.openxmlformats.org/officeDocument/2006/relationships/slideMaster" Target="/ppt/slideMasters/slideMaster1.xml" Id="Rd8eb34fe43424b96" /><Relationship Type="http://schemas.openxmlformats.org/officeDocument/2006/relationships/notesMaster" Target="/ppt/notesMasters/notesMaster1.xml" Id="R81be559e60ac43d6" /><Relationship Type="http://schemas.openxmlformats.org/officeDocument/2006/relationships/presProps" Target="/ppt/presProps.xml" Id="R185911aee8894a66" /><Relationship Type="http://schemas.openxmlformats.org/officeDocument/2006/relationships/tableStyles" Target="/ppt/tableStyles.xml" Id="R67fec76bda814c41" /><Relationship Type="http://schemas.openxmlformats.org/officeDocument/2006/relationships/slide" Target="/ppt/slides/slide1.xml" Id="Re54080b695e9481e" /><Relationship Type="http://schemas.openxmlformats.org/officeDocument/2006/relationships/slide" Target="/ppt/slides/slide2.xml" Id="R8c61fa4a70ff4107" /><Relationship Type="http://schemas.openxmlformats.org/officeDocument/2006/relationships/slide" Target="/ppt/slides/slide3.xml" Id="R7f0a1fa65d1d4e0d" /><Relationship Type="http://schemas.openxmlformats.org/officeDocument/2006/relationships/slide" Target="/ppt/slides/slide4.xml" Id="Raf36d748d87f4653" /><Relationship Type="http://schemas.openxmlformats.org/officeDocument/2006/relationships/slide" Target="/ppt/slides/slide5.xml" Id="Rde861af942954621" /><Relationship Type="http://schemas.openxmlformats.org/officeDocument/2006/relationships/slide" Target="/ppt/slides/slide6.xml" Id="Re18bf02fa2054b04" /><Relationship Type="http://schemas.openxmlformats.org/officeDocument/2006/relationships/slide" Target="/ppt/slides/slide7.xml" Id="R1abf3c0ec8ea490d" /><Relationship Type="http://schemas.openxmlformats.org/officeDocument/2006/relationships/slide" Target="/ppt/slides/slide8.xml" Id="R06d3b96c104f4b3d" /><Relationship Type="http://schemas.openxmlformats.org/officeDocument/2006/relationships/slide" Target="/ppt/slides/slide9.xml" Id="R0223291e15f44564" /><Relationship Type="http://schemas.openxmlformats.org/officeDocument/2006/relationships/slide" Target="/ppt/slides/slide10.xml" Id="R99f83f296e564c2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8478fc20b7043c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e5358b3145743af" /><Relationship Type="http://schemas.openxmlformats.org/officeDocument/2006/relationships/notesMaster" Target="/ppt/notesMasters/notesMaster1.xml" Id="R848efcdf2b7b4b9e" /></Relationships>
</file>

<file path=ppt/notesSlides/_rels/notesSlide2.xml.rels>&#65279;<?xml version="1.0" encoding="utf-8"?><Relationships xmlns="http://schemas.openxmlformats.org/package/2006/relationships"><Relationship Type="http://schemas.openxmlformats.org/officeDocument/2006/relationships/slide" Target="/ppt/slides/slide2.xml" Id="R5d2c8ee7a1604747" /><Relationship Type="http://schemas.openxmlformats.org/officeDocument/2006/relationships/notesMaster" Target="/ppt/notesMasters/notesMaster1.xml" Id="R33a7b395ceed4931" /></Relationships>
</file>

<file path=ppt/notesSlides/_rels/notesSlide3.xml.rels>&#65279;<?xml version="1.0" encoding="utf-8"?><Relationships xmlns="http://schemas.openxmlformats.org/package/2006/relationships"><Relationship Type="http://schemas.openxmlformats.org/officeDocument/2006/relationships/slide" Target="/ppt/slides/slide3.xml" Id="Rc56865da115e4340" /><Relationship Type="http://schemas.openxmlformats.org/officeDocument/2006/relationships/notesMaster" Target="/ppt/notesMasters/notesMaster1.xml" Id="Rdd90393819974183" /></Relationships>
</file>

<file path=ppt/notesSlides/_rels/notesSlide4.xml.rels>&#65279;<?xml version="1.0" encoding="utf-8"?><Relationships xmlns="http://schemas.openxmlformats.org/package/2006/relationships"><Relationship Type="http://schemas.openxmlformats.org/officeDocument/2006/relationships/slide" Target="/ppt/slides/slide4.xml" Id="R40f2f78ce6f14ee8" /><Relationship Type="http://schemas.openxmlformats.org/officeDocument/2006/relationships/notesMaster" Target="/ppt/notesMasters/notesMaster1.xml" Id="R5c55b26bff034f9e" /></Relationships>
</file>

<file path=ppt/notesSlides/_rels/notesSlide5.xml.rels>&#65279;<?xml version="1.0" encoding="utf-8"?><Relationships xmlns="http://schemas.openxmlformats.org/package/2006/relationships"><Relationship Type="http://schemas.openxmlformats.org/officeDocument/2006/relationships/slide" Target="/ppt/slides/slide5.xml" Id="R01727c7ff52b488d" /><Relationship Type="http://schemas.openxmlformats.org/officeDocument/2006/relationships/notesMaster" Target="/ppt/notesMasters/notesMaster1.xml" Id="R60e123c73c724b46" /></Relationships>
</file>

<file path=ppt/notesSlides/_rels/notesSlide6.xml.rels>&#65279;<?xml version="1.0" encoding="utf-8"?><Relationships xmlns="http://schemas.openxmlformats.org/package/2006/relationships"><Relationship Type="http://schemas.openxmlformats.org/officeDocument/2006/relationships/slide" Target="/ppt/slides/slide6.xml" Id="R1873520aa3e743c0" /><Relationship Type="http://schemas.openxmlformats.org/officeDocument/2006/relationships/notesMaster" Target="/ppt/notesMasters/notesMaster1.xml" Id="Rc147410e272145c4" /></Relationships>
</file>

<file path=ppt/notesSlides/_rels/notesSlide7.xml.rels>&#65279;<?xml version="1.0" encoding="utf-8"?><Relationships xmlns="http://schemas.openxmlformats.org/package/2006/relationships"><Relationship Type="http://schemas.openxmlformats.org/officeDocument/2006/relationships/slide" Target="/ppt/slides/slide7.xml" Id="R09afe97d14f048f0" /><Relationship Type="http://schemas.openxmlformats.org/officeDocument/2006/relationships/notesMaster" Target="/ppt/notesMasters/notesMaster1.xml" Id="R5775ac87c09e4da8" /></Relationships>
</file>

<file path=ppt/notesSlides/_rels/notesSlide8.xml.rels>&#65279;<?xml version="1.0" encoding="utf-8"?><Relationships xmlns="http://schemas.openxmlformats.org/package/2006/relationships"><Relationship Type="http://schemas.openxmlformats.org/officeDocument/2006/relationships/slide" Target="/ppt/slides/slide8.xml" Id="Redc092f06fea409b" /><Relationship Type="http://schemas.openxmlformats.org/officeDocument/2006/relationships/notesMaster" Target="/ppt/notesMasters/notesMaster1.xml" Id="R8624b05ba5e243d1" /></Relationships>
</file>

<file path=ppt/notesSlides/_rels/notesSlide9.xml.rels>&#65279;<?xml version="1.0" encoding="utf-8"?><Relationships xmlns="http://schemas.openxmlformats.org/package/2006/relationships"><Relationship Type="http://schemas.openxmlformats.org/officeDocument/2006/relationships/slide" Target="/ppt/slides/slide9.xml" Id="R52218d0c826d48c6" /><Relationship Type="http://schemas.openxmlformats.org/officeDocument/2006/relationships/notesMaster" Target="/ppt/notesMasters/notesMaster1.xml" Id="Rced99f3b288c415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33c1e94ae06452b" /><Relationship Type="http://schemas.openxmlformats.org/officeDocument/2006/relationships/notesMaster" Target="/ppt/notesMasters/notesMaster1.xml" Id="R8f4fa5a8e2cc412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work for Coder AI Enablement Engineer: https://jobs.ashbyhq.com/coder/44d219cc-c54f-48f6-a118-17909461ed30 . Prior work shown includes independent Prompt Compass development, FactorLab interaction design and Coursera instruction.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Prompt Compass public beta: https://github.com/JonathanKHobson/prompt-compass/releases/tag/v0.1.0-beta.3 . The diagram explains a selected workflow reconstructed from the implementation. The local tool returns structured analysis and routing; the host assistant supplies conversation and final wording. Later local features are distinct from the April 2026 beta. No employee or customer adoption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October 1, 2024 Course Shell Feedback and instructor responses. These four rows summarize actual review concerns and Kyle’s recorded revisions. Completed revision status does not establish separate final QA approval or measured learner improvement. Published course: https://www.coursera.org/projects/chatgpt-beginners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Prompt Compass local regression example, May 2026. Exact test instructions appear in an implementation-grounded portfolio rendering. The literal-term checks report missing requirements in the shorter prompt. They do not execute an LLM, parse generated output or validate the confidence threshold. This later local example is separate from the public April beta.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FactorLab Flint incomplete-answer and offline design variants. The March 27, 2026 handoff separates partial response, stopped response and connection loss, with different next actions. Work shown is interaction design and annotated engineering handoff; no deployed adoption result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2024 teaching material for ChatGPT 4o for Beginners: Create Social Media Content. Kyle created and taught this published Guided Project. The displayed Task 3 goals connect drafting, revision, feedback and goal alignment. https://www.coursera.org/projects/chatgpt-beginners . No measured learning gain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Coursera Task 3 teaching recording, 2024, at 03:35. The displayed revision instruction preserves historical wording and typos. Brew Bliss is fictional practice material. The reflection about checking added facts and length is a retrospective recommendation, not a reported assessment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related experience: ASU IT Specialist October 2020–December 2022; FactorLab contract since October 2025; Coursera Guided Project instructor 2024; Prompt Compass independent creation and public beta 2026. ASU instructional design April 2022–October 2024 and AI Analyst February–October 2024 overlap. These roles are not added to claim extra tenure. Coder contribution described here is proposed.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discussion approach for Coder AI Enablement Engineer, https://jobs.ashbyhq.com/coder/44d219cc-c54f-48f6-a118-17909461ed30 . The role connects employee blockers, recurring needs, reusable skills and journeys with an existing Smart AI roadmap. This is not prior Coder work or a committed program. Any access, infrastructure or shared workflow change would follow Coder permissions and review practices. No measured adoption or savings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Related work includes released local MCP tooling, product interaction design and technical teaching. Available in Mesa, Arizona with full United States work authorization. No prior Coder platform operation, production infrastructure ownership or enterprise adoption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0d0beda79ad499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15ba6247e9746fe" /><Relationship Type="http://schemas.openxmlformats.org/officeDocument/2006/relationships/slideLayout" Target="/ppt/slideLayouts/slideLayout1.xml" Id="R66bcc25bdd6f489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6bcc25bdd6f489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8a0a0a570714d7e" /><Relationship Type="http://schemas.openxmlformats.org/officeDocument/2006/relationships/image" Target="/ppt/media/image.png" Id="Rb43bdd54ebcb47c6" /><Relationship Type="http://schemas.openxmlformats.org/officeDocument/2006/relationships/notesSlide" Target="/ppt/notesSlides/notesSlide1.xml" Id="R89a467a296444ff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40e3eee009c4e59" /><Relationship Type="http://schemas.openxmlformats.org/officeDocument/2006/relationships/image" Target="/ppt/media/image2.png" Id="R06ddfafdf80d4129" /><Relationship Type="http://schemas.openxmlformats.org/officeDocument/2006/relationships/notesSlide" Target="/ppt/notesSlides/notesSlide2.xml" Id="R03c401e883fc447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b0b066c8e794754" /><Relationship Type="http://schemas.openxmlformats.org/officeDocument/2006/relationships/notesSlide" Target="/ppt/notesSlides/notesSlide3.xml" Id="R36dc1692da93495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3920e28cfe143e5" /><Relationship Type="http://schemas.openxmlformats.org/officeDocument/2006/relationships/image" Target="/ppt/media/image3.png" Id="R376f99fb79cb4801" /><Relationship Type="http://schemas.openxmlformats.org/officeDocument/2006/relationships/notesSlide" Target="/ppt/notesSlides/notesSlide4.xml" Id="R2d6f7f285b7b431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1656326f2e84e89" /><Relationship Type="http://schemas.openxmlformats.org/officeDocument/2006/relationships/image" Target="/ppt/media/image4.png" Id="R1d991216cf144861" /><Relationship Type="http://schemas.openxmlformats.org/officeDocument/2006/relationships/image" Target="/ppt/media/image5.png" Id="Rb41bab13790a438d" /><Relationship Type="http://schemas.openxmlformats.org/officeDocument/2006/relationships/notesSlide" Target="/ppt/notesSlides/notesSlide5.xml" Id="R2d28e4835e5141b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f8d2ce249d24e9d" /><Relationship Type="http://schemas.openxmlformats.org/officeDocument/2006/relationships/image" Target="/ppt/media/image6.png" Id="Rbb0a5d64831646a9" /><Relationship Type="http://schemas.openxmlformats.org/officeDocument/2006/relationships/notesSlide" Target="/ppt/notesSlides/notesSlide6.xml" Id="Rd2ed4e998fdb4de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b6b87ad01fe4fd1" /><Relationship Type="http://schemas.openxmlformats.org/officeDocument/2006/relationships/image" Target="/ppt/media/image7.png" Id="Reeff49a50bcd4ebe" /><Relationship Type="http://schemas.openxmlformats.org/officeDocument/2006/relationships/notesSlide" Target="/ppt/notesSlides/notesSlide7.xml" Id="Rb834f29ae9054f1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c195cd330374692" /><Relationship Type="http://schemas.openxmlformats.org/officeDocument/2006/relationships/notesSlide" Target="/ppt/notesSlides/notesSlide8.xml" Id="R8168a56d6ae941a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e5e7b7ef203429c" /><Relationship Type="http://schemas.openxmlformats.org/officeDocument/2006/relationships/notesSlide" Target="/ppt/notesSlides/notesSlide9.xml" Id="Rfe4ba0e0b38c49a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90a68c269af4999" /><Relationship Type="http://schemas.openxmlformats.org/officeDocument/2006/relationships/hyperlink" Target="mailto:JonathanKyleHobson@gmail.com" TargetMode="External" Id="Raa1a49214f9d4452" /><Relationship Type="http://schemas.openxmlformats.org/officeDocument/2006/relationships/hyperlink" Target="https://jonathankhobson.github.io/application-portfolios/coder-ai-enablement/" TargetMode="External" Id="Rfa347778264b4b96" /><Relationship Type="http://schemas.openxmlformats.org/officeDocument/2006/relationships/notesSlide" Target="/ppt/notesSlides/notesSlide10.xml" Id="R77e8618da38943d3" /></Relationships>
</file>

<file path=ppt/slides/slide1.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b43bdd54ebcb47c6"/>
          <a:srcRect xmlns:a="http://schemas.openxmlformats.org/drawingml/2006/main" l="0" t="7813" r="0" b="78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ection-label">
            <a:extLst xmlns:a="http://schemas.openxmlformats.org/drawingml/2006/main">
              <a:ext uri="{FF2B5EF4-FFF2-40B4-BE49-F238E27FC236}">
                <a16:creationId xmlns:a16="http://schemas.microsoft.com/office/drawing/2014/main" id="{B87F5ABF-E5B0-45B7-88FF-C7873E014A48}"/>
              </a:ext>
            </a:extLst>
          </p:cNvPr>
          <p:cNvSpPr>
            <a:spLocks xmlns:a="http://schemas.openxmlformats.org/drawingml/2006/main" noGrp="1"/>
          </p:cNvSpPr>
          <p:nvPr/>
        </p:nvSpPr>
        <p:spPr>
          <a:xfrm xmlns:a="http://schemas.openxmlformats.org/drawingml/2006/main">
            <a:off x="609600" y="51435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KYLE HOBSON   /   Coder · AI ENABLEMENT ENGINEER</a:t>
            </a:r>
          </a:p>
        </p:txBody>
      </p:sp>
      <p:sp>
        <p:nvSpPr>
          <p:cNvPr id="3" name="headline">
            <a:extLst xmlns:a="http://schemas.openxmlformats.org/drawingml/2006/main">
              <a:ext uri="{FF2B5EF4-FFF2-40B4-BE49-F238E27FC236}">
                <a16:creationId xmlns:a16="http://schemas.microsoft.com/office/drawing/2014/main" id="{43B66FD8-34A6-45D4-B059-36D3A200985C}"/>
              </a:ext>
            </a:extLst>
          </p:cNvPr>
          <p:cNvSpPr>
            <a:spLocks xmlns:a="http://schemas.openxmlformats.org/drawingml/2006/main" noGrp="1"/>
          </p:cNvSpPr>
          <p:nvPr/>
        </p:nvSpPr>
        <p:spPr>
          <a:xfrm xmlns:a="http://schemas.openxmlformats.org/drawingml/2006/main">
            <a:off x="609600" y="1581150"/>
            <a:ext cx="10572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350" b="1">
                <a:solidFill>
                  <a:srgbClr val="192B25"/>
                </a:solidFill>
                <a:latin typeface="Helvetica Neue"/>
                <a:ea typeface="Helvetica Neue"/>
                <a:cs typeface="Helvetica Neue"/>
              </a:defRPr>
            </a:pPr>
            <a:r>
              <a:rPr sz="4350" b="1">
                <a:solidFill>
                  <a:srgbClr val="192B25"/>
                </a:solidFill>
                <a:latin typeface="Helvetica Neue"/>
                <a:ea typeface="Helvetica Neue"/>
                <a:cs typeface="Helvetica Neue"/>
              </a:rPr>
              <a:t>AI workflows</a:t>
            </a:r>
          </a:p>
          <a:p xmlns:a="http://schemas.openxmlformats.org/drawingml/2006/main">
            <a:pPr>
              <a:lnSpc>
                <a:spcPct val="110000"/>
              </a:lnSpc>
              <a:buNone/>
              <a:defRPr sz="4350" b="1">
                <a:solidFill>
                  <a:srgbClr val="192B25"/>
                </a:solidFill>
                <a:latin typeface="Helvetica Neue"/>
                <a:ea typeface="Helvetica Neue"/>
                <a:cs typeface="Helvetica Neue"/>
              </a:defRPr>
            </a:pPr>
            <a:r>
              <a:rPr sz="4350" b="1">
                <a:solidFill>
                  <a:srgbClr val="192B25"/>
                </a:solidFill>
                <a:latin typeface="Helvetica Neue"/>
                <a:ea typeface="Helvetica Neue"/>
                <a:cs typeface="Helvetica Neue"/>
              </a:rPr>
              <a:t>people can use</a:t>
            </a:r>
          </a:p>
        </p:txBody>
      </p:sp>
      <p:sp>
        <p:nvSpPr>
          <p:cNvPr id="4" name="cover-intro">
            <a:extLst xmlns:a="http://schemas.openxmlformats.org/drawingml/2006/main">
              <a:ext uri="{FF2B5EF4-FFF2-40B4-BE49-F238E27FC236}">
                <a16:creationId xmlns:a16="http://schemas.microsoft.com/office/drawing/2014/main" id="{BC765C0E-2175-4D52-9520-08D202EA285C}"/>
              </a:ext>
            </a:extLst>
          </p:cNvPr>
          <p:cNvSpPr>
            <a:spLocks xmlns:a="http://schemas.openxmlformats.org/drawingml/2006/main" noGrp="1"/>
          </p:cNvSpPr>
          <p:nvPr/>
        </p:nvSpPr>
        <p:spPr>
          <a:xfrm xmlns:a="http://schemas.openxmlformats.org/drawingml/2006/main">
            <a:off x="647700" y="4067175"/>
            <a:ext cx="1009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Released MCP tooling, recovery design</a:t>
            </a:r>
          </a:p>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and original AI teaching.</a:t>
            </a:r>
          </a:p>
        </p:txBody>
      </p:sp>
      <p:sp>
        <p:nvSpPr>
          <p:cNvPr id="5" name="cover-role">
            <a:extLst xmlns:a="http://schemas.openxmlformats.org/drawingml/2006/main">
              <a:ext uri="{FF2B5EF4-FFF2-40B4-BE49-F238E27FC236}">
                <a16:creationId xmlns:a16="http://schemas.microsoft.com/office/drawing/2014/main" id="{38D24C94-3FD8-41C3-9A69-8AFBFC95AA82}"/>
              </a:ext>
            </a:extLst>
          </p:cNvPr>
          <p:cNvSpPr>
            <a:spLocks xmlns:a="http://schemas.openxmlformats.org/drawingml/2006/main" noGrp="1"/>
          </p:cNvSpPr>
          <p:nvPr/>
        </p:nvSpPr>
        <p:spPr>
          <a:xfrm xmlns:a="http://schemas.openxmlformats.org/drawingml/2006/main">
            <a:off x="647700" y="601980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0">
                <a:solidFill>
                  <a:srgbClr val="192B25"/>
                </a:solidFill>
                <a:latin typeface="Helvetica Neue"/>
                <a:ea typeface="Helvetica Neue"/>
                <a:cs typeface="Helvetica Neue"/>
              </a:defRPr>
            </a:pPr>
            <a:r>
              <a:rPr sz="1500" b="0">
                <a:solidFill>
                  <a:srgbClr val="192B25"/>
                </a:solidFill>
                <a:latin typeface="Helvetica Neue"/>
                <a:ea typeface="Helvetica Neue"/>
                <a:cs typeface="Helvetica Neue"/>
              </a:rPr>
              <a:t>AI Enablement Engineer application · September 2026</a:t>
            </a:r>
          </a:p>
        </p:txBody>
      </p:sp>
      <p:sp>
        <p:nvSpPr>
          <p:cNvPr id="6" name="slide-number">
            <a:extLst xmlns:a="http://schemas.openxmlformats.org/drawingml/2006/main">
              <a:ext uri="{FF2B5EF4-FFF2-40B4-BE49-F238E27FC236}">
                <a16:creationId xmlns:a16="http://schemas.microsoft.com/office/drawing/2014/main" id="{C26405FD-78EA-4AE2-920D-45DC63F8BAA0}"/>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01</a:t>
            </a:r>
          </a:p>
        </p:txBody>
      </p:sp>
    </p:spTree>
    <p:extLst>
      <p:ext uri="{BB962C8B-B14F-4D97-AF65-F5344CB8AC3E}">
        <p14:creationId xmlns:p14="http://schemas.microsoft.com/office/powerpoint/2010/main" val="652302124"/>
      </p:ext>
    </p:extLst>
  </p:cSld>
</p:sld>
</file>

<file path=ppt/slides/slide2.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520B079B-7F55-4D8F-A94E-CD230A611DBF}"/>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PROMPT COMPASS   /   RELEASED TOOL AND WORKFLOW DESIGN</a:t>
            </a:r>
          </a:p>
        </p:txBody>
      </p:sp>
      <p:sp>
        <p:nvSpPr>
          <p:cNvPr id="2" name="headline">
            <a:extLst xmlns:a="http://schemas.openxmlformats.org/drawingml/2006/main">
              <a:ext uri="{FF2B5EF4-FFF2-40B4-BE49-F238E27FC236}">
                <a16:creationId xmlns:a16="http://schemas.microsoft.com/office/drawing/2014/main" id="{E9132A65-7DAA-4378-B884-BDC7343B7E11}"/>
              </a:ext>
            </a:extLst>
          </p:cNvPr>
          <p:cNvSpPr>
            <a:spLocks xmlns:a="http://schemas.openxmlformats.org/drawingml/2006/main" noGrp="1"/>
          </p:cNvSpPr>
          <p:nvPr/>
        </p:nvSpPr>
        <p:spPr>
          <a:xfrm xmlns:a="http://schemas.openxmlformats.org/drawingml/2006/main">
            <a:off x="609600" y="1047750"/>
            <a:ext cx="10763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Prompt Compass workflow</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06ddfafdf80d4129"/>
          <a:stretch xmlns:a="http://schemas.openxmlformats.org/drawingml/2006/main"/>
        </p:blipFill>
        <p:spPr>
          <a:xfrm xmlns:a="http://schemas.openxmlformats.org/drawingml/2006/main">
            <a:off x="863819" y="2019300"/>
            <a:ext cx="10464362" cy="3371850"/>
          </a:xfrm>
          <a:prstGeom xmlns:a="http://schemas.openxmlformats.org/drawingml/2006/main" prst="rect">
            <a:avLst/>
          </a:prstGeom>
        </p:spPr>
      </p:pic>
      <p:sp>
        <p:nvSpPr>
          <p:cNvPr id="4" name="tool-boundary">
            <a:extLst xmlns:a="http://schemas.openxmlformats.org/drawingml/2006/main">
              <a:ext uri="{FF2B5EF4-FFF2-40B4-BE49-F238E27FC236}">
                <a16:creationId xmlns:a16="http://schemas.microsoft.com/office/drawing/2014/main" id="{05351CD5-75A6-45E9-B093-387C2A5FF99A}"/>
              </a:ext>
            </a:extLst>
          </p:cNvPr>
          <p:cNvSpPr>
            <a:spLocks xmlns:a="http://schemas.openxmlformats.org/drawingml/2006/main" noGrp="1"/>
          </p:cNvSpPr>
          <p:nvPr/>
        </p:nvSpPr>
        <p:spPr>
          <a:xfrm xmlns:a="http://schemas.openxmlformats.org/drawingml/2006/main">
            <a:off x="609600" y="566737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192B25"/>
                </a:solidFill>
                <a:latin typeface="Helvetica Neue"/>
                <a:ea typeface="Helvetica Neue"/>
                <a:cs typeface="Helvetica Neue"/>
              </a:defRPr>
            </a:pPr>
            <a:r>
              <a:rPr sz="1650" b="0">
                <a:solidFill>
                  <a:srgbClr val="192B25"/>
                </a:solidFill>
                <a:latin typeface="Helvetica Neue"/>
                <a:ea typeface="Helvetica Neue"/>
                <a:cs typeface="Helvetica Neue"/>
              </a:rPr>
              <a:t>The local tool returns structured checks and routing.</a:t>
            </a:r>
          </a:p>
          <a:p xmlns:a="http://schemas.openxmlformats.org/drawingml/2006/main">
            <a:pPr>
              <a:lnSpc>
                <a:spcPct val="110000"/>
              </a:lnSpc>
              <a:buNone/>
              <a:defRPr sz="1650" b="0">
                <a:solidFill>
                  <a:srgbClr val="192B25"/>
                </a:solidFill>
                <a:latin typeface="Helvetica Neue"/>
                <a:ea typeface="Helvetica Neue"/>
                <a:cs typeface="Helvetica Neue"/>
              </a:defRPr>
            </a:pPr>
            <a:r>
              <a:rPr sz="1650" b="0">
                <a:solidFill>
                  <a:srgbClr val="192B25"/>
                </a:solidFill>
                <a:latin typeface="Helvetica Neue"/>
                <a:ea typeface="Helvetica Neue"/>
                <a:cs typeface="Helvetica Neue"/>
              </a:rPr>
              <a:t>The host assistant handles the conversation and final wording.</a:t>
            </a:r>
          </a:p>
        </p:txBody>
      </p:sp>
      <p:sp>
        <p:nvSpPr>
          <p:cNvPr id="5" name="tool-source">
            <a:extLst xmlns:a="http://schemas.openxmlformats.org/drawingml/2006/main">
              <a:ext uri="{FF2B5EF4-FFF2-40B4-BE49-F238E27FC236}">
                <a16:creationId xmlns:a16="http://schemas.microsoft.com/office/drawing/2014/main" id="{185A00D0-ECE5-4F16-B293-8E71F424D83A}"/>
              </a:ext>
            </a:extLst>
          </p:cNvPr>
          <p:cNvSpPr>
            <a:spLocks xmlns:a="http://schemas.openxmlformats.org/drawingml/2006/main" noGrp="1"/>
          </p:cNvSpPr>
          <p:nvPr/>
        </p:nvSpPr>
        <p:spPr>
          <a:xfrm xmlns:a="http://schemas.openxmlformats.org/drawingml/2006/main">
            <a:off x="609600" y="6410325"/>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58645D"/>
                </a:solidFill>
                <a:latin typeface="Helvetica Neue"/>
                <a:ea typeface="Helvetica Neue"/>
                <a:cs typeface="Helvetica Neue"/>
              </a:defRPr>
            </a:pPr>
            <a:r>
              <a:rPr sz="1200" b="0">
                <a:solidFill>
                  <a:srgbClr val="58645D"/>
                </a:solidFill>
                <a:latin typeface="Helvetica Neue"/>
                <a:ea typeface="Helvetica Neue"/>
                <a:cs typeface="Helvetica Neue"/>
              </a:rPr>
              <a:t>Implementation-based portfolio diagram · public beta release, April 2026</a:t>
            </a:r>
          </a:p>
        </p:txBody>
      </p:sp>
      <p:sp>
        <p:nvSpPr>
          <p:cNvPr id="6" name="slide-number">
            <a:extLst xmlns:a="http://schemas.openxmlformats.org/drawingml/2006/main">
              <a:ext uri="{FF2B5EF4-FFF2-40B4-BE49-F238E27FC236}">
                <a16:creationId xmlns:a16="http://schemas.microsoft.com/office/drawing/2014/main" id="{BB7F5625-266D-470C-B0B3-971556DEEEA1}"/>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02</a:t>
            </a:r>
          </a:p>
        </p:txBody>
      </p:sp>
    </p:spTree>
    <p:extLst>
      <p:ext uri="{BB962C8B-B14F-4D97-AF65-F5344CB8AC3E}">
        <p14:creationId xmlns:p14="http://schemas.microsoft.com/office/powerpoint/2010/main" val="657388826"/>
      </p:ext>
    </p:extLst>
  </p:cSld>
</p:sld>
</file>

<file path=ppt/slides/slide3.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6" name="section-label">
            <a:extLst xmlns:a="http://schemas.openxmlformats.org/drawingml/2006/main">
              <a:ext uri="{FF2B5EF4-FFF2-40B4-BE49-F238E27FC236}">
                <a16:creationId xmlns:a16="http://schemas.microsoft.com/office/drawing/2014/main" id="{CBFC901D-84AB-42FC-BAE2-FC0B5DA9E3D6}"/>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COURSERA   /   ASSESSMENT REVIEW, OCTOBER 2024</a:t>
            </a:r>
          </a:p>
        </p:txBody>
      </p:sp>
      <p:sp>
        <p:nvSpPr>
          <p:cNvPr id="2" name="headline">
            <a:extLst xmlns:a="http://schemas.openxmlformats.org/drawingml/2006/main">
              <a:ext uri="{FF2B5EF4-FFF2-40B4-BE49-F238E27FC236}">
                <a16:creationId xmlns:a16="http://schemas.microsoft.com/office/drawing/2014/main" id="{AAF0CEA3-98D9-47EC-96B3-C185E294581B}"/>
              </a:ext>
            </a:extLst>
          </p:cNvPr>
          <p:cNvSpPr>
            <a:spLocks xmlns:a="http://schemas.openxmlformats.org/drawingml/2006/main" noGrp="1"/>
          </p:cNvSpPr>
          <p:nvPr/>
        </p:nvSpPr>
        <p:spPr>
          <a:xfrm xmlns:a="http://schemas.openxmlformats.org/drawingml/2006/main">
            <a:off x="609600" y="107632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375" b="1">
                <a:solidFill>
                  <a:srgbClr val="192B25"/>
                </a:solidFill>
                <a:latin typeface="Helvetica Neue"/>
                <a:ea typeface="Helvetica Neue"/>
                <a:cs typeface="Helvetica Neue"/>
              </a:defRPr>
            </a:pPr>
            <a:r>
              <a:rPr sz="3375" b="1">
                <a:solidFill>
                  <a:srgbClr val="192B25"/>
                </a:solidFill>
                <a:latin typeface="Helvetica Neue"/>
                <a:ea typeface="Helvetica Neue"/>
                <a:cs typeface="Helvetica Neue"/>
              </a:rPr>
              <a:t>Assessment review and revision</a:t>
            </a:r>
          </a:p>
        </p:txBody>
      </p:sp>
      <p:graphicFrame>
        <p:nvGraphicFramePr>
          <p:cNvPr id="8" name=""/>
          <p:cNvGraphicFramePr/>
          <p:nvPr/>
        </p:nvGraphicFramePr>
        <p:xfrm>
          <a:off xmlns:a="http://schemas.openxmlformats.org/drawingml/2006/main" x="609600" y="2219325"/>
          <a:ext xmlns:a="http://schemas.openxmlformats.org/drawingml/2006/main" cx="10972800" cy="3695700"/>
        </p:xfrm>
        <a:graphic xmlns:a="http://schemas.openxmlformats.org/drawingml/2006/main">
          <a:graphicData uri="http://schemas.openxmlformats.org/drawingml/2006/table">
            <a:tbl>
              <a:tblPr/>
              <a:tblGrid>
                <a:gridCol w="3886200"/>
                <a:gridCol w="7086600"/>
              </a:tblGrid>
              <a:tr h="495300">
                <a:tc>
                  <a:txBody>
                    <a:bodyPr wrap="square" lIns="152400" tIns="114300" rIns="152400" bIns="114300">
                      <a:noAutofit/>
                    </a:bodyPr>
                    <a:lstStyle/>
                    <a:p>
                      <a:r>
                        <a:rPr sz="1650" b="1">
                          <a:solidFill>
                            <a:srgbClr val="F4F2E9"/>
                          </a:solidFill>
                          <a:latin typeface="Helvetica Neue"/>
                          <a:ea typeface="Helvetica Neue"/>
                          <a:cs typeface="Helvetica Neue"/>
                        </a:rPr>
                        <a:t>Review finding</a:t>
                      </a:r>
                    </a:p>
                  </a:txBody>
                  <a:tcPr marL="91440" marR="91440" marT="45720" marB="45720" anchor="ctr">
                    <a:solidFill>
                      <a:srgbClr val="244D3C"/>
                    </a:solidFill>
                  </a:tcPr>
                </a:tc>
                <a:tc>
                  <a:txBody>
                    <a:bodyPr wrap="square" lIns="152400" tIns="114300" rIns="152400" bIns="114300">
                      <a:noAutofit/>
                    </a:bodyPr>
                    <a:lstStyle/>
                    <a:p>
                      <a:r>
                        <a:rPr sz="1650" b="1">
                          <a:solidFill>
                            <a:srgbClr val="F4F2E9"/>
                          </a:solidFill>
                          <a:latin typeface="Helvetica Neue"/>
                          <a:ea typeface="Helvetica Neue"/>
                          <a:cs typeface="Helvetica Neue"/>
                        </a:rPr>
                        <a:t>My documented revision</a:t>
                      </a:r>
                    </a:p>
                  </a:txBody>
                  <a:tcPr marL="91440" marR="91440" marT="45720" marB="45720" anchor="ctr">
                    <a:solidFill>
                      <a:srgbClr val="244D3C"/>
                    </a:solidFill>
                  </a:tcPr>
                </a:tc>
              </a:tr>
              <a:tr h="800100">
                <a:tc>
                  <a:txBody>
                    <a:bodyPr wrap="square" lIns="152400" tIns="114300" rIns="152400" bIns="114300">
                      <a:noAutofit/>
                    </a:bodyPr>
                    <a:lstStyle/>
                    <a:p>
                      <a:r>
                        <a:rPr sz="1650" b="0">
                          <a:solidFill>
                            <a:srgbClr val="192B25"/>
                          </a:solidFill>
                          <a:latin typeface="Helvetica Neue"/>
                          <a:ea typeface="Helvetica Neue"/>
                          <a:cs typeface="Helvetica Neue"/>
                        </a:rPr>
                        <a:t>Choices were easy to eliminate</a:t>
                      </a:r>
                    </a:p>
                  </a:txBody>
                  <a:tcPr marL="91440" marR="91440" marT="45720" marB="45720" anchor="ctr">
                    <a:solidFill>
                      <a:srgbClr val="F4F2E9"/>
                    </a:solidFill>
                  </a:tcPr>
                </a:tc>
                <a:tc>
                  <a:txBody>
                    <a:bodyPr wrap="square" lIns="152400" tIns="114300" rIns="152400" bIns="114300">
                      <a:noAutofit/>
                    </a:bodyPr>
                    <a:lstStyle/>
                    <a:p>
                      <a:r>
                        <a:rPr sz="1650" b="0">
                          <a:solidFill>
                            <a:srgbClr val="192B25"/>
                          </a:solidFill>
                          <a:latin typeface="Helvetica Neue"/>
                          <a:ea typeface="Helvetica Neue"/>
                          <a:cs typeface="Helvetica Neue"/>
                        </a:rPr>
                        <a:t>Reworked distractors, especially Questions 7, 8 and 10.</a:t>
                      </a:r>
                    </a:p>
                  </a:txBody>
                  <a:tcPr marL="91440" marR="91440" marT="45720" marB="45720" anchor="ctr">
                    <a:solidFill>
                      <a:srgbClr val="F4F2E9"/>
                    </a:solidFill>
                  </a:tcPr>
                </a:tc>
              </a:tr>
              <a:tr h="800100">
                <a:tc>
                  <a:txBody>
                    <a:bodyPr wrap="square" lIns="152400" tIns="114300" rIns="152400" bIns="114300">
                      <a:noAutofit/>
                    </a:bodyPr>
                    <a:lstStyle/>
                    <a:p>
                      <a:r>
                        <a:rPr sz="1650" b="0">
                          <a:solidFill>
                            <a:srgbClr val="192B25"/>
                          </a:solidFill>
                          <a:latin typeface="Helvetica Neue"/>
                          <a:ea typeface="Helvetica Neue"/>
                          <a:cs typeface="Helvetica Neue"/>
                        </a:rPr>
                        <a:t>Question 7 tested only a definition</a:t>
                      </a:r>
                    </a:p>
                  </a:txBody>
                  <a:tcPr marL="91440" marR="91440" marT="45720" marB="45720" anchor="ctr">
                    <a:solidFill>
                      <a:srgbClr val="E1E8DB"/>
                    </a:solidFill>
                  </a:tcPr>
                </a:tc>
                <a:tc>
                  <a:txBody>
                    <a:bodyPr wrap="square" lIns="152400" tIns="114300" rIns="152400" bIns="114300">
                      <a:noAutofit/>
                    </a:bodyPr>
                    <a:lstStyle/>
                    <a:p>
                      <a:r>
                        <a:rPr sz="1650" b="0">
                          <a:solidFill>
                            <a:srgbClr val="192B25"/>
                          </a:solidFill>
                          <a:latin typeface="Helvetica Neue"/>
                          <a:ea typeface="Helvetica Neue"/>
                          <a:cs typeface="Helvetica Neue"/>
                        </a:rPr>
                        <a:t>Added application of the concept alongside the definition.</a:t>
                      </a:r>
                    </a:p>
                  </a:txBody>
                  <a:tcPr marL="91440" marR="91440" marT="45720" marB="45720" anchor="ctr">
                    <a:solidFill>
                      <a:srgbClr val="E1E8DB"/>
                    </a:solidFill>
                  </a:tcPr>
                </a:tc>
              </a:tr>
              <a:tr h="800100">
                <a:tc>
                  <a:txBody>
                    <a:bodyPr wrap="square" lIns="152400" tIns="114300" rIns="152400" bIns="114300">
                      <a:noAutofit/>
                    </a:bodyPr>
                    <a:lstStyle/>
                    <a:p>
                      <a:r>
                        <a:rPr sz="1650" b="0">
                          <a:solidFill>
                            <a:srgbClr val="192B25"/>
                          </a:solidFill>
                          <a:latin typeface="Helvetica Neue"/>
                          <a:ea typeface="Helvetica Neue"/>
                          <a:cs typeface="Helvetica Neue"/>
                        </a:rPr>
                        <a:t>Retry feedback revealed answers</a:t>
                      </a:r>
                    </a:p>
                  </a:txBody>
                  <a:tcPr marL="91440" marR="91440" marT="45720" marB="45720" anchor="ctr">
                    <a:solidFill>
                      <a:srgbClr val="F4F2E9"/>
                    </a:solidFill>
                  </a:tcPr>
                </a:tc>
                <a:tc>
                  <a:txBody>
                    <a:bodyPr wrap="square" lIns="152400" tIns="114300" rIns="152400" bIns="114300">
                      <a:noAutofit/>
                    </a:bodyPr>
                    <a:lstStyle/>
                    <a:p>
                      <a:r>
                        <a:rPr sz="1650" b="0">
                          <a:solidFill>
                            <a:srgbClr val="192B25"/>
                          </a:solidFill>
                          <a:latin typeface="Helvetica Neue"/>
                          <a:ea typeface="Helvetica Neue"/>
                          <a:cs typeface="Helvetica Neue"/>
                        </a:rPr>
                        <a:t>Made feedback more neutral and referred learners to the lesson task.</a:t>
                      </a:r>
                    </a:p>
                  </a:txBody>
                  <a:tcPr marL="91440" marR="91440" marT="45720" marB="45720" anchor="ctr">
                    <a:solidFill>
                      <a:srgbClr val="F4F2E9"/>
                    </a:solidFill>
                  </a:tcPr>
                </a:tc>
              </a:tr>
              <a:tr h="800100">
                <a:tc>
                  <a:txBody>
                    <a:bodyPr wrap="square" lIns="152400" tIns="114300" rIns="152400" bIns="114300">
                      <a:noAutofit/>
                    </a:bodyPr>
                    <a:lstStyle/>
                    <a:p>
                      <a:r>
                        <a:rPr sz="1650" b="0">
                          <a:solidFill>
                            <a:srgbClr val="192B25"/>
                          </a:solidFill>
                          <a:latin typeface="Helvetica Neue"/>
                          <a:ea typeface="Helvetica Neue"/>
                          <a:cs typeface="Helvetica Neue"/>
                        </a:rPr>
                        <a:t>Task references were incorrect</a:t>
                      </a:r>
                    </a:p>
                  </a:txBody>
                  <a:tcPr marL="91440" marR="91440" marT="45720" marB="45720" anchor="ctr">
                    <a:solidFill>
                      <a:srgbClr val="E1E8DB"/>
                    </a:solidFill>
                  </a:tcPr>
                </a:tc>
                <a:tc>
                  <a:txBody>
                    <a:bodyPr wrap="square" lIns="152400" tIns="114300" rIns="152400" bIns="114300">
                      <a:noAutofit/>
                    </a:bodyPr>
                    <a:lstStyle/>
                    <a:p>
                      <a:r>
                        <a:rPr sz="1650" b="0">
                          <a:solidFill>
                            <a:srgbClr val="192B25"/>
                          </a:solidFill>
                          <a:latin typeface="Helvetica Neue"/>
                          <a:ea typeface="Helvetica Neue"/>
                          <a:cs typeface="Helvetica Neue"/>
                        </a:rPr>
                        <a:t>Corrected references across the assessment.</a:t>
                      </a:r>
                    </a:p>
                  </a:txBody>
                  <a:tcPr marL="91440" marR="91440" marT="45720" marB="45720" anchor="ctr">
                    <a:solidFill>
                      <a:srgbClr val="E1E8DB"/>
                    </a:solidFill>
                  </a:tcPr>
                </a:tc>
              </a:tr>
            </a:tbl>
          </a:graphicData>
        </a:graphic>
      </p:graphicFrame>
      <p:sp>
        <p:nvSpPr>
          <p:cNvPr id="4" name="review-source">
            <a:extLst xmlns:a="http://schemas.openxmlformats.org/drawingml/2006/main">
              <a:ext uri="{FF2B5EF4-FFF2-40B4-BE49-F238E27FC236}">
                <a16:creationId xmlns:a16="http://schemas.microsoft.com/office/drawing/2014/main" id="{AB6BAD56-B834-4EA1-AD9B-E6D3224E1AB1}"/>
              </a:ext>
            </a:extLst>
          </p:cNvPr>
          <p:cNvSpPr>
            <a:spLocks xmlns:a="http://schemas.openxmlformats.org/drawingml/2006/main" noGrp="1"/>
          </p:cNvSpPr>
          <p:nvPr/>
        </p:nvSpPr>
        <p:spPr>
          <a:xfrm xmlns:a="http://schemas.openxmlformats.org/drawingml/2006/main">
            <a:off x="609600" y="6257925"/>
            <a:ext cx="10906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Paraphrased original review and instructor-response notes · revisions, not final QA signoff</a:t>
            </a:r>
          </a:p>
        </p:txBody>
      </p:sp>
      <p:sp>
        <p:nvSpPr>
          <p:cNvPr id="5" name="slide-number">
            <a:extLst xmlns:a="http://schemas.openxmlformats.org/drawingml/2006/main">
              <a:ext uri="{FF2B5EF4-FFF2-40B4-BE49-F238E27FC236}">
                <a16:creationId xmlns:a16="http://schemas.microsoft.com/office/drawing/2014/main" id="{672525A1-45BF-4A6E-BBD2-863A607CE9A8}"/>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03</a:t>
            </a:r>
          </a:p>
        </p:txBody>
      </p:sp>
    </p:spTree>
    <p:extLst>
      <p:ext uri="{BB962C8B-B14F-4D97-AF65-F5344CB8AC3E}">
        <p14:creationId xmlns:p14="http://schemas.microsoft.com/office/powerpoint/2010/main" val="844722534"/>
      </p:ext>
    </p:extLst>
  </p:cSld>
</p:sld>
</file>

<file path=ppt/slides/slide4.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6" name="section-label">
            <a:extLst xmlns:a="http://schemas.openxmlformats.org/drawingml/2006/main">
              <a:ext uri="{FF2B5EF4-FFF2-40B4-BE49-F238E27FC236}">
                <a16:creationId xmlns:a16="http://schemas.microsoft.com/office/drawing/2014/main" id="{1EB0776A-9796-4F8F-A27D-18FC7489F13B}"/>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PROMPT COMPASS   /   LOCAL REGRESSION EXAMPLE, MAY 2026</a:t>
            </a:r>
          </a:p>
        </p:txBody>
      </p:sp>
      <p:sp>
        <p:nvSpPr>
          <p:cNvPr id="2" name="headline">
            <a:extLst xmlns:a="http://schemas.openxmlformats.org/drawingml/2006/main">
              <a:ext uri="{FF2B5EF4-FFF2-40B4-BE49-F238E27FC236}">
                <a16:creationId xmlns:a16="http://schemas.microsoft.com/office/drawing/2014/main" id="{B1180F2B-4C81-4150-A261-F8194ACF6B66}"/>
              </a:ext>
            </a:extLst>
          </p:cNvPr>
          <p:cNvSpPr>
            <a:spLocks xmlns:a="http://schemas.openxmlformats.org/drawingml/2006/main" noGrp="1"/>
          </p:cNvSpPr>
          <p:nvPr/>
        </p:nvSpPr>
        <p:spPr>
          <a:xfrm xmlns:a="http://schemas.openxmlformats.org/drawingml/2006/main">
            <a:off x="609600" y="1038225"/>
            <a:ext cx="10810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Requirements lost in a rewrite</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376f99fb79cb4801"/>
          <a:stretch xmlns:a="http://schemas.openxmlformats.org/drawingml/2006/main"/>
        </p:blipFill>
        <p:spPr>
          <a:xfrm xmlns:a="http://schemas.openxmlformats.org/drawingml/2006/main">
            <a:off x="741293" y="2009775"/>
            <a:ext cx="10709413" cy="4105275"/>
          </a:xfrm>
          <a:prstGeom xmlns:a="http://schemas.openxmlformats.org/drawingml/2006/main" prst="rect">
            <a:avLst/>
          </a:prstGeom>
        </p:spPr>
      </p:pic>
      <p:sp>
        <p:nvSpPr>
          <p:cNvPr id="4" name="prompt-test-purpose">
            <a:extLst xmlns:a="http://schemas.openxmlformats.org/drawingml/2006/main">
              <a:ext uri="{FF2B5EF4-FFF2-40B4-BE49-F238E27FC236}">
                <a16:creationId xmlns:a16="http://schemas.microsoft.com/office/drawing/2014/main" id="{9C228EDA-BF5B-4E68-BC64-CB31002B5A5E}"/>
              </a:ext>
            </a:extLst>
          </p:cNvPr>
          <p:cNvSpPr>
            <a:spLocks xmlns:a="http://schemas.openxmlformats.org/drawingml/2006/main" noGrp="1"/>
          </p:cNvSpPr>
          <p:nvPr/>
        </p:nvSpPr>
        <p:spPr>
          <a:xfrm xmlns:a="http://schemas.openxmlformats.org/drawingml/2006/main">
            <a:off x="609600" y="6238875"/>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Original test inputs, excerpted from the portfolio rendering · expected winner: original prompt</a:t>
            </a:r>
          </a:p>
        </p:txBody>
      </p:sp>
      <p:sp>
        <p:nvSpPr>
          <p:cNvPr id="5" name="slide-number">
            <a:extLst xmlns:a="http://schemas.openxmlformats.org/drawingml/2006/main">
              <a:ext uri="{FF2B5EF4-FFF2-40B4-BE49-F238E27FC236}">
                <a16:creationId xmlns:a16="http://schemas.microsoft.com/office/drawing/2014/main" id="{719E7314-F431-4F51-BAA1-A92951378A1E}"/>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04</a:t>
            </a:r>
          </a:p>
        </p:txBody>
      </p:sp>
    </p:spTree>
    <p:extLst>
      <p:ext uri="{BB962C8B-B14F-4D97-AF65-F5344CB8AC3E}">
        <p14:creationId xmlns:p14="http://schemas.microsoft.com/office/powerpoint/2010/main" val="1707315936"/>
      </p:ext>
    </p:extLst>
  </p:cSld>
</p:sld>
</file>

<file path=ppt/slides/slide5.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0" name="section-label">
            <a:extLst xmlns:a="http://schemas.openxmlformats.org/drawingml/2006/main">
              <a:ext uri="{FF2B5EF4-FFF2-40B4-BE49-F238E27FC236}">
                <a16:creationId xmlns:a16="http://schemas.microsoft.com/office/drawing/2014/main" id="{DE05A7D9-B813-4586-A49C-7860413489B5}"/>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FLINT   /   INTERRUPTED AND OFFLINE STATES</a:t>
            </a:r>
          </a:p>
        </p:txBody>
      </p:sp>
      <p:sp>
        <p:nvSpPr>
          <p:cNvPr id="2" name="headline">
            <a:extLst xmlns:a="http://schemas.openxmlformats.org/drawingml/2006/main">
              <a:ext uri="{FF2B5EF4-FFF2-40B4-BE49-F238E27FC236}">
                <a16:creationId xmlns:a16="http://schemas.microsoft.com/office/drawing/2014/main" id="{917A5B6A-7ABC-4967-AC2A-37874A67BC7B}"/>
              </a:ext>
            </a:extLst>
          </p:cNvPr>
          <p:cNvSpPr>
            <a:spLocks xmlns:a="http://schemas.openxmlformats.org/drawingml/2006/main" noGrp="1"/>
          </p:cNvSpPr>
          <p:nvPr/>
        </p:nvSpPr>
        <p:spPr>
          <a:xfrm xmlns:a="http://schemas.openxmlformats.org/drawingml/2006/main">
            <a:off x="609600" y="1133475"/>
            <a:ext cx="46672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Recovery from</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interrupted answers</a:t>
            </a:r>
          </a:p>
        </p:txBody>
      </p:sp>
      <p:sp>
        <p:nvSpPr>
          <p:cNvPr id="3" name="recovery-decision">
            <a:extLst xmlns:a="http://schemas.openxmlformats.org/drawingml/2006/main">
              <a:ext uri="{FF2B5EF4-FFF2-40B4-BE49-F238E27FC236}">
                <a16:creationId xmlns:a16="http://schemas.microsoft.com/office/drawing/2014/main" id="{C69DFF48-A754-4F11-9CA7-0CB233880C7B}"/>
              </a:ext>
            </a:extLst>
          </p:cNvPr>
          <p:cNvSpPr>
            <a:spLocks xmlns:a="http://schemas.openxmlformats.org/drawingml/2006/main" noGrp="1"/>
          </p:cNvSpPr>
          <p:nvPr/>
        </p:nvSpPr>
        <p:spPr>
          <a:xfrm xmlns:a="http://schemas.openxmlformats.org/drawingml/2006/main">
            <a:off x="609600" y="3209925"/>
            <a:ext cx="43529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An incomplete answer and a lost connection need different next actions.</a:t>
            </a:r>
          </a:p>
        </p:txBody>
      </p:sp>
      <p:sp>
        <p:nvSpPr>
          <p:cNvPr id="4" name="recovery-outcome">
            <a:extLst xmlns:a="http://schemas.openxmlformats.org/drawingml/2006/main">
              <a:ext uri="{FF2B5EF4-FFF2-40B4-BE49-F238E27FC236}">
                <a16:creationId xmlns:a16="http://schemas.microsoft.com/office/drawing/2014/main" id="{146D9623-C730-40B7-9B6C-AB833B10C377}"/>
              </a:ext>
            </a:extLst>
          </p:cNvPr>
          <p:cNvSpPr>
            <a:spLocks xmlns:a="http://schemas.openxmlformats.org/drawingml/2006/main" noGrp="1"/>
          </p:cNvSpPr>
          <p:nvPr/>
        </p:nvSpPr>
        <p:spPr>
          <a:xfrm xmlns:a="http://schemas.openxmlformats.org/drawingml/2006/main">
            <a:off x="609600" y="4772025"/>
            <a:ext cx="435292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I assembled the flows and their next actions into an annotated handoff for engineering.</a:t>
            </a:r>
          </a:p>
        </p:txBody>
      </p:sp>
      <p:sp>
        <p:nvSpPr>
          <p:cNvPr id="5" name="incomplete-label">
            <a:extLst xmlns:a="http://schemas.openxmlformats.org/drawingml/2006/main">
              <a:ext uri="{FF2B5EF4-FFF2-40B4-BE49-F238E27FC236}">
                <a16:creationId xmlns:a16="http://schemas.microsoft.com/office/drawing/2014/main" id="{11D60FED-6A9A-48D3-A6C0-A363873B9650}"/>
              </a:ext>
            </a:extLst>
          </p:cNvPr>
          <p:cNvSpPr>
            <a:spLocks xmlns:a="http://schemas.openxmlformats.org/drawingml/2006/main" noGrp="1"/>
          </p:cNvSpPr>
          <p:nvPr/>
        </p:nvSpPr>
        <p:spPr>
          <a:xfrm xmlns:a="http://schemas.openxmlformats.org/drawingml/2006/main">
            <a:off x="5638800" y="819150"/>
            <a:ext cx="2495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Incomplete answer</a:t>
            </a:r>
          </a:p>
        </p:txBody>
      </p:sp>
      <p:sp>
        <p:nvSpPr>
          <p:cNvPr id="6" name="offline-label">
            <a:extLst xmlns:a="http://schemas.openxmlformats.org/drawingml/2006/main">
              <a:ext uri="{FF2B5EF4-FFF2-40B4-BE49-F238E27FC236}">
                <a16:creationId xmlns:a16="http://schemas.microsoft.com/office/drawing/2014/main" id="{0F0AD9CA-77C9-4966-A24F-52D595CF7C27}"/>
              </a:ext>
            </a:extLst>
          </p:cNvPr>
          <p:cNvSpPr>
            <a:spLocks xmlns:a="http://schemas.openxmlformats.org/drawingml/2006/main" noGrp="1"/>
          </p:cNvSpPr>
          <p:nvPr/>
        </p:nvSpPr>
        <p:spPr>
          <a:xfrm xmlns:a="http://schemas.openxmlformats.org/drawingml/2006/main">
            <a:off x="8705850" y="819150"/>
            <a:ext cx="2495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Connection lost</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1d991216cf144861"/>
          <a:stretch xmlns:a="http://schemas.openxmlformats.org/drawingml/2006/main"/>
        </p:blipFill>
        <p:spPr>
          <a:xfrm xmlns:a="http://schemas.openxmlformats.org/drawingml/2006/main">
            <a:off x="5706555" y="1181100"/>
            <a:ext cx="2436239" cy="52197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b41bab13790a438d"/>
          <a:stretch xmlns:a="http://schemas.openxmlformats.org/drawingml/2006/main"/>
        </p:blipFill>
        <p:spPr>
          <a:xfrm xmlns:a="http://schemas.openxmlformats.org/drawingml/2006/main">
            <a:off x="8773605" y="1181100"/>
            <a:ext cx="2436239" cy="5219700"/>
          </a:xfrm>
          <a:prstGeom xmlns:a="http://schemas.openxmlformats.org/drawingml/2006/main" prst="rect">
            <a:avLst/>
          </a:prstGeom>
        </p:spPr>
      </p:pic>
      <p:sp>
        <p:nvSpPr>
          <p:cNvPr id="9" name="slide-number">
            <a:extLst xmlns:a="http://schemas.openxmlformats.org/drawingml/2006/main">
              <a:ext uri="{FF2B5EF4-FFF2-40B4-BE49-F238E27FC236}">
                <a16:creationId xmlns:a16="http://schemas.microsoft.com/office/drawing/2014/main" id="{61203717-D1AD-45A8-BFF4-68EE0DC3D462}"/>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05</a:t>
            </a:r>
          </a:p>
        </p:txBody>
      </p:sp>
    </p:spTree>
    <p:extLst>
      <p:ext uri="{BB962C8B-B14F-4D97-AF65-F5344CB8AC3E}">
        <p14:creationId xmlns:p14="http://schemas.microsoft.com/office/powerpoint/2010/main" val="1353523469"/>
      </p:ext>
    </p:extLst>
  </p:cSld>
</p:sld>
</file>

<file path=ppt/slides/slide6.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9E990701-E828-4798-95B6-C2550A7C935B}"/>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COURSERA · GUIDED PROJECT   /   ORIGINAL TEACHING, 2024</a:t>
            </a:r>
          </a:p>
        </p:txBody>
      </p:sp>
      <p:sp>
        <p:nvSpPr>
          <p:cNvPr id="2" name="headline">
            <a:extLst xmlns:a="http://schemas.openxmlformats.org/drawingml/2006/main">
              <a:ext uri="{FF2B5EF4-FFF2-40B4-BE49-F238E27FC236}">
                <a16:creationId xmlns:a16="http://schemas.microsoft.com/office/drawing/2014/main" id="{0D52B7EB-CBC2-44C5-873C-B28C795A34A6}"/>
              </a:ext>
            </a:extLst>
          </p:cNvPr>
          <p:cNvSpPr>
            <a:spLocks xmlns:a="http://schemas.openxmlformats.org/drawingml/2006/main" noGrp="1"/>
          </p:cNvSpPr>
          <p:nvPr/>
        </p:nvSpPr>
        <p:spPr>
          <a:xfrm xmlns:a="http://schemas.openxmlformats.org/drawingml/2006/main">
            <a:off x="609600" y="1104900"/>
            <a:ext cx="5000625"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AI revision as</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guided practice</a:t>
            </a:r>
          </a:p>
        </p:txBody>
      </p:sp>
      <p:sp>
        <p:nvSpPr>
          <p:cNvPr id="3" name="teaching-rationale">
            <a:extLst xmlns:a="http://schemas.openxmlformats.org/drawingml/2006/main">
              <a:ext uri="{FF2B5EF4-FFF2-40B4-BE49-F238E27FC236}">
                <a16:creationId xmlns:a16="http://schemas.microsoft.com/office/drawing/2014/main" id="{DF61463A-8B5E-45DD-A380-D94EB6E96288}"/>
              </a:ext>
            </a:extLst>
          </p:cNvPr>
          <p:cNvSpPr>
            <a:spLocks xmlns:a="http://schemas.openxmlformats.org/drawingml/2006/main" noGrp="1"/>
          </p:cNvSpPr>
          <p:nvPr/>
        </p:nvSpPr>
        <p:spPr>
          <a:xfrm xmlns:a="http://schemas.openxmlformats.org/drawingml/2006/main">
            <a:off x="609600" y="3714750"/>
            <a:ext cx="47815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I created a beginner project around drafting, reviewing and refining content against a goal.</a:t>
            </a:r>
          </a:p>
        </p:txBody>
      </p:sp>
      <p:sp>
        <p:nvSpPr>
          <p:cNvPr id="4" name="teaching-boundary">
            <a:extLst xmlns:a="http://schemas.openxmlformats.org/drawingml/2006/main">
              <a:ext uri="{FF2B5EF4-FFF2-40B4-BE49-F238E27FC236}">
                <a16:creationId xmlns:a16="http://schemas.microsoft.com/office/drawing/2014/main" id="{690B1F15-0F82-4339-8904-5307663B1D49}"/>
              </a:ext>
            </a:extLst>
          </p:cNvPr>
          <p:cNvSpPr>
            <a:spLocks xmlns:a="http://schemas.openxmlformats.org/drawingml/2006/main" noGrp="1"/>
          </p:cNvSpPr>
          <p:nvPr/>
        </p:nvSpPr>
        <p:spPr>
          <a:xfrm xmlns:a="http://schemas.openxmlformats.org/drawingml/2006/main">
            <a:off x="609600" y="5438775"/>
            <a:ext cx="47815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58645D"/>
                </a:solidFill>
                <a:latin typeface="Helvetica Neue"/>
                <a:ea typeface="Helvetica Neue"/>
                <a:cs typeface="Helvetica Neue"/>
              </a:defRPr>
            </a:pPr>
            <a:r>
              <a:rPr sz="1650" b="0">
                <a:solidFill>
                  <a:srgbClr val="58645D"/>
                </a:solidFill>
                <a:latin typeface="Helvetica Neue"/>
                <a:ea typeface="Helvetica Neue"/>
                <a:cs typeface="Helvetica Neue"/>
              </a:rPr>
              <a:t>Published teaching activity. Learner improvement is not measured here.</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bb0a5d64831646a9"/>
          <a:stretch xmlns:a="http://schemas.openxmlformats.org/drawingml/2006/main"/>
        </p:blipFill>
        <p:spPr>
          <a:xfrm xmlns:a="http://schemas.openxmlformats.org/drawingml/2006/main">
            <a:off x="6068841" y="2466975"/>
            <a:ext cx="5454993" cy="3105150"/>
          </a:xfrm>
          <a:prstGeom xmlns:a="http://schemas.openxmlformats.org/drawingml/2006/main" prst="rect">
            <a:avLst/>
          </a:prstGeom>
        </p:spPr>
      </p:pic>
      <p:sp>
        <p:nvSpPr>
          <p:cNvPr id="6" name="teaching-caption">
            <a:extLst xmlns:a="http://schemas.openxmlformats.org/drawingml/2006/main">
              <a:ext uri="{FF2B5EF4-FFF2-40B4-BE49-F238E27FC236}">
                <a16:creationId xmlns:a16="http://schemas.microsoft.com/office/drawing/2014/main" id="{71100288-0AD8-41E0-B0B4-280245BA9857}"/>
              </a:ext>
            </a:extLst>
          </p:cNvPr>
          <p:cNvSpPr>
            <a:spLocks xmlns:a="http://schemas.openxmlformats.org/drawingml/2006/main" noGrp="1"/>
          </p:cNvSpPr>
          <p:nvPr/>
        </p:nvSpPr>
        <p:spPr>
          <a:xfrm xmlns:a="http://schemas.openxmlformats.org/drawingml/2006/main">
            <a:off x="6067425" y="5953125"/>
            <a:ext cx="54578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Original 2024 lesson material · goals excerpt</a:t>
            </a:r>
          </a:p>
        </p:txBody>
      </p:sp>
      <p:sp>
        <p:nvSpPr>
          <p:cNvPr id="7" name="slide-number">
            <a:extLst xmlns:a="http://schemas.openxmlformats.org/drawingml/2006/main">
              <a:ext uri="{FF2B5EF4-FFF2-40B4-BE49-F238E27FC236}">
                <a16:creationId xmlns:a16="http://schemas.microsoft.com/office/drawing/2014/main" id="{24C09285-B795-4C5F-89C2-9F178C387CC5}"/>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06</a:t>
            </a:r>
          </a:p>
        </p:txBody>
      </p:sp>
    </p:spTree>
    <p:extLst>
      <p:ext uri="{BB962C8B-B14F-4D97-AF65-F5344CB8AC3E}">
        <p14:creationId xmlns:p14="http://schemas.microsoft.com/office/powerpoint/2010/main" val="924470020"/>
      </p:ext>
    </p:extLst>
  </p:cSld>
</p:sld>
</file>

<file path=ppt/slides/slide7.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046E118A-F01B-4CAD-9824-34D59A950561}"/>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COURSERA   /   RECORDED PRACTICE SEQUENCE</a:t>
            </a:r>
          </a:p>
        </p:txBody>
      </p:sp>
      <p:sp>
        <p:nvSpPr>
          <p:cNvPr id="2" name="headline">
            <a:extLst xmlns:a="http://schemas.openxmlformats.org/drawingml/2006/main">
              <a:ext uri="{FF2B5EF4-FFF2-40B4-BE49-F238E27FC236}">
                <a16:creationId xmlns:a16="http://schemas.microsoft.com/office/drawing/2014/main" id="{BD602370-6330-4893-8F5C-2BED6F31403F}"/>
              </a:ext>
            </a:extLst>
          </p:cNvPr>
          <p:cNvSpPr>
            <a:spLocks xmlns:a="http://schemas.openxmlformats.org/drawingml/2006/main" noGrp="1"/>
          </p:cNvSpPr>
          <p:nvPr/>
        </p:nvSpPr>
        <p:spPr>
          <a:xfrm xmlns:a="http://schemas.openxmlformats.org/drawingml/2006/main">
            <a:off x="609600" y="1085850"/>
            <a:ext cx="600075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Original lesson</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revision sequence</a:t>
            </a:r>
          </a:p>
        </p:txBody>
      </p:sp>
      <p:sp>
        <p:nvSpPr>
          <p:cNvPr id="3" name="revision-need">
            <a:extLst xmlns:a="http://schemas.openxmlformats.org/drawingml/2006/main">
              <a:ext uri="{FF2B5EF4-FFF2-40B4-BE49-F238E27FC236}">
                <a16:creationId xmlns:a16="http://schemas.microsoft.com/office/drawing/2014/main" id="{292654D6-3D9C-4CBB-92E9-1A3C88A8C105}"/>
              </a:ext>
            </a:extLst>
          </p:cNvPr>
          <p:cNvSpPr>
            <a:spLocks xmlns:a="http://schemas.openxmlformats.org/drawingml/2006/main" noGrp="1"/>
          </p:cNvSpPr>
          <p:nvPr/>
        </p:nvSpPr>
        <p:spPr>
          <a:xfrm xmlns:a="http://schemas.openxmlformats.org/drawingml/2006/main">
            <a:off x="609600" y="3019425"/>
            <a:ext cx="52387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The lesson made an instruction visible beside the result it changed. That gave learners something concrete to inspect.</a:t>
            </a:r>
          </a:p>
        </p:txBody>
      </p:sp>
      <p:sp>
        <p:nvSpPr>
          <p:cNvPr id="4" name="revision-check">
            <a:extLst xmlns:a="http://schemas.openxmlformats.org/drawingml/2006/main">
              <a:ext uri="{FF2B5EF4-FFF2-40B4-BE49-F238E27FC236}">
                <a16:creationId xmlns:a16="http://schemas.microsoft.com/office/drawing/2014/main" id="{D202B679-0751-4DBF-8072-F7FB38A53018}"/>
              </a:ext>
            </a:extLst>
          </p:cNvPr>
          <p:cNvSpPr>
            <a:spLocks xmlns:a="http://schemas.openxmlformats.org/drawingml/2006/main" noGrp="1"/>
          </p:cNvSpPr>
          <p:nvPr/>
        </p:nvSpPr>
        <p:spPr>
          <a:xfrm xmlns:a="http://schemas.openxmlformats.org/drawingml/2006/main">
            <a:off x="609600" y="4772025"/>
            <a:ext cx="523875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The revised answer added detail. In my retrospective, I would make factual checks and length limits more explicit.</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eeff49a50bcd4ebe"/>
          <a:stretch xmlns:a="http://schemas.openxmlformats.org/drawingml/2006/main"/>
        </p:blipFill>
        <p:spPr>
          <a:xfrm xmlns:a="http://schemas.openxmlformats.org/drawingml/2006/main">
            <a:off x="6572250" y="3478584"/>
            <a:ext cx="4991100" cy="681883"/>
          </a:xfrm>
          <a:prstGeom xmlns:a="http://schemas.openxmlformats.org/drawingml/2006/main" prst="rect">
            <a:avLst/>
          </a:prstGeom>
        </p:spPr>
      </p:pic>
      <p:sp>
        <p:nvSpPr>
          <p:cNvPr id="6" name="revision-caption">
            <a:extLst xmlns:a="http://schemas.openxmlformats.org/drawingml/2006/main">
              <a:ext uri="{FF2B5EF4-FFF2-40B4-BE49-F238E27FC236}">
                <a16:creationId xmlns:a16="http://schemas.microsoft.com/office/drawing/2014/main" id="{8B75D70B-A58B-4E5E-9363-4FCFA6F355D8}"/>
              </a:ext>
            </a:extLst>
          </p:cNvPr>
          <p:cNvSpPr>
            <a:spLocks xmlns:a="http://schemas.openxmlformats.org/drawingml/2006/main" noGrp="1"/>
          </p:cNvSpPr>
          <p:nvPr/>
        </p:nvSpPr>
        <p:spPr>
          <a:xfrm xmlns:a="http://schemas.openxmlformats.org/drawingml/2006/main">
            <a:off x="6572250" y="6115050"/>
            <a:ext cx="4991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Original 2024 recording, Task 3 · 03:35</a:t>
            </a:r>
          </a:p>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Fictional practice brand · unchanged source excerpt</a:t>
            </a:r>
          </a:p>
        </p:txBody>
      </p:sp>
      <p:sp>
        <p:nvSpPr>
          <p:cNvPr id="7" name="slide-number">
            <a:extLst xmlns:a="http://schemas.openxmlformats.org/drawingml/2006/main">
              <a:ext uri="{FF2B5EF4-FFF2-40B4-BE49-F238E27FC236}">
                <a16:creationId xmlns:a16="http://schemas.microsoft.com/office/drawing/2014/main" id="{642CC122-2363-4F83-B7F4-A013D326803B}"/>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07</a:t>
            </a:r>
          </a:p>
        </p:txBody>
      </p:sp>
    </p:spTree>
    <p:extLst>
      <p:ext uri="{BB962C8B-B14F-4D97-AF65-F5344CB8AC3E}">
        <p14:creationId xmlns:p14="http://schemas.microsoft.com/office/powerpoint/2010/main" val="777325715"/>
      </p:ext>
    </p:extLst>
  </p:cSld>
</p:sld>
</file>

<file path=ppt/slides/slide8.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917D46BE-9C40-47B5-B065-1C69ABBC7A8B}"/>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RELATED EXPERIENCE</a:t>
            </a:r>
          </a:p>
        </p:txBody>
      </p:sp>
      <p:sp>
        <p:nvSpPr>
          <p:cNvPr id="2" name="headline">
            <a:extLst xmlns:a="http://schemas.openxmlformats.org/drawingml/2006/main">
              <a:ext uri="{FF2B5EF4-FFF2-40B4-BE49-F238E27FC236}">
                <a16:creationId xmlns:a16="http://schemas.microsoft.com/office/drawing/2014/main" id="{42628D9E-D8D3-4C79-8EF9-C8C6208BDC3C}"/>
              </a:ext>
            </a:extLst>
          </p:cNvPr>
          <p:cNvSpPr>
            <a:spLocks xmlns:a="http://schemas.openxmlformats.org/drawingml/2006/main" noGrp="1"/>
          </p:cNvSpPr>
          <p:nvPr/>
        </p:nvSpPr>
        <p:spPr>
          <a:xfrm xmlns:a="http://schemas.openxmlformats.org/drawingml/2006/main">
            <a:off x="609600" y="1123950"/>
            <a:ext cx="5715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Support, research</a:t>
            </a:r>
          </a:p>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and implementation</a:t>
            </a:r>
          </a:p>
        </p:txBody>
      </p:sp>
      <p:sp>
        <p:nvSpPr>
          <p:cNvPr id="3" name="context">
            <a:extLst xmlns:a="http://schemas.openxmlformats.org/drawingml/2006/main">
              <a:ext uri="{FF2B5EF4-FFF2-40B4-BE49-F238E27FC236}">
                <a16:creationId xmlns:a16="http://schemas.microsoft.com/office/drawing/2014/main" id="{F7A83929-5E85-4940-A0A8-34D379017A4C}"/>
              </a:ext>
            </a:extLst>
          </p:cNvPr>
          <p:cNvSpPr>
            <a:spLocks xmlns:a="http://schemas.openxmlformats.org/drawingml/2006/main" noGrp="1"/>
          </p:cNvSpPr>
          <p:nvPr/>
        </p:nvSpPr>
        <p:spPr>
          <a:xfrm xmlns:a="http://schemas.openxmlformats.org/drawingml/2006/main">
            <a:off x="609600" y="3209925"/>
            <a:ext cx="52578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I have worked on the technical system and on the explanation someone needs to use it. That includes ASU IT support, product research and an independently released AI tool.</a:t>
            </a:r>
          </a:p>
        </p:txBody>
      </p:sp>
      <p:sp>
        <p:nvSpPr>
          <p:cNvPr id="4" name="next-step">
            <a:extLst xmlns:a="http://schemas.openxmlformats.org/drawingml/2006/main">
              <a:ext uri="{FF2B5EF4-FFF2-40B4-BE49-F238E27FC236}">
                <a16:creationId xmlns:a16="http://schemas.microsoft.com/office/drawing/2014/main" id="{376436CF-BCC7-4059-B760-2B2FDB75D041}"/>
              </a:ext>
            </a:extLst>
          </p:cNvPr>
          <p:cNvSpPr>
            <a:spLocks xmlns:a="http://schemas.openxmlformats.org/drawingml/2006/main" noGrp="1"/>
          </p:cNvSpPr>
          <p:nvPr/>
        </p:nvSpPr>
        <p:spPr>
          <a:xfrm xmlns:a="http://schemas.openxmlformats.org/drawingml/2006/main">
            <a:off x="609600" y="5362575"/>
            <a:ext cx="5257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For Coder, I would connect employee feedback to a small, inspectable change and test how another person uses it.</a:t>
            </a:r>
          </a:p>
        </p:txBody>
      </p:sp>
      <p:sp>
        <p:nvSpPr>
          <p:cNvPr id="5" name="status-0">
            <a:extLst xmlns:a="http://schemas.openxmlformats.org/drawingml/2006/main">
              <a:ext uri="{FF2B5EF4-FFF2-40B4-BE49-F238E27FC236}">
                <a16:creationId xmlns:a16="http://schemas.microsoft.com/office/drawing/2014/main" id="{E35B9133-F924-4C8E-8E7E-D38DDECE4906}"/>
              </a:ext>
            </a:extLst>
          </p:cNvPr>
          <p:cNvSpPr>
            <a:spLocks xmlns:a="http://schemas.openxmlformats.org/drawingml/2006/main" noGrp="1"/>
          </p:cNvSpPr>
          <p:nvPr/>
        </p:nvSpPr>
        <p:spPr>
          <a:xfrm xmlns:a="http://schemas.openxmlformats.org/drawingml/2006/main">
            <a:off x="6800850" y="1485900"/>
            <a:ext cx="4610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ASU IT support · 2020–2022</a:t>
            </a:r>
          </a:p>
        </p:txBody>
      </p:sp>
      <p:sp>
        <p:nvSpPr>
          <p:cNvPr id="6" name="status-description-0">
            <a:extLst xmlns:a="http://schemas.openxmlformats.org/drawingml/2006/main">
              <a:ext uri="{FF2B5EF4-FFF2-40B4-BE49-F238E27FC236}">
                <a16:creationId xmlns:a16="http://schemas.microsoft.com/office/drawing/2014/main" id="{917B6954-4E17-4E3C-9268-25ABC1FFA79D}"/>
              </a:ext>
            </a:extLst>
          </p:cNvPr>
          <p:cNvSpPr>
            <a:spLocks xmlns:a="http://schemas.openxmlformats.org/drawingml/2006/main" noGrp="1"/>
          </p:cNvSpPr>
          <p:nvPr/>
        </p:nvSpPr>
        <p:spPr>
          <a:xfrm xmlns:a="http://schemas.openxmlformats.org/drawingml/2006/main">
            <a:off x="6800850" y="1914525"/>
            <a:ext cx="4610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Campus updates and hybrid transitions</a:t>
            </a:r>
          </a:p>
        </p:txBody>
      </p:sp>
      <p:sp>
        <p:nvSpPr>
          <p:cNvPr id="7" name="status-1">
            <a:extLst xmlns:a="http://schemas.openxmlformats.org/drawingml/2006/main">
              <a:ext uri="{FF2B5EF4-FFF2-40B4-BE49-F238E27FC236}">
                <a16:creationId xmlns:a16="http://schemas.microsoft.com/office/drawing/2014/main" id="{6641E5DA-F696-47D5-B041-A89D4B813C5F}"/>
              </a:ext>
            </a:extLst>
          </p:cNvPr>
          <p:cNvSpPr>
            <a:spLocks xmlns:a="http://schemas.openxmlformats.org/drawingml/2006/main" noGrp="1"/>
          </p:cNvSpPr>
          <p:nvPr/>
        </p:nvSpPr>
        <p:spPr>
          <a:xfrm xmlns:a="http://schemas.openxmlformats.org/drawingml/2006/main">
            <a:off x="6800850" y="2705100"/>
            <a:ext cx="4610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FactorLab Flint · 2026</a:t>
            </a:r>
          </a:p>
        </p:txBody>
      </p:sp>
      <p:sp>
        <p:nvSpPr>
          <p:cNvPr id="8" name="status-description-1">
            <a:extLst xmlns:a="http://schemas.openxmlformats.org/drawingml/2006/main">
              <a:ext uri="{FF2B5EF4-FFF2-40B4-BE49-F238E27FC236}">
                <a16:creationId xmlns:a16="http://schemas.microsoft.com/office/drawing/2014/main" id="{CAEB148D-D5BC-42B1-A8E4-A88DB74880F7}"/>
              </a:ext>
            </a:extLst>
          </p:cNvPr>
          <p:cNvSpPr>
            <a:spLocks xmlns:a="http://schemas.openxmlformats.org/drawingml/2006/main" noGrp="1"/>
          </p:cNvSpPr>
          <p:nvPr/>
        </p:nvSpPr>
        <p:spPr>
          <a:xfrm xmlns:a="http://schemas.openxmlformats.org/drawingml/2006/main">
            <a:off x="6800850" y="3133725"/>
            <a:ext cx="4610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Failure conditions and recovery actions</a:t>
            </a:r>
          </a:p>
        </p:txBody>
      </p:sp>
      <p:sp>
        <p:nvSpPr>
          <p:cNvPr id="9" name="status-2">
            <a:extLst xmlns:a="http://schemas.openxmlformats.org/drawingml/2006/main">
              <a:ext uri="{FF2B5EF4-FFF2-40B4-BE49-F238E27FC236}">
                <a16:creationId xmlns:a16="http://schemas.microsoft.com/office/drawing/2014/main" id="{3D643ABD-81A6-401E-9219-A395FD79AB1B}"/>
              </a:ext>
            </a:extLst>
          </p:cNvPr>
          <p:cNvSpPr>
            <a:spLocks xmlns:a="http://schemas.openxmlformats.org/drawingml/2006/main" noGrp="1"/>
          </p:cNvSpPr>
          <p:nvPr/>
        </p:nvSpPr>
        <p:spPr>
          <a:xfrm xmlns:a="http://schemas.openxmlformats.org/drawingml/2006/main">
            <a:off x="6800850" y="3924300"/>
            <a:ext cx="4610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Coursera · 2024</a:t>
            </a:r>
          </a:p>
        </p:txBody>
      </p:sp>
      <p:sp>
        <p:nvSpPr>
          <p:cNvPr id="10" name="status-description-2">
            <a:extLst xmlns:a="http://schemas.openxmlformats.org/drawingml/2006/main">
              <a:ext uri="{FF2B5EF4-FFF2-40B4-BE49-F238E27FC236}">
                <a16:creationId xmlns:a16="http://schemas.microsoft.com/office/drawing/2014/main" id="{710C1C46-75D0-40A1-AE98-5B73CE99122B}"/>
              </a:ext>
            </a:extLst>
          </p:cNvPr>
          <p:cNvSpPr>
            <a:spLocks xmlns:a="http://schemas.openxmlformats.org/drawingml/2006/main" noGrp="1"/>
          </p:cNvSpPr>
          <p:nvPr/>
        </p:nvSpPr>
        <p:spPr>
          <a:xfrm xmlns:a="http://schemas.openxmlformats.org/drawingml/2006/main">
            <a:off x="6800850" y="4352925"/>
            <a:ext cx="4610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Guided practice and assessment revision</a:t>
            </a:r>
          </a:p>
        </p:txBody>
      </p:sp>
      <p:sp>
        <p:nvSpPr>
          <p:cNvPr id="11" name="status-3">
            <a:extLst xmlns:a="http://schemas.openxmlformats.org/drawingml/2006/main">
              <a:ext uri="{FF2B5EF4-FFF2-40B4-BE49-F238E27FC236}">
                <a16:creationId xmlns:a16="http://schemas.microsoft.com/office/drawing/2014/main" id="{BECEF76C-5A78-4A99-B4CC-B2B2932BB83D}"/>
              </a:ext>
            </a:extLst>
          </p:cNvPr>
          <p:cNvSpPr>
            <a:spLocks xmlns:a="http://schemas.openxmlformats.org/drawingml/2006/main" noGrp="1"/>
          </p:cNvSpPr>
          <p:nvPr/>
        </p:nvSpPr>
        <p:spPr>
          <a:xfrm xmlns:a="http://schemas.openxmlformats.org/drawingml/2006/main">
            <a:off x="6800850" y="5143500"/>
            <a:ext cx="4610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Prompt Compass · 2026</a:t>
            </a:r>
          </a:p>
        </p:txBody>
      </p:sp>
      <p:sp>
        <p:nvSpPr>
          <p:cNvPr id="12" name="status-description-3">
            <a:extLst xmlns:a="http://schemas.openxmlformats.org/drawingml/2006/main">
              <a:ext uri="{FF2B5EF4-FFF2-40B4-BE49-F238E27FC236}">
                <a16:creationId xmlns:a16="http://schemas.microsoft.com/office/drawing/2014/main" id="{BEE54832-16BD-4AE5-868D-905A3FD92D36}"/>
              </a:ext>
            </a:extLst>
          </p:cNvPr>
          <p:cNvSpPr>
            <a:spLocks xmlns:a="http://schemas.openxmlformats.org/drawingml/2006/main" noGrp="1"/>
          </p:cNvSpPr>
          <p:nvPr/>
        </p:nvSpPr>
        <p:spPr>
          <a:xfrm xmlns:a="http://schemas.openxmlformats.org/drawingml/2006/main">
            <a:off x="6800850" y="5572125"/>
            <a:ext cx="4610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Explicit requirements and local checks</a:t>
            </a:r>
          </a:p>
        </p:txBody>
      </p:sp>
      <p:sp>
        <p:nvSpPr>
          <p:cNvPr id="13" name="slide-number">
            <a:extLst xmlns:a="http://schemas.openxmlformats.org/drawingml/2006/main">
              <a:ext uri="{FF2B5EF4-FFF2-40B4-BE49-F238E27FC236}">
                <a16:creationId xmlns:a16="http://schemas.microsoft.com/office/drawing/2014/main" id="{294A3282-E61E-41EF-97C0-6B20CAEFBF31}"/>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08</a:t>
            </a:r>
          </a:p>
        </p:txBody>
      </p:sp>
    </p:spTree>
    <p:extLst>
      <p:ext uri="{BB962C8B-B14F-4D97-AF65-F5344CB8AC3E}">
        <p14:creationId xmlns:p14="http://schemas.microsoft.com/office/powerpoint/2010/main" val="764892009"/>
      </p:ext>
    </p:extLst>
  </p:cSld>
</p:sld>
</file>

<file path=ppt/slides/slide9.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2" name="section-label">
            <a:extLst xmlns:a="http://schemas.openxmlformats.org/drawingml/2006/main">
              <a:ext uri="{FF2B5EF4-FFF2-40B4-BE49-F238E27FC236}">
                <a16:creationId xmlns:a16="http://schemas.microsoft.com/office/drawing/2014/main" id="{9A4BE856-D9E1-4EA0-9A06-7FEB150BD66F}"/>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PROPOSED CONTRIBUTION   /   CODER SMART AI</a:t>
            </a:r>
          </a:p>
        </p:txBody>
      </p:sp>
      <p:sp>
        <p:nvSpPr>
          <p:cNvPr id="2" name="headline">
            <a:extLst xmlns:a="http://schemas.openxmlformats.org/drawingml/2006/main">
              <a:ext uri="{FF2B5EF4-FFF2-40B4-BE49-F238E27FC236}">
                <a16:creationId xmlns:a16="http://schemas.microsoft.com/office/drawing/2014/main" id="{DE4253F7-E119-4F7B-BDE2-625516D22CA7}"/>
              </a:ext>
            </a:extLst>
          </p:cNvPr>
          <p:cNvSpPr>
            <a:spLocks xmlns:a="http://schemas.openxmlformats.org/drawingml/2006/main" noGrp="1"/>
          </p:cNvSpPr>
          <p:nvPr/>
        </p:nvSpPr>
        <p:spPr>
          <a:xfrm xmlns:a="http://schemas.openxmlformats.org/drawingml/2006/main">
            <a:off x="609600" y="1076325"/>
            <a:ext cx="108585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225" b="1">
                <a:solidFill>
                  <a:srgbClr val="192B25"/>
                </a:solidFill>
                <a:latin typeface="Helvetica Neue"/>
                <a:ea typeface="Helvetica Neue"/>
                <a:cs typeface="Helvetica Neue"/>
              </a:defRPr>
            </a:pPr>
            <a:r>
              <a:rPr sz="3225" b="1">
                <a:solidFill>
                  <a:srgbClr val="192B25"/>
                </a:solidFill>
                <a:latin typeface="Helvetica Neue"/>
                <a:ea typeface="Helvetica Neue"/>
                <a:cs typeface="Helvetica Neue"/>
              </a:rPr>
              <a:t>A blocked task becomes a reusable path</a:t>
            </a:r>
          </a:p>
        </p:txBody>
      </p:sp>
      <p:sp>
        <p:nvSpPr>
          <p:cNvPr id="3" name="observe-heading">
            <a:extLst xmlns:a="http://schemas.openxmlformats.org/drawingml/2006/main">
              <a:ext uri="{FF2B5EF4-FFF2-40B4-BE49-F238E27FC236}">
                <a16:creationId xmlns:a16="http://schemas.microsoft.com/office/drawing/2014/main" id="{C318F536-2AE3-4C5F-9697-1901054DC94A}"/>
              </a:ext>
            </a:extLst>
          </p:cNvPr>
          <p:cNvSpPr>
            <a:spLocks xmlns:a="http://schemas.openxmlformats.org/drawingml/2006/main" noGrp="1"/>
          </p:cNvSpPr>
          <p:nvPr/>
        </p:nvSpPr>
        <p:spPr>
          <a:xfrm xmlns:a="http://schemas.openxmlformats.org/drawingml/2006/main">
            <a:off x="609600" y="2914650"/>
            <a:ext cx="5191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Work through the blocked task</a:t>
            </a:r>
          </a:p>
        </p:txBody>
      </p:sp>
      <p:sp>
        <p:nvSpPr>
          <p:cNvPr id="4" name="observe-body">
            <a:extLst xmlns:a="http://schemas.openxmlformats.org/drawingml/2006/main">
              <a:ext uri="{FF2B5EF4-FFF2-40B4-BE49-F238E27FC236}">
                <a16:creationId xmlns:a16="http://schemas.microsoft.com/office/drawing/2014/main" id="{446A2F57-BE23-432A-B873-4A74DC0A3A2F}"/>
              </a:ext>
            </a:extLst>
          </p:cNvPr>
          <p:cNvSpPr>
            <a:spLocks xmlns:a="http://schemas.openxmlformats.org/drawingml/2006/main" noGrp="1"/>
          </p:cNvSpPr>
          <p:nvPr/>
        </p:nvSpPr>
        <p:spPr>
          <a:xfrm xmlns:a="http://schemas.openxmlformats.org/drawingml/2006/main">
            <a:off x="609600" y="3457575"/>
            <a:ext cx="51435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Watch the employee try the task.</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Identify the expected output and the point</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where instructions or tooling stop helping.</a:t>
            </a:r>
          </a:p>
        </p:txBody>
      </p:sp>
      <p:sp>
        <p:nvSpPr>
          <p:cNvPr id="5" name="diagnose-heading">
            <a:extLst xmlns:a="http://schemas.openxmlformats.org/drawingml/2006/main">
              <a:ext uri="{FF2B5EF4-FFF2-40B4-BE49-F238E27FC236}">
                <a16:creationId xmlns:a16="http://schemas.microsoft.com/office/drawing/2014/main" id="{7999B4F4-0D52-490F-B0E9-16AF0EDD2E6A}"/>
              </a:ext>
            </a:extLst>
          </p:cNvPr>
          <p:cNvSpPr>
            <a:spLocks xmlns:a="http://schemas.openxmlformats.org/drawingml/2006/main" noGrp="1"/>
          </p:cNvSpPr>
          <p:nvPr/>
        </p:nvSpPr>
        <p:spPr>
          <a:xfrm xmlns:a="http://schemas.openxmlformats.org/drawingml/2006/main">
            <a:off x="6705600" y="2914650"/>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Choose the right level of fix</a:t>
            </a:r>
          </a:p>
        </p:txBody>
      </p:sp>
      <p:sp>
        <p:nvSpPr>
          <p:cNvPr id="6" name="diagnose-body">
            <a:extLst xmlns:a="http://schemas.openxmlformats.org/drawingml/2006/main">
              <a:ext uri="{FF2B5EF4-FFF2-40B4-BE49-F238E27FC236}">
                <a16:creationId xmlns:a16="http://schemas.microsoft.com/office/drawing/2014/main" id="{8E4AF908-D67B-4C21-8E5B-AA950254761F}"/>
              </a:ext>
            </a:extLst>
          </p:cNvPr>
          <p:cNvSpPr>
            <a:spLocks xmlns:a="http://schemas.openxmlformats.org/drawingml/2006/main" noGrp="1"/>
          </p:cNvSpPr>
          <p:nvPr/>
        </p:nvSpPr>
        <p:spPr>
          <a:xfrm xmlns:a="http://schemas.openxmlformats.org/drawingml/2006/main">
            <a:off x="6705600" y="3457575"/>
            <a:ext cx="4857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Separate a one-time issue from a pattern.</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Review examples with the Smart AI lead</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before changing a shared workflow.</a:t>
            </a:r>
          </a:p>
        </p:txBody>
      </p:sp>
      <p:sp>
        <p:nvSpPr>
          <p:cNvPr id="7" name="build-heading">
            <a:extLst xmlns:a="http://schemas.openxmlformats.org/drawingml/2006/main">
              <a:ext uri="{FF2B5EF4-FFF2-40B4-BE49-F238E27FC236}">
                <a16:creationId xmlns:a16="http://schemas.microsoft.com/office/drawing/2014/main" id="{DB0D27E9-97DF-451A-AF9A-A26504C13144}"/>
              </a:ext>
            </a:extLst>
          </p:cNvPr>
          <p:cNvSpPr>
            <a:spLocks xmlns:a="http://schemas.openxmlformats.org/drawingml/2006/main" noGrp="1"/>
          </p:cNvSpPr>
          <p:nvPr/>
        </p:nvSpPr>
        <p:spPr>
          <a:xfrm xmlns:a="http://schemas.openxmlformats.org/drawingml/2006/main">
            <a:off x="609600" y="4857750"/>
            <a:ext cx="5191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Build a small reusable example</a:t>
            </a:r>
          </a:p>
        </p:txBody>
      </p:sp>
      <p:sp>
        <p:nvSpPr>
          <p:cNvPr id="8" name="build-body">
            <a:extLst xmlns:a="http://schemas.openxmlformats.org/drawingml/2006/main">
              <a:ext uri="{FF2B5EF4-FFF2-40B4-BE49-F238E27FC236}">
                <a16:creationId xmlns:a16="http://schemas.microsoft.com/office/drawing/2014/main" id="{42CE330C-6716-43E3-849A-F8A57F93FFE8}"/>
              </a:ext>
            </a:extLst>
          </p:cNvPr>
          <p:cNvSpPr>
            <a:spLocks xmlns:a="http://schemas.openxmlformats.org/drawingml/2006/main" noGrp="1"/>
          </p:cNvSpPr>
          <p:nvPr/>
        </p:nvSpPr>
        <p:spPr>
          <a:xfrm xmlns:a="http://schemas.openxmlformats.org/drawingml/2006/main">
            <a:off x="609600" y="5410200"/>
            <a:ext cx="51911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192B25"/>
                </a:solidFill>
                <a:latin typeface="Helvetica Neue"/>
                <a:ea typeface="Helvetica Neue"/>
                <a:cs typeface="Helvetica Neue"/>
              </a:defRPr>
            </a:pPr>
            <a:r>
              <a:rPr sz="1650" b="0">
                <a:solidFill>
                  <a:srgbClr val="192B25"/>
                </a:solidFill>
                <a:latin typeface="Helvetica Neue"/>
                <a:ea typeface="Helvetica Neue"/>
                <a:cs typeface="Helvetica Neue"/>
              </a:rPr>
              <a:t>Make the required inputs and outputs clear.</a:t>
            </a:r>
          </a:p>
          <a:p xmlns:a="http://schemas.openxmlformats.org/drawingml/2006/main">
            <a:pPr>
              <a:lnSpc>
                <a:spcPct val="110000"/>
              </a:lnSpc>
              <a:buNone/>
              <a:defRPr sz="1650" b="0">
                <a:solidFill>
                  <a:srgbClr val="192B25"/>
                </a:solidFill>
                <a:latin typeface="Helvetica Neue"/>
                <a:ea typeface="Helvetica Neue"/>
                <a:cs typeface="Helvetica Neue"/>
              </a:defRPr>
            </a:pPr>
            <a:r>
              <a:rPr sz="1650" b="0">
                <a:solidFill>
                  <a:srgbClr val="192B25"/>
                </a:solidFill>
                <a:latin typeface="Helvetica Neue"/>
                <a:ea typeface="Helvetica Neue"/>
                <a:cs typeface="Helvetica Neue"/>
              </a:rPr>
              <a:t>Document setup, access and recovery.</a:t>
            </a:r>
          </a:p>
          <a:p xmlns:a="http://schemas.openxmlformats.org/drawingml/2006/main">
            <a:pPr>
              <a:lnSpc>
                <a:spcPct val="110000"/>
              </a:lnSpc>
              <a:buNone/>
              <a:defRPr sz="1650" b="0">
                <a:solidFill>
                  <a:srgbClr val="192B25"/>
                </a:solidFill>
                <a:latin typeface="Helvetica Neue"/>
                <a:ea typeface="Helvetica Neue"/>
                <a:cs typeface="Helvetica Neue"/>
              </a:defRPr>
            </a:pPr>
            <a:r>
              <a:rPr sz="1650" b="0">
                <a:solidFill>
                  <a:srgbClr val="192B25"/>
                </a:solidFill>
                <a:latin typeface="Helvetica Neue"/>
                <a:ea typeface="Helvetica Neue"/>
                <a:cs typeface="Helvetica Neue"/>
              </a:rPr>
              <a:t>Keep a failure example beside the working one.</a:t>
            </a:r>
          </a:p>
        </p:txBody>
      </p:sp>
      <p:sp>
        <p:nvSpPr>
          <p:cNvPr id="9" name="test-heading">
            <a:extLst xmlns:a="http://schemas.openxmlformats.org/drawingml/2006/main">
              <a:ext uri="{FF2B5EF4-FFF2-40B4-BE49-F238E27FC236}">
                <a16:creationId xmlns:a16="http://schemas.microsoft.com/office/drawing/2014/main" id="{317975C2-4A76-4DC6-B38D-AEC30C7BD59B}"/>
              </a:ext>
            </a:extLst>
          </p:cNvPr>
          <p:cNvSpPr>
            <a:spLocks xmlns:a="http://schemas.openxmlformats.org/drawingml/2006/main" noGrp="1"/>
          </p:cNvSpPr>
          <p:nvPr/>
        </p:nvSpPr>
        <p:spPr>
          <a:xfrm xmlns:a="http://schemas.openxmlformats.org/drawingml/2006/main">
            <a:off x="6705600" y="4857750"/>
            <a:ext cx="485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Try it with another person</a:t>
            </a:r>
          </a:p>
        </p:txBody>
      </p:sp>
      <p:sp>
        <p:nvSpPr>
          <p:cNvPr id="10" name="test-body">
            <a:extLst xmlns:a="http://schemas.openxmlformats.org/drawingml/2006/main">
              <a:ext uri="{FF2B5EF4-FFF2-40B4-BE49-F238E27FC236}">
                <a16:creationId xmlns:a16="http://schemas.microsoft.com/office/drawing/2014/main" id="{C200BE67-C71F-4AFB-AAAF-0E24201E6D85}"/>
              </a:ext>
            </a:extLst>
          </p:cNvPr>
          <p:cNvSpPr>
            <a:spLocks xmlns:a="http://schemas.openxmlformats.org/drawingml/2006/main" noGrp="1"/>
          </p:cNvSpPr>
          <p:nvPr/>
        </p:nvSpPr>
        <p:spPr>
          <a:xfrm xmlns:a="http://schemas.openxmlformats.org/drawingml/2006/main">
            <a:off x="6705600" y="5410200"/>
            <a:ext cx="4857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192B25"/>
                </a:solidFill>
                <a:latin typeface="Helvetica Neue"/>
                <a:ea typeface="Helvetica Neue"/>
                <a:cs typeface="Helvetica Neue"/>
              </a:defRPr>
            </a:pPr>
            <a:r>
              <a:rPr sz="1650" b="0">
                <a:solidFill>
                  <a:srgbClr val="192B25"/>
                </a:solidFill>
                <a:latin typeface="Helvetica Neue"/>
                <a:ea typeface="Helvetica Neue"/>
                <a:cs typeface="Helvetica Neue"/>
              </a:rPr>
              <a:t>Ask someone to use it without the author.</a:t>
            </a:r>
          </a:p>
          <a:p xmlns:a="http://schemas.openxmlformats.org/drawingml/2006/main">
            <a:pPr>
              <a:lnSpc>
                <a:spcPct val="110000"/>
              </a:lnSpc>
              <a:buNone/>
              <a:defRPr sz="1650" b="0">
                <a:solidFill>
                  <a:srgbClr val="192B25"/>
                </a:solidFill>
                <a:latin typeface="Helvetica Neue"/>
                <a:ea typeface="Helvetica Neue"/>
                <a:cs typeface="Helvetica Neue"/>
              </a:defRPr>
            </a:pPr>
            <a:r>
              <a:rPr sz="1650" b="0">
                <a:solidFill>
                  <a:srgbClr val="192B25"/>
                </a:solidFill>
                <a:latin typeface="Helvetica Neue"/>
                <a:ea typeface="Helvetica Neue"/>
                <a:cs typeface="Helvetica Neue"/>
              </a:rPr>
              <a:t>Record where they need help or correction.</a:t>
            </a:r>
          </a:p>
          <a:p xmlns:a="http://schemas.openxmlformats.org/drawingml/2006/main">
            <a:pPr>
              <a:lnSpc>
                <a:spcPct val="110000"/>
              </a:lnSpc>
              <a:buNone/>
              <a:defRPr sz="1650" b="0">
                <a:solidFill>
                  <a:srgbClr val="192B25"/>
                </a:solidFill>
                <a:latin typeface="Helvetica Neue"/>
                <a:ea typeface="Helvetica Neue"/>
                <a:cs typeface="Helvetica Neue"/>
              </a:defRPr>
            </a:pPr>
            <a:r>
              <a:rPr sz="1650" b="0">
                <a:solidFill>
                  <a:srgbClr val="192B25"/>
                </a:solidFill>
                <a:latin typeface="Helvetica Neue"/>
                <a:ea typeface="Helvetica Neue"/>
                <a:cs typeface="Helvetica Neue"/>
              </a:rPr>
              <a:t>Use that evidence to revise the path.</a:t>
            </a:r>
          </a:p>
        </p:txBody>
      </p:sp>
      <p:sp>
        <p:nvSpPr>
          <p:cNvPr id="11" name="slide-number">
            <a:extLst xmlns:a="http://schemas.openxmlformats.org/drawingml/2006/main">
              <a:ext uri="{FF2B5EF4-FFF2-40B4-BE49-F238E27FC236}">
                <a16:creationId xmlns:a16="http://schemas.microsoft.com/office/drawing/2014/main" id="{9BDBD9F7-8C2A-4B21-9C0D-903715391908}"/>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09</a:t>
            </a:r>
          </a:p>
        </p:txBody>
      </p:sp>
    </p:spTree>
    <p:extLst>
      <p:ext uri="{BB962C8B-B14F-4D97-AF65-F5344CB8AC3E}">
        <p14:creationId xmlns:p14="http://schemas.microsoft.com/office/powerpoint/2010/main" val="877403502"/>
      </p:ext>
    </p:extLst>
  </p:cSld>
</p:sld>
</file>

<file path=ppt/slides/slide10.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994168F0-6CDA-49BF-9B83-585EABC1807A}"/>
              </a:ext>
            </a:extLst>
          </p:cNvPr>
          <p:cNvSpPr>
            <a:spLocks xmlns:a="http://schemas.openxmlformats.org/drawingml/2006/main" noGrp="1"/>
          </p:cNvSpPr>
          <p:nvPr/>
        </p:nvSpPr>
        <p:spPr>
          <a:xfrm xmlns:a="http://schemas.openxmlformats.org/drawingml/2006/main">
            <a:off x="609600" y="5238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KYLE HOBSON   /   Coder · AI ENABLEMENT ENGINEER</a:t>
            </a:r>
          </a:p>
        </p:txBody>
      </p:sp>
      <p:sp>
        <p:nvSpPr>
          <p:cNvPr id="2" name="headline">
            <a:extLst xmlns:a="http://schemas.openxmlformats.org/drawingml/2006/main">
              <a:ext uri="{FF2B5EF4-FFF2-40B4-BE49-F238E27FC236}">
                <a16:creationId xmlns:a16="http://schemas.microsoft.com/office/drawing/2014/main" id="{6109AD50-FD3C-47A5-93BB-ADFFA941E32B}"/>
              </a:ext>
            </a:extLst>
          </p:cNvPr>
          <p:cNvSpPr>
            <a:spLocks xmlns:a="http://schemas.openxmlformats.org/drawingml/2006/main" noGrp="1"/>
          </p:cNvSpPr>
          <p:nvPr/>
        </p:nvSpPr>
        <p:spPr>
          <a:xfrm xmlns:a="http://schemas.openxmlformats.org/drawingml/2006/main">
            <a:off x="609600" y="1647825"/>
            <a:ext cx="102870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275" b="1">
                <a:solidFill>
                  <a:srgbClr val="F4F2E9"/>
                </a:solidFill>
                <a:latin typeface="Helvetica Neue"/>
                <a:ea typeface="Helvetica Neue"/>
                <a:cs typeface="Helvetica Neue"/>
              </a:defRPr>
            </a:pPr>
            <a:r>
              <a:rPr sz="4275" b="1">
                <a:solidFill>
                  <a:srgbClr val="F4F2E9"/>
                </a:solidFill>
                <a:latin typeface="Helvetica Neue"/>
                <a:ea typeface="Helvetica Neue"/>
                <a:cs typeface="Helvetica Neue"/>
              </a:rPr>
              <a:t>Let’s work through</a:t>
            </a:r>
          </a:p>
          <a:p xmlns:a="http://schemas.openxmlformats.org/drawingml/2006/main">
            <a:pPr>
              <a:lnSpc>
                <a:spcPct val="110000"/>
              </a:lnSpc>
              <a:buNone/>
              <a:defRPr sz="4275" b="1">
                <a:solidFill>
                  <a:srgbClr val="F4F2E9"/>
                </a:solidFill>
                <a:latin typeface="Helvetica Neue"/>
                <a:ea typeface="Helvetica Neue"/>
                <a:cs typeface="Helvetica Neue"/>
              </a:defRPr>
            </a:pPr>
            <a:r>
              <a:rPr sz="4275" b="1">
                <a:solidFill>
                  <a:srgbClr val="F4F2E9"/>
                </a:solidFill>
                <a:latin typeface="Helvetica Neue"/>
                <a:ea typeface="Helvetica Neue"/>
                <a:cs typeface="Helvetica Neue"/>
              </a:rPr>
              <a:t>the blocked task</a:t>
            </a:r>
          </a:p>
        </p:txBody>
      </p:sp>
      <p:sp>
        <p:nvSpPr>
          <p:cNvPr id="3" name="contact-intent">
            <a:extLst xmlns:a="http://schemas.openxmlformats.org/drawingml/2006/main">
              <a:ext uri="{FF2B5EF4-FFF2-40B4-BE49-F238E27FC236}">
                <a16:creationId xmlns:a16="http://schemas.microsoft.com/office/drawing/2014/main" id="{C52CF667-F7E1-4952-827C-A4E36B821DEB}"/>
              </a:ext>
            </a:extLst>
          </p:cNvPr>
          <p:cNvSpPr>
            <a:spLocks xmlns:a="http://schemas.openxmlformats.org/drawingml/2006/main" noGrp="1"/>
          </p:cNvSpPr>
          <p:nvPr/>
        </p:nvSpPr>
        <p:spPr>
          <a:xfrm xmlns:a="http://schemas.openxmlformats.org/drawingml/2006/main">
            <a:off x="647700" y="3943350"/>
            <a:ext cx="100203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F4F2E9"/>
                </a:solidFill>
                <a:latin typeface="Helvetica Neue"/>
                <a:ea typeface="Helvetica Neue"/>
                <a:cs typeface="Helvetica Neue"/>
              </a:defRPr>
            </a:pPr>
            <a:r>
              <a:rPr sz="2025" b="0">
                <a:solidFill>
                  <a:srgbClr val="F4F2E9"/>
                </a:solidFill>
                <a:latin typeface="Helvetica Neue"/>
                <a:ea typeface="Helvetica Neue"/>
                <a:cs typeface="Helvetica Neue"/>
              </a:rPr>
              <a:t>Mesa, Arizona. Full U.S. work authorization. Available to start as soon as possible.</a:t>
            </a:r>
          </a:p>
        </p:txBody>
      </p:sp>
      <p:sp>
        <p:nvSpPr>
          <p:cNvPr id="4" name="email">
            <a:extLst xmlns:a="http://schemas.openxmlformats.org/drawingml/2006/main">
              <a:ext uri="{FF2B5EF4-FFF2-40B4-BE49-F238E27FC236}">
                <a16:creationId xmlns:a16="http://schemas.microsoft.com/office/drawing/2014/main" id="{E16089FD-3AD3-46A9-B6C8-FF776820CD30}"/>
              </a:ext>
            </a:extLst>
          </p:cNvPr>
          <p:cNvSpPr>
            <a:spLocks xmlns:a="http://schemas.openxmlformats.org/drawingml/2006/main" noGrp="1"/>
          </p:cNvSpPr>
          <p:nvPr/>
        </p:nvSpPr>
        <p:spPr>
          <a:xfrm xmlns:a="http://schemas.openxmlformats.org/drawingml/2006/main">
            <a:off x="647700" y="5057775"/>
            <a:ext cx="1019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u="sng">
                <a:solidFill>
                  <a:srgbClr val="DBEB89"/>
                </a:solidFill>
                <a:latin typeface="Helvetica Neue"/>
                <a:ea typeface="Helvetica Neue"/>
                <a:cs typeface="Helvetica Neue"/>
              </a:defRPr>
            </a:pPr>
            <a:r>
              <a:rPr sz="1875" b="0" u="sng">
                <a:solidFill>
                  <a:srgbClr val="DBEB89"/>
                </a:solidFill>
                <a:latin typeface="Helvetica Neue"/>
                <a:ea typeface="Helvetica Neue"/>
                <a:cs typeface="Helvetica Neue"/>
                <a:hlinkClick xmlns:r="http://schemas.openxmlformats.org/officeDocument/2006/relationships" r:id="Raa1a49214f9d4452"/>
              </a:rPr>
              <a:t>JonathanKyleHobson@gmail.com</a:t>
            </a:r>
          </a:p>
        </p:txBody>
      </p:sp>
      <p:sp>
        <p:nvSpPr>
          <p:cNvPr id="5" name="portfolio">
            <a:extLst xmlns:a="http://schemas.openxmlformats.org/drawingml/2006/main">
              <a:ext uri="{FF2B5EF4-FFF2-40B4-BE49-F238E27FC236}">
                <a16:creationId xmlns:a16="http://schemas.microsoft.com/office/drawing/2014/main" id="{7049F87A-A8E1-4C10-911B-7733961ED608}"/>
              </a:ext>
            </a:extLst>
          </p:cNvPr>
          <p:cNvSpPr>
            <a:spLocks xmlns:a="http://schemas.openxmlformats.org/drawingml/2006/main" noGrp="1"/>
          </p:cNvSpPr>
          <p:nvPr/>
        </p:nvSpPr>
        <p:spPr>
          <a:xfrm xmlns:a="http://schemas.openxmlformats.org/drawingml/2006/main">
            <a:off x="647700" y="5705475"/>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u="sng">
                <a:solidFill>
                  <a:srgbClr val="DBEB89"/>
                </a:solidFill>
                <a:latin typeface="Helvetica Neue"/>
                <a:ea typeface="Helvetica Neue"/>
                <a:cs typeface="Helvetica Neue"/>
              </a:defRPr>
            </a:pPr>
            <a:r>
              <a:rPr sz="1275" b="0" u="sng">
                <a:solidFill>
                  <a:srgbClr val="DBEB89"/>
                </a:solidFill>
                <a:latin typeface="Helvetica Neue"/>
                <a:ea typeface="Helvetica Neue"/>
                <a:cs typeface="Helvetica Neue"/>
                <a:hlinkClick xmlns:r="http://schemas.openxmlformats.org/officeDocument/2006/relationships" r:id="Rfa347778264b4b96"/>
              </a:rPr>
              <a:t>jonathankhobson.github.io/application-portfolios/coder-ai-enablement</a:t>
            </a:r>
          </a:p>
        </p:txBody>
      </p:sp>
      <p:sp>
        <p:nvSpPr>
          <p:cNvPr id="6" name="slide-number">
            <a:extLst xmlns:a="http://schemas.openxmlformats.org/drawingml/2006/main">
              <a:ext uri="{FF2B5EF4-FFF2-40B4-BE49-F238E27FC236}">
                <a16:creationId xmlns:a16="http://schemas.microsoft.com/office/drawing/2014/main" id="{70A54616-74D3-4803-A1D0-80AB9A718C66}"/>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10</a:t>
            </a:r>
          </a:p>
        </p:txBody>
      </p:sp>
    </p:spTree>
    <p:extLst>
      <p:ext uri="{BB962C8B-B14F-4D97-AF65-F5344CB8AC3E}">
        <p14:creationId xmlns:p14="http://schemas.microsoft.com/office/powerpoint/2010/main" val="1765409760"/>
      </p:ext>
    </p:extLst>
  </p:cSld>
</p:sld>
</file>

<file path=ppt/theme/theme1.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2026-09-09T06:00:00.1990000Z</dcterms:created>
  <dcterms:modified xsi:type="dcterms:W3CDTF">2026-09-09T06:00:00.1990000Z</dcterms:modified>
</coreProperties>
</file>