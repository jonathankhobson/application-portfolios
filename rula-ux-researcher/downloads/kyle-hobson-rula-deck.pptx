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42563720ad44900" /><Relationship Type="http://schemas.openxmlformats.org/officeDocument/2006/relationships/extended-properties" Target="/docProps/app.xml" Id="R2688c2cd4c6b4e04" /><Relationship Type="http://schemas.openxmlformats.org/officeDocument/2006/relationships/officeDocument" Target="/ppt/presentation.xml" Id="Rc49eedc6d5a549eb" /></Relationships>
</file>

<file path=ppt/presentation.xml><?xml version="1.0" encoding="utf-8"?>
<p:presentation xmlns:p="http://schemas.openxmlformats.org/presentationml/2006/main">
  <p:sldMasterIdLst>
    <p:sldMasterId xmlns:r="http://schemas.openxmlformats.org/officeDocument/2006/relationships" id="2147483648" r:id="Rbb6581f2884f4629"/>
  </p:sldMasterIdLst>
  <p:notesMasterIdLst>
    <p:notesMasterId xmlns:r="http://schemas.openxmlformats.org/officeDocument/2006/relationships" r:id="Ra7645752b9bc4467"/>
  </p:notesMasterIdLst>
  <p:sldIdLst>
    <p:sldId xmlns:r="http://schemas.openxmlformats.org/officeDocument/2006/relationships" id="256" r:id="Rea43e349909e434a"/>
    <p:sldId xmlns:r="http://schemas.openxmlformats.org/officeDocument/2006/relationships" id="257" r:id="R7565be0fe8e84f39"/>
    <p:sldId xmlns:r="http://schemas.openxmlformats.org/officeDocument/2006/relationships" id="258" r:id="R30f86b43b83f4dff"/>
    <p:sldId xmlns:r="http://schemas.openxmlformats.org/officeDocument/2006/relationships" id="259" r:id="Rb6e41d657e904b19"/>
    <p:sldId xmlns:r="http://schemas.openxmlformats.org/officeDocument/2006/relationships" id="260" r:id="R8f7832628ede4eaf"/>
    <p:sldId xmlns:r="http://schemas.openxmlformats.org/officeDocument/2006/relationships" id="261" r:id="Rb467462474f24a56"/>
    <p:sldId xmlns:r="http://schemas.openxmlformats.org/officeDocument/2006/relationships" id="262" r:id="Rde4201638b4e4bae"/>
    <p:sldId xmlns:r="http://schemas.openxmlformats.org/officeDocument/2006/relationships" id="263" r:id="Rfdb48ba35ecb476f"/>
    <p:sldId xmlns:r="http://schemas.openxmlformats.org/officeDocument/2006/relationships" id="264" r:id="R862c046d652f48ca"/>
    <p:sldId xmlns:r="http://schemas.openxmlformats.org/officeDocument/2006/relationships" id="265" r:id="Rc95cdb58ffc64301"/>
    <p:sldId xmlns:r="http://schemas.openxmlformats.org/officeDocument/2006/relationships" id="266" r:id="R268ef4a025824244"/>
    <p:sldId xmlns:r="http://schemas.openxmlformats.org/officeDocument/2006/relationships" id="267" r:id="Rfd77dc1626224d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9e50cb1fb04ac9" /><Relationship Type="http://schemas.openxmlformats.org/officeDocument/2006/relationships/slideMaster" Target="/ppt/slideMasters/slideMaster1.xml" Id="Rbb6581f2884f4629" /><Relationship Type="http://schemas.openxmlformats.org/officeDocument/2006/relationships/notesMaster" Target="/ppt/notesMasters/notesMaster1.xml" Id="Ra7645752b9bc4467" /><Relationship Type="http://schemas.openxmlformats.org/officeDocument/2006/relationships/presProps" Target="/ppt/presProps.xml" Id="R1f33cb0f544f42d7" /><Relationship Type="http://schemas.openxmlformats.org/officeDocument/2006/relationships/tableStyles" Target="/ppt/tableStyles.xml" Id="R951ac88a320f41de" /><Relationship Type="http://schemas.openxmlformats.org/officeDocument/2006/relationships/slide" Target="/ppt/slides/slide1.xml" Id="Rea43e349909e434a" /><Relationship Type="http://schemas.openxmlformats.org/officeDocument/2006/relationships/slide" Target="/ppt/slides/slide2.xml" Id="R7565be0fe8e84f39" /><Relationship Type="http://schemas.openxmlformats.org/officeDocument/2006/relationships/slide" Target="/ppt/slides/slide3.xml" Id="R30f86b43b83f4dff" /><Relationship Type="http://schemas.openxmlformats.org/officeDocument/2006/relationships/slide" Target="/ppt/slides/slide4.xml" Id="Rb6e41d657e904b19" /><Relationship Type="http://schemas.openxmlformats.org/officeDocument/2006/relationships/slide" Target="/ppt/slides/slide5.xml" Id="R8f7832628ede4eaf" /><Relationship Type="http://schemas.openxmlformats.org/officeDocument/2006/relationships/slide" Target="/ppt/slides/slide6.xml" Id="Rb467462474f24a56" /><Relationship Type="http://schemas.openxmlformats.org/officeDocument/2006/relationships/slide" Target="/ppt/slides/slide7.xml" Id="Rde4201638b4e4bae" /><Relationship Type="http://schemas.openxmlformats.org/officeDocument/2006/relationships/slide" Target="/ppt/slides/slide8.xml" Id="Rfdb48ba35ecb476f" /><Relationship Type="http://schemas.openxmlformats.org/officeDocument/2006/relationships/slide" Target="/ppt/slides/slide9.xml" Id="R862c046d652f48ca" /><Relationship Type="http://schemas.openxmlformats.org/officeDocument/2006/relationships/slide" Target="/ppt/slides/slide10.xml" Id="Rc95cdb58ffc64301" /><Relationship Type="http://schemas.openxmlformats.org/officeDocument/2006/relationships/slide" Target="/ppt/slides/slide11.xml" Id="R268ef4a025824244" /><Relationship Type="http://schemas.openxmlformats.org/officeDocument/2006/relationships/slide" Target="/ppt/slides/slide12.xml" Id="Rfd77dc1626224d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20dff31b0747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e52c0e1d6d4beb" /><Relationship Type="http://schemas.openxmlformats.org/officeDocument/2006/relationships/notesMaster" Target="/ppt/notesMasters/notesMaster1.xml" Id="Ra1aff732279748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0c895437924d99" /><Relationship Type="http://schemas.openxmlformats.org/officeDocument/2006/relationships/notesMaster" Target="/ppt/notesMasters/notesMaster1.xml" Id="Rbc13c2e23c8a42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bf828ab8f74ad0" /><Relationship Type="http://schemas.openxmlformats.org/officeDocument/2006/relationships/notesMaster" Target="/ppt/notesMasters/notesMaster1.xml" Id="R379f3432489345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f6409e14d544a8" /><Relationship Type="http://schemas.openxmlformats.org/officeDocument/2006/relationships/notesMaster" Target="/ppt/notesMasters/notesMaster1.xml" Id="R41c888eaee0442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8c1c84e88b4c37" /><Relationship Type="http://schemas.openxmlformats.org/officeDocument/2006/relationships/notesMaster" Target="/ppt/notesMasters/notesMaster1.xml" Id="R19952339cc9a48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756da040744e1c" /><Relationship Type="http://schemas.openxmlformats.org/officeDocument/2006/relationships/notesMaster" Target="/ppt/notesMasters/notesMaster1.xml" Id="R23517250edc041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4e0430b22c41de" /><Relationship Type="http://schemas.openxmlformats.org/officeDocument/2006/relationships/notesMaster" Target="/ppt/notesMasters/notesMaster1.xml" Id="R42d30109eabc4c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20c41405fb46da" /><Relationship Type="http://schemas.openxmlformats.org/officeDocument/2006/relationships/notesMaster" Target="/ppt/notesMasters/notesMaster1.xml" Id="R81ad06c47cd646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b8fb33944c40aa" /><Relationship Type="http://schemas.openxmlformats.org/officeDocument/2006/relationships/notesMaster" Target="/ppt/notesMasters/notesMaster1.xml" Id="Reb36954beb214c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e9a07d7865433d" /><Relationship Type="http://schemas.openxmlformats.org/officeDocument/2006/relationships/notesMaster" Target="/ppt/notesMasters/notesMaster1.xml" Id="R436c13a5e70544d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eafec42d874ce9" /><Relationship Type="http://schemas.openxmlformats.org/officeDocument/2006/relationships/notesMaster" Target="/ppt/notesMasters/notesMaster1.xml" Id="Rcedf6f54d06840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72173854524aaa" /><Relationship Type="http://schemas.openxmlformats.org/officeDocument/2006/relationships/notesMaster" Target="/ppt/notesMasters/notesMaster1.xml" Id="R2290a3ced97440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Researcher. Selected work at Oak AI and Oak + Qasim. The cover uses a generated decorative paper-path image, not project evidence. The following cases show research methods, evidence, product decisions and the limits on each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 Qasim audience survey, March 2025. Kyle’s reviewed portfolio identifies his role as leading survey design, launch and analysis. Original source: Survey #1 Phase 2 — Findings Report: Understanding Audience Pain Points &amp; Value-Aligned Actions, page 4. The report records 1,459 complete submissions as of March 14, 2025 while the survey remained live. This is a voluntary creator/advocacy audience sample, with predominantly older, female and highly educated respondents. Self-reported needs and preferences do not establish future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 Qasim March 2025 findings report, page 14, shown unchanged at left. Native editable chart reproduces the report’s values: decision fatigue 60%; financial constraints 40%; time limitations 38%; lack of clear action steps 35%; trust issues 20%. The chart workbook is a new snapshot of these literal reported values, not the original response data. Per-item denominators, skip logic and response-level quality checks were not recovered. These are reported survey percentages, not independently recalculated estimates or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March 2025 report pages 14–15 and Kyle’s retrospective portfolio discussion of an Action Hub direction. This slide is an editable synthesis connecting reported barriers and feature requests to a proposed product direction. It does not show an implemented product, verified adoption, funding secured, or a causal outcome. The final sentence proposes a next validation step for the portfolio narrative; it is not a claim that the test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privacy-community research, September 2024. Original evidence: a partial Dovetail coding export and synthesis notes with observations dated September 25–28 and entries created September 29–30. Kyle’s contribution log corroborates community synthesis and persona validation. The displayed source plate is reformatted from the coding export; this crop selects the first three metadata rows, with no participant excerpts or locators. The retrospective also describes later active engagement; the partial export does not establish the full sampling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September 2024 coding export and synthesis; reviewed career evidence and retrospective case narrative. Themes include data security, corporate accountability and personal control. This visual is a retrospective portfolio synthesis, not a historical presentation artifact or a set of respondent quotations. The crop shows the three interpretive questions; the original full plate links those questions to source tags. The work raised concerns about audience fit and supported reconsidering the next research investment. It did not prove product-market fit impossible or establish a quantified budget saving. A next study should compare concrete needs and current workarounds across explicitly recruited audiences.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desktop heuristic evaluation. Original evaluation workbook identifies Mac desktop/Chrome and November 22, 2023. Kyle conducted the heuristic evaluation and UX audit, examined information architecture, and compiled findings and recommendations. The original navigation detail shows competing entry points. This is expert judgment, not a controlled user study. The workbook contains 94 rated desktop checklist rows; those are neither 94 participants nor 94 distinct observed user failures. A completed mobile audit is not evidenced.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Oak desktop evaluation and error-messaging recommendation artifact. The shown crops retain original interface pixels and exclude the identity-bearing example field. Original and Proposed labels distinguish the existing interface from the recommendation. The evaluation identified error feedback that did not explain recovery, and the recommendation made a specific correction visible near the password field. This is a recommendation, not a measured usability improvement or a claim that the exact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desktop heuristic evaluation dated November 22, 2023; recommendations report exported November 27, 2023; Kyle’s contribution log for December 3, 2023 documents presenting the evaluation and recommendations, then initiating a UX improvement list for transformation into a backlog. It does not establish delivery of a completed prioritized backlog on that date. The January 29, 2024 contribution entry credits lead designer Megan with later design refinements and mockup iterations. This slide documents the research handoff, not a shipping or outcome metric. Next validation would observe realistic navigation and error-recovery tasks; future methods named in the report are not presented as completed studies.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reviewed 2024 ASU Learning Innovations proposal and accompanying source brief. Kyle proposed a prompt workflow that condensed learner context, included mentor validation of context, personalized a task template, generated and refined tasks, included mentor confirmation or revision, and prepared structured learner-facing output and feedback. This editable reconstruction groups the original steps into six stages while retaining both mentor review gates. It is a proposal, not a deployed clinical system or a measured efficiency or learning outcome. The human review pattern is adjacent evidence for discussing AI research at Rula; no prior Rula engagement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direction informed by Rula’s Sr. UX Researcher AI and mobile role, requisition 92dbcf63-fbca-48ce-ace1-699bb1a42433, inspected September 8, 2026: https://jobs.ashbyhq.com/rula/92dbcf63-fbca-48ce-ace1-699bb1a42433 . Methods would depend on the product question, clinical review, participant protections, access and recruitment. This is not a completed Rula study or a claim of clinical research credentials. No participants, timetable, results, efficacy or compensation acceptance are promised. The portrait is user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Rula’s Sr. UX Researcher role focused on AI and mobile experiences. The portfolio destination is configured as a hyperlink. No compensation acceptance, clinical credentials or weekly schedule is promised.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e532dbbb7c4a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97185621a240f8" /><Relationship Type="http://schemas.openxmlformats.org/officeDocument/2006/relationships/slideLayout" Target="/ppt/slideLayouts/slideLayout1.xml" Id="R14e1fc5d785745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e1fc5d785745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52be6057a84205" /><Relationship Type="http://schemas.openxmlformats.org/officeDocument/2006/relationships/image" Target="/ppt/media/image.png" Id="Rd434ddfde8064127" /><Relationship Type="http://schemas.openxmlformats.org/officeDocument/2006/relationships/notesSlide" Target="/ppt/notesSlides/notesSlide1.xml" Id="Rf66448de9d5c4c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8136fe285e4733" /><Relationship Type="http://schemas.openxmlformats.org/officeDocument/2006/relationships/image" Target="/ppt/media/image2.png" Id="Rd7ad657161944f51" /><Relationship Type="http://schemas.openxmlformats.org/officeDocument/2006/relationships/notesSlide" Target="/ppt/notesSlides/notesSlide2.xml" Id="R6502ce0ff78d4b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b9585c1db64cba" /><Relationship Type="http://schemas.openxmlformats.org/officeDocument/2006/relationships/image" Target="/ppt/media/image3.png" Id="Rf7cc08e36a604bc8" /><Relationship Type="http://schemas.openxmlformats.org/officeDocument/2006/relationships/chart" Target="/ppt/slides/charts/chart1.xml" Id="R54ed9e98232f4297" /><Relationship Type="http://schemas.openxmlformats.org/officeDocument/2006/relationships/notesSlide" Target="/ppt/notesSlides/notesSlide3.xml" Id="Rff2cc548e3e94c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1f716c09c0418d" /><Relationship Type="http://schemas.openxmlformats.org/officeDocument/2006/relationships/notesSlide" Target="/ppt/notesSlides/notesSlide4.xml" Id="R9ee1088d326f49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2b21183a1b4156" /><Relationship Type="http://schemas.openxmlformats.org/officeDocument/2006/relationships/image" Target="/ppt/media/image4.png" Id="R1a7cfee010c4470b" /><Relationship Type="http://schemas.openxmlformats.org/officeDocument/2006/relationships/notesSlide" Target="/ppt/notesSlides/notesSlide5.xml" Id="R0d15ba35c05948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112dbcbe1a461c" /><Relationship Type="http://schemas.openxmlformats.org/officeDocument/2006/relationships/image" Target="/ppt/media/image5.png" Id="R24ced69997214804" /><Relationship Type="http://schemas.openxmlformats.org/officeDocument/2006/relationships/notesSlide" Target="/ppt/notesSlides/notesSlide6.xml" Id="R958107c2fbc643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b41f272b764dd4" /><Relationship Type="http://schemas.openxmlformats.org/officeDocument/2006/relationships/image" Target="/ppt/media/image6.png" Id="R9bb78d74cc5a4503" /><Relationship Type="http://schemas.openxmlformats.org/officeDocument/2006/relationships/notesSlide" Target="/ppt/notesSlides/notesSlide7.xml" Id="R39ef75305b4d4e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f5cf17c68147f3" /><Relationship Type="http://schemas.openxmlformats.org/officeDocument/2006/relationships/image" Target="/ppt/media/image7.png" Id="R89c06e556a6f4094" /><Relationship Type="http://schemas.openxmlformats.org/officeDocument/2006/relationships/image" Target="/ppt/media/image8.png" Id="R9ebc8c627f324b3d" /><Relationship Type="http://schemas.openxmlformats.org/officeDocument/2006/relationships/image" Target="/ppt/media/image9.png" Id="Ra332114df3264ca1" /><Relationship Type="http://schemas.openxmlformats.org/officeDocument/2006/relationships/notesSlide" Target="/ppt/notesSlides/notesSlide8.xml" Id="R1a6cae33e4c549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91899f28da4b10" /><Relationship Type="http://schemas.openxmlformats.org/officeDocument/2006/relationships/notesSlide" Target="/ppt/notesSlides/notesSlide9.xml" Id="R377d8e67e94540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25a288f0284403f" /><Relationship Type="http://schemas.openxmlformats.org/officeDocument/2006/relationships/notesSlide" Target="/ppt/notesSlides/notesSlide10.xml" Id="R748185a624f049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12467916fb475e" /><Relationship Type="http://schemas.openxmlformats.org/officeDocument/2006/relationships/image" Target="/ppt/media/image.jpeg" Id="R29d1b2a63db94a7d" /><Relationship Type="http://schemas.openxmlformats.org/officeDocument/2006/relationships/notesSlide" Target="/ppt/notesSlides/notesSlide11.xml" Id="R3eebbe941a9c4b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e88a2fd5ab84e67" /><Relationship Type="http://schemas.openxmlformats.org/officeDocument/2006/relationships/hyperlink" Target="mailto:JonathanKyleHobson@gmail.com" TargetMode="External" Id="Re9385c5bb90a4f4b" /><Relationship Type="http://schemas.openxmlformats.org/officeDocument/2006/relationships/hyperlink" Target="https://jonathankhobson.github.io/application-portfolios/rula-ux-researcher/" TargetMode="External" Id="R7feccd78ae664e61" /><Relationship Type="http://schemas.openxmlformats.org/officeDocument/2006/relationships/notesSlide" Target="/ppt/notesSlides/notesSlide12.xml" Id="R0a32802346da423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barrier</c:v>
          </c:tx>
          <c:spPr>
            <a:solidFill xmlns:a="http://schemas.openxmlformats.org/drawingml/2006/main">
              <a:srgbClr val="244D3C"/>
            </a:solidFill>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44D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45D"/>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434ddfde8064127"/>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DB16FA27-A0BF-4D17-81E5-F75A60860100}"/>
              </a:ext>
            </a:extLst>
          </p:cNvPr>
          <p:cNvSpPr>
            <a:spLocks xmlns:a="http://schemas.openxmlformats.org/drawingml/2006/main" noGrp="1"/>
          </p:cNvSpPr>
          <p:nvPr/>
        </p:nvSpPr>
        <p:spPr>
          <a:xfrm xmlns:a="http://schemas.openxmlformats.org/drawingml/2006/main">
            <a:off x="609600" y="5143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RULA · UX RESEARCH</a:t>
            </a:r>
          </a:p>
        </p:txBody>
      </p:sp>
      <p:sp>
        <p:nvSpPr>
          <p:cNvPr id="3" name="headline">
            <a:extLst xmlns:a="http://schemas.openxmlformats.org/drawingml/2006/main">
              <a:ext uri="{FF2B5EF4-FFF2-40B4-BE49-F238E27FC236}">
                <a16:creationId xmlns:a16="http://schemas.microsoft.com/office/drawing/2014/main" id="{0F6D7818-8771-459E-A466-9FDA811AF66E}"/>
              </a:ext>
            </a:extLst>
          </p:cNvPr>
          <p:cNvSpPr>
            <a:spLocks xmlns:a="http://schemas.openxmlformats.org/drawingml/2006/main" noGrp="1"/>
          </p:cNvSpPr>
          <p:nvPr/>
        </p:nvSpPr>
        <p:spPr>
          <a:xfrm xmlns:a="http://schemas.openxmlformats.org/drawingml/2006/main">
            <a:off x="609600" y="1552575"/>
            <a:ext cx="80867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Research for useful,</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trustworthy AI</a:t>
            </a:r>
          </a:p>
        </p:txBody>
      </p:sp>
      <p:sp>
        <p:nvSpPr>
          <p:cNvPr id="4" name="cover-intro">
            <a:extLst xmlns:a="http://schemas.openxmlformats.org/drawingml/2006/main">
              <a:ext uri="{FF2B5EF4-FFF2-40B4-BE49-F238E27FC236}">
                <a16:creationId xmlns:a16="http://schemas.microsoft.com/office/drawing/2014/main" id="{33AC8F5D-5ACE-45B2-8FF6-D3CDB89113EE}"/>
              </a:ext>
            </a:extLst>
          </p:cNvPr>
          <p:cNvSpPr>
            <a:spLocks xmlns:a="http://schemas.openxmlformats.org/drawingml/2006/main" noGrp="1"/>
          </p:cNvSpPr>
          <p:nvPr/>
        </p:nvSpPr>
        <p:spPr>
          <a:xfrm xmlns:a="http://schemas.openxmlformats.org/drawingml/2006/main">
            <a:off x="647700" y="3971925"/>
            <a:ext cx="72294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Mixed methods, human judgment,</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research a product team can examine.</a:t>
            </a:r>
          </a:p>
        </p:txBody>
      </p:sp>
      <p:sp>
        <p:nvSpPr>
          <p:cNvPr id="5" name="cover-scope">
            <a:extLst xmlns:a="http://schemas.openxmlformats.org/drawingml/2006/main">
              <a:ext uri="{FF2B5EF4-FFF2-40B4-BE49-F238E27FC236}">
                <a16:creationId xmlns:a16="http://schemas.microsoft.com/office/drawing/2014/main" id="{23D6B7D3-F6E4-442C-B0F2-7E92061BBA81}"/>
              </a:ext>
            </a:extLst>
          </p:cNvPr>
          <p:cNvSpPr>
            <a:spLocks xmlns:a="http://schemas.openxmlformats.org/drawingml/2006/main" noGrp="1"/>
          </p:cNvSpPr>
          <p:nvPr/>
        </p:nvSpPr>
        <p:spPr>
          <a:xfrm xmlns:a="http://schemas.openxmlformats.org/drawingml/2006/main">
            <a:off x="647700" y="600075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192B25"/>
                </a:solidFill>
                <a:latin typeface="Helvetica Neue"/>
                <a:ea typeface="Helvetica Neue"/>
                <a:cs typeface="Helvetica Neue"/>
              </a:defRPr>
            </a:pPr>
            <a:r>
              <a:rPr sz="1425" b="0">
                <a:solidFill>
                  <a:srgbClr val="192B25"/>
                </a:solidFill>
                <a:latin typeface="Helvetica Neue"/>
                <a:ea typeface="Helvetica Neue"/>
                <a:cs typeface="Helvetica Neue"/>
              </a:rPr>
              <a:t>Selected for Rula · AI &amp; mobile research · September 2026</a:t>
            </a:r>
          </a:p>
        </p:txBody>
      </p:sp>
      <p:sp>
        <p:nvSpPr>
          <p:cNvPr id="6" name="slide-number">
            <a:extLst xmlns:a="http://schemas.openxmlformats.org/drawingml/2006/main">
              <a:ext uri="{FF2B5EF4-FFF2-40B4-BE49-F238E27FC236}">
                <a16:creationId xmlns:a16="http://schemas.microsoft.com/office/drawing/2014/main" id="{696EEEF6-E810-40EE-A78E-309AFB63C0D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594229193"/>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729D4B9F-8F9C-4E4A-951B-FADF30330D3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AUDIENCE SURVEY, MARCH 2025</a:t>
            </a:r>
          </a:p>
        </p:txBody>
      </p:sp>
      <p:sp>
        <p:nvSpPr>
          <p:cNvPr id="2" name="headline">
            <a:extLst xmlns:a="http://schemas.openxmlformats.org/drawingml/2006/main">
              <a:ext uri="{FF2B5EF4-FFF2-40B4-BE49-F238E27FC236}">
                <a16:creationId xmlns:a16="http://schemas.microsoft.com/office/drawing/2014/main" id="{A7F1C9E8-BE70-4DA0-8EAD-6957C151705B}"/>
              </a:ext>
            </a:extLst>
          </p:cNvPr>
          <p:cNvSpPr>
            <a:spLocks xmlns:a="http://schemas.openxmlformats.org/drawingml/2006/main" noGrp="1"/>
          </p:cNvSpPr>
          <p:nvPr/>
        </p:nvSpPr>
        <p:spPr>
          <a:xfrm xmlns:a="http://schemas.openxmlformats.org/drawingml/2006/main">
            <a:off x="609600" y="1104900"/>
            <a:ext cx="54197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What keeps interest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from becoming action?</a:t>
            </a:r>
          </a:p>
        </p:txBody>
      </p:sp>
      <p:sp>
        <p:nvSpPr>
          <p:cNvPr id="3" name="survey-role">
            <a:extLst xmlns:a="http://schemas.openxmlformats.org/drawingml/2006/main">
              <a:ext uri="{FF2B5EF4-FFF2-40B4-BE49-F238E27FC236}">
                <a16:creationId xmlns:a16="http://schemas.microsoft.com/office/drawing/2014/main" id="{2F1819D9-9101-429F-9C2D-3791C3A563BF}"/>
              </a:ext>
            </a:extLst>
          </p:cNvPr>
          <p:cNvSpPr>
            <a:spLocks xmlns:a="http://schemas.openxmlformats.org/drawingml/2006/main" noGrp="1"/>
          </p:cNvSpPr>
          <p:nvPr/>
        </p:nvSpPr>
        <p:spPr>
          <a:xfrm xmlns:a="http://schemas.openxmlformats.org/drawingml/2006/main">
            <a:off x="609600" y="278130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 led survey design, launch and analysis.</a:t>
            </a:r>
          </a:p>
        </p:txBody>
      </p:sp>
      <p:sp>
        <p:nvSpPr>
          <p:cNvPr id="4" name="survey-method">
            <a:extLst xmlns:a="http://schemas.openxmlformats.org/drawingml/2006/main">
              <a:ext uri="{FF2B5EF4-FFF2-40B4-BE49-F238E27FC236}">
                <a16:creationId xmlns:a16="http://schemas.microsoft.com/office/drawing/2014/main" id="{C7F3A298-55D0-4965-AAC9-00EA94BE6801}"/>
              </a:ext>
            </a:extLst>
          </p:cNvPr>
          <p:cNvSpPr>
            <a:spLocks xmlns:a="http://schemas.openxmlformats.org/drawingml/2006/main" noGrp="1"/>
          </p:cNvSpPr>
          <p:nvPr/>
        </p:nvSpPr>
        <p:spPr>
          <a:xfrm xmlns:a="http://schemas.openxmlformats.org/drawingml/2006/main">
            <a:off x="609600" y="3533775"/>
            <a:ext cx="49434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combined structured questions about barriers with open responses about what would help.</a:t>
            </a:r>
          </a:p>
        </p:txBody>
      </p:sp>
      <p:sp>
        <p:nvSpPr>
          <p:cNvPr id="5" name="survey-tradeoff">
            <a:extLst xmlns:a="http://schemas.openxmlformats.org/drawingml/2006/main">
              <a:ext uri="{FF2B5EF4-FFF2-40B4-BE49-F238E27FC236}">
                <a16:creationId xmlns:a16="http://schemas.microsoft.com/office/drawing/2014/main" id="{150B9968-D412-48CC-9486-4486109F4F52}"/>
              </a:ext>
            </a:extLst>
          </p:cNvPr>
          <p:cNvSpPr>
            <a:spLocks xmlns:a="http://schemas.openxmlformats.org/drawingml/2006/main" noGrp="1"/>
          </p:cNvSpPr>
          <p:nvPr/>
        </p:nvSpPr>
        <p:spPr>
          <a:xfrm xmlns:a="http://schemas.openxmlformats.org/drawingml/2006/main">
            <a:off x="609600" y="5019675"/>
            <a:ext cx="4943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 voluntary audience sample surfaced reported needs. It could not establish future use or purchase.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7ad657161944f51"/>
          <a:stretch xmlns:a="http://schemas.openxmlformats.org/drawingml/2006/main"/>
        </p:blipFill>
        <p:spPr>
          <a:xfrm xmlns:a="http://schemas.openxmlformats.org/drawingml/2006/main">
            <a:off x="6438900" y="1896618"/>
            <a:ext cx="5086350" cy="3255264"/>
          </a:xfrm>
          <a:prstGeom xmlns:a="http://schemas.openxmlformats.org/drawingml/2006/main" prst="rect">
            <a:avLst/>
          </a:prstGeom>
        </p:spPr>
      </p:pic>
      <p:sp>
        <p:nvSpPr>
          <p:cNvPr id="7" name="sample-caption">
            <a:extLst xmlns:a="http://schemas.openxmlformats.org/drawingml/2006/main">
              <a:ext uri="{FF2B5EF4-FFF2-40B4-BE49-F238E27FC236}">
                <a16:creationId xmlns:a16="http://schemas.microsoft.com/office/drawing/2014/main" id="{C0B94F70-CB17-436B-9B73-F1EE6A4EDB90}"/>
              </a:ext>
            </a:extLst>
          </p:cNvPr>
          <p:cNvSpPr>
            <a:spLocks xmlns:a="http://schemas.openxmlformats.org/drawingml/2006/main" noGrp="1"/>
          </p:cNvSpPr>
          <p:nvPr/>
        </p:nvSpPr>
        <p:spPr>
          <a:xfrm xmlns:a="http://schemas.openxmlformats.org/drawingml/2006/main">
            <a:off x="6477000" y="5629275"/>
            <a:ext cx="4943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1,459 complete submissions</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March 14, 2025 · survey still live</a:t>
            </a:r>
          </a:p>
        </p:txBody>
      </p:sp>
      <p:sp>
        <p:nvSpPr>
          <p:cNvPr id="8" name="slide-number">
            <a:extLst xmlns:a="http://schemas.openxmlformats.org/drawingml/2006/main">
              <a:ext uri="{FF2B5EF4-FFF2-40B4-BE49-F238E27FC236}">
                <a16:creationId xmlns:a16="http://schemas.microsoft.com/office/drawing/2014/main" id="{D4A46714-C4D2-45A0-8A67-0C9C0FB1C0E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331875198"/>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96F2D835-3FBE-48BC-88F7-23F7CC5BC8C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REPORTED BARRIERS</a:t>
            </a:r>
          </a:p>
        </p:txBody>
      </p:sp>
      <p:sp>
        <p:nvSpPr>
          <p:cNvPr id="2" name="headline">
            <a:extLst xmlns:a="http://schemas.openxmlformats.org/drawingml/2006/main">
              <a:ext uri="{FF2B5EF4-FFF2-40B4-BE49-F238E27FC236}">
                <a16:creationId xmlns:a16="http://schemas.microsoft.com/office/drawing/2014/main" id="{E7047E87-83A5-4EFD-B708-3F860E95EA7C}"/>
              </a:ext>
            </a:extLst>
          </p:cNvPr>
          <p:cNvSpPr>
            <a:spLocks xmlns:a="http://schemas.openxmlformats.org/drawingml/2006/main" noGrp="1"/>
          </p:cNvSpPr>
          <p:nvPr/>
        </p:nvSpPr>
        <p:spPr>
          <a:xfrm xmlns:a="http://schemas.openxmlformats.org/drawingml/2006/main">
            <a:off x="609600" y="1104900"/>
            <a:ext cx="10944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Reported barriers to taking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7cc08e36a604bc8"/>
          <a:stretch xmlns:a="http://schemas.openxmlformats.org/drawingml/2006/main"/>
        </p:blipFill>
        <p:spPr>
          <a:xfrm xmlns:a="http://schemas.openxmlformats.org/drawingml/2006/main">
            <a:off x="612246" y="2752725"/>
            <a:ext cx="4233333" cy="2381250"/>
          </a:xfrm>
          <a:prstGeom xmlns:a="http://schemas.openxmlformats.org/drawingml/2006/main" prst="rect">
            <a:avLst/>
          </a:prstGeom>
        </p:spPr>
      </p:pic>
      <p:sp>
        <p:nvSpPr>
          <p:cNvPr id="4" name="original-report-caption">
            <a:extLst xmlns:a="http://schemas.openxmlformats.org/drawingml/2006/main">
              <a:ext uri="{FF2B5EF4-FFF2-40B4-BE49-F238E27FC236}">
                <a16:creationId xmlns:a16="http://schemas.microsoft.com/office/drawing/2014/main" id="{2C19D827-B96C-4C55-8A17-E11AB7F8685B}"/>
              </a:ext>
            </a:extLst>
          </p:cNvPr>
          <p:cNvSpPr>
            <a:spLocks xmlns:a="http://schemas.openxmlformats.org/drawingml/2006/main" noGrp="1"/>
          </p:cNvSpPr>
          <p:nvPr/>
        </p:nvSpPr>
        <p:spPr>
          <a:xfrm xmlns:a="http://schemas.openxmlformats.org/drawingml/2006/main">
            <a:off x="609600" y="5410200"/>
            <a:ext cx="4238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findings report · March 2025</a:t>
            </a:r>
          </a:p>
        </p:txBody>
      </p:sp>
      <p:graphicFrame>
        <p:nvGraphicFramePr>
          <p:cNvPr id="12" name="Chart"/>
          <p:cNvGraphicFramePr/>
          <p:nvPr/>
        </p:nvGraphicFramePr>
        <p:xfrm>
          <a:off xmlns:a="http://schemas.openxmlformats.org/drawingml/2006/main" x="5114925" y="2143125"/>
          <a:ext xmlns:a="http://schemas.openxmlformats.org/drawingml/2006/main" cx="6457950" cy="3590925"/>
        </p:xfrm>
        <a:graphic xmlns:a="http://schemas.openxmlformats.org/drawingml/2006/main">
          <a:graphicData uri="http://schemas.openxmlformats.org/drawingml/2006/chart">
            <c:chart xmlns:r="http://schemas.openxmlformats.org/officeDocument/2006/relationships" xmlns:c="http://schemas.openxmlformats.org/drawingml/2006/chart" r:id="R54ed9e98232f4297"/>
          </a:graphicData>
        </a:graphic>
      </p:graphicFrame>
      <p:sp>
        <p:nvSpPr>
          <p:cNvPr id="6" name="barrier-limit">
            <a:extLst xmlns:a="http://schemas.openxmlformats.org/drawingml/2006/main">
              <a:ext uri="{FF2B5EF4-FFF2-40B4-BE49-F238E27FC236}">
                <a16:creationId xmlns:a16="http://schemas.microsoft.com/office/drawing/2014/main" id="{518C5256-2382-40C1-AE49-EB671634A7B9}"/>
              </a:ext>
            </a:extLst>
          </p:cNvPr>
          <p:cNvSpPr>
            <a:spLocks xmlns:a="http://schemas.openxmlformats.org/drawingml/2006/main" noGrp="1"/>
          </p:cNvSpPr>
          <p:nvPr/>
        </p:nvSpPr>
        <p:spPr>
          <a:xfrm xmlns:a="http://schemas.openxmlformats.org/drawingml/2006/main">
            <a:off x="609600" y="6096000"/>
            <a:ext cx="10944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Reported percentages · per-item response base unavailable · voluntary audience sample</a:t>
            </a:r>
          </a:p>
        </p:txBody>
      </p:sp>
      <p:sp>
        <p:nvSpPr>
          <p:cNvPr id="7" name="slide-number">
            <a:extLst xmlns:a="http://schemas.openxmlformats.org/drawingml/2006/main">
              <a:ext uri="{FF2B5EF4-FFF2-40B4-BE49-F238E27FC236}">
                <a16:creationId xmlns:a16="http://schemas.microsoft.com/office/drawing/2014/main" id="{C7A94F4A-805D-458B-B75A-C2F2D651B75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828815681"/>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BD5C645C-DB01-494D-A579-B13EC22EC25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FINDINGS INTO A PRODUCT QUESTION</a:t>
            </a:r>
          </a:p>
        </p:txBody>
      </p:sp>
      <p:sp>
        <p:nvSpPr>
          <p:cNvPr id="2" name="headline">
            <a:extLst xmlns:a="http://schemas.openxmlformats.org/drawingml/2006/main">
              <a:ext uri="{FF2B5EF4-FFF2-40B4-BE49-F238E27FC236}">
                <a16:creationId xmlns:a16="http://schemas.microsoft.com/office/drawing/2014/main" id="{20BE383D-C51B-4851-BA37-7941690D09E0}"/>
              </a:ext>
            </a:extLst>
          </p:cNvPr>
          <p:cNvSpPr>
            <a:spLocks xmlns:a="http://schemas.openxmlformats.org/drawingml/2006/main" noGrp="1"/>
          </p:cNvSpPr>
          <p:nvPr/>
        </p:nvSpPr>
        <p:spPr>
          <a:xfrm xmlns:a="http://schemas.openxmlformats.org/drawingml/2006/main">
            <a:off x="609600" y="109537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proposed Action Hub direction</a:t>
            </a:r>
          </a:p>
        </p:txBody>
      </p:sp>
      <p:sp>
        <p:nvSpPr>
          <p:cNvPr id="3" name="proposal-context">
            <a:extLst xmlns:a="http://schemas.openxmlformats.org/drawingml/2006/main">
              <a:ext uri="{FF2B5EF4-FFF2-40B4-BE49-F238E27FC236}">
                <a16:creationId xmlns:a16="http://schemas.microsoft.com/office/drawing/2014/main" id="{E8E5382C-E80A-42F3-8BCC-DFD42B5EF27F}"/>
              </a:ext>
            </a:extLst>
          </p:cNvPr>
          <p:cNvSpPr>
            <a:spLocks xmlns:a="http://schemas.openxmlformats.org/drawingml/2006/main" noGrp="1"/>
          </p:cNvSpPr>
          <p:nvPr/>
        </p:nvSpPr>
        <p:spPr>
          <a:xfrm xmlns:a="http://schemas.openxmlformats.org/drawingml/2006/main">
            <a:off x="609600" y="2257425"/>
            <a:ext cx="10382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findings pointed toward smaller, clearer actions and support for following through.</a:t>
            </a:r>
          </a:p>
        </p:txBody>
      </p:sp>
      <p:sp>
        <p:nvSpPr>
          <p:cNvPr id="4" name="finding-label">
            <a:extLst xmlns:a="http://schemas.openxmlformats.org/drawingml/2006/main">
              <a:ext uri="{FF2B5EF4-FFF2-40B4-BE49-F238E27FC236}">
                <a16:creationId xmlns:a16="http://schemas.microsoft.com/office/drawing/2014/main" id="{F8F51E44-CC55-48BB-9DDC-CA5CF43EB636}"/>
              </a:ext>
            </a:extLst>
          </p:cNvPr>
          <p:cNvSpPr>
            <a:spLocks xmlns:a="http://schemas.openxmlformats.org/drawingml/2006/main" noGrp="1"/>
          </p:cNvSpPr>
          <p:nvPr/>
        </p:nvSpPr>
        <p:spPr>
          <a:xfrm xmlns:a="http://schemas.openxmlformats.org/drawingml/2006/main">
            <a:off x="609600" y="33909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REPORTED NEED</a:t>
            </a:r>
          </a:p>
        </p:txBody>
      </p:sp>
      <p:sp>
        <p:nvSpPr>
          <p:cNvPr id="5" name="direction-label">
            <a:extLst xmlns:a="http://schemas.openxmlformats.org/drawingml/2006/main">
              <a:ext uri="{FF2B5EF4-FFF2-40B4-BE49-F238E27FC236}">
                <a16:creationId xmlns:a16="http://schemas.microsoft.com/office/drawing/2014/main" id="{EAB2F16C-9822-4439-9216-464235D05F6C}"/>
              </a:ext>
            </a:extLst>
          </p:cNvPr>
          <p:cNvSpPr>
            <a:spLocks xmlns:a="http://schemas.openxmlformats.org/drawingml/2006/main" noGrp="1"/>
          </p:cNvSpPr>
          <p:nvPr/>
        </p:nvSpPr>
        <p:spPr>
          <a:xfrm xmlns:a="http://schemas.openxmlformats.org/drawingml/2006/main">
            <a:off x="6191250" y="3390900"/>
            <a:ext cx="512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DIRECTION</a:t>
            </a:r>
          </a:p>
        </p:txBody>
      </p:sp>
      <p:sp>
        <p:nvSpPr>
          <p:cNvPr id="6" name="need-0">
            <a:extLst xmlns:a="http://schemas.openxmlformats.org/drawingml/2006/main">
              <a:ext uri="{FF2B5EF4-FFF2-40B4-BE49-F238E27FC236}">
                <a16:creationId xmlns:a16="http://schemas.microsoft.com/office/drawing/2014/main" id="{F64CF47E-EBDD-44AC-B1E5-AE492538FFAA}"/>
              </a:ext>
            </a:extLst>
          </p:cNvPr>
          <p:cNvSpPr>
            <a:spLocks xmlns:a="http://schemas.openxmlformats.org/drawingml/2006/main" noGrp="1"/>
          </p:cNvSpPr>
          <p:nvPr/>
        </p:nvSpPr>
        <p:spPr>
          <a:xfrm xmlns:a="http://schemas.openxmlformats.org/drawingml/2006/main">
            <a:off x="609600" y="382905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Overwhelm and unclear steps</a:t>
            </a:r>
          </a:p>
        </p:txBody>
      </p:sp>
      <p:sp>
        <p:nvSpPr>
          <p:cNvPr id="7" name="direction-0">
            <a:extLst xmlns:a="http://schemas.openxmlformats.org/drawingml/2006/main">
              <a:ext uri="{FF2B5EF4-FFF2-40B4-BE49-F238E27FC236}">
                <a16:creationId xmlns:a16="http://schemas.microsoft.com/office/drawing/2014/main" id="{1DB62D07-7916-4D64-8AE5-17F498EDDDB8}"/>
              </a:ext>
            </a:extLst>
          </p:cNvPr>
          <p:cNvSpPr>
            <a:spLocks xmlns:a="http://schemas.openxmlformats.org/drawingml/2006/main" noGrp="1"/>
          </p:cNvSpPr>
          <p:nvPr/>
        </p:nvSpPr>
        <p:spPr>
          <a:xfrm xmlns:a="http://schemas.openxmlformats.org/drawingml/2006/main">
            <a:off x="6191250" y="382905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A focused action with instructions</a:t>
            </a:r>
          </a:p>
        </p:txBody>
      </p:sp>
      <p:sp>
        <p:nvSpPr>
          <p:cNvPr id="8" name="need-1">
            <a:extLst xmlns:a="http://schemas.openxmlformats.org/drawingml/2006/main">
              <a:ext uri="{FF2B5EF4-FFF2-40B4-BE49-F238E27FC236}">
                <a16:creationId xmlns:a16="http://schemas.microsoft.com/office/drawing/2014/main" id="{D3988C8E-8DB7-4A81-81E5-BB2E273C5C78}"/>
              </a:ext>
            </a:extLst>
          </p:cNvPr>
          <p:cNvSpPr>
            <a:spLocks xmlns:a="http://schemas.openxmlformats.org/drawingml/2006/main" noGrp="1"/>
          </p:cNvSpPr>
          <p:nvPr/>
        </p:nvSpPr>
        <p:spPr>
          <a:xfrm xmlns:a="http://schemas.openxmlformats.org/drawingml/2006/main">
            <a:off x="609600" y="44672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Limited time and resources</a:t>
            </a:r>
          </a:p>
        </p:txBody>
      </p:sp>
      <p:sp>
        <p:nvSpPr>
          <p:cNvPr id="9" name="direction-1">
            <a:extLst xmlns:a="http://schemas.openxmlformats.org/drawingml/2006/main">
              <a:ext uri="{FF2B5EF4-FFF2-40B4-BE49-F238E27FC236}">
                <a16:creationId xmlns:a16="http://schemas.microsoft.com/office/drawing/2014/main" id="{3B31F466-B766-4AE1-A24D-7AEB659FDC89}"/>
              </a:ext>
            </a:extLst>
          </p:cNvPr>
          <p:cNvSpPr>
            <a:spLocks xmlns:a="http://schemas.openxmlformats.org/drawingml/2006/main" noGrp="1"/>
          </p:cNvSpPr>
          <p:nvPr/>
        </p:nvSpPr>
        <p:spPr>
          <a:xfrm xmlns:a="http://schemas.openxmlformats.org/drawingml/2006/main">
            <a:off x="6191250" y="4467225"/>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Reusable templates and task support</a:t>
            </a:r>
          </a:p>
        </p:txBody>
      </p:sp>
      <p:sp>
        <p:nvSpPr>
          <p:cNvPr id="10" name="need-2">
            <a:extLst xmlns:a="http://schemas.openxmlformats.org/drawingml/2006/main">
              <a:ext uri="{FF2B5EF4-FFF2-40B4-BE49-F238E27FC236}">
                <a16:creationId xmlns:a16="http://schemas.microsoft.com/office/drawing/2014/main" id="{FC05CB1A-AFB1-41AC-9410-2A4859195BFB}"/>
              </a:ext>
            </a:extLst>
          </p:cNvPr>
          <p:cNvSpPr>
            <a:spLocks xmlns:a="http://schemas.openxmlformats.org/drawingml/2006/main" noGrp="1"/>
          </p:cNvSpPr>
          <p:nvPr/>
        </p:nvSpPr>
        <p:spPr>
          <a:xfrm xmlns:a="http://schemas.openxmlformats.org/drawingml/2006/main">
            <a:off x="609600" y="510540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Doubt about whether action matters</a:t>
            </a:r>
          </a:p>
        </p:txBody>
      </p:sp>
      <p:sp>
        <p:nvSpPr>
          <p:cNvPr id="11" name="direction-2">
            <a:extLst xmlns:a="http://schemas.openxmlformats.org/drawingml/2006/main">
              <a:ext uri="{FF2B5EF4-FFF2-40B4-BE49-F238E27FC236}">
                <a16:creationId xmlns:a16="http://schemas.microsoft.com/office/drawing/2014/main" id="{0DE647B7-01A8-48E5-BD7C-BA0853B4FCF7}"/>
              </a:ext>
            </a:extLst>
          </p:cNvPr>
          <p:cNvSpPr>
            <a:spLocks xmlns:a="http://schemas.openxmlformats.org/drawingml/2006/main" noGrp="1"/>
          </p:cNvSpPr>
          <p:nvPr/>
        </p:nvSpPr>
        <p:spPr>
          <a:xfrm xmlns:a="http://schemas.openxmlformats.org/drawingml/2006/main">
            <a:off x="6191250" y="510540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Visible progress and feedback</a:t>
            </a:r>
          </a:p>
        </p:txBody>
      </p:sp>
      <p:sp>
        <p:nvSpPr>
          <p:cNvPr id="12" name="next-test">
            <a:extLst xmlns:a="http://schemas.openxmlformats.org/drawingml/2006/main">
              <a:ext uri="{FF2B5EF4-FFF2-40B4-BE49-F238E27FC236}">
                <a16:creationId xmlns:a16="http://schemas.microsoft.com/office/drawing/2014/main" id="{70B00ADA-4A6A-4FC0-A446-D931B2B2D8FA}"/>
              </a:ext>
            </a:extLst>
          </p:cNvPr>
          <p:cNvSpPr>
            <a:spLocks xmlns:a="http://schemas.openxmlformats.org/drawingml/2006/main" noGrp="1"/>
          </p:cNvSpPr>
          <p:nvPr/>
        </p:nvSpPr>
        <p:spPr>
          <a:xfrm xmlns:a="http://schemas.openxmlformats.org/drawingml/2006/main">
            <a:off x="609600" y="5915025"/>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Next validation: test whether people can choose and complete an action in a prototype.</a:t>
            </a:r>
          </a:p>
        </p:txBody>
      </p:sp>
      <p:sp>
        <p:nvSpPr>
          <p:cNvPr id="13" name="slide-number">
            <a:extLst xmlns:a="http://schemas.openxmlformats.org/drawingml/2006/main">
              <a:ext uri="{FF2B5EF4-FFF2-40B4-BE49-F238E27FC236}">
                <a16:creationId xmlns:a16="http://schemas.microsoft.com/office/drawing/2014/main" id="{8EFFEC9D-B265-4D04-BEA9-BC2D4F0E7F3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532506307"/>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5D6023A2-A1C7-4370-823C-8127ED43E0B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PRIVACY-COMMUNITY RESEARCH, SEPTEMBER 2024</a:t>
            </a:r>
          </a:p>
        </p:txBody>
      </p:sp>
      <p:sp>
        <p:nvSpPr>
          <p:cNvPr id="2" name="headline">
            <a:extLst xmlns:a="http://schemas.openxmlformats.org/drawingml/2006/main">
              <a:ext uri="{FF2B5EF4-FFF2-40B4-BE49-F238E27FC236}">
                <a16:creationId xmlns:a16="http://schemas.microsoft.com/office/drawing/2014/main" id="{CF2569F5-7B83-43E2-BC71-CF4E84C9D746}"/>
              </a:ext>
            </a:extLst>
          </p:cNvPr>
          <p:cNvSpPr>
            <a:spLocks xmlns:a="http://schemas.openxmlformats.org/drawingml/2006/main" noGrp="1"/>
          </p:cNvSpPr>
          <p:nvPr/>
        </p:nvSpPr>
        <p:spPr>
          <a:xfrm xmlns:a="http://schemas.openxmlformats.org/drawingml/2006/main">
            <a:off x="609600" y="1104900"/>
            <a:ext cx="109251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Testing an audience assumption</a:t>
            </a:r>
          </a:p>
        </p:txBody>
      </p:sp>
      <p:sp>
        <p:nvSpPr>
          <p:cNvPr id="3" name="privacy-method">
            <a:extLst xmlns:a="http://schemas.openxmlformats.org/drawingml/2006/main">
              <a:ext uri="{FF2B5EF4-FFF2-40B4-BE49-F238E27FC236}">
                <a16:creationId xmlns:a16="http://schemas.microsoft.com/office/drawing/2014/main" id="{93949669-3F48-4098-AFC5-D6F821B4A19C}"/>
              </a:ext>
            </a:extLst>
          </p:cNvPr>
          <p:cNvSpPr>
            <a:spLocks xmlns:a="http://schemas.openxmlformats.org/drawingml/2006/main" noGrp="1"/>
          </p:cNvSpPr>
          <p:nvPr/>
        </p:nvSpPr>
        <p:spPr>
          <a:xfrm xmlns:a="http://schemas.openxmlformats.org/drawingml/2006/main">
            <a:off x="609600" y="2200275"/>
            <a:ext cx="10715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studied existing community discussions, then coded excerpts to examine whether Oak’s audience assumptions fit.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a7cfee010c4470b"/>
          <a:stretch xmlns:a="http://schemas.openxmlformats.org/drawingml/2006/main"/>
        </p:blipFill>
        <p:spPr>
          <a:xfrm xmlns:a="http://schemas.openxmlformats.org/drawingml/2006/main">
            <a:off x="609600" y="3315102"/>
            <a:ext cx="10896600" cy="2675721"/>
          </a:xfrm>
          <a:prstGeom xmlns:a="http://schemas.openxmlformats.org/drawingml/2006/main" prst="rect">
            <a:avLst/>
          </a:prstGeom>
        </p:spPr>
      </p:pic>
      <p:sp>
        <p:nvSpPr>
          <p:cNvPr id="5" name="privacy-stage">
            <a:extLst xmlns:a="http://schemas.openxmlformats.org/drawingml/2006/main">
              <a:ext uri="{FF2B5EF4-FFF2-40B4-BE49-F238E27FC236}">
                <a16:creationId xmlns:a16="http://schemas.microsoft.com/office/drawing/2014/main" id="{2E7CC40E-C50C-473E-AD5D-CF482FB91A78}"/>
              </a:ext>
            </a:extLst>
          </p:cNvPr>
          <p:cNvSpPr>
            <a:spLocks xmlns:a="http://schemas.openxmlformats.org/drawingml/2006/main" noGrp="1"/>
          </p:cNvSpPr>
          <p:nvPr/>
        </p:nvSpPr>
        <p:spPr>
          <a:xfrm xmlns:a="http://schemas.openxmlformats.org/drawingml/2006/main">
            <a:off x="609600" y="6210300"/>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Reformatted source metadata · exploratory research and synthesis · September 2024</a:t>
            </a:r>
          </a:p>
        </p:txBody>
      </p:sp>
      <p:sp>
        <p:nvSpPr>
          <p:cNvPr id="6" name="slide-number">
            <a:extLst xmlns:a="http://schemas.openxmlformats.org/drawingml/2006/main">
              <a:ext uri="{FF2B5EF4-FFF2-40B4-BE49-F238E27FC236}">
                <a16:creationId xmlns:a16="http://schemas.microsoft.com/office/drawing/2014/main" id="{7D2AC213-24F4-44DD-BECE-84E9AC188F8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247227592"/>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A6D18FC3-CAEF-4E75-B4A4-0817B2BD4C7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QUALITATIVE FINDINGS AND DECISION</a:t>
            </a:r>
          </a:p>
        </p:txBody>
      </p:sp>
      <p:sp>
        <p:nvSpPr>
          <p:cNvPr id="2" name="headline">
            <a:extLst xmlns:a="http://schemas.openxmlformats.org/drawingml/2006/main">
              <a:ext uri="{FF2B5EF4-FFF2-40B4-BE49-F238E27FC236}">
                <a16:creationId xmlns:a16="http://schemas.microsoft.com/office/drawing/2014/main" id="{730BDE30-1D20-4456-9146-D6A4111AF44E}"/>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Audience fit needed another look</a:t>
            </a:r>
          </a:p>
        </p:txBody>
      </p:sp>
      <p:sp>
        <p:nvSpPr>
          <p:cNvPr id="3" name="privacy-decision">
            <a:extLst xmlns:a="http://schemas.openxmlformats.org/drawingml/2006/main">
              <a:ext uri="{FF2B5EF4-FFF2-40B4-BE49-F238E27FC236}">
                <a16:creationId xmlns:a16="http://schemas.microsoft.com/office/drawing/2014/main" id="{728EB012-C35E-4643-8970-6EACE0D091F9}"/>
              </a:ext>
            </a:extLst>
          </p:cNvPr>
          <p:cNvSpPr>
            <a:spLocks xmlns:a="http://schemas.openxmlformats.org/drawingml/2006/main" noGrp="1"/>
          </p:cNvSpPr>
          <p:nvPr/>
        </p:nvSpPr>
        <p:spPr>
          <a:xfrm xmlns:a="http://schemas.openxmlformats.org/drawingml/2006/main">
            <a:off x="609600" y="2152650"/>
            <a:ext cx="107156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used concerns about data protection, accountability and control to question audience fit and reconsider the next research investment.</a:t>
            </a:r>
          </a:p>
        </p:txBody>
      </p:sp>
      <p:sp>
        <p:nvSpPr>
          <p:cNvPr id="4" name="theme-caption">
            <a:extLst xmlns:a="http://schemas.openxmlformats.org/drawingml/2006/main">
              <a:ext uri="{FF2B5EF4-FFF2-40B4-BE49-F238E27FC236}">
                <a16:creationId xmlns:a16="http://schemas.microsoft.com/office/drawing/2014/main" id="{48527B66-C0AB-48EB-9CB8-0612C083A6BE}"/>
              </a:ext>
            </a:extLst>
          </p:cNvPr>
          <p:cNvSpPr>
            <a:spLocks xmlns:a="http://schemas.openxmlformats.org/drawingml/2006/main" noGrp="1"/>
          </p:cNvSpPr>
          <p:nvPr/>
        </p:nvSpPr>
        <p:spPr>
          <a:xfrm xmlns:a="http://schemas.openxmlformats.org/drawingml/2006/main">
            <a:off x="609600" y="3133725"/>
            <a:ext cx="1056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Portfolio synthesis based on source tags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4ced69997214804"/>
          <a:stretch xmlns:a="http://schemas.openxmlformats.org/drawingml/2006/main"/>
        </p:blipFill>
        <p:spPr>
          <a:xfrm xmlns:a="http://schemas.openxmlformats.org/drawingml/2006/main">
            <a:off x="614363" y="3533775"/>
            <a:ext cx="10887075" cy="2419350"/>
          </a:xfrm>
          <a:prstGeom xmlns:a="http://schemas.openxmlformats.org/drawingml/2006/main" prst="rect">
            <a:avLst/>
          </a:prstGeom>
        </p:spPr>
      </p:pic>
      <p:sp>
        <p:nvSpPr>
          <p:cNvPr id="6" name="privacy-limits">
            <a:extLst xmlns:a="http://schemas.openxmlformats.org/drawingml/2006/main">
              <a:ext uri="{FF2B5EF4-FFF2-40B4-BE49-F238E27FC236}">
                <a16:creationId xmlns:a16="http://schemas.microsoft.com/office/drawing/2014/main" id="{F4C6579E-0949-4FD4-9690-5AB331BC4B2B}"/>
              </a:ext>
            </a:extLst>
          </p:cNvPr>
          <p:cNvSpPr>
            <a:spLocks xmlns:a="http://schemas.openxmlformats.org/drawingml/2006/main" noGrp="1"/>
          </p:cNvSpPr>
          <p:nvPr/>
        </p:nvSpPr>
        <p:spPr>
          <a:xfrm xmlns:a="http://schemas.openxmlformats.org/drawingml/2006/main">
            <a:off x="609600" y="6210300"/>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A partial coding export supports exploration. A purposive sample cannot establish market-wide demand.</a:t>
            </a:r>
          </a:p>
        </p:txBody>
      </p:sp>
      <p:sp>
        <p:nvSpPr>
          <p:cNvPr id="7" name="slide-number">
            <a:extLst xmlns:a="http://schemas.openxmlformats.org/drawingml/2006/main">
              <a:ext uri="{FF2B5EF4-FFF2-40B4-BE49-F238E27FC236}">
                <a16:creationId xmlns:a16="http://schemas.microsoft.com/office/drawing/2014/main" id="{5988192F-B3F4-4C70-9E2B-1C1F07922E7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525326229"/>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680F562F-95E5-43D3-8DA2-230AB1A552A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DESKTOP HEURISTIC EVALUATION, NOVEMBER 2023</a:t>
            </a:r>
          </a:p>
        </p:txBody>
      </p:sp>
      <p:sp>
        <p:nvSpPr>
          <p:cNvPr id="2" name="headline">
            <a:extLst xmlns:a="http://schemas.openxmlformats.org/drawingml/2006/main">
              <a:ext uri="{FF2B5EF4-FFF2-40B4-BE49-F238E27FC236}">
                <a16:creationId xmlns:a16="http://schemas.microsoft.com/office/drawing/2014/main" id="{4E3C604E-C28C-4F46-92F7-BA2A2E9ED57A}"/>
              </a:ext>
            </a:extLst>
          </p:cNvPr>
          <p:cNvSpPr>
            <a:spLocks xmlns:a="http://schemas.openxmlformats.org/drawingml/2006/main" noGrp="1"/>
          </p:cNvSpPr>
          <p:nvPr/>
        </p:nvSpPr>
        <p:spPr>
          <a:xfrm xmlns:a="http://schemas.openxmlformats.org/drawingml/2006/main">
            <a:off x="609600" y="1104900"/>
            <a:ext cx="44196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Where would</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someone get stuck?</a:t>
            </a:r>
          </a:p>
        </p:txBody>
      </p:sp>
      <p:sp>
        <p:nvSpPr>
          <p:cNvPr id="3" name="audit-role">
            <a:extLst xmlns:a="http://schemas.openxmlformats.org/drawingml/2006/main">
              <a:ext uri="{FF2B5EF4-FFF2-40B4-BE49-F238E27FC236}">
                <a16:creationId xmlns:a16="http://schemas.microsoft.com/office/drawing/2014/main" id="{CECEB9C4-54E8-4CAF-8511-6BB9C98D13C9}"/>
              </a:ext>
            </a:extLst>
          </p:cNvPr>
          <p:cNvSpPr>
            <a:spLocks xmlns:a="http://schemas.openxmlformats.org/drawingml/2006/main" noGrp="1"/>
          </p:cNvSpPr>
          <p:nvPr/>
        </p:nvSpPr>
        <p:spPr>
          <a:xfrm xmlns:a="http://schemas.openxmlformats.org/drawingml/2006/main">
            <a:off x="609600" y="3048000"/>
            <a:ext cx="4324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evaluated the desktop experience and documented findings for the product team.</a:t>
            </a:r>
          </a:p>
        </p:txBody>
      </p:sp>
      <p:sp>
        <p:nvSpPr>
          <p:cNvPr id="4" name="audit-method">
            <a:extLst xmlns:a="http://schemas.openxmlformats.org/drawingml/2006/main">
              <a:ext uri="{FF2B5EF4-FFF2-40B4-BE49-F238E27FC236}">
                <a16:creationId xmlns:a16="http://schemas.microsoft.com/office/drawing/2014/main" id="{7D724937-01A8-4431-953A-55549AFBFC0C}"/>
              </a:ext>
            </a:extLst>
          </p:cNvPr>
          <p:cNvSpPr>
            <a:spLocks xmlns:a="http://schemas.openxmlformats.org/drawingml/2006/main" noGrp="1"/>
          </p:cNvSpPr>
          <p:nvPr/>
        </p:nvSpPr>
        <p:spPr>
          <a:xfrm xmlns:a="http://schemas.openxmlformats.org/drawingml/2006/main">
            <a:off x="609600" y="4743450"/>
            <a:ext cx="43243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Expert review exposed navigation and recovery problems to investigate next.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bb78d74cc5a4503"/>
          <a:stretch xmlns:a="http://schemas.openxmlformats.org/drawingml/2006/main"/>
        </p:blipFill>
        <p:spPr>
          <a:xfrm xmlns:a="http://schemas.openxmlformats.org/drawingml/2006/main">
            <a:off x="5238750" y="1555125"/>
            <a:ext cx="6229350" cy="489075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3C8D1B3C-2E48-4AA0-9FAF-DA2736041F7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400502661"/>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AF39361B-3511-49E7-8A0E-1C5CCF80AC9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ERROR RECOVERY RECOMMENDATION</a:t>
            </a:r>
          </a:p>
        </p:txBody>
      </p:sp>
      <p:sp>
        <p:nvSpPr>
          <p:cNvPr id="2" name="headline">
            <a:extLst xmlns:a="http://schemas.openxmlformats.org/drawingml/2006/main">
              <a:ext uri="{FF2B5EF4-FFF2-40B4-BE49-F238E27FC236}">
                <a16:creationId xmlns:a16="http://schemas.microsoft.com/office/drawing/2014/main" id="{84CC419A-B511-461D-93C5-625CD8B985B8}"/>
              </a:ext>
            </a:extLst>
          </p:cNvPr>
          <p:cNvSpPr>
            <a:spLocks xmlns:a="http://schemas.openxmlformats.org/drawingml/2006/main" noGrp="1"/>
          </p:cNvSpPr>
          <p:nvPr/>
        </p:nvSpPr>
        <p:spPr>
          <a:xfrm xmlns:a="http://schemas.openxmlformats.org/drawingml/2006/main">
            <a:off x="609600" y="1104900"/>
            <a:ext cx="5572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Recovery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needed a clearer location</a:t>
            </a:r>
          </a:p>
        </p:txBody>
      </p:sp>
      <p:sp>
        <p:nvSpPr>
          <p:cNvPr id="3" name="error-observation">
            <a:extLst xmlns:a="http://schemas.openxmlformats.org/drawingml/2006/main">
              <a:ext uri="{FF2B5EF4-FFF2-40B4-BE49-F238E27FC236}">
                <a16:creationId xmlns:a16="http://schemas.microsoft.com/office/drawing/2014/main" id="{78ABF846-E83C-4620-A7C9-8A64CF0FAEBB}"/>
              </a:ext>
            </a:extLst>
          </p:cNvPr>
          <p:cNvSpPr>
            <a:spLocks xmlns:a="http://schemas.openxmlformats.org/drawingml/2006/main" noGrp="1"/>
          </p:cNvSpPr>
          <p:nvPr/>
        </p:nvSpPr>
        <p:spPr>
          <a:xfrm xmlns:a="http://schemas.openxmlformats.org/drawingml/2006/main">
            <a:off x="609600" y="3105150"/>
            <a:ext cx="34004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existing error appeared at the page footer, away from the login fields.</a:t>
            </a:r>
          </a:p>
        </p:txBody>
      </p:sp>
      <p:sp>
        <p:nvSpPr>
          <p:cNvPr id="4" name="error-recommendation">
            <a:extLst xmlns:a="http://schemas.openxmlformats.org/drawingml/2006/main">
              <a:ext uri="{FF2B5EF4-FFF2-40B4-BE49-F238E27FC236}">
                <a16:creationId xmlns:a16="http://schemas.microsoft.com/office/drawing/2014/main" id="{75FA5755-E83D-4383-82C0-528AB0644476}"/>
              </a:ext>
            </a:extLst>
          </p:cNvPr>
          <p:cNvSpPr>
            <a:spLocks xmlns:a="http://schemas.openxmlformats.org/drawingml/2006/main" noGrp="1"/>
          </p:cNvSpPr>
          <p:nvPr/>
        </p:nvSpPr>
        <p:spPr>
          <a:xfrm xmlns:a="http://schemas.openxmlformats.org/drawingml/2006/main">
            <a:off x="609600" y="4819650"/>
            <a:ext cx="34004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I recommended placing the correction beside the field where someone could act.</a:t>
            </a:r>
          </a:p>
        </p:txBody>
      </p:sp>
      <p:sp>
        <p:nvSpPr>
          <p:cNvPr id="5" name="original-label">
            <a:extLst xmlns:a="http://schemas.openxmlformats.org/drawingml/2006/main">
              <a:ext uri="{FF2B5EF4-FFF2-40B4-BE49-F238E27FC236}">
                <a16:creationId xmlns:a16="http://schemas.microsoft.com/office/drawing/2014/main" id="{78E9C0D3-18B5-4BC8-BE79-62BB06393A9C}"/>
              </a:ext>
            </a:extLst>
          </p:cNvPr>
          <p:cNvSpPr>
            <a:spLocks xmlns:a="http://schemas.openxmlformats.org/drawingml/2006/main" noGrp="1"/>
          </p:cNvSpPr>
          <p:nvPr/>
        </p:nvSpPr>
        <p:spPr>
          <a:xfrm xmlns:a="http://schemas.openxmlformats.org/drawingml/2006/main">
            <a:off x="4419600"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proposed-label">
            <a:extLst xmlns:a="http://schemas.openxmlformats.org/drawingml/2006/main">
              <a:ext uri="{FF2B5EF4-FFF2-40B4-BE49-F238E27FC236}">
                <a16:creationId xmlns:a16="http://schemas.microsoft.com/office/drawing/2014/main" id="{20048BFA-0819-4110-8DD0-A4BBCBAB4F8D}"/>
              </a:ext>
            </a:extLst>
          </p:cNvPr>
          <p:cNvSpPr>
            <a:spLocks xmlns:a="http://schemas.openxmlformats.org/drawingml/2006/main" noGrp="1"/>
          </p:cNvSpPr>
          <p:nvPr/>
        </p:nvSpPr>
        <p:spPr>
          <a:xfrm xmlns:a="http://schemas.openxmlformats.org/drawingml/2006/main">
            <a:off x="8086725"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9c06e556a6f4094"/>
          <a:stretch xmlns:a="http://schemas.openxmlformats.org/drawingml/2006/main"/>
        </p:blipFill>
        <p:spPr>
          <a:xfrm xmlns:a="http://schemas.openxmlformats.org/drawingml/2006/main">
            <a:off x="4419600" y="3079091"/>
            <a:ext cx="3257550" cy="2642918"/>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ebc8c627f324b3d"/>
          <a:stretch xmlns:a="http://schemas.openxmlformats.org/drawingml/2006/main"/>
        </p:blipFill>
        <p:spPr>
          <a:xfrm xmlns:a="http://schemas.openxmlformats.org/drawingml/2006/main">
            <a:off x="8086725" y="3233261"/>
            <a:ext cx="3257550" cy="2334578"/>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CB6A8BDC-39F6-4149-911A-73765CCB3B62}"/>
              </a:ext>
            </a:extLst>
          </p:cNvPr>
          <p:cNvSpPr>
            <a:spLocks xmlns:a="http://schemas.openxmlformats.org/drawingml/2006/main" noGrp="1"/>
          </p:cNvSpPr>
          <p:nvPr/>
        </p:nvSpPr>
        <p:spPr>
          <a:xfrm xmlns:a="http://schemas.openxmlformats.org/drawingml/2006/main">
            <a:off x="4419600" y="5876925"/>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page-footer error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332114df3264ca1"/>
          <a:stretch xmlns:a="http://schemas.openxmlformats.org/drawingml/2006/main"/>
        </p:blipFill>
        <p:spPr>
          <a:xfrm xmlns:a="http://schemas.openxmlformats.org/drawingml/2006/main">
            <a:off x="4419600" y="6182704"/>
            <a:ext cx="3257550" cy="312368"/>
          </a:xfrm>
          <a:prstGeom xmlns:a="http://schemas.openxmlformats.org/drawingml/2006/main" prst="rect">
            <a:avLst/>
          </a:prstGeom>
        </p:spPr>
      </p:pic>
      <p:sp>
        <p:nvSpPr>
          <p:cNvPr id="11" name="slide-number">
            <a:extLst xmlns:a="http://schemas.openxmlformats.org/drawingml/2006/main">
              <a:ext uri="{FF2B5EF4-FFF2-40B4-BE49-F238E27FC236}">
                <a16:creationId xmlns:a16="http://schemas.microsoft.com/office/drawing/2014/main" id="{A13F5233-B041-4BE8-BCF1-04295A5A9FD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655818195"/>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123B1002-F9FB-49C1-B5FD-1B028BDCD0C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RESEARCH HANDOFF</a:t>
            </a:r>
          </a:p>
        </p:txBody>
      </p:sp>
      <p:sp>
        <p:nvSpPr>
          <p:cNvPr id="2" name="headline">
            <a:extLst xmlns:a="http://schemas.openxmlformats.org/drawingml/2006/main">
              <a:ext uri="{FF2B5EF4-FFF2-40B4-BE49-F238E27FC236}">
                <a16:creationId xmlns:a16="http://schemas.microsoft.com/office/drawing/2014/main" id="{413E62B2-9A28-4098-AB84-B70B7B5F82F9}"/>
              </a:ext>
            </a:extLst>
          </p:cNvPr>
          <p:cNvSpPr>
            <a:spLocks xmlns:a="http://schemas.openxmlformats.org/drawingml/2006/main" noGrp="1"/>
          </p:cNvSpPr>
          <p:nvPr/>
        </p:nvSpPr>
        <p:spPr>
          <a:xfrm xmlns:a="http://schemas.openxmlformats.org/drawingml/2006/main">
            <a:off x="609600" y="1104900"/>
            <a:ext cx="108680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Findings ready for backlog planning</a:t>
            </a:r>
          </a:p>
        </p:txBody>
      </p:sp>
      <p:sp>
        <p:nvSpPr>
          <p:cNvPr id="3" name="handoff-intro">
            <a:extLst xmlns:a="http://schemas.openxmlformats.org/drawingml/2006/main">
              <a:ext uri="{FF2B5EF4-FFF2-40B4-BE49-F238E27FC236}">
                <a16:creationId xmlns:a16="http://schemas.microsoft.com/office/drawing/2014/main" id="{C6F5F263-0DD7-49E7-8B78-15251E6E29B0}"/>
              </a:ext>
            </a:extLst>
          </p:cNvPr>
          <p:cNvSpPr>
            <a:spLocks xmlns:a="http://schemas.openxmlformats.org/drawingml/2006/main" noGrp="1"/>
          </p:cNvSpPr>
          <p:nvPr/>
        </p:nvSpPr>
        <p:spPr>
          <a:xfrm xmlns:a="http://schemas.openxmlformats.org/drawingml/2006/main">
            <a:off x="609600" y="2276475"/>
            <a:ext cx="10448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presented the evaluation and recommendations, then helped turn the findings into a UX improvement list.</a:t>
            </a:r>
          </a:p>
        </p:txBody>
      </p:sp>
      <p:sp>
        <p:nvSpPr>
          <p:cNvPr id="4" name="step-date-0">
            <a:extLst xmlns:a="http://schemas.openxmlformats.org/drawingml/2006/main">
              <a:ext uri="{FF2B5EF4-FFF2-40B4-BE49-F238E27FC236}">
                <a16:creationId xmlns:a16="http://schemas.microsoft.com/office/drawing/2014/main" id="{65F4C4FB-DB77-4FD3-9F9E-FB86B2FF2AC2}"/>
              </a:ext>
            </a:extLst>
          </p:cNvPr>
          <p:cNvSpPr>
            <a:spLocks xmlns:a="http://schemas.openxmlformats.org/drawingml/2006/main" noGrp="1"/>
          </p:cNvSpPr>
          <p:nvPr/>
        </p:nvSpPr>
        <p:spPr>
          <a:xfrm xmlns:a="http://schemas.openxmlformats.org/drawingml/2006/main">
            <a:off x="6096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22 NOV 2023</a:t>
            </a:r>
          </a:p>
        </p:txBody>
      </p:sp>
      <p:sp>
        <p:nvSpPr>
          <p:cNvPr id="5" name="step-title-0">
            <a:extLst xmlns:a="http://schemas.openxmlformats.org/drawingml/2006/main">
              <a:ext uri="{FF2B5EF4-FFF2-40B4-BE49-F238E27FC236}">
                <a16:creationId xmlns:a16="http://schemas.microsoft.com/office/drawing/2014/main" id="{C7ADAF37-93B9-4625-8DF0-1A75B0827942}"/>
              </a:ext>
            </a:extLst>
          </p:cNvPr>
          <p:cNvSpPr>
            <a:spLocks xmlns:a="http://schemas.openxmlformats.org/drawingml/2006/main" noGrp="1"/>
          </p:cNvSpPr>
          <p:nvPr/>
        </p:nvSpPr>
        <p:spPr>
          <a:xfrm xmlns:a="http://schemas.openxmlformats.org/drawingml/2006/main">
            <a:off x="6096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Desktop evaluation</a:t>
            </a:r>
          </a:p>
        </p:txBody>
      </p:sp>
      <p:sp>
        <p:nvSpPr>
          <p:cNvPr id="6" name="step-detail-0">
            <a:extLst xmlns:a="http://schemas.openxmlformats.org/drawingml/2006/main">
              <a:ext uri="{FF2B5EF4-FFF2-40B4-BE49-F238E27FC236}">
                <a16:creationId xmlns:a16="http://schemas.microsoft.com/office/drawing/2014/main" id="{BBE5FBEF-BFD0-4F45-9CEB-3B847F0342EE}"/>
              </a:ext>
            </a:extLst>
          </p:cNvPr>
          <p:cNvSpPr>
            <a:spLocks xmlns:a="http://schemas.openxmlformats.org/drawingml/2006/main" noGrp="1"/>
          </p:cNvSpPr>
          <p:nvPr/>
        </p:nvSpPr>
        <p:spPr>
          <a:xfrm xmlns:a="http://schemas.openxmlformats.org/drawingml/2006/main">
            <a:off x="6096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Navigation, hierarchy and error recovery</a:t>
            </a:r>
          </a:p>
        </p:txBody>
      </p:sp>
      <p:sp>
        <p:nvSpPr>
          <p:cNvPr id="7" name="step-date-1">
            <a:extLst xmlns:a="http://schemas.openxmlformats.org/drawingml/2006/main">
              <a:ext uri="{FF2B5EF4-FFF2-40B4-BE49-F238E27FC236}">
                <a16:creationId xmlns:a16="http://schemas.microsoft.com/office/drawing/2014/main" id="{68ED04BD-0E63-4F92-ACBB-21B1F082F9F4}"/>
              </a:ext>
            </a:extLst>
          </p:cNvPr>
          <p:cNvSpPr>
            <a:spLocks xmlns:a="http://schemas.openxmlformats.org/drawingml/2006/main" noGrp="1"/>
          </p:cNvSpPr>
          <p:nvPr/>
        </p:nvSpPr>
        <p:spPr>
          <a:xfrm xmlns:a="http://schemas.openxmlformats.org/drawingml/2006/main">
            <a:off x="440055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27 NOV 2023</a:t>
            </a:r>
          </a:p>
        </p:txBody>
      </p:sp>
      <p:sp>
        <p:nvSpPr>
          <p:cNvPr id="8" name="step-title-1">
            <a:extLst xmlns:a="http://schemas.openxmlformats.org/drawingml/2006/main">
              <a:ext uri="{FF2B5EF4-FFF2-40B4-BE49-F238E27FC236}">
                <a16:creationId xmlns:a16="http://schemas.microsoft.com/office/drawing/2014/main" id="{085AB020-110D-4732-BAFA-EF2684BA132A}"/>
              </a:ext>
            </a:extLst>
          </p:cNvPr>
          <p:cNvSpPr>
            <a:spLocks xmlns:a="http://schemas.openxmlformats.org/drawingml/2006/main" noGrp="1"/>
          </p:cNvSpPr>
          <p:nvPr/>
        </p:nvSpPr>
        <p:spPr>
          <a:xfrm xmlns:a="http://schemas.openxmlformats.org/drawingml/2006/main">
            <a:off x="440055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Recommendations report</a:t>
            </a:r>
          </a:p>
        </p:txBody>
      </p:sp>
      <p:sp>
        <p:nvSpPr>
          <p:cNvPr id="9" name="step-detail-1">
            <a:extLst xmlns:a="http://schemas.openxmlformats.org/drawingml/2006/main">
              <a:ext uri="{FF2B5EF4-FFF2-40B4-BE49-F238E27FC236}">
                <a16:creationId xmlns:a16="http://schemas.microsoft.com/office/drawing/2014/main" id="{4169EA09-AC1F-48A0-B28D-ACE99FDF1378}"/>
              </a:ext>
            </a:extLst>
          </p:cNvPr>
          <p:cNvSpPr>
            <a:spLocks xmlns:a="http://schemas.openxmlformats.org/drawingml/2006/main" noGrp="1"/>
          </p:cNvSpPr>
          <p:nvPr/>
        </p:nvSpPr>
        <p:spPr>
          <a:xfrm xmlns:a="http://schemas.openxmlformats.org/drawingml/2006/main">
            <a:off x="440055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Specific interface changes and rationale</a:t>
            </a:r>
          </a:p>
        </p:txBody>
      </p:sp>
      <p:sp>
        <p:nvSpPr>
          <p:cNvPr id="10" name="step-date-2">
            <a:extLst xmlns:a="http://schemas.openxmlformats.org/drawingml/2006/main">
              <a:ext uri="{FF2B5EF4-FFF2-40B4-BE49-F238E27FC236}">
                <a16:creationId xmlns:a16="http://schemas.microsoft.com/office/drawing/2014/main" id="{6AB05078-1F77-4902-B33F-2D38F1DF1CA4}"/>
              </a:ext>
            </a:extLst>
          </p:cNvPr>
          <p:cNvSpPr>
            <a:spLocks xmlns:a="http://schemas.openxmlformats.org/drawingml/2006/main" noGrp="1"/>
          </p:cNvSpPr>
          <p:nvPr/>
        </p:nvSpPr>
        <p:spPr>
          <a:xfrm xmlns:a="http://schemas.openxmlformats.org/drawingml/2006/main">
            <a:off x="81915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03 DEC 2023</a:t>
            </a:r>
          </a:p>
        </p:txBody>
      </p:sp>
      <p:sp>
        <p:nvSpPr>
          <p:cNvPr id="11" name="step-title-2">
            <a:extLst xmlns:a="http://schemas.openxmlformats.org/drawingml/2006/main">
              <a:ext uri="{FF2B5EF4-FFF2-40B4-BE49-F238E27FC236}">
                <a16:creationId xmlns:a16="http://schemas.microsoft.com/office/drawing/2014/main" id="{B41C21DB-BEEC-41F2-B9FA-6C150C99A67F}"/>
              </a:ext>
            </a:extLst>
          </p:cNvPr>
          <p:cNvSpPr>
            <a:spLocks xmlns:a="http://schemas.openxmlformats.org/drawingml/2006/main" noGrp="1"/>
          </p:cNvSpPr>
          <p:nvPr/>
        </p:nvSpPr>
        <p:spPr>
          <a:xfrm xmlns:a="http://schemas.openxmlformats.org/drawingml/2006/main">
            <a:off x="81915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Presentation</a:t>
            </a:r>
          </a:p>
        </p:txBody>
      </p:sp>
      <p:sp>
        <p:nvSpPr>
          <p:cNvPr id="12" name="step-detail-2">
            <a:extLst xmlns:a="http://schemas.openxmlformats.org/drawingml/2006/main">
              <a:ext uri="{FF2B5EF4-FFF2-40B4-BE49-F238E27FC236}">
                <a16:creationId xmlns:a16="http://schemas.microsoft.com/office/drawing/2014/main" id="{670C54A1-2135-4440-A87A-3FB4C6D11E6B}"/>
              </a:ext>
            </a:extLst>
          </p:cNvPr>
          <p:cNvSpPr>
            <a:spLocks xmlns:a="http://schemas.openxmlformats.org/drawingml/2006/main" noGrp="1"/>
          </p:cNvSpPr>
          <p:nvPr/>
        </p:nvSpPr>
        <p:spPr>
          <a:xfrm xmlns:a="http://schemas.openxmlformats.org/drawingml/2006/main">
            <a:off x="81915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Improvement list started for backlog planning</a:t>
            </a:r>
          </a:p>
        </p:txBody>
      </p:sp>
      <p:sp>
        <p:nvSpPr>
          <p:cNvPr id="13" name="credit">
            <a:extLst xmlns:a="http://schemas.openxmlformats.org/drawingml/2006/main">
              <a:ext uri="{FF2B5EF4-FFF2-40B4-BE49-F238E27FC236}">
                <a16:creationId xmlns:a16="http://schemas.microsoft.com/office/drawing/2014/main" id="{C4B7A096-44FE-4B52-AAE5-1CDFF01745AD}"/>
              </a:ext>
            </a:extLst>
          </p:cNvPr>
          <p:cNvSpPr>
            <a:spLocks xmlns:a="http://schemas.openxmlformats.org/drawingml/2006/main" noGrp="1"/>
          </p:cNvSpPr>
          <p:nvPr/>
        </p:nvSpPr>
        <p:spPr>
          <a:xfrm xmlns:a="http://schemas.openxmlformats.org/drawingml/2006/main">
            <a:off x="609600" y="6000750"/>
            <a:ext cx="10725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I collaborated on Figma mockups. Lead designer Megan led the later design refinements.</a:t>
            </a:r>
          </a:p>
        </p:txBody>
      </p:sp>
      <p:sp>
        <p:nvSpPr>
          <p:cNvPr id="14" name="slide-number">
            <a:extLst xmlns:a="http://schemas.openxmlformats.org/drawingml/2006/main">
              <a:ext uri="{FF2B5EF4-FFF2-40B4-BE49-F238E27FC236}">
                <a16:creationId xmlns:a16="http://schemas.microsoft.com/office/drawing/2014/main" id="{65457AD7-24C7-4F43-ABE1-7A9F2E0FD3B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535816285"/>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35" name="section-label">
            <a:extLst xmlns:a="http://schemas.openxmlformats.org/drawingml/2006/main">
              <a:ext uri="{FF2B5EF4-FFF2-40B4-BE49-F238E27FC236}">
                <a16:creationId xmlns:a16="http://schemas.microsoft.com/office/drawing/2014/main" id="{FD80E044-EB15-4D99-94DB-9A02C2E9A4E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2024 WORKFLOW PROPOSAL</a:t>
            </a:r>
          </a:p>
        </p:txBody>
      </p:sp>
      <p:sp>
        <p:nvSpPr>
          <p:cNvPr id="2" name="headline">
            <a:extLst xmlns:a="http://schemas.openxmlformats.org/drawingml/2006/main">
              <a:ext uri="{FF2B5EF4-FFF2-40B4-BE49-F238E27FC236}">
                <a16:creationId xmlns:a16="http://schemas.microsoft.com/office/drawing/2014/main" id="{5ED3F0E9-6EF9-42C5-A2D9-55BFA7ACCD18}"/>
              </a:ext>
            </a:extLst>
          </p:cNvPr>
          <p:cNvSpPr>
            <a:spLocks xmlns:a="http://schemas.openxmlformats.org/drawingml/2006/main" noGrp="1"/>
          </p:cNvSpPr>
          <p:nvPr/>
        </p:nvSpPr>
        <p:spPr>
          <a:xfrm xmlns:a="http://schemas.openxmlformats.org/drawingml/2006/main">
            <a:off x="609600" y="109537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00" b="1">
                <a:solidFill>
                  <a:srgbClr val="192B25"/>
                </a:solidFill>
                <a:latin typeface="Helvetica Neue"/>
                <a:ea typeface="Helvetica Neue"/>
                <a:cs typeface="Helvetica Neue"/>
              </a:defRPr>
            </a:pPr>
            <a:r>
              <a:rPr sz="3300" b="1">
                <a:solidFill>
                  <a:srgbClr val="192B25"/>
                </a:solidFill>
                <a:latin typeface="Helvetica Neue"/>
                <a:ea typeface="Helvetica Neue"/>
                <a:cs typeface="Helvetica Neue"/>
              </a:rPr>
              <a:t>Human review before learner-facing tasks</a:t>
            </a:r>
          </a:p>
        </p:txBody>
      </p:sp>
      <p:sp>
        <p:nvSpPr>
          <p:cNvPr id="3" name="asu-context">
            <a:extLst xmlns:a="http://schemas.openxmlformats.org/drawingml/2006/main">
              <a:ext uri="{FF2B5EF4-FFF2-40B4-BE49-F238E27FC236}">
                <a16:creationId xmlns:a16="http://schemas.microsoft.com/office/drawing/2014/main" id="{FC04E82D-C24D-463D-9432-C83EDAAC0768}"/>
              </a:ext>
            </a:extLst>
          </p:cNvPr>
          <p:cNvSpPr>
            <a:spLocks xmlns:a="http://schemas.openxmlformats.org/drawingml/2006/main" noGrp="1"/>
          </p:cNvSpPr>
          <p:nvPr/>
        </p:nvSpPr>
        <p:spPr>
          <a:xfrm xmlns:a="http://schemas.openxmlformats.org/drawingml/2006/main">
            <a:off x="609600" y="2047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 staged prompt workflow for personalized learner tasks.</a:t>
            </a:r>
          </a:p>
        </p:txBody>
      </p:sp>
      <p:sp>
        <p:nvSpPr>
          <p:cNvPr id="4" name="workflow-node-01">
            <a:extLst xmlns:a="http://schemas.openxmlformats.org/drawingml/2006/main">
              <a:ext uri="{FF2B5EF4-FFF2-40B4-BE49-F238E27FC236}">
                <a16:creationId xmlns:a16="http://schemas.microsoft.com/office/drawing/2014/main" id="{5197F1D2-AD90-4709-BB85-50624D4EF1DD}"/>
              </a:ext>
            </a:extLst>
          </p:cNvPr>
          <p:cNvSpPr>
            <a:spLocks xmlns:a="http://schemas.openxmlformats.org/drawingml/2006/main" noGrp="1"/>
          </p:cNvSpPr>
          <p:nvPr/>
        </p:nvSpPr>
        <p:spPr>
          <a:xfrm xmlns:a="http://schemas.openxmlformats.org/drawingml/2006/main">
            <a:off x="6096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 name="node-index-01">
            <a:extLst xmlns:a="http://schemas.openxmlformats.org/drawingml/2006/main">
              <a:ext uri="{FF2B5EF4-FFF2-40B4-BE49-F238E27FC236}">
                <a16:creationId xmlns:a16="http://schemas.microsoft.com/office/drawing/2014/main" id="{8CCC35C1-6FF5-4F49-9D67-D8FA631E52B8}"/>
              </a:ext>
            </a:extLst>
          </p:cNvPr>
          <p:cNvSpPr>
            <a:spLocks xmlns:a="http://schemas.openxmlformats.org/drawingml/2006/main" noGrp="1"/>
          </p:cNvSpPr>
          <p:nvPr/>
        </p:nvSpPr>
        <p:spPr>
          <a:xfrm xmlns:a="http://schemas.openxmlformats.org/drawingml/2006/main">
            <a:off x="7810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01</a:t>
            </a:r>
          </a:p>
        </p:txBody>
      </p:sp>
      <p:sp>
        <p:nvSpPr>
          <p:cNvPr id="6" name="node-label-01">
            <a:extLst xmlns:a="http://schemas.openxmlformats.org/drawingml/2006/main">
              <a:ext uri="{FF2B5EF4-FFF2-40B4-BE49-F238E27FC236}">
                <a16:creationId xmlns:a16="http://schemas.microsoft.com/office/drawing/2014/main" id="{3A0679F0-A00E-4D31-AD57-54BD8BEBDC62}"/>
              </a:ext>
            </a:extLst>
          </p:cNvPr>
          <p:cNvSpPr>
            <a:spLocks xmlns:a="http://schemas.openxmlformats.org/drawingml/2006/main" noGrp="1"/>
          </p:cNvSpPr>
          <p:nvPr/>
        </p:nvSpPr>
        <p:spPr>
          <a:xfrm xmlns:a="http://schemas.openxmlformats.org/drawingml/2006/main">
            <a:off x="7810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Condense learner context</a:t>
            </a:r>
          </a:p>
        </p:txBody>
      </p:sp>
      <p:sp>
        <p:nvSpPr>
          <p:cNvPr id="7" name="node-detail-01">
            <a:extLst xmlns:a="http://schemas.openxmlformats.org/drawingml/2006/main">
              <a:ext uri="{FF2B5EF4-FFF2-40B4-BE49-F238E27FC236}">
                <a16:creationId xmlns:a16="http://schemas.microsoft.com/office/drawing/2014/main" id="{6E90B06C-27D5-4DE2-849A-303C28F41DC5}"/>
              </a:ext>
            </a:extLst>
          </p:cNvPr>
          <p:cNvSpPr>
            <a:spLocks xmlns:a="http://schemas.openxmlformats.org/drawingml/2006/main" noGrp="1"/>
          </p:cNvSpPr>
          <p:nvPr/>
        </p:nvSpPr>
        <p:spPr>
          <a:xfrm xmlns:a="http://schemas.openxmlformats.org/drawingml/2006/main">
            <a:off x="7810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context for review.</a:t>
            </a:r>
          </a:p>
        </p:txBody>
      </p:sp>
      <p:sp>
        <p:nvSpPr>
          <p:cNvPr id="8" name="workflow-node-02">
            <a:extLst xmlns:a="http://schemas.openxmlformats.org/drawingml/2006/main">
              <a:ext uri="{FF2B5EF4-FFF2-40B4-BE49-F238E27FC236}">
                <a16:creationId xmlns:a16="http://schemas.microsoft.com/office/drawing/2014/main" id="{5901116A-F839-4989-9FD6-F8772486043D}"/>
              </a:ext>
            </a:extLst>
          </p:cNvPr>
          <p:cNvSpPr>
            <a:spLocks xmlns:a="http://schemas.openxmlformats.org/drawingml/2006/main" noGrp="1"/>
          </p:cNvSpPr>
          <p:nvPr/>
        </p:nvSpPr>
        <p:spPr>
          <a:xfrm xmlns:a="http://schemas.openxmlformats.org/drawingml/2006/main">
            <a:off x="4324350" y="2895600"/>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9" name="node-index-02">
            <a:extLst xmlns:a="http://schemas.openxmlformats.org/drawingml/2006/main">
              <a:ext uri="{FF2B5EF4-FFF2-40B4-BE49-F238E27FC236}">
                <a16:creationId xmlns:a16="http://schemas.microsoft.com/office/drawing/2014/main" id="{D5349916-76AB-449B-A805-3B6D89E2FB96}"/>
              </a:ext>
            </a:extLst>
          </p:cNvPr>
          <p:cNvSpPr>
            <a:spLocks xmlns:a="http://schemas.openxmlformats.org/drawingml/2006/main" noGrp="1"/>
          </p:cNvSpPr>
          <p:nvPr/>
        </p:nvSpPr>
        <p:spPr>
          <a:xfrm xmlns:a="http://schemas.openxmlformats.org/drawingml/2006/main">
            <a:off x="449580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02</a:t>
            </a:r>
          </a:p>
        </p:txBody>
      </p:sp>
      <p:sp>
        <p:nvSpPr>
          <p:cNvPr id="10" name="node-label-02">
            <a:extLst xmlns:a="http://schemas.openxmlformats.org/drawingml/2006/main">
              <a:ext uri="{FF2B5EF4-FFF2-40B4-BE49-F238E27FC236}">
                <a16:creationId xmlns:a16="http://schemas.microsoft.com/office/drawing/2014/main" id="{1BE49BBF-6F06-46D6-B9B0-56F17DE78D7C}"/>
              </a:ext>
            </a:extLst>
          </p:cNvPr>
          <p:cNvSpPr>
            <a:spLocks xmlns:a="http://schemas.openxmlformats.org/drawingml/2006/main" noGrp="1"/>
          </p:cNvSpPr>
          <p:nvPr/>
        </p:nvSpPr>
        <p:spPr>
          <a:xfrm xmlns:a="http://schemas.openxmlformats.org/drawingml/2006/main">
            <a:off x="449580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validates context</a:t>
            </a:r>
          </a:p>
        </p:txBody>
      </p:sp>
      <p:sp>
        <p:nvSpPr>
          <p:cNvPr id="11" name="node-detail-02">
            <a:extLst xmlns:a="http://schemas.openxmlformats.org/drawingml/2006/main">
              <a:ext uri="{FF2B5EF4-FFF2-40B4-BE49-F238E27FC236}">
                <a16:creationId xmlns:a16="http://schemas.microsoft.com/office/drawing/2014/main" id="{8D4AE613-C386-4DF1-B638-145D0EA17BD9}"/>
              </a:ext>
            </a:extLst>
          </p:cNvPr>
          <p:cNvSpPr>
            <a:spLocks xmlns:a="http://schemas.openxmlformats.org/drawingml/2006/main" noGrp="1"/>
          </p:cNvSpPr>
          <p:nvPr/>
        </p:nvSpPr>
        <p:spPr>
          <a:xfrm xmlns:a="http://schemas.openxmlformats.org/drawingml/2006/main">
            <a:off x="449580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Check the interpretation.</a:t>
            </a:r>
          </a:p>
        </p:txBody>
      </p:sp>
      <p:sp>
        <p:nvSpPr>
          <p:cNvPr id="12" name="workflow-node-03">
            <a:extLst xmlns:a="http://schemas.openxmlformats.org/drawingml/2006/main">
              <a:ext uri="{FF2B5EF4-FFF2-40B4-BE49-F238E27FC236}">
                <a16:creationId xmlns:a16="http://schemas.microsoft.com/office/drawing/2014/main" id="{A888548C-C43B-4BE3-9313-E94F5EE2BFBD}"/>
              </a:ext>
            </a:extLst>
          </p:cNvPr>
          <p:cNvSpPr>
            <a:spLocks xmlns:a="http://schemas.openxmlformats.org/drawingml/2006/main" noGrp="1"/>
          </p:cNvSpPr>
          <p:nvPr/>
        </p:nvSpPr>
        <p:spPr>
          <a:xfrm xmlns:a="http://schemas.openxmlformats.org/drawingml/2006/main">
            <a:off x="80391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node-index-03">
            <a:extLst xmlns:a="http://schemas.openxmlformats.org/drawingml/2006/main">
              <a:ext uri="{FF2B5EF4-FFF2-40B4-BE49-F238E27FC236}">
                <a16:creationId xmlns:a16="http://schemas.microsoft.com/office/drawing/2014/main" id="{C0F979DA-4206-4884-BA89-1181E2D0B0E1}"/>
              </a:ext>
            </a:extLst>
          </p:cNvPr>
          <p:cNvSpPr>
            <a:spLocks xmlns:a="http://schemas.openxmlformats.org/drawingml/2006/main" noGrp="1"/>
          </p:cNvSpPr>
          <p:nvPr/>
        </p:nvSpPr>
        <p:spPr>
          <a:xfrm xmlns:a="http://schemas.openxmlformats.org/drawingml/2006/main">
            <a:off x="82105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03</a:t>
            </a:r>
          </a:p>
        </p:txBody>
      </p:sp>
      <p:sp>
        <p:nvSpPr>
          <p:cNvPr id="14" name="node-label-03">
            <a:extLst xmlns:a="http://schemas.openxmlformats.org/drawingml/2006/main">
              <a:ext uri="{FF2B5EF4-FFF2-40B4-BE49-F238E27FC236}">
                <a16:creationId xmlns:a16="http://schemas.microsoft.com/office/drawing/2014/main" id="{EC2763E5-08C2-4C51-B1B3-C5AA5195C6DE}"/>
              </a:ext>
            </a:extLst>
          </p:cNvPr>
          <p:cNvSpPr>
            <a:spLocks xmlns:a="http://schemas.openxmlformats.org/drawingml/2006/main" noGrp="1"/>
          </p:cNvSpPr>
          <p:nvPr/>
        </p:nvSpPr>
        <p:spPr>
          <a:xfrm xmlns:a="http://schemas.openxmlformats.org/drawingml/2006/main">
            <a:off x="82105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Personalize task template</a:t>
            </a:r>
          </a:p>
        </p:txBody>
      </p:sp>
      <p:sp>
        <p:nvSpPr>
          <p:cNvPr id="15" name="node-detail-03">
            <a:extLst xmlns:a="http://schemas.openxmlformats.org/drawingml/2006/main">
              <a:ext uri="{FF2B5EF4-FFF2-40B4-BE49-F238E27FC236}">
                <a16:creationId xmlns:a16="http://schemas.microsoft.com/office/drawing/2014/main" id="{0A7F98C1-D03A-45A4-BCB8-4B96AA40CC25}"/>
              </a:ext>
            </a:extLst>
          </p:cNvPr>
          <p:cNvSpPr>
            <a:spLocks xmlns:a="http://schemas.openxmlformats.org/drawingml/2006/main" noGrp="1"/>
          </p:cNvSpPr>
          <p:nvPr/>
        </p:nvSpPr>
        <p:spPr>
          <a:xfrm xmlns:a="http://schemas.openxmlformats.org/drawingml/2006/main">
            <a:off x="82105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Use the reviewed context.</a:t>
            </a:r>
          </a:p>
        </p:txBody>
      </p:sp>
      <p:sp>
        <p:nvSpPr>
          <p:cNvPr id="16" name="workflow-node-04">
            <a:extLst xmlns:a="http://schemas.openxmlformats.org/drawingml/2006/main">
              <a:ext uri="{FF2B5EF4-FFF2-40B4-BE49-F238E27FC236}">
                <a16:creationId xmlns:a16="http://schemas.microsoft.com/office/drawing/2014/main" id="{A47F4D92-7032-416D-B8D7-CFA9AC01B63B}"/>
              </a:ext>
            </a:extLst>
          </p:cNvPr>
          <p:cNvSpPr>
            <a:spLocks xmlns:a="http://schemas.openxmlformats.org/drawingml/2006/main" noGrp="1"/>
          </p:cNvSpPr>
          <p:nvPr/>
        </p:nvSpPr>
        <p:spPr>
          <a:xfrm xmlns:a="http://schemas.openxmlformats.org/drawingml/2006/main">
            <a:off x="80391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7" name="node-index-04">
            <a:extLst xmlns:a="http://schemas.openxmlformats.org/drawingml/2006/main">
              <a:ext uri="{FF2B5EF4-FFF2-40B4-BE49-F238E27FC236}">
                <a16:creationId xmlns:a16="http://schemas.microsoft.com/office/drawing/2014/main" id="{CC1A0A6A-AF34-48AD-972D-FE85C012C864}"/>
              </a:ext>
            </a:extLst>
          </p:cNvPr>
          <p:cNvSpPr>
            <a:spLocks xmlns:a="http://schemas.openxmlformats.org/drawingml/2006/main" noGrp="1"/>
          </p:cNvSpPr>
          <p:nvPr/>
        </p:nvSpPr>
        <p:spPr>
          <a:xfrm xmlns:a="http://schemas.openxmlformats.org/drawingml/2006/main">
            <a:off x="82105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04</a:t>
            </a:r>
          </a:p>
        </p:txBody>
      </p:sp>
      <p:sp>
        <p:nvSpPr>
          <p:cNvPr id="18" name="node-label-04">
            <a:extLst xmlns:a="http://schemas.openxmlformats.org/drawingml/2006/main">
              <a:ext uri="{FF2B5EF4-FFF2-40B4-BE49-F238E27FC236}">
                <a16:creationId xmlns:a16="http://schemas.microsoft.com/office/drawing/2014/main" id="{39F344D7-30DC-441B-AA13-A1D9B8767F0F}"/>
              </a:ext>
            </a:extLst>
          </p:cNvPr>
          <p:cNvSpPr>
            <a:spLocks xmlns:a="http://schemas.openxmlformats.org/drawingml/2006/main" noGrp="1"/>
          </p:cNvSpPr>
          <p:nvPr/>
        </p:nvSpPr>
        <p:spPr>
          <a:xfrm xmlns:a="http://schemas.openxmlformats.org/drawingml/2006/main">
            <a:off x="82105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Generate and refine tasks</a:t>
            </a:r>
          </a:p>
        </p:txBody>
      </p:sp>
      <p:sp>
        <p:nvSpPr>
          <p:cNvPr id="19" name="node-detail-04">
            <a:extLst xmlns:a="http://schemas.openxmlformats.org/drawingml/2006/main">
              <a:ext uri="{FF2B5EF4-FFF2-40B4-BE49-F238E27FC236}">
                <a16:creationId xmlns:a16="http://schemas.microsoft.com/office/drawing/2014/main" id="{A080E77D-18D5-4C43-8535-734104BAA590}"/>
              </a:ext>
            </a:extLst>
          </p:cNvPr>
          <p:cNvSpPr>
            <a:spLocks xmlns:a="http://schemas.openxmlformats.org/drawingml/2006/main" noGrp="1"/>
          </p:cNvSpPr>
          <p:nvPr/>
        </p:nvSpPr>
        <p:spPr>
          <a:xfrm xmlns:a="http://schemas.openxmlformats.org/drawingml/2006/main">
            <a:off x="82105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candidate tasks.</a:t>
            </a:r>
          </a:p>
        </p:txBody>
      </p:sp>
      <p:sp>
        <p:nvSpPr>
          <p:cNvPr id="20" name="workflow-node-05">
            <a:extLst xmlns:a="http://schemas.openxmlformats.org/drawingml/2006/main">
              <a:ext uri="{FF2B5EF4-FFF2-40B4-BE49-F238E27FC236}">
                <a16:creationId xmlns:a16="http://schemas.microsoft.com/office/drawing/2014/main" id="{D543E470-6EBF-4CA3-9F21-28628DE999BC}"/>
              </a:ext>
            </a:extLst>
          </p:cNvPr>
          <p:cNvSpPr>
            <a:spLocks xmlns:a="http://schemas.openxmlformats.org/drawingml/2006/main" noGrp="1"/>
          </p:cNvSpPr>
          <p:nvPr/>
        </p:nvSpPr>
        <p:spPr>
          <a:xfrm xmlns:a="http://schemas.openxmlformats.org/drawingml/2006/main">
            <a:off x="4324350" y="4657725"/>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21" name="node-index-05">
            <a:extLst xmlns:a="http://schemas.openxmlformats.org/drawingml/2006/main">
              <a:ext uri="{FF2B5EF4-FFF2-40B4-BE49-F238E27FC236}">
                <a16:creationId xmlns:a16="http://schemas.microsoft.com/office/drawing/2014/main" id="{7FBF3C5A-599A-499B-8453-5A3FF65B47BD}"/>
              </a:ext>
            </a:extLst>
          </p:cNvPr>
          <p:cNvSpPr>
            <a:spLocks xmlns:a="http://schemas.openxmlformats.org/drawingml/2006/main" noGrp="1"/>
          </p:cNvSpPr>
          <p:nvPr/>
        </p:nvSpPr>
        <p:spPr>
          <a:xfrm xmlns:a="http://schemas.openxmlformats.org/drawingml/2006/main">
            <a:off x="449580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05</a:t>
            </a:r>
          </a:p>
        </p:txBody>
      </p:sp>
      <p:sp>
        <p:nvSpPr>
          <p:cNvPr id="22" name="node-label-05">
            <a:extLst xmlns:a="http://schemas.openxmlformats.org/drawingml/2006/main">
              <a:ext uri="{FF2B5EF4-FFF2-40B4-BE49-F238E27FC236}">
                <a16:creationId xmlns:a16="http://schemas.microsoft.com/office/drawing/2014/main" id="{72A2EC59-C6E5-4C4F-9753-D48D1D31E0D3}"/>
              </a:ext>
            </a:extLst>
          </p:cNvPr>
          <p:cNvSpPr>
            <a:spLocks xmlns:a="http://schemas.openxmlformats.org/drawingml/2006/main" noGrp="1"/>
          </p:cNvSpPr>
          <p:nvPr/>
        </p:nvSpPr>
        <p:spPr>
          <a:xfrm xmlns:a="http://schemas.openxmlformats.org/drawingml/2006/main">
            <a:off x="449580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confirms tasks</a:t>
            </a:r>
          </a:p>
        </p:txBody>
      </p:sp>
      <p:sp>
        <p:nvSpPr>
          <p:cNvPr id="23" name="node-detail-05">
            <a:extLst xmlns:a="http://schemas.openxmlformats.org/drawingml/2006/main">
              <a:ext uri="{FF2B5EF4-FFF2-40B4-BE49-F238E27FC236}">
                <a16:creationId xmlns:a16="http://schemas.microsoft.com/office/drawing/2014/main" id="{3E25B5B3-6CBF-407C-9640-4744280EC22E}"/>
              </a:ext>
            </a:extLst>
          </p:cNvPr>
          <p:cNvSpPr>
            <a:spLocks xmlns:a="http://schemas.openxmlformats.org/drawingml/2006/main" noGrp="1"/>
          </p:cNvSpPr>
          <p:nvPr/>
        </p:nvSpPr>
        <p:spPr>
          <a:xfrm xmlns:a="http://schemas.openxmlformats.org/drawingml/2006/main">
            <a:off x="449580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Approve or revise the tasks.</a:t>
            </a:r>
          </a:p>
        </p:txBody>
      </p:sp>
      <p:sp>
        <p:nvSpPr>
          <p:cNvPr id="24" name="workflow-node-06">
            <a:extLst xmlns:a="http://schemas.openxmlformats.org/drawingml/2006/main">
              <a:ext uri="{FF2B5EF4-FFF2-40B4-BE49-F238E27FC236}">
                <a16:creationId xmlns:a16="http://schemas.microsoft.com/office/drawing/2014/main" id="{447D9443-CDE9-4DCB-9918-85257E26B576}"/>
              </a:ext>
            </a:extLst>
          </p:cNvPr>
          <p:cNvSpPr>
            <a:spLocks xmlns:a="http://schemas.openxmlformats.org/drawingml/2006/main" noGrp="1"/>
          </p:cNvSpPr>
          <p:nvPr/>
        </p:nvSpPr>
        <p:spPr>
          <a:xfrm xmlns:a="http://schemas.openxmlformats.org/drawingml/2006/main">
            <a:off x="6096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node-index-06">
            <a:extLst xmlns:a="http://schemas.openxmlformats.org/drawingml/2006/main">
              <a:ext uri="{FF2B5EF4-FFF2-40B4-BE49-F238E27FC236}">
                <a16:creationId xmlns:a16="http://schemas.microsoft.com/office/drawing/2014/main" id="{0B0AD641-A457-4285-8703-CCF8EFE3100E}"/>
              </a:ext>
            </a:extLst>
          </p:cNvPr>
          <p:cNvSpPr>
            <a:spLocks xmlns:a="http://schemas.openxmlformats.org/drawingml/2006/main" noGrp="1"/>
          </p:cNvSpPr>
          <p:nvPr/>
        </p:nvSpPr>
        <p:spPr>
          <a:xfrm xmlns:a="http://schemas.openxmlformats.org/drawingml/2006/main">
            <a:off x="7810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06</a:t>
            </a:r>
          </a:p>
        </p:txBody>
      </p:sp>
      <p:sp>
        <p:nvSpPr>
          <p:cNvPr id="26" name="node-label-06">
            <a:extLst xmlns:a="http://schemas.openxmlformats.org/drawingml/2006/main">
              <a:ext uri="{FF2B5EF4-FFF2-40B4-BE49-F238E27FC236}">
                <a16:creationId xmlns:a16="http://schemas.microsoft.com/office/drawing/2014/main" id="{F4E5B9C2-6045-48F1-8924-F4322E861911}"/>
              </a:ext>
            </a:extLst>
          </p:cNvPr>
          <p:cNvSpPr>
            <a:spLocks xmlns:a="http://schemas.openxmlformats.org/drawingml/2006/main" noGrp="1"/>
          </p:cNvSpPr>
          <p:nvPr/>
        </p:nvSpPr>
        <p:spPr>
          <a:xfrm xmlns:a="http://schemas.openxmlformats.org/drawingml/2006/main">
            <a:off x="7810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Prepare learner-facing output</a:t>
            </a:r>
          </a:p>
        </p:txBody>
      </p:sp>
      <p:sp>
        <p:nvSpPr>
          <p:cNvPr id="27" name="node-detail-06">
            <a:extLst xmlns:a="http://schemas.openxmlformats.org/drawingml/2006/main">
              <a:ext uri="{FF2B5EF4-FFF2-40B4-BE49-F238E27FC236}">
                <a16:creationId xmlns:a16="http://schemas.microsoft.com/office/drawing/2014/main" id="{0B6A21F2-F9FE-49A4-83BE-015CB3CAB3CD}"/>
              </a:ext>
            </a:extLst>
          </p:cNvPr>
          <p:cNvSpPr>
            <a:spLocks xmlns:a="http://schemas.openxmlformats.org/drawingml/2006/main" noGrp="1"/>
          </p:cNvSpPr>
          <p:nvPr/>
        </p:nvSpPr>
        <p:spPr>
          <a:xfrm xmlns:a="http://schemas.openxmlformats.org/drawingml/2006/main">
            <a:off x="7810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Structured output and feedback.</a:t>
            </a:r>
          </a:p>
        </p:txBody>
      </p:sp>
      <p:sp>
        <p:nvSpPr>
          <p:cNvPr id="28" name="workflow-arrow-0">
            <a:extLst xmlns:a="http://schemas.openxmlformats.org/drawingml/2006/main">
              <a:ext uri="{FF2B5EF4-FFF2-40B4-BE49-F238E27FC236}">
                <a16:creationId xmlns:a16="http://schemas.microsoft.com/office/drawing/2014/main" id="{2C8BDCE3-53FE-4DBE-B125-9197995B60E3}"/>
              </a:ext>
            </a:extLst>
          </p:cNvPr>
          <p:cNvSpPr>
            <a:spLocks xmlns:a="http://schemas.openxmlformats.org/drawingml/2006/main" noGrp="1"/>
          </p:cNvSpPr>
          <p:nvPr/>
        </p:nvSpPr>
        <p:spPr>
          <a:xfrm xmlns:a="http://schemas.openxmlformats.org/drawingml/2006/main">
            <a:off x="400050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29" name="workflow-arrow-1">
            <a:extLst xmlns:a="http://schemas.openxmlformats.org/drawingml/2006/main">
              <a:ext uri="{FF2B5EF4-FFF2-40B4-BE49-F238E27FC236}">
                <a16:creationId xmlns:a16="http://schemas.microsoft.com/office/drawing/2014/main" id="{36A68670-51B2-4B47-8754-594BC6028AD0}"/>
              </a:ext>
            </a:extLst>
          </p:cNvPr>
          <p:cNvSpPr>
            <a:spLocks xmlns:a="http://schemas.openxmlformats.org/drawingml/2006/main" noGrp="1"/>
          </p:cNvSpPr>
          <p:nvPr/>
        </p:nvSpPr>
        <p:spPr>
          <a:xfrm xmlns:a="http://schemas.openxmlformats.org/drawingml/2006/main">
            <a:off x="771525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0" name="workflow-arrow-2">
            <a:extLst xmlns:a="http://schemas.openxmlformats.org/drawingml/2006/main">
              <a:ext uri="{FF2B5EF4-FFF2-40B4-BE49-F238E27FC236}">
                <a16:creationId xmlns:a16="http://schemas.microsoft.com/office/drawing/2014/main" id="{6A859CC2-BD00-4B88-AE39-C3DC06F39776}"/>
              </a:ext>
            </a:extLst>
          </p:cNvPr>
          <p:cNvSpPr>
            <a:spLocks xmlns:a="http://schemas.openxmlformats.org/drawingml/2006/main" noGrp="1"/>
          </p:cNvSpPr>
          <p:nvPr/>
        </p:nvSpPr>
        <p:spPr>
          <a:xfrm xmlns:a="http://schemas.openxmlformats.org/drawingml/2006/main">
            <a:off x="9525000" y="425767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1" name="workflow-arrow-3">
            <a:extLst xmlns:a="http://schemas.openxmlformats.org/drawingml/2006/main">
              <a:ext uri="{FF2B5EF4-FFF2-40B4-BE49-F238E27FC236}">
                <a16:creationId xmlns:a16="http://schemas.microsoft.com/office/drawing/2014/main" id="{B14744E6-8101-4B05-B655-62AF3FCBD6CB}"/>
              </a:ext>
            </a:extLst>
          </p:cNvPr>
          <p:cNvSpPr>
            <a:spLocks xmlns:a="http://schemas.openxmlformats.org/drawingml/2006/main" noGrp="1"/>
          </p:cNvSpPr>
          <p:nvPr/>
        </p:nvSpPr>
        <p:spPr>
          <a:xfrm xmlns:a="http://schemas.openxmlformats.org/drawingml/2006/main">
            <a:off x="771525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2" name="workflow-arrow-4">
            <a:extLst xmlns:a="http://schemas.openxmlformats.org/drawingml/2006/main">
              <a:ext uri="{FF2B5EF4-FFF2-40B4-BE49-F238E27FC236}">
                <a16:creationId xmlns:a16="http://schemas.microsoft.com/office/drawing/2014/main" id="{65B4888A-66F8-4D60-A4FD-3A6CB8166765}"/>
              </a:ext>
            </a:extLst>
          </p:cNvPr>
          <p:cNvSpPr>
            <a:spLocks xmlns:a="http://schemas.openxmlformats.org/drawingml/2006/main" noGrp="1"/>
          </p:cNvSpPr>
          <p:nvPr/>
        </p:nvSpPr>
        <p:spPr>
          <a:xfrm xmlns:a="http://schemas.openxmlformats.org/drawingml/2006/main">
            <a:off x="400050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3" name="asu-limit">
            <a:extLst xmlns:a="http://schemas.openxmlformats.org/drawingml/2006/main">
              <a:ext uri="{FF2B5EF4-FFF2-40B4-BE49-F238E27FC236}">
                <a16:creationId xmlns:a16="http://schemas.microsoft.com/office/drawing/2014/main" id="{74A90D3F-D512-4A31-A126-F257C423B96D}"/>
              </a:ext>
            </a:extLst>
          </p:cNvPr>
          <p:cNvSpPr>
            <a:spLocks xmlns:a="http://schemas.openxmlformats.org/drawingml/2006/main" noGrp="1"/>
          </p:cNvSpPr>
          <p:nvPr/>
        </p:nvSpPr>
        <p:spPr>
          <a:xfrm xmlns:a="http://schemas.openxmlformats.org/drawingml/2006/main">
            <a:off x="609600" y="6191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Simplified reconstruction · Documented proposal; no deployment or measured efficiency claimed.</a:t>
            </a:r>
          </a:p>
        </p:txBody>
      </p:sp>
      <p:sp>
        <p:nvSpPr>
          <p:cNvPr id="34" name="slide-number">
            <a:extLst xmlns:a="http://schemas.openxmlformats.org/drawingml/2006/main">
              <a:ext uri="{FF2B5EF4-FFF2-40B4-BE49-F238E27FC236}">
                <a16:creationId xmlns:a16="http://schemas.microsoft.com/office/drawing/2014/main" id="{00F67D23-377A-43B7-99BC-70F9A47B935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1400726739"/>
      </p:ext>
    </p:extLst>
  </p:cSld>
</p:sld>
</file>

<file path=ppt/slides/slide1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ADBC3F84-A09A-41EF-BCAB-C0C5406B7915}"/>
              </a:ext>
            </a:extLst>
          </p:cNvPr>
          <p:cNvSpPr>
            <a:spLocks xmlns:a="http://schemas.openxmlformats.org/drawingml/2006/main" noGrp="1"/>
          </p:cNvSpPr>
          <p:nvPr/>
        </p:nvSpPr>
        <p:spPr>
          <a:xfrm xmlns:a="http://schemas.openxmlformats.org/drawingml/2006/main">
            <a:off x="609600" y="5143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RULA</a:t>
            </a:r>
          </a:p>
        </p:txBody>
      </p:sp>
      <p:sp>
        <p:nvSpPr>
          <p:cNvPr id="2" name="headline">
            <a:extLst xmlns:a="http://schemas.openxmlformats.org/drawingml/2006/main">
              <a:ext uri="{FF2B5EF4-FFF2-40B4-BE49-F238E27FC236}">
                <a16:creationId xmlns:a16="http://schemas.microsoft.com/office/drawing/2014/main" id="{BE9B1780-DF59-4A00-B868-EBCD45B2A5C2}"/>
              </a:ext>
            </a:extLst>
          </p:cNvPr>
          <p:cNvSpPr>
            <a:spLocks xmlns:a="http://schemas.openxmlformats.org/drawingml/2006/main" noGrp="1"/>
          </p:cNvSpPr>
          <p:nvPr/>
        </p:nvSpPr>
        <p:spPr>
          <a:xfrm xmlns:a="http://schemas.openxmlformats.org/drawingml/2006/main">
            <a:off x="609600" y="1323975"/>
            <a:ext cx="61531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Study one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between-session need</a:t>
            </a:r>
          </a:p>
        </p:txBody>
      </p:sp>
      <p:sp>
        <p:nvSpPr>
          <p:cNvPr id="3" name="research-question">
            <a:extLst xmlns:a="http://schemas.openxmlformats.org/drawingml/2006/main">
              <a:ext uri="{FF2B5EF4-FFF2-40B4-BE49-F238E27FC236}">
                <a16:creationId xmlns:a16="http://schemas.microsoft.com/office/drawing/2014/main" id="{D52A632D-0C23-425B-9B28-F2120768A110}"/>
              </a:ext>
            </a:extLst>
          </p:cNvPr>
          <p:cNvSpPr>
            <a:spLocks xmlns:a="http://schemas.openxmlformats.org/drawingml/2006/main" noGrp="1"/>
          </p:cNvSpPr>
          <p:nvPr/>
        </p:nvSpPr>
        <p:spPr>
          <a:xfrm xmlns:a="http://schemas.openxmlformats.org/drawingml/2006/main">
            <a:off x="609600" y="3295650"/>
            <a:ext cx="54483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Choose one need with Product and Clinical. Examine what a patient hopes to do, what they expect from an AI response, and when they need their provider.</a:t>
            </a:r>
          </a:p>
        </p:txBody>
      </p:sp>
      <p:sp>
        <p:nvSpPr>
          <p:cNvPr id="4" name="research-plan">
            <a:extLst xmlns:a="http://schemas.openxmlformats.org/drawingml/2006/main">
              <a:ext uri="{FF2B5EF4-FFF2-40B4-BE49-F238E27FC236}">
                <a16:creationId xmlns:a16="http://schemas.microsoft.com/office/drawing/2014/main" id="{BC7A9764-9303-43AE-B5DA-44D75577CDD8}"/>
              </a:ext>
            </a:extLst>
          </p:cNvPr>
          <p:cNvSpPr>
            <a:spLocks xmlns:a="http://schemas.openxmlformats.org/drawingml/2006/main" noGrp="1"/>
          </p:cNvSpPr>
          <p:nvPr/>
        </p:nvSpPr>
        <p:spPr>
          <a:xfrm xmlns:a="http://schemas.openxmlformats.org/drawingml/2006/main">
            <a:off x="609600" y="4943475"/>
            <a:ext cx="54483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Begin with interviews and concept testing. Then test mobile and web interactions, and use product data to examine repeat-use patterns. Let clinical and privacy constraints shape the study.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9d1b2a63db94a7d"/>
          <a:stretch xmlns:a="http://schemas.openxmlformats.org/drawingml/2006/main"/>
        </p:blipFill>
        <p:spPr>
          <a:xfrm xmlns:a="http://schemas.openxmlformats.org/drawingml/2006/main">
            <a:off x="7010400" y="1447800"/>
            <a:ext cx="4876800" cy="4876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BB04419D-B6F6-44DE-B145-58F59A0F13E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11</a:t>
            </a:r>
          </a:p>
        </p:txBody>
      </p:sp>
    </p:spTree>
    <p:extLst>
      <p:ext uri="{BB962C8B-B14F-4D97-AF65-F5344CB8AC3E}">
        <p14:creationId xmlns:p14="http://schemas.microsoft.com/office/powerpoint/2010/main" val="1108347541"/>
      </p:ext>
    </p:extLst>
  </p:cSld>
</p:sld>
</file>

<file path=ppt/slides/slide12.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8C485AB0-4131-4A0C-9FB5-BC406F3B488F}"/>
              </a:ext>
            </a:extLst>
          </p:cNvPr>
          <p:cNvSpPr>
            <a:spLocks xmlns:a="http://schemas.openxmlformats.org/drawingml/2006/main" noGrp="1"/>
          </p:cNvSpPr>
          <p:nvPr/>
        </p:nvSpPr>
        <p:spPr>
          <a:xfrm xmlns:a="http://schemas.openxmlformats.org/drawingml/2006/main">
            <a:off x="609600" y="5238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RULA · UX RESEARCH</a:t>
            </a:r>
          </a:p>
        </p:txBody>
      </p:sp>
      <p:sp>
        <p:nvSpPr>
          <p:cNvPr id="2" name="headline">
            <a:extLst xmlns:a="http://schemas.openxmlformats.org/drawingml/2006/main">
              <a:ext uri="{FF2B5EF4-FFF2-40B4-BE49-F238E27FC236}">
                <a16:creationId xmlns:a16="http://schemas.microsoft.com/office/drawing/2014/main" id="{7700E63C-DDB8-4B10-BD59-A60CC0223936}"/>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the next</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decision clearer</a:t>
            </a:r>
          </a:p>
        </p:txBody>
      </p:sp>
      <p:sp>
        <p:nvSpPr>
          <p:cNvPr id="3" name="contact-intent">
            <a:extLst xmlns:a="http://schemas.openxmlformats.org/drawingml/2006/main">
              <a:ext uri="{FF2B5EF4-FFF2-40B4-BE49-F238E27FC236}">
                <a16:creationId xmlns:a16="http://schemas.microsoft.com/office/drawing/2014/main" id="{8C1D7ED3-4111-4D58-949A-FBE13BD56AF7}"/>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Available for UX research with Rula. Based in Mesa, Arizona; available for U.S. remote work and ready to start as soon as possible.</a:t>
            </a:r>
          </a:p>
        </p:txBody>
      </p:sp>
      <p:sp>
        <p:nvSpPr>
          <p:cNvPr id="4" name="email">
            <a:extLst xmlns:a="http://schemas.openxmlformats.org/drawingml/2006/main">
              <a:ext uri="{FF2B5EF4-FFF2-40B4-BE49-F238E27FC236}">
                <a16:creationId xmlns:a16="http://schemas.microsoft.com/office/drawing/2014/main" id="{03722D0E-8862-4E6A-9DB9-8B62BDCC24CD}"/>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e9385c5bb90a4f4b"/>
              </a:rPr>
              <a:t>JonathanKyleHobson@gmail.com</a:t>
            </a:r>
          </a:p>
        </p:txBody>
      </p:sp>
      <p:sp>
        <p:nvSpPr>
          <p:cNvPr id="5" name="portfolio">
            <a:extLst xmlns:a="http://schemas.openxmlformats.org/drawingml/2006/main">
              <a:ext uri="{FF2B5EF4-FFF2-40B4-BE49-F238E27FC236}">
                <a16:creationId xmlns:a16="http://schemas.microsoft.com/office/drawing/2014/main" id="{2F616834-DD43-4FA6-AB74-03C0243EC27B}"/>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u="sng">
                <a:solidFill>
                  <a:srgbClr val="DBEB89"/>
                </a:solidFill>
                <a:latin typeface="Helvetica Neue"/>
                <a:ea typeface="Helvetica Neue"/>
                <a:cs typeface="Helvetica Neue"/>
              </a:defRPr>
            </a:pPr>
            <a:r>
              <a:rPr sz="1725" b="0" u="sng">
                <a:solidFill>
                  <a:srgbClr val="DBEB89"/>
                </a:solidFill>
                <a:latin typeface="Helvetica Neue"/>
                <a:ea typeface="Helvetica Neue"/>
                <a:cs typeface="Helvetica Neue"/>
                <a:hlinkClick xmlns:r="http://schemas.openxmlformats.org/officeDocument/2006/relationships" r:id="R7feccd78ae664e61"/>
              </a:rPr>
              <a:t>jonathankhobson.github.io/application-portfolios/rula-ux-researcher</a:t>
            </a:r>
          </a:p>
        </p:txBody>
      </p:sp>
      <p:sp>
        <p:nvSpPr>
          <p:cNvPr id="6" name="slide-number">
            <a:extLst xmlns:a="http://schemas.openxmlformats.org/drawingml/2006/main">
              <a:ext uri="{FF2B5EF4-FFF2-40B4-BE49-F238E27FC236}">
                <a16:creationId xmlns:a16="http://schemas.microsoft.com/office/drawing/2014/main" id="{9F81D1DB-6132-4664-A94D-50E3E6B75E2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12</a:t>
            </a:r>
          </a:p>
        </p:txBody>
      </p:sp>
    </p:spTree>
    <p:extLst>
      <p:ext uri="{BB962C8B-B14F-4D97-AF65-F5344CB8AC3E}">
        <p14:creationId xmlns:p14="http://schemas.microsoft.com/office/powerpoint/2010/main" val="2011581388"/>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2026-09-08T22:04:01.4060000Z</dcterms:created>
  <dcterms:modified xsi:type="dcterms:W3CDTF">2026-09-08T22:04:01.4060000Z</dcterms:modified>
</coreProperties>
</file>