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fd6ec98c984582" /><Relationship Type="http://schemas.openxmlformats.org/officeDocument/2006/relationships/extended-properties" Target="/docProps/app.xml" Id="R27f1d3ba2caf4054" /><Relationship Type="http://schemas.openxmlformats.org/officeDocument/2006/relationships/officeDocument" Target="/ppt/presentation.xml" Id="R466015f24b9748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9e5658aefa4559"/>
  </p:sldMasterIdLst>
  <p:notesMasterIdLst>
    <p:notesMasterId xmlns:r="http://schemas.openxmlformats.org/officeDocument/2006/relationships" r:id="R84734d9ca42b4a0f"/>
  </p:notesMasterIdLst>
  <p:sldIdLst>
    <p:sldId xmlns:r="http://schemas.openxmlformats.org/officeDocument/2006/relationships" id="256" r:id="R730300b11eff4e8d"/>
    <p:sldId xmlns:r="http://schemas.openxmlformats.org/officeDocument/2006/relationships" id="257" r:id="R9e87dc6f5d2e498b"/>
    <p:sldId xmlns:r="http://schemas.openxmlformats.org/officeDocument/2006/relationships" id="258" r:id="Rdbf6fc8387764f08"/>
    <p:sldId xmlns:r="http://schemas.openxmlformats.org/officeDocument/2006/relationships" id="259" r:id="R3d5dabc57ba5467a"/>
    <p:sldId xmlns:r="http://schemas.openxmlformats.org/officeDocument/2006/relationships" id="260" r:id="R6f11f6bbde3f4c35"/>
    <p:sldId xmlns:r="http://schemas.openxmlformats.org/officeDocument/2006/relationships" id="261" r:id="R991f436c20f44725"/>
    <p:sldId xmlns:r="http://schemas.openxmlformats.org/officeDocument/2006/relationships" id="262" r:id="R80cef6e73d854d88"/>
    <p:sldId xmlns:r="http://schemas.openxmlformats.org/officeDocument/2006/relationships" id="263" r:id="R788d0d5175c143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91f83a850440e8" /><Relationship Type="http://schemas.openxmlformats.org/officeDocument/2006/relationships/slideMaster" Target="/ppt/slideMasters/slideMaster1.xml" Id="R109e5658aefa4559" /><Relationship Type="http://schemas.openxmlformats.org/officeDocument/2006/relationships/notesMaster" Target="/ppt/notesMasters/notesMaster1.xml" Id="R84734d9ca42b4a0f" /><Relationship Type="http://schemas.openxmlformats.org/officeDocument/2006/relationships/presProps" Target="/ppt/presProps.xml" Id="R6daf3a3d570e4e3e" /><Relationship Type="http://schemas.openxmlformats.org/officeDocument/2006/relationships/tableStyles" Target="/ppt/tableStyles.xml" Id="R7c068e02b11641cf" /><Relationship Type="http://schemas.openxmlformats.org/officeDocument/2006/relationships/slide" Target="/ppt/slides/slide1.xml" Id="R730300b11eff4e8d" /><Relationship Type="http://schemas.openxmlformats.org/officeDocument/2006/relationships/slide" Target="/ppt/slides/slide2.xml" Id="R9e87dc6f5d2e498b" /><Relationship Type="http://schemas.openxmlformats.org/officeDocument/2006/relationships/slide" Target="/ppt/slides/slide3.xml" Id="Rdbf6fc8387764f08" /><Relationship Type="http://schemas.openxmlformats.org/officeDocument/2006/relationships/slide" Target="/ppt/slides/slide4.xml" Id="R3d5dabc57ba5467a" /><Relationship Type="http://schemas.openxmlformats.org/officeDocument/2006/relationships/slide" Target="/ppt/slides/slide5.xml" Id="R6f11f6bbde3f4c35" /><Relationship Type="http://schemas.openxmlformats.org/officeDocument/2006/relationships/slide" Target="/ppt/slides/slide6.xml" Id="R991f436c20f44725" /><Relationship Type="http://schemas.openxmlformats.org/officeDocument/2006/relationships/slide" Target="/ppt/slides/slide7.xml" Id="R80cef6e73d854d88" /><Relationship Type="http://schemas.openxmlformats.org/officeDocument/2006/relationships/slide" Target="/ppt/slides/slide8.xml" Id="R788d0d5175c143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c618d17b9c45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Kyle Portfolio">
      <a:dk1>
        <a:srgbClr val="192B25"/>
      </a:dk1>
      <a:lt1>
        <a:srgbClr val="FFFFFF"/>
      </a:lt1>
      <a:dk2>
        <a:srgbClr val="244D3C"/>
      </a:dk2>
      <a:lt2>
        <a:srgbClr val="F4F2E9"/>
      </a:lt2>
      <a:accent1>
        <a:srgbClr val="244D3C"/>
      </a:accent1>
      <a:accent2>
        <a:srgbClr val="DBEB89"/>
      </a:accent2>
      <a:accent3>
        <a:srgbClr val="E1E8DB"/>
      </a:accent3>
      <a:accent4>
        <a:srgbClr val="58645D"/>
      </a:accent4>
      <a:accent5>
        <a:srgbClr val="192B25"/>
      </a:accent5>
      <a:accent6>
        <a:srgbClr val="F4F2E9"/>
      </a:accent6>
      <a:hlink>
        <a:srgbClr val="DBEB89"/>
      </a:hlink>
      <a:folHlink>
        <a:srgbClr val="DBEB8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yle Portfoli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624eaf2fe34cb0" /><Relationship Type="http://schemas.openxmlformats.org/officeDocument/2006/relationships/notesMaster" Target="/ppt/notesMasters/notesMaster1.xml" Id="R07029e48e56b41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d1fa94aab541a1" /><Relationship Type="http://schemas.openxmlformats.org/officeDocument/2006/relationships/notesMaster" Target="/ppt/notesMasters/notesMaster1.xml" Id="R9c1388e50a944a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e36db056e24d37" /><Relationship Type="http://schemas.openxmlformats.org/officeDocument/2006/relationships/notesMaster" Target="/ppt/notesMasters/notesMaster1.xml" Id="R608d8ffdb89a49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0569b3461345ff" /><Relationship Type="http://schemas.openxmlformats.org/officeDocument/2006/relationships/notesMaster" Target="/ppt/notesMasters/notesMaster1.xml" Id="R5c5444578a234b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f0b144b7024fda" /><Relationship Type="http://schemas.openxmlformats.org/officeDocument/2006/relationships/notesMaster" Target="/ppt/notesMasters/notesMaster1.xml" Id="Rf98a37948da045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727d069c4743f2" /><Relationship Type="http://schemas.openxmlformats.org/officeDocument/2006/relationships/notesMaster" Target="/ppt/notesMasters/notesMaster1.xml" Id="Rdf64038d86c64f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2d96472e8948bc" /><Relationship Type="http://schemas.openxmlformats.org/officeDocument/2006/relationships/notesMaster" Target="/ppt/notesMasters/notesMaster1.xml" Id="R407d4b5b9cdc48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02c6d4218c43b4" /><Relationship Type="http://schemas.openxmlformats.org/officeDocument/2006/relationships/notesMaster" Target="/ppt/notesMasters/notesMaster1.xml" Id="R8dbbd456a02f43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Prepared for Ondo Finance Product Designer, job 4323247009: https://job-boards.greenhouse.io/ondofinance/jobs/4323247009 . This application presents non-financial product design and research evidence. No fintech, banking, trading, crypto or investment product delivery is claimed. The paper-path illustration is existing decorative portfolio 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Kyle explored About Me information models and widget families in original April–May 2026 design walkthroughs. Source: reviewed portfolio-suite design About Me case and original about-me-widget-system.png. Numbers and named content inside the design are interface example data, not measured outcomes. September 2 release evidence supports web/server feature release, not this exact variant or mobile rollout. Public case: https://jonathankhobson.github.io/portfolio/design/case/about-me/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FactorLab About Me design variant. Source about-me-comparison.png and reviewed design source map. Chart is retained as a source screenshot to show the actual interface design; it is not an editable analytic chart or report of real user performance. Kyle’s contribution was comparison language and interface reasoning; no investment/risk disclosure expertise or trading outcome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FactorLab UX Designer &amp; Researcher (Contract), October 2025–Present. Original Kyle-authored Figma designs and March 27 error-state walkthrough. Entry, waiting, saved questions and response actions are organized with engineering annotations. These are design and handoff artifacts; the exact states are not verified as shipped. Public case: https://jonathankhobson.github.io/portfolio/design/case/flint/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Oak original DesignRecOak findings and recommendations, reviewed September 2026. Kyle led UX research and developed navigation/error-feedback recommendations with the lead UX designer. The public crop preserves the original proposed treatment; no production deployment, conversion gain or ownership of every design element is inferred. Public case: https://jonathankhobson.github.io/portfolio/design/case/oak/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Oak UI Kit V2.pdf, selected page exported as oak-ui-kit.png in the approved source portfolio. It documents color roles and use guidance. No typography system, complete coded component library or design-system governance leadership is inferred from this page.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proposed design/research starting approach for Ondo’s client-facing products. Not an Ondo case study, product audit or claim of financial/legal expertise. No investment recommendations or redesigned financial controls are supplied. Official role describes product, engineering and research collaboration: https://job-boards.greenhouse.io/ondofinance/jobs/4323247009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Candidate confirmed Mesa location, U.S. work authorization without sponsorship and ASAP start. Portfolio link targets the separately prepared Ondo site. No previous Ondo employment or financial-product delivery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29391ef76f41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03406ec3cb4d50" /><Relationship Type="http://schemas.openxmlformats.org/officeDocument/2006/relationships/slideLayout" Target="/ppt/slideLayouts/slideLayout1.xml" Id="R1d97431d0c1d45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97431d0c1d45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Kyle Portfolio">
      <a:dk1>
        <a:srgbClr val="192B25"/>
      </a:dk1>
      <a:lt1>
        <a:srgbClr val="FFFFFF"/>
      </a:lt1>
      <a:dk2>
        <a:srgbClr val="244D3C"/>
      </a:dk2>
      <a:lt2>
        <a:srgbClr val="F4F2E9"/>
      </a:lt2>
      <a:accent1>
        <a:srgbClr val="244D3C"/>
      </a:accent1>
      <a:accent2>
        <a:srgbClr val="DBEB89"/>
      </a:accent2>
      <a:accent3>
        <a:srgbClr val="E1E8DB"/>
      </a:accent3>
      <a:accent4>
        <a:srgbClr val="58645D"/>
      </a:accent4>
      <a:accent5>
        <a:srgbClr val="192B25"/>
      </a:accent5>
      <a:accent6>
        <a:srgbClr val="F4F2E9"/>
      </a:accent6>
      <a:hlink>
        <a:srgbClr val="DBEB89"/>
      </a:hlink>
      <a:folHlink>
        <a:srgbClr val="DBEB8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yle Portfoli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834b95ea84728" /><Relationship Type="http://schemas.openxmlformats.org/officeDocument/2006/relationships/image" Target="/ppt/media/image.png" Id="R12b3a2e83ae34d0e" /><Relationship Type="http://schemas.openxmlformats.org/officeDocument/2006/relationships/notesSlide" Target="/ppt/notesSlides/notesSlide1.xml" Id="Rb4c95955d5d84e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aac1484ef4227" /><Relationship Type="http://schemas.openxmlformats.org/officeDocument/2006/relationships/image" Target="/ppt/media/image2.png" Id="Re36ed12db4b84ae2" /><Relationship Type="http://schemas.openxmlformats.org/officeDocument/2006/relationships/notesSlide" Target="/ppt/notesSlides/notesSlide2.xml" Id="R870e14dc2d8940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8c3225dee4d06" /><Relationship Type="http://schemas.openxmlformats.org/officeDocument/2006/relationships/image" Target="/ppt/media/image3.png" Id="Rc0fbeb52f0524184" /><Relationship Type="http://schemas.openxmlformats.org/officeDocument/2006/relationships/notesSlide" Target="/ppt/notesSlides/notesSlide3.xml" Id="Rb69015c7d46f49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b5425479d4bb4" /><Relationship Type="http://schemas.openxmlformats.org/officeDocument/2006/relationships/image" Target="/ppt/media/image4.png" Id="Rc993c0ad34cc4919" /><Relationship Type="http://schemas.openxmlformats.org/officeDocument/2006/relationships/image" Target="/ppt/media/image5.png" Id="Rbcea19f770c0451a" /><Relationship Type="http://schemas.openxmlformats.org/officeDocument/2006/relationships/notesSlide" Target="/ppt/notesSlides/notesSlide4.xml" Id="R4b9afdb9ebf24f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647e5cbc942d2" /><Relationship Type="http://schemas.openxmlformats.org/officeDocument/2006/relationships/image" Target="/ppt/media/image6.png" Id="R82f5bf3843954f9c" /><Relationship Type="http://schemas.openxmlformats.org/officeDocument/2006/relationships/notesSlide" Target="/ppt/notesSlides/notesSlide5.xml" Id="R3e30760e8fd142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9662db1fa4e01" /><Relationship Type="http://schemas.openxmlformats.org/officeDocument/2006/relationships/image" Target="/ppt/media/image7.png" Id="R44dafc0e796f425a" /><Relationship Type="http://schemas.openxmlformats.org/officeDocument/2006/relationships/notesSlide" Target="/ppt/notesSlides/notesSlide6.xml" Id="R59fc7f58b57d4f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34ba3eb7c4b09" /><Relationship Type="http://schemas.openxmlformats.org/officeDocument/2006/relationships/notesSlide" Target="/ppt/notesSlides/notesSlide7.xml" Id="Rfabd31f2488e42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930dc672f4042" /><Relationship Type="http://schemas.openxmlformats.org/officeDocument/2006/relationships/hyperlink" Target="mailto:JonathanKyleHobson@gmail.com" TargetMode="External" Id="R22f2d9fb8ad54c98" /><Relationship Type="http://schemas.openxmlformats.org/officeDocument/2006/relationships/hyperlink" Target="https://jonathankhobson.github.io/application-portfolios/ondo-product-designer/" TargetMode="External" Id="Ra59bcf5f3cbf4e34" /><Relationship Type="http://schemas.openxmlformats.org/officeDocument/2006/relationships/notesSlide" Target="/ppt/notesSlides/notesSlide8.xml" Id="Ra5d12339d11e45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b3a2e83ae34d0e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F7756FF-25DB-4414-A24B-367224C6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KYLE HOBSON   /   APPLICATION TO ONDO FINANCE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9E5698DA-8371-41A3-89B2-C38EF801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7632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41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Make the state clear.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41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Make the next step useful.</a:t>
            </a:r>
          </a:p>
        </p:txBody>
      </p:sp>
      <p:sp>
        <p:nvSpPr>
          <p:cNvPr id="4" name="cover-intro">
            <a:extLst xmlns:a="http://schemas.openxmlformats.org/drawingml/2006/main">
              <a:ext uri="{FF2B5EF4-FFF2-40B4-BE49-F238E27FC236}">
                <a16:creationId xmlns:a16="http://schemas.microsoft.com/office/drawing/2014/main" id="{F3A8B2CE-87B9-4E1A-8894-17C5C353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4817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Web and mobile product design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1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with research and engineering handoff</a:t>
            </a:r>
          </a:p>
        </p:txBody>
      </p:sp>
      <p:sp>
        <p:nvSpPr>
          <p:cNvPr id="5" name="cover-role">
            <a:extLst xmlns:a="http://schemas.openxmlformats.org/drawingml/2006/main">
              <a:ext uri="{FF2B5EF4-FFF2-40B4-BE49-F238E27FC236}">
                <a16:creationId xmlns:a16="http://schemas.microsoft.com/office/drawing/2014/main" id="{84078A71-9552-47A3-AA94-0639E68B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198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Product Designer · Remote (US)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B1E78EF-6F54-462B-B198-95E729F2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926160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A38341B-FD81-4326-9DF6-12DB61A7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FACTORLAB   /   SMARTTAGIT ABOUT ME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15FF91B2-5A3E-4CD1-80D0-FA66F1DF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953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summary connected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to its evidence</a:t>
            </a:r>
          </a:p>
        </p:txBody>
      </p:sp>
      <p:sp>
        <p:nvSpPr>
          <p:cNvPr id="3" name="about-me-work">
            <a:extLst xmlns:a="http://schemas.openxmlformats.org/drawingml/2006/main">
              <a:ext uri="{FF2B5EF4-FFF2-40B4-BE49-F238E27FC236}">
                <a16:creationId xmlns:a16="http://schemas.microsoft.com/office/drawing/2014/main" id="{7FCDD37B-7BA8-436E-BF9C-80E36BC5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6096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I explored feedback layouts, widget families and content density so people could inspect the basis of a summary and find a useful next action.</a:t>
            </a:r>
          </a:p>
        </p:txBody>
      </p:sp>
      <p:sp>
        <p:nvSpPr>
          <p:cNvPr id="4" name="about-me-boundary">
            <a:extLst xmlns:a="http://schemas.openxmlformats.org/drawingml/2006/main">
              <a:ext uri="{FF2B5EF4-FFF2-40B4-BE49-F238E27FC236}">
                <a16:creationId xmlns:a16="http://schemas.microsoft.com/office/drawing/2014/main" id="{478F192C-F55E-4050-9A19-D10C0E89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63817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Original design iteration. About Me web/server changes released September 2, 2026; this pictured variant is not claimed as the final released layout.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6ed12db4b84ae2"/>
          <a:stretch xmlns:a="http://schemas.openxmlformats.org/drawingml/2006/main"/>
        </p:blipFill>
        <p:spPr>
          <a:xfrm xmlns:a="http://schemas.openxmlformats.org/drawingml/2006/main">
            <a:off x="8142684" y="1381125"/>
            <a:ext cx="2802731" cy="4714875"/>
          </a:xfrm>
          <a:prstGeom xmlns:a="http://schemas.openxmlformats.org/drawingml/2006/main" prst="rect">
            <a:avLst/>
          </a:prstGeom>
        </p:spPr>
      </p:pic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6A7CD5A-4430-4149-A6A7-91297CC8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110125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3E5CBCD-483F-471C-B4E8-99EF0287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FACTORLAB   /   ABOUT ME COMPARISON DESIGN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A45803CE-CCB1-44D1-B6E1-7F9B6F47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14425"/>
            <a:ext cx="108966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comparison needs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careful explanation</a:t>
            </a:r>
          </a:p>
        </p:txBody>
      </p:sp>
      <p:sp>
        <p:nvSpPr>
          <p:cNvPr id="3" name="comparison-decision">
            <a:extLst xmlns:a="http://schemas.openxmlformats.org/drawingml/2006/main">
              <a:ext uri="{FF2B5EF4-FFF2-40B4-BE49-F238E27FC236}">
                <a16:creationId xmlns:a16="http://schemas.microsoft.com/office/drawing/2014/main" id="{E37AE736-B29E-41C6-ADB3-62A36EEE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4772025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The caption describes how often a topic appears in a cohort. It avoids turning a difference into an unsupported performance judgment.</a:t>
            </a:r>
          </a:p>
        </p:txBody>
      </p:sp>
      <p:sp>
        <p:nvSpPr>
          <p:cNvPr id="4" name="comparison-boundary">
            <a:extLst xmlns:a="http://schemas.openxmlformats.org/drawingml/2006/main">
              <a:ext uri="{FF2B5EF4-FFF2-40B4-BE49-F238E27FC236}">
                <a16:creationId xmlns:a16="http://schemas.microsoft.com/office/drawing/2014/main" id="{1456829C-1709-4B71-AED9-02C8FDDB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485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Original interface design with example data. No financial data or measured performance result is shown.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fbeb52f0524184"/>
          <a:stretch xmlns:a="http://schemas.openxmlformats.org/drawingml/2006/main"/>
        </p:blipFill>
        <p:spPr>
          <a:xfrm xmlns:a="http://schemas.openxmlformats.org/drawingml/2006/main">
            <a:off x="5924550" y="2763677"/>
            <a:ext cx="5572125" cy="3692847"/>
          </a:xfrm>
          <a:prstGeom xmlns:a="http://schemas.openxmlformats.org/drawingml/2006/main" prst="rect">
            <a:avLst/>
          </a:prstGeom>
        </p:spPr>
      </p:pic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69F4BDB-BB18-4AD8-871C-FD61A452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089824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029F3D7-B9A0-4C76-AECF-E0210006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FACTORLAB   /   FLINT CONVERSATIONAL PRODUCT DESIGN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34A0F6C5-DA3E-4F4D-8EBD-6B5D2102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59055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Recovery depends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on what happened</a:t>
            </a:r>
          </a:p>
        </p:txBody>
      </p:sp>
      <p:sp>
        <p:nvSpPr>
          <p:cNvPr id="3" name="flint-specific">
            <a:extLst xmlns:a="http://schemas.openxmlformats.org/drawingml/2006/main">
              <a:ext uri="{FF2B5EF4-FFF2-40B4-BE49-F238E27FC236}">
                <a16:creationId xmlns:a16="http://schemas.microsoft.com/office/drawing/2014/main" id="{FF77C326-B565-48C0-B439-4D39C00C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476875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An interrupted answer and a lost connection leave different information available. I designed their messages and actions, then annotated the behavior for engineering.</a:t>
            </a:r>
          </a:p>
        </p:txBody>
      </p:sp>
      <p:sp>
        <p:nvSpPr>
          <p:cNvPr id="4" name="flint-boundary">
            <a:extLst xmlns:a="http://schemas.openxmlformats.org/drawingml/2006/main">
              <a:ext uri="{FF2B5EF4-FFF2-40B4-BE49-F238E27FC236}">
                <a16:creationId xmlns:a16="http://schemas.microsoft.com/office/drawing/2014/main" id="{AEEDBE15-A3C1-41EB-842B-005AFDFB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5476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Original mobile designs and handoff. No claim that the pictured states are shipped.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93c0ad34cc4919"/>
          <a:stretch xmlns:a="http://schemas.openxmlformats.org/drawingml/2006/main"/>
        </p:blipFill>
        <p:spPr>
          <a:xfrm xmlns:a="http://schemas.openxmlformats.org/drawingml/2006/main">
            <a:off x="6629400" y="1326390"/>
            <a:ext cx="2238375" cy="4795771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ea19f770c0451a"/>
          <a:stretch xmlns:a="http://schemas.openxmlformats.org/drawingml/2006/main"/>
        </p:blipFill>
        <p:spPr>
          <a:xfrm xmlns:a="http://schemas.openxmlformats.org/drawingml/2006/main">
            <a:off x="9210675" y="1326390"/>
            <a:ext cx="2238375" cy="4795771"/>
          </a:xfrm>
          <a:prstGeom xmlns:a="http://schemas.openxmlformats.org/drawingml/2006/main" prst="rect">
            <a:avLst/>
          </a:prstGeom>
        </p:spPr>
      </p:pic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EABC22C-A5B0-46BA-9AB0-41BB992E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457983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D9034A2-17EF-49E3-9EDA-EEC042FE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OAK AI   /   LEAD UX RESEARCHER, 2023–2025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B7D41E91-EE00-4DAC-9883-13170AD6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14425"/>
            <a:ext cx="108966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finding becomes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visible recommendation</a:t>
            </a:r>
          </a:p>
        </p:txBody>
      </p:sp>
      <p:sp>
        <p:nvSpPr>
          <p:cNvPr id="3" name="oak-reason">
            <a:extLst xmlns:a="http://schemas.openxmlformats.org/drawingml/2006/main">
              <a:ext uri="{FF2B5EF4-FFF2-40B4-BE49-F238E27FC236}">
                <a16:creationId xmlns:a16="http://schemas.microsoft.com/office/drawing/2014/main" id="{7781DC06-50B6-4503-987D-3020DD96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47625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The audit identified vague login feedback. I recommended locating the error beside the relevant field so people could see what to correct.</a:t>
            </a:r>
          </a:p>
        </p:txBody>
      </p:sp>
      <p:sp>
        <p:nvSpPr>
          <p:cNvPr id="4" name="oak-boundary">
            <a:extLst xmlns:a="http://schemas.openxmlformats.org/drawingml/2006/main">
              <a:ext uri="{FF2B5EF4-FFF2-40B4-BE49-F238E27FC236}">
                <a16:creationId xmlns:a16="http://schemas.microsoft.com/office/drawing/2014/main" id="{CB3C9EE7-551E-4C3F-986E-DD81DF85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4762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Original proposed interface. This is evaluation and design guidance, not a measured conversion improvement.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5bf3843954f9c"/>
          <a:stretch xmlns:a="http://schemas.openxmlformats.org/drawingml/2006/main"/>
        </p:blipFill>
        <p:spPr>
          <a:xfrm xmlns:a="http://schemas.openxmlformats.org/drawingml/2006/main">
            <a:off x="6207199" y="2790825"/>
            <a:ext cx="4997302" cy="3581400"/>
          </a:xfrm>
          <a:prstGeom xmlns:a="http://schemas.openxmlformats.org/drawingml/2006/main" prst="rect">
            <a:avLst/>
          </a:prstGeom>
        </p:spPr>
      </p:pic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1436C4D-54A3-416E-9552-D5B26AEE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952043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F9BFC9E-F423-46FA-9EC2-F749276F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OAK AI   /   ORIGINAL COLOR-ROLE GUIDANCE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8DFC3D5E-6CBA-4995-B7F3-E3942372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896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4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Shared color roles support consistency</a:t>
            </a:r>
          </a:p>
        </p:txBody>
      </p:sp>
      <p:sp>
        <p:nvSpPr>
          <p:cNvPr id="3" name="system-scope">
            <a:extLst xmlns:a="http://schemas.openxmlformats.org/drawingml/2006/main">
              <a:ext uri="{FF2B5EF4-FFF2-40B4-BE49-F238E27FC236}">
                <a16:creationId xmlns:a16="http://schemas.microsoft.com/office/drawing/2014/main" id="{AF4E9A50-AAAF-4AEA-A2B6-AA109FC5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10896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I paired design recommendations with shared color guidance for the next iteration.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dafc0e796f425a"/>
          <a:stretch xmlns:a="http://schemas.openxmlformats.org/drawingml/2006/main"/>
        </p:blipFill>
        <p:spPr>
          <a:xfrm xmlns:a="http://schemas.openxmlformats.org/drawingml/2006/main">
            <a:off x="1347355" y="2914650"/>
            <a:ext cx="9421091" cy="3238500"/>
          </a:xfrm>
          <a:prstGeom xmlns:a="http://schemas.openxmlformats.org/drawingml/2006/main" prst="rect">
            <a:avLst/>
          </a:prstGeom>
        </p:spPr>
      </p:pic>
      <p:sp>
        <p:nvSpPr>
          <p:cNvPr id="5" name="system-boundary">
            <a:extLst xmlns:a="http://schemas.openxmlformats.org/drawingml/2006/main">
              <a:ext uri="{FF2B5EF4-FFF2-40B4-BE49-F238E27FC236}">
                <a16:creationId xmlns:a16="http://schemas.microsoft.com/office/drawing/2014/main" id="{8B891924-54D1-47BF-BC32-9730AA8C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This artifact establishes color guidance; it does not establish ownership of a complete component library.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63FEA32-80F5-43FC-8AC9-D0669E37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904816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3267E54-1D5E-414D-AC11-7DC32DC7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ONDO FINANCE   /   PROPOSED STARTING APPROACH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A3343657-A56A-42D7-9F79-EF7FBB6D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896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Map one client journey completely</a:t>
            </a:r>
          </a:p>
        </p:txBody>
      </p:sp>
      <p:sp>
        <p:nvSpPr>
          <p:cNvPr id="3" name="proposal-intro">
            <a:extLst xmlns:a="http://schemas.openxmlformats.org/drawingml/2006/main">
              <a:ext uri="{FF2B5EF4-FFF2-40B4-BE49-F238E27FC236}">
                <a16:creationId xmlns:a16="http://schemas.microsoft.com/office/drawing/2014/main" id="{A3C4357E-3842-4C13-9185-2E66CCE1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1047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I would learn the product rules with Product, Engineering and Research before proposing an interface change.</a:t>
            </a:r>
          </a:p>
        </p:txBody>
      </p:sp>
      <p:sp>
        <p:nvSpPr>
          <p:cNvPr id="4" name="proposal-steps">
            <a:extLst xmlns:a="http://schemas.openxmlformats.org/drawingml/2006/main">
              <a:ext uri="{FF2B5EF4-FFF2-40B4-BE49-F238E27FC236}">
                <a16:creationId xmlns:a16="http://schemas.microsoft.com/office/drawing/2014/main" id="{9A320FED-240D-4D1E-BC70-02C37C76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104775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Map what the client needs to understand at each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Define ordinary, waiting, incomplete and failure states.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Prototype the flow and check comprehension with relevant users.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Agree on success measures and review the implementation.</a:t>
            </a:r>
          </a:p>
        </p:txBody>
      </p:sp>
      <p:sp>
        <p:nvSpPr>
          <p:cNvPr id="5" name="proposal-boundary">
            <a:extLst xmlns:a="http://schemas.openxmlformats.org/drawingml/2006/main">
              <a:ext uri="{FF2B5EF4-FFF2-40B4-BE49-F238E27FC236}">
                <a16:creationId xmlns:a16="http://schemas.microsoft.com/office/drawing/2014/main" id="{9970ED3B-B9EC-4434-8535-A8F9FCFC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71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Proposed approach, not delivered Ondo work. Financial and legal content needs domain review.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913E3CE-8EA9-4B32-A31E-C2B0C1E6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499647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44D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E6FACF1-7C7D-4E60-934E-697C9637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BEB89"/>
                </a:solidFill>
                <a:latin typeface="Helvetica Neue"/>
                <a:ea typeface="Helvetica Neue"/>
                <a:cs typeface="Helvetica Neue"/>
              </a:rPr>
              <a:t>KYLE HOBSON   /   ONDO FINANCE APPLICATION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CB2E3023-3735-45CC-BDF1-C914846E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763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4800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Product Designer</a:t>
            </a:r>
          </a:p>
        </p:txBody>
      </p:sp>
      <p:sp>
        <p:nvSpPr>
          <p:cNvPr id="3" name="contact-intent">
            <a:extLst xmlns:a="http://schemas.openxmlformats.org/drawingml/2006/main">
              <a:ext uri="{FF2B5EF4-FFF2-40B4-BE49-F238E27FC236}">
                <a16:creationId xmlns:a16="http://schemas.microsoft.com/office/drawing/2014/main" id="{19F625FF-567A-4D80-BAE7-AD646F4D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105727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Mesa, Arizona · Available for U.S. remote work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Product flows, Figma prototypes and engineering handoff</a:t>
            </a:r>
          </a:p>
        </p:txBody>
      </p:sp>
      <p:sp>
        <p:nvSpPr>
          <p:cNvPr id="4" name="email">
            <a:extLst xmlns:a="http://schemas.openxmlformats.org/drawingml/2006/main">
              <a:ext uri="{FF2B5EF4-FFF2-40B4-BE49-F238E27FC236}">
                <a16:creationId xmlns:a16="http://schemas.microsoft.com/office/drawing/2014/main" id="{F158651C-2435-4C2A-B2CD-A6148125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 b="0" u="sng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u="sng">
                <a:solidFill>
                  <a:srgbClr val="DBEB89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22f2d9fb8ad54c98"/>
              </a:rPr>
              <a:t>JonathanKyleHobson@gmail.com</a:t>
            </a:r>
          </a:p>
        </p:txBody>
      </p:sp>
      <p:sp>
        <p:nvSpPr>
          <p:cNvPr id="5" name="portfolio">
            <a:extLst xmlns:a="http://schemas.openxmlformats.org/drawingml/2006/main">
              <a:ext uri="{FF2B5EF4-FFF2-40B4-BE49-F238E27FC236}">
                <a16:creationId xmlns:a16="http://schemas.microsoft.com/office/drawing/2014/main" id="{D4A2B6F2-9FBA-40E9-ABEE-A8A45E8E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 b="0" u="sng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u="sng">
                <a:solidFill>
                  <a:srgbClr val="DBEB89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a59bcf5f3cbf4e34"/>
              </a:rPr>
              <a:t>View the tailored Ondo portfolio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09A7C68-72DC-4BFA-90E0-F6CA6CB5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BEB89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16291032"/>
      </p:ext>
    </p:extLst>
  </p:cSld>
</p:sld>
</file>

<file path=ppt/theme/theme1.xml><?xml version="1.0" encoding="utf-8"?>
<a:theme xmlns:a="http://schemas.openxmlformats.org/drawingml/2006/main" name="ChatGPT">
  <a:themeElements>
    <a:clrScheme name="Kyle Portfolio">
      <a:dk1>
        <a:srgbClr val="192B25"/>
      </a:dk1>
      <a:lt1>
        <a:srgbClr val="FFFFFF"/>
      </a:lt1>
      <a:dk2>
        <a:srgbClr val="244D3C"/>
      </a:dk2>
      <a:lt2>
        <a:srgbClr val="F4F2E9"/>
      </a:lt2>
      <a:accent1>
        <a:srgbClr val="244D3C"/>
      </a:accent1>
      <a:accent2>
        <a:srgbClr val="DBEB89"/>
      </a:accent2>
      <a:accent3>
        <a:srgbClr val="E1E8DB"/>
      </a:accent3>
      <a:accent4>
        <a:srgbClr val="58645D"/>
      </a:accent4>
      <a:accent5>
        <a:srgbClr val="192B25"/>
      </a:accent5>
      <a:accent6>
        <a:srgbClr val="F4F2E9"/>
      </a:accent6>
      <a:hlink>
        <a:srgbClr val="DBEB89"/>
      </a:hlink>
      <a:folHlink>
        <a:srgbClr val="DBEB8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yle Portfoli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2026-09-09T00:20:20.3800000Z</dcterms:created>
  <dcterms:modified xsi:type="dcterms:W3CDTF">2026-09-09T00:20:20.3800000Z</dcterms:modified>
</coreProperties>
</file>