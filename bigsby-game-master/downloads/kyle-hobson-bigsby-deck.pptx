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c53de6b7fc4c13" /><Relationship Type="http://schemas.openxmlformats.org/officeDocument/2006/relationships/extended-properties" Target="/docProps/app.xml" Id="R3c7882ffb6f0459b" /><Relationship Type="http://schemas.openxmlformats.org/officeDocument/2006/relationships/officeDocument" Target="/ppt/presentation.xml" Id="R7eabffda3bfa4794" /></Relationships>
</file>

<file path=ppt/presentation.xml><?xml version="1.0" encoding="utf-8"?>
<p:presentation xmlns:p="http://schemas.openxmlformats.org/presentationml/2006/main">
  <p:sldMasterIdLst>
    <p:sldMasterId xmlns:r="http://schemas.openxmlformats.org/officeDocument/2006/relationships" id="2147483648" r:id="Rd3a5b131422b483d"/>
  </p:sldMasterIdLst>
  <p:notesMasterIdLst>
    <p:notesMasterId xmlns:r="http://schemas.openxmlformats.org/officeDocument/2006/relationships" r:id="R222bdc72692c4497"/>
  </p:notesMasterIdLst>
  <p:sldIdLst>
    <p:sldId xmlns:r="http://schemas.openxmlformats.org/officeDocument/2006/relationships" id="256" r:id="R2274442537da4878"/>
    <p:sldId xmlns:r="http://schemas.openxmlformats.org/officeDocument/2006/relationships" id="257" r:id="Rf1bd968c635741f5"/>
    <p:sldId xmlns:r="http://schemas.openxmlformats.org/officeDocument/2006/relationships" id="258" r:id="R7c213782098d4543"/>
    <p:sldId xmlns:r="http://schemas.openxmlformats.org/officeDocument/2006/relationships" id="259" r:id="R78909671eb7d472a"/>
    <p:sldId xmlns:r="http://schemas.openxmlformats.org/officeDocument/2006/relationships" id="260" r:id="R65709d192e3c4a1f"/>
    <p:sldId xmlns:r="http://schemas.openxmlformats.org/officeDocument/2006/relationships" id="261" r:id="R35894e7cc78d40d5"/>
    <p:sldId xmlns:r="http://schemas.openxmlformats.org/officeDocument/2006/relationships" id="262" r:id="R5c7df618ccac464d"/>
    <p:sldId xmlns:r="http://schemas.openxmlformats.org/officeDocument/2006/relationships" id="263" r:id="R6cb94159eca643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8f29348632464b" /><Relationship Type="http://schemas.openxmlformats.org/officeDocument/2006/relationships/slideMaster" Target="/ppt/slideMasters/slideMaster1.xml" Id="Rd3a5b131422b483d" /><Relationship Type="http://schemas.openxmlformats.org/officeDocument/2006/relationships/notesMaster" Target="/ppt/notesMasters/notesMaster1.xml" Id="R222bdc72692c4497" /><Relationship Type="http://schemas.openxmlformats.org/officeDocument/2006/relationships/presProps" Target="/ppt/presProps.xml" Id="R896f8ae9fd4345f4" /><Relationship Type="http://schemas.openxmlformats.org/officeDocument/2006/relationships/tableStyles" Target="/ppt/tableStyles.xml" Id="R714fdeeb38e342e4" /><Relationship Type="http://schemas.openxmlformats.org/officeDocument/2006/relationships/slide" Target="/ppt/slides/slide1.xml" Id="R2274442537da4878" /><Relationship Type="http://schemas.openxmlformats.org/officeDocument/2006/relationships/slide" Target="/ppt/slides/slide2.xml" Id="Rf1bd968c635741f5" /><Relationship Type="http://schemas.openxmlformats.org/officeDocument/2006/relationships/slide" Target="/ppt/slides/slide3.xml" Id="R7c213782098d4543" /><Relationship Type="http://schemas.openxmlformats.org/officeDocument/2006/relationships/slide" Target="/ppt/slides/slide4.xml" Id="R78909671eb7d472a" /><Relationship Type="http://schemas.openxmlformats.org/officeDocument/2006/relationships/slide" Target="/ppt/slides/slide5.xml" Id="R65709d192e3c4a1f" /><Relationship Type="http://schemas.openxmlformats.org/officeDocument/2006/relationships/slide" Target="/ppt/slides/slide6.xml" Id="R35894e7cc78d40d5" /><Relationship Type="http://schemas.openxmlformats.org/officeDocument/2006/relationships/slide" Target="/ppt/slides/slide7.xml" Id="R5c7df618ccac464d" /><Relationship Type="http://schemas.openxmlformats.org/officeDocument/2006/relationships/slide" Target="/ppt/slides/slide8.xml" Id="R6cb94159eca643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468b5431d447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d8ea4fb8264fec" /><Relationship Type="http://schemas.openxmlformats.org/officeDocument/2006/relationships/notesMaster" Target="/ppt/notesMasters/notesMaster1.xml" Id="R5c3e5482462f48d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e24e09306949ef" /><Relationship Type="http://schemas.openxmlformats.org/officeDocument/2006/relationships/notesMaster" Target="/ppt/notesMasters/notesMaster1.xml" Id="Rdc507ad577cd44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f9d234a2d0404347" /><Relationship Type="http://schemas.openxmlformats.org/officeDocument/2006/relationships/notesMaster" Target="/ppt/notesMasters/notesMaster1.xml" Id="Rbe1cd84b5f3843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fa2fda6e6e4b5e" /><Relationship Type="http://schemas.openxmlformats.org/officeDocument/2006/relationships/notesMaster" Target="/ppt/notesMasters/notesMaster1.xml" Id="R212cbcb7bf0742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0d8cb116ab40b3" /><Relationship Type="http://schemas.openxmlformats.org/officeDocument/2006/relationships/notesMaster" Target="/ppt/notesMasters/notesMaster1.xml" Id="R38a29e9259ef4a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7c5f88d29fb74eca" /><Relationship Type="http://schemas.openxmlformats.org/officeDocument/2006/relationships/notesMaster" Target="/ppt/notesMasters/notesMaster1.xml" Id="Rfac025c454da496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37a855d2db34c27" /><Relationship Type="http://schemas.openxmlformats.org/officeDocument/2006/relationships/notesMaster" Target="/ppt/notesMasters/notesMaster1.xml" Id="Rdeed805e7b814dd7" /></Relationships>
</file>

<file path=ppt/notesSlides/_rels/notesSlide8.xml.rels>&#65279;<?xml version="1.0" encoding="utf-8"?><Relationships xmlns="http://schemas.openxmlformats.org/package/2006/relationships"><Relationship Type="http://schemas.openxmlformats.org/officeDocument/2006/relationships/slide" Target="/ppt/slides/slide8.xml" Id="R32c61e264228435b" /><Relationship Type="http://schemas.openxmlformats.org/officeDocument/2006/relationships/notesMaster" Target="/ppt/notesMasters/notesMaster1.xml" Id="R88adc0ae2e7245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Game Master work by Kyle Hobson for the Bigsby Games remote contract roster. Cover image: existing Valizar map from the public Peasants to Kings portfolio, https://jonathankhobson.github.io/gm/games/peasants-to-kings.html . This deck is a candidate portfolio, not commissioned Bigsby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https://jonathankhobson.github.io/gm/games/peasants-to-kings.html . Existing long-running homebrew campaign with persistent lore, linked character arcs, faction records, maps and recaps. The source artifact shows a campaign region; it is not a measured player outcome or evidence of paid session volume.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https://jonathankhobson.github.io/gm/games/peril-to-profit.html . Original Daggerheart one-shot designed for six players and a three-to-four-hour session, with character and GM references. The original Jenga-based Fear mechanic is physical. A remote adaptation has not been represented as completed or tested. Vendor-guide content is fictional satire.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https://jonathankhobson.github.io/gm/games/peril-to-profit.html . Contact sheet of existing character biographies and fictional debt cards, reproduced from the public candidate portfolio without altering content. The financial amounts and names belong to fictional characters, not customer or candidate account information. No real player names, photographs, or testimonials appear.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https://jonathankhobson.github.io/gm/games/echoes-of-stargate.html . Existing mission briefing from a personal fan campaign, used to illustrate mission and reference preparation. Classified-style labels, military emblems, dates, and scenario names are fictional game presentation; no actual classified information or official franchise endorsement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Systems and online platforms are listed in Kyle’s public StartPlaying profile: https://startplaying.games/gm/gamemasterkyle . That profile supports a focus on plain rules explanations, player choices, spotlight, and comfort at the table. Current application scope is remote work. Session approach is proposed for Bigsby rather than represented as its policy or a completed Bigsby session. Portrait is identity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Relevant adjacent professional experience: Arizona State University Knowledge Enterprise, Instructional Designer, April 2022–October 2024; Atria Park of Sierra Pointe, Engage Life Coordinator, 2017–2019; FactorLab, UX Designer and Researcher (Contract), October 2025–present. These are learning, community activity and UX roles, not claims of corporate GM clients or paid game volume. Education and fuller details are in the accompanying resume.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Bigsby Careers and application sources: https://bigsbygames.com/careers and https://bigsbygames.com/apply , verified September 8, 2026. Bigsby advertises a remote/in-person contract GM roster, supported systems including D&amp;D 5e and Daggerheart, and per-session Stripe Express payouts. Candidate offers remote work from Mesa, Arizona. No pay amount, accepted contract, fixed hours, or guaranteed session volume is implied. Links are clickable; publication and application status are tracked outside this portfolio.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ecad61cfb1248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fed69b82b5f4111" /><Relationship Type="http://schemas.openxmlformats.org/officeDocument/2006/relationships/slideLayout" Target="/ppt/slideLayouts/slideLayout1.xml" Id="R9993a5c75204443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93a5c7520444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9287ff6a6e145e6" /><Relationship Type="http://schemas.openxmlformats.org/officeDocument/2006/relationships/image" Target="/ppt/media/image.jpeg" Id="R57e4c463563e4562" /><Relationship Type="http://schemas.openxmlformats.org/officeDocument/2006/relationships/notesSlide" Target="/ppt/notesSlides/notesSlide1.xml" Id="Rc674459b225b4a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ee91b922adc4fb4" /><Relationship Type="http://schemas.openxmlformats.org/officeDocument/2006/relationships/image" Target="/ppt/media/image2.jpeg" Id="Rfdbb2c43d611420e" /><Relationship Type="http://schemas.openxmlformats.org/officeDocument/2006/relationships/notesSlide" Target="/ppt/notesSlides/notesSlide2.xml" Id="R4da100c1fb1740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b0ae658c7684a10" /><Relationship Type="http://schemas.openxmlformats.org/officeDocument/2006/relationships/image" Target="/ppt/media/image3.jpeg" Id="R2c55bb23f34a4ab9" /><Relationship Type="http://schemas.openxmlformats.org/officeDocument/2006/relationships/notesSlide" Target="/ppt/notesSlides/notesSlide3.xml" Id="R6d25daf5ae6249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e368d14e2214775" /><Relationship Type="http://schemas.openxmlformats.org/officeDocument/2006/relationships/image" Target="/ppt/media/image4.jpeg" Id="Rccc01d98ae2f4dd4" /><Relationship Type="http://schemas.openxmlformats.org/officeDocument/2006/relationships/notesSlide" Target="/ppt/notesSlides/notesSlide4.xml" Id="R2995501f06254d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3513d7f1db04b3a" /><Relationship Type="http://schemas.openxmlformats.org/officeDocument/2006/relationships/image" Target="/ppt/media/image.png" Id="Re73464b2933c4ee1" /><Relationship Type="http://schemas.openxmlformats.org/officeDocument/2006/relationships/notesSlide" Target="/ppt/notesSlides/notesSlide5.xml" Id="R2c151d46fe8345d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14e3c20b52441ba" /><Relationship Type="http://schemas.openxmlformats.org/officeDocument/2006/relationships/image" Target="/ppt/media/image.bin" Id="Rc271e3b44569483d" /><Relationship Type="http://schemas.openxmlformats.org/officeDocument/2006/relationships/notesSlide" Target="/ppt/notesSlides/notesSlide6.xml" Id="Rbeae7ade8a8d4af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04fccc6748c4ff5" /><Relationship Type="http://schemas.openxmlformats.org/officeDocument/2006/relationships/notesSlide" Target="/ppt/notesSlides/notesSlide7.xml" Id="R8b9d22a2ecda478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7bdc5410ac7495e" /><Relationship Type="http://schemas.openxmlformats.org/officeDocument/2006/relationships/hyperlink" Target="mailto:JonathanKyleHobson@gmail.com" TargetMode="External" Id="R3977090be6464841" /><Relationship Type="http://schemas.openxmlformats.org/officeDocument/2006/relationships/hyperlink" Target="https://jonathankhobson.github.io/application-portfolios/bigsby-game-master/" TargetMode="External" Id="R74b29efedd7144e1" /><Relationship Type="http://schemas.openxmlformats.org/officeDocument/2006/relationships/notesSlide" Target="/ppt/notesSlides/notesSlide8.xml" Id="Ra9a11fa476f744f1" /></Relationships>
</file>

<file path=ppt/slides/slide1.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9" name="page">
            <a:extLst xmlns:a="http://schemas.openxmlformats.org/drawingml/2006/main">
              <a:ext uri="{FF2B5EF4-FFF2-40B4-BE49-F238E27FC236}">
                <a16:creationId xmlns:a16="http://schemas.microsoft.com/office/drawing/2014/main" id="{AB95E9D4-F223-490B-8805-4EF6073213AE}"/>
              </a:ext>
            </a:extLst>
          </p:cNvPr>
          <p:cNvSpPr>
            <a:spLocks xmlns:a="http://schemas.openxmlformats.org/drawingml/2006/main" noGrp="1"/>
          </p:cNvSpPr>
          <p:nvPr/>
        </p:nvSpPr>
        <p:spPr>
          <a:xfrm xmlns:a="http://schemas.openxmlformats.org/drawingml/2006/main">
            <a:off x="11334750" y="65151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01</a:t>
            </a:r>
          </a:p>
        </p:txBody>
      </p:sp>
      <p:sp>
        <p:nvSpPr>
          <p:cNvPr id="2" name="section">
            <a:extLst xmlns:a="http://schemas.openxmlformats.org/drawingml/2006/main">
              <a:ext uri="{FF2B5EF4-FFF2-40B4-BE49-F238E27FC236}">
                <a16:creationId xmlns:a16="http://schemas.microsoft.com/office/drawing/2014/main" id="{54432D62-5327-4863-91A7-C68814346F62}"/>
              </a:ext>
            </a:extLst>
          </p:cNvPr>
          <p:cNvSpPr>
            <a:spLocks xmlns:a="http://schemas.openxmlformats.org/drawingml/2006/main" noGrp="1"/>
          </p:cNvSpPr>
          <p:nvPr/>
        </p:nvSpPr>
        <p:spPr>
          <a:xfrm xmlns:a="http://schemas.openxmlformats.org/drawingml/2006/main">
            <a:off x="609600" y="4953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SELECTED WORK FOR BIGSBY GAMES</a:t>
            </a:r>
          </a:p>
        </p:txBody>
      </p:sp>
      <p:sp>
        <p:nvSpPr>
          <p:cNvPr id="3" name="name">
            <a:extLst xmlns:a="http://schemas.openxmlformats.org/drawingml/2006/main">
              <a:ext uri="{FF2B5EF4-FFF2-40B4-BE49-F238E27FC236}">
                <a16:creationId xmlns:a16="http://schemas.microsoft.com/office/drawing/2014/main" id="{D785B34D-9BAC-48D0-AF33-5362DE74222E}"/>
              </a:ext>
            </a:extLst>
          </p:cNvPr>
          <p:cNvSpPr>
            <a:spLocks xmlns:a="http://schemas.openxmlformats.org/drawingml/2006/main" noGrp="1"/>
          </p:cNvSpPr>
          <p:nvPr/>
        </p:nvSpPr>
        <p:spPr>
          <a:xfrm xmlns:a="http://schemas.openxmlformats.org/drawingml/2006/main">
            <a:off x="609600" y="1685925"/>
            <a:ext cx="57721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75" b="1">
                <a:solidFill>
                  <a:srgbClr val="F4F2E9"/>
                </a:solidFill>
                <a:latin typeface="Helvetica Neue"/>
                <a:ea typeface="Helvetica Neue"/>
                <a:cs typeface="Helvetica Neue"/>
              </a:defRPr>
            </a:pPr>
            <a:r>
              <a:rPr sz="4575" b="1">
                <a:solidFill>
                  <a:srgbClr val="F4F2E9"/>
                </a:solidFill>
                <a:latin typeface="Helvetica Neue"/>
                <a:ea typeface="Helvetica Neue"/>
                <a:cs typeface="Helvetica Neue"/>
              </a:rPr>
              <a:t>Kyle Hobson</a:t>
            </a:r>
          </a:p>
        </p:txBody>
      </p:sp>
      <p:sp>
        <p:nvSpPr>
          <p:cNvPr id="4" name="role">
            <a:extLst xmlns:a="http://schemas.openxmlformats.org/drawingml/2006/main">
              <a:ext uri="{FF2B5EF4-FFF2-40B4-BE49-F238E27FC236}">
                <a16:creationId xmlns:a16="http://schemas.microsoft.com/office/drawing/2014/main" id="{0D46C329-0E05-45F5-AC89-DFD7773217B1}"/>
              </a:ext>
            </a:extLst>
          </p:cNvPr>
          <p:cNvSpPr>
            <a:spLocks xmlns:a="http://schemas.openxmlformats.org/drawingml/2006/main" noGrp="1"/>
          </p:cNvSpPr>
          <p:nvPr/>
        </p:nvSpPr>
        <p:spPr>
          <a:xfrm xmlns:a="http://schemas.openxmlformats.org/drawingml/2006/main">
            <a:off x="609600" y="2505075"/>
            <a:ext cx="57721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125" b="1">
                <a:solidFill>
                  <a:srgbClr val="F4F2E9"/>
                </a:solidFill>
                <a:latin typeface="Helvetica Neue"/>
                <a:ea typeface="Helvetica Neue"/>
                <a:cs typeface="Helvetica Neue"/>
              </a:defRPr>
            </a:pPr>
            <a:r>
              <a:rPr sz="4125" b="1">
                <a:solidFill>
                  <a:srgbClr val="F4F2E9"/>
                </a:solidFill>
                <a:latin typeface="Helvetica Neue"/>
                <a:ea typeface="Helvetica Neue"/>
                <a:cs typeface="Helvetica Neue"/>
              </a:rPr>
              <a:t>Game Master</a:t>
            </a:r>
          </a:p>
        </p:txBody>
      </p:sp>
      <p:sp>
        <p:nvSpPr>
          <p:cNvPr id="5" name="intro">
            <a:extLst xmlns:a="http://schemas.openxmlformats.org/drawingml/2006/main">
              <a:ext uri="{FF2B5EF4-FFF2-40B4-BE49-F238E27FC236}">
                <a16:creationId xmlns:a16="http://schemas.microsoft.com/office/drawing/2014/main" id="{C36475D4-9975-4C07-9D00-46C25E3AF692}"/>
              </a:ext>
            </a:extLst>
          </p:cNvPr>
          <p:cNvSpPr>
            <a:spLocks xmlns:a="http://schemas.openxmlformats.org/drawingml/2006/main" noGrp="1"/>
          </p:cNvSpPr>
          <p:nvPr/>
        </p:nvSpPr>
        <p:spPr>
          <a:xfrm xmlns:a="http://schemas.openxmlformats.org/drawingml/2006/main">
            <a:off x="647700" y="3667125"/>
            <a:ext cx="52768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F4F2E9"/>
                </a:solidFill>
                <a:latin typeface="Helvetica Neue"/>
                <a:ea typeface="Helvetica Neue"/>
                <a:cs typeface="Helvetica Neue"/>
              </a:defRPr>
            </a:pPr>
            <a:r>
              <a:rPr sz="2100" b="0">
                <a:solidFill>
                  <a:srgbClr val="F4F2E9"/>
                </a:solidFill>
                <a:latin typeface="Helvetica Neue"/>
                <a:ea typeface="Helvetica Neue"/>
                <a:cs typeface="Helvetica Neue"/>
              </a:rPr>
              <a:t>Original adventures, player references,</a:t>
            </a:r>
          </a:p>
          <a:p xmlns:a="http://schemas.openxmlformats.org/drawingml/2006/main">
            <a:pPr>
              <a:lnSpc>
                <a:spcPct val="110000"/>
              </a:lnSpc>
              <a:buNone/>
              <a:defRPr sz="2100" b="0">
                <a:solidFill>
                  <a:srgbClr val="F4F2E9"/>
                </a:solidFill>
                <a:latin typeface="Helvetica Neue"/>
                <a:ea typeface="Helvetica Neue"/>
                <a:cs typeface="Helvetica Neue"/>
              </a:defRPr>
            </a:pPr>
            <a:r>
              <a:rPr sz="2100" b="0">
                <a:solidFill>
                  <a:srgbClr val="F4F2E9"/>
                </a:solidFill>
                <a:latin typeface="Helvetica Neue"/>
                <a:ea typeface="Helvetica Neue"/>
                <a:cs typeface="Helvetica Neue"/>
              </a:rPr>
              <a:t>and a world that remembers.</a:t>
            </a:r>
          </a:p>
        </p:txBody>
      </p:sp>
      <p:sp>
        <p:nvSpPr>
          <p:cNvPr id="6" name="scope">
            <a:extLst xmlns:a="http://schemas.openxmlformats.org/drawingml/2006/main">
              <a:ext uri="{FF2B5EF4-FFF2-40B4-BE49-F238E27FC236}">
                <a16:creationId xmlns:a16="http://schemas.microsoft.com/office/drawing/2014/main" id="{A471DCED-7CE2-4B9F-9C54-B98ECC6CE386}"/>
              </a:ext>
            </a:extLst>
          </p:cNvPr>
          <p:cNvSpPr>
            <a:spLocks xmlns:a="http://schemas.openxmlformats.org/drawingml/2006/main" noGrp="1"/>
          </p:cNvSpPr>
          <p:nvPr/>
        </p:nvSpPr>
        <p:spPr>
          <a:xfrm xmlns:a="http://schemas.openxmlformats.org/drawingml/2006/main">
            <a:off x="647700" y="5334000"/>
            <a:ext cx="5257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F4F2E9"/>
                </a:solidFill>
                <a:latin typeface="Helvetica Neue"/>
                <a:ea typeface="Helvetica Neue"/>
                <a:cs typeface="Helvetica Neue"/>
              </a:defRPr>
            </a:pPr>
            <a:r>
              <a:rPr sz="1575" b="0">
                <a:solidFill>
                  <a:srgbClr val="F4F2E9"/>
                </a:solidFill>
                <a:latin typeface="Helvetica Neue"/>
                <a:ea typeface="Helvetica Neue"/>
                <a:cs typeface="Helvetica Neue"/>
              </a:rPr>
              <a:t>Remote contract roster</a:t>
            </a:r>
          </a:p>
          <a:p xmlns:a="http://schemas.openxmlformats.org/drawingml/2006/main">
            <a:pPr>
              <a:lnSpc>
                <a:spcPct val="110000"/>
              </a:lnSpc>
              <a:buNone/>
              <a:defRPr sz="1575" b="0">
                <a:solidFill>
                  <a:srgbClr val="F4F2E9"/>
                </a:solidFill>
                <a:latin typeface="Helvetica Neue"/>
                <a:ea typeface="Helvetica Neue"/>
                <a:cs typeface="Helvetica Neue"/>
              </a:defRPr>
            </a:pPr>
            <a:r>
              <a:rPr sz="1575" b="0">
                <a:solidFill>
                  <a:srgbClr val="F4F2E9"/>
                </a:solidFill>
                <a:latin typeface="Helvetica Neue"/>
                <a:ea typeface="Helvetica Neue"/>
                <a:cs typeface="Helvetica Neue"/>
              </a:rPr>
              <a:t>Mesa, Arizona · September 2026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7e4c463563e4562"/>
          <a:stretch xmlns:a="http://schemas.openxmlformats.org/drawingml/2006/main"/>
        </p:blipFill>
        <p:spPr>
          <a:xfrm xmlns:a="http://schemas.openxmlformats.org/drawingml/2006/main">
            <a:off x="6915150" y="1200150"/>
            <a:ext cx="4552950" cy="4552950"/>
          </a:xfrm>
          <a:prstGeom xmlns:a="http://schemas.openxmlformats.org/drawingml/2006/main" prst="rect">
            <a:avLst/>
          </a:prstGeom>
        </p:spPr>
      </p:pic>
      <p:sp>
        <p:nvSpPr>
          <p:cNvPr id="8" name="caption">
            <a:extLst xmlns:a="http://schemas.openxmlformats.org/drawingml/2006/main">
              <a:ext uri="{FF2B5EF4-FFF2-40B4-BE49-F238E27FC236}">
                <a16:creationId xmlns:a16="http://schemas.microsoft.com/office/drawing/2014/main" id="{03D51B15-2DF6-48C2-861E-DA59EAD2EEDC}"/>
              </a:ext>
            </a:extLst>
          </p:cNvPr>
          <p:cNvSpPr>
            <a:spLocks xmlns:a="http://schemas.openxmlformats.org/drawingml/2006/main" noGrp="1"/>
          </p:cNvSpPr>
          <p:nvPr/>
        </p:nvSpPr>
        <p:spPr>
          <a:xfrm xmlns:a="http://schemas.openxmlformats.org/drawingml/2006/main">
            <a:off x="6915150" y="5934075"/>
            <a:ext cx="45529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F4F2E9"/>
                </a:solidFill>
                <a:latin typeface="Helvetica Neue"/>
                <a:ea typeface="Helvetica Neue"/>
                <a:cs typeface="Helvetica Neue"/>
              </a:defRPr>
            </a:pPr>
            <a:r>
              <a:rPr sz="1200" b="0">
                <a:solidFill>
                  <a:srgbClr val="F4F2E9"/>
                </a:solidFill>
                <a:latin typeface="Helvetica Neue"/>
                <a:ea typeface="Helvetica Neue"/>
                <a:cs typeface="Helvetica Neue"/>
              </a:rPr>
              <a:t>Peasants to Kings · Valizar campaign map</a:t>
            </a:r>
          </a:p>
        </p:txBody>
      </p:sp>
    </p:spTree>
    <p:extLst>
      <p:ext uri="{BB962C8B-B14F-4D97-AF65-F5344CB8AC3E}">
        <p14:creationId xmlns:p14="http://schemas.microsoft.com/office/powerpoint/2010/main" val="854116490"/>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page">
            <a:extLst xmlns:a="http://schemas.openxmlformats.org/drawingml/2006/main">
              <a:ext uri="{FF2B5EF4-FFF2-40B4-BE49-F238E27FC236}">
                <a16:creationId xmlns:a16="http://schemas.microsoft.com/office/drawing/2014/main" id="{34463E00-DC07-4EE6-8237-16FD9BE5F722}"/>
              </a:ext>
            </a:extLst>
          </p:cNvPr>
          <p:cNvSpPr>
            <a:spLocks xmlns:a="http://schemas.openxmlformats.org/drawingml/2006/main" noGrp="1"/>
          </p:cNvSpPr>
          <p:nvPr/>
        </p:nvSpPr>
        <p:spPr>
          <a:xfrm xmlns:a="http://schemas.openxmlformats.org/drawingml/2006/main">
            <a:off x="11334750" y="65151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
        <p:nvSpPr>
          <p:cNvPr id="2" name="section">
            <a:extLst xmlns:a="http://schemas.openxmlformats.org/drawingml/2006/main">
              <a:ext uri="{FF2B5EF4-FFF2-40B4-BE49-F238E27FC236}">
                <a16:creationId xmlns:a16="http://schemas.microsoft.com/office/drawing/2014/main" id="{99BEBCB6-02CA-4BA8-9836-619BCB5EC500}"/>
              </a:ext>
            </a:extLst>
          </p:cNvPr>
          <p:cNvSpPr>
            <a:spLocks xmlns:a="http://schemas.openxmlformats.org/drawingml/2006/main" noGrp="1"/>
          </p:cNvSpPr>
          <p:nvPr/>
        </p:nvSpPr>
        <p:spPr>
          <a:xfrm xmlns:a="http://schemas.openxmlformats.org/drawingml/2006/main">
            <a:off x="609600" y="4953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PEASANTS TO KINGS</a:t>
            </a:r>
          </a:p>
        </p:txBody>
      </p:sp>
      <p:sp>
        <p:nvSpPr>
          <p:cNvPr id="3" name="title">
            <a:extLst xmlns:a="http://schemas.openxmlformats.org/drawingml/2006/main">
              <a:ext uri="{FF2B5EF4-FFF2-40B4-BE49-F238E27FC236}">
                <a16:creationId xmlns:a16="http://schemas.microsoft.com/office/drawing/2014/main" id="{B3F1524A-5504-44D9-A918-5F11F950CB07}"/>
              </a:ext>
            </a:extLst>
          </p:cNvPr>
          <p:cNvSpPr>
            <a:spLocks xmlns:a="http://schemas.openxmlformats.org/drawingml/2006/main" noGrp="1"/>
          </p:cNvSpPr>
          <p:nvPr/>
        </p:nvSpPr>
        <p:spPr>
          <a:xfrm xmlns:a="http://schemas.openxmlformats.org/drawingml/2006/main">
            <a:off x="609600" y="1171575"/>
            <a:ext cx="47720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825" b="1">
                <a:solidFill>
                  <a:srgbClr val="192B25"/>
                </a:solidFill>
                <a:latin typeface="Helvetica Neue"/>
                <a:ea typeface="Helvetica Neue"/>
                <a:cs typeface="Helvetica Neue"/>
              </a:defRPr>
            </a:pPr>
            <a:r>
              <a:rPr sz="3825" b="1">
                <a:solidFill>
                  <a:srgbClr val="192B25"/>
                </a:solidFill>
                <a:latin typeface="Helvetica Neue"/>
                <a:ea typeface="Helvetica Neue"/>
                <a:cs typeface="Helvetica Neue"/>
              </a:rPr>
              <a:t>A campaign</a:t>
            </a:r>
          </a:p>
          <a:p xmlns:a="http://schemas.openxmlformats.org/drawingml/2006/main">
            <a:pPr>
              <a:lnSpc>
                <a:spcPct val="110000"/>
              </a:lnSpc>
              <a:buNone/>
              <a:defRPr sz="3825" b="1">
                <a:solidFill>
                  <a:srgbClr val="192B25"/>
                </a:solidFill>
                <a:latin typeface="Helvetica Neue"/>
                <a:ea typeface="Helvetica Neue"/>
                <a:cs typeface="Helvetica Neue"/>
              </a:defRPr>
            </a:pPr>
            <a:r>
              <a:rPr sz="3825" b="1">
                <a:solidFill>
                  <a:srgbClr val="192B25"/>
                </a:solidFill>
                <a:latin typeface="Helvetica Neue"/>
                <a:ea typeface="Helvetica Neue"/>
                <a:cs typeface="Helvetica Neue"/>
              </a:rPr>
              <a:t>with continuity</a:t>
            </a:r>
          </a:p>
        </p:txBody>
      </p:sp>
      <p:sp>
        <p:nvSpPr>
          <p:cNvPr id="4" name="decision">
            <a:extLst xmlns:a="http://schemas.openxmlformats.org/drawingml/2006/main">
              <a:ext uri="{FF2B5EF4-FFF2-40B4-BE49-F238E27FC236}">
                <a16:creationId xmlns:a16="http://schemas.microsoft.com/office/drawing/2014/main" id="{FD0E9E56-E53D-4CE0-84CD-CBE327F8DB71}"/>
              </a:ext>
            </a:extLst>
          </p:cNvPr>
          <p:cNvSpPr>
            <a:spLocks xmlns:a="http://schemas.openxmlformats.org/drawingml/2006/main" noGrp="1"/>
          </p:cNvSpPr>
          <p:nvPr/>
        </p:nvSpPr>
        <p:spPr>
          <a:xfrm xmlns:a="http://schemas.openxmlformats.org/drawingml/2006/main">
            <a:off x="609600" y="3095625"/>
            <a:ext cx="43243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I connect character arcs, factions, and places through a shared body of lore.</a:t>
            </a:r>
          </a:p>
        </p:txBody>
      </p:sp>
      <p:sp>
        <p:nvSpPr>
          <p:cNvPr id="5" name="proof">
            <a:extLst xmlns:a="http://schemas.openxmlformats.org/drawingml/2006/main">
              <a:ext uri="{FF2B5EF4-FFF2-40B4-BE49-F238E27FC236}">
                <a16:creationId xmlns:a16="http://schemas.microsoft.com/office/drawing/2014/main" id="{3180AA39-F595-4836-86B0-C0B10978CB0A}"/>
              </a:ext>
            </a:extLst>
          </p:cNvPr>
          <p:cNvSpPr>
            <a:spLocks xmlns:a="http://schemas.openxmlformats.org/drawingml/2006/main" noGrp="1"/>
          </p:cNvSpPr>
          <p:nvPr/>
        </p:nvSpPr>
        <p:spPr>
          <a:xfrm xmlns:a="http://schemas.openxmlformats.org/drawingml/2006/main">
            <a:off x="609600" y="4962525"/>
            <a:ext cx="441007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Campaign maps, session recaps,</a:t>
            </a:r>
          </a:p>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and faction records give the story</a:t>
            </a:r>
          </a:p>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a reference point as it grows.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dbb2c43d611420e"/>
          <a:stretch xmlns:a="http://schemas.openxmlformats.org/drawingml/2006/main"/>
        </p:blipFill>
        <p:spPr>
          <a:xfrm xmlns:a="http://schemas.openxmlformats.org/drawingml/2006/main">
            <a:off x="5497513" y="1619250"/>
            <a:ext cx="6083300" cy="4562475"/>
          </a:xfrm>
          <a:prstGeom xmlns:a="http://schemas.openxmlformats.org/drawingml/2006/main" prst="rect">
            <a:avLst/>
          </a:prstGeom>
        </p:spPr>
      </p:pic>
    </p:spTree>
    <p:extLst>
      <p:ext uri="{BB962C8B-B14F-4D97-AF65-F5344CB8AC3E}">
        <p14:creationId xmlns:p14="http://schemas.microsoft.com/office/powerpoint/2010/main" val="1300037859"/>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page">
            <a:extLst xmlns:a="http://schemas.openxmlformats.org/drawingml/2006/main">
              <a:ext uri="{FF2B5EF4-FFF2-40B4-BE49-F238E27FC236}">
                <a16:creationId xmlns:a16="http://schemas.microsoft.com/office/drawing/2014/main" id="{E5FEC35F-09A8-4F1C-8F5B-9EB47DEFA135}"/>
              </a:ext>
            </a:extLst>
          </p:cNvPr>
          <p:cNvSpPr>
            <a:spLocks xmlns:a="http://schemas.openxmlformats.org/drawingml/2006/main" noGrp="1"/>
          </p:cNvSpPr>
          <p:nvPr/>
        </p:nvSpPr>
        <p:spPr>
          <a:xfrm xmlns:a="http://schemas.openxmlformats.org/drawingml/2006/main">
            <a:off x="11334750" y="65151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
        <p:nvSpPr>
          <p:cNvPr id="2" name="section">
            <a:extLst xmlns:a="http://schemas.openxmlformats.org/drawingml/2006/main">
              <a:ext uri="{FF2B5EF4-FFF2-40B4-BE49-F238E27FC236}">
                <a16:creationId xmlns:a16="http://schemas.microsoft.com/office/drawing/2014/main" id="{5DEA8F5F-3662-4620-8B22-D9B9D5AC211C}"/>
              </a:ext>
            </a:extLst>
          </p:cNvPr>
          <p:cNvSpPr>
            <a:spLocks xmlns:a="http://schemas.openxmlformats.org/drawingml/2006/main" noGrp="1"/>
          </p:cNvSpPr>
          <p:nvPr/>
        </p:nvSpPr>
        <p:spPr>
          <a:xfrm xmlns:a="http://schemas.openxmlformats.org/drawingml/2006/main">
            <a:off x="609600" y="4953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PERIL TO PROFIT   /   DAGGERHEART</a:t>
            </a:r>
          </a:p>
        </p:txBody>
      </p:sp>
      <p:sp>
        <p:nvSpPr>
          <p:cNvPr id="3" name="title">
            <a:extLst xmlns:a="http://schemas.openxmlformats.org/drawingml/2006/main">
              <a:ext uri="{FF2B5EF4-FFF2-40B4-BE49-F238E27FC236}">
                <a16:creationId xmlns:a16="http://schemas.microsoft.com/office/drawing/2014/main" id="{B1A1F8CC-A300-44DA-8543-E851B8F8B0DC}"/>
              </a:ext>
            </a:extLst>
          </p:cNvPr>
          <p:cNvSpPr>
            <a:spLocks xmlns:a="http://schemas.openxmlformats.org/drawingml/2006/main" noGrp="1"/>
          </p:cNvSpPr>
          <p:nvPr/>
        </p:nvSpPr>
        <p:spPr>
          <a:xfrm xmlns:a="http://schemas.openxmlformats.org/drawingml/2006/main">
            <a:off x="609600" y="1181100"/>
            <a:ext cx="5810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825" b="1">
                <a:solidFill>
                  <a:srgbClr val="192B25"/>
                </a:solidFill>
                <a:latin typeface="Helvetica Neue"/>
                <a:ea typeface="Helvetica Neue"/>
                <a:cs typeface="Helvetica Neue"/>
              </a:defRPr>
            </a:pPr>
            <a:r>
              <a:rPr sz="3825" b="1">
                <a:solidFill>
                  <a:srgbClr val="192B25"/>
                </a:solidFill>
                <a:latin typeface="Helvetica Neue"/>
                <a:ea typeface="Helvetica Neue"/>
                <a:cs typeface="Helvetica Neue"/>
              </a:rPr>
              <a:t>A one-shot with</a:t>
            </a:r>
          </a:p>
          <a:p xmlns:a="http://schemas.openxmlformats.org/drawingml/2006/main">
            <a:pPr>
              <a:lnSpc>
                <a:spcPct val="110000"/>
              </a:lnSpc>
              <a:buNone/>
              <a:defRPr sz="3825" b="1">
                <a:solidFill>
                  <a:srgbClr val="192B25"/>
                </a:solidFill>
                <a:latin typeface="Helvetica Neue"/>
                <a:ea typeface="Helvetica Neue"/>
                <a:cs typeface="Helvetica Neue"/>
              </a:defRPr>
            </a:pPr>
            <a:r>
              <a:rPr sz="3825" b="1">
                <a:solidFill>
                  <a:srgbClr val="192B25"/>
                </a:solidFill>
                <a:latin typeface="Helvetica Neue"/>
                <a:ea typeface="Helvetica Neue"/>
                <a:cs typeface="Helvetica Neue"/>
              </a:rPr>
              <a:t>a clear premise</a:t>
            </a:r>
          </a:p>
        </p:txBody>
      </p:sp>
      <p:sp>
        <p:nvSpPr>
          <p:cNvPr id="4" name="setup">
            <a:extLst xmlns:a="http://schemas.openxmlformats.org/drawingml/2006/main">
              <a:ext uri="{FF2B5EF4-FFF2-40B4-BE49-F238E27FC236}">
                <a16:creationId xmlns:a16="http://schemas.microsoft.com/office/drawing/2014/main" id="{C82D96D7-462D-402F-98B5-CA9C0AF7BEFB}"/>
              </a:ext>
            </a:extLst>
          </p:cNvPr>
          <p:cNvSpPr>
            <a:spLocks xmlns:a="http://schemas.openxmlformats.org/drawingml/2006/main" noGrp="1"/>
          </p:cNvSpPr>
          <p:nvPr/>
        </p:nvSpPr>
        <p:spPr>
          <a:xfrm xmlns:a="http://schemas.openxmlformats.org/drawingml/2006/main">
            <a:off x="609600" y="2962275"/>
            <a:ext cx="58483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192B25"/>
                </a:solidFill>
                <a:latin typeface="Helvetica Neue"/>
                <a:ea typeface="Helvetica Neue"/>
                <a:cs typeface="Helvetica Neue"/>
              </a:defRPr>
            </a:pPr>
            <a:r>
              <a:rPr sz="2175" b="0">
                <a:solidFill>
                  <a:srgbClr val="192B25"/>
                </a:solidFill>
                <a:latin typeface="Helvetica Neue"/>
                <a:ea typeface="Helvetica Neue"/>
                <a:cs typeface="Helvetica Neue"/>
              </a:rPr>
              <a:t>A corporate fantasy adventure designed for six players and three to four hours.</a:t>
            </a:r>
          </a:p>
        </p:txBody>
      </p:sp>
      <p:sp>
        <p:nvSpPr>
          <p:cNvPr id="5" name="material">
            <a:extLst xmlns:a="http://schemas.openxmlformats.org/drawingml/2006/main">
              <a:ext uri="{FF2B5EF4-FFF2-40B4-BE49-F238E27FC236}">
                <a16:creationId xmlns:a16="http://schemas.microsoft.com/office/drawing/2014/main" id="{9379220E-740F-4A24-8D2B-0BE4D7AEB6CB}"/>
              </a:ext>
            </a:extLst>
          </p:cNvPr>
          <p:cNvSpPr>
            <a:spLocks xmlns:a="http://schemas.openxmlformats.org/drawingml/2006/main" noGrp="1"/>
          </p:cNvSpPr>
          <p:nvPr/>
        </p:nvSpPr>
        <p:spPr>
          <a:xfrm xmlns:a="http://schemas.openxmlformats.org/drawingml/2006/main">
            <a:off x="609600" y="4438650"/>
            <a:ext cx="5810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I prepared characters, handouts, maps, and pacing guidance around that session scope.</a:t>
            </a:r>
          </a:p>
        </p:txBody>
      </p:sp>
      <p:sp>
        <p:nvSpPr>
          <p:cNvPr id="6" name="remote">
            <a:extLst xmlns:a="http://schemas.openxmlformats.org/drawingml/2006/main">
              <a:ext uri="{FF2B5EF4-FFF2-40B4-BE49-F238E27FC236}">
                <a16:creationId xmlns:a16="http://schemas.microsoft.com/office/drawing/2014/main" id="{F96FF59E-72BB-4235-B32B-FA5D2DBC8670}"/>
              </a:ext>
            </a:extLst>
          </p:cNvPr>
          <p:cNvSpPr>
            <a:spLocks xmlns:a="http://schemas.openxmlformats.org/drawingml/2006/main" noGrp="1"/>
          </p:cNvSpPr>
          <p:nvPr/>
        </p:nvSpPr>
        <p:spPr>
          <a:xfrm xmlns:a="http://schemas.openxmlformats.org/drawingml/2006/main">
            <a:off x="609600" y="5724525"/>
            <a:ext cx="58769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The original physical tower mechanic needs an agreed online adaptation before remote delivery.</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c55bb23f34a4ab9"/>
          <a:stretch xmlns:a="http://schemas.openxmlformats.org/drawingml/2006/main"/>
        </p:blipFill>
        <p:spPr>
          <a:xfrm xmlns:a="http://schemas.openxmlformats.org/drawingml/2006/main">
            <a:off x="7472675" y="1028700"/>
            <a:ext cx="3695076" cy="4781550"/>
          </a:xfrm>
          <a:prstGeom xmlns:a="http://schemas.openxmlformats.org/drawingml/2006/main" prst="rect">
            <a:avLst/>
          </a:prstGeom>
        </p:spPr>
      </p:pic>
      <p:sp>
        <p:nvSpPr>
          <p:cNvPr id="8" name="caption">
            <a:extLst xmlns:a="http://schemas.openxmlformats.org/drawingml/2006/main">
              <a:ext uri="{FF2B5EF4-FFF2-40B4-BE49-F238E27FC236}">
                <a16:creationId xmlns:a16="http://schemas.microsoft.com/office/drawing/2014/main" id="{C39502B0-6382-4A26-91D5-7A97232F1DFA}"/>
              </a:ext>
            </a:extLst>
          </p:cNvPr>
          <p:cNvSpPr>
            <a:spLocks xmlns:a="http://schemas.openxmlformats.org/drawingml/2006/main" noGrp="1"/>
          </p:cNvSpPr>
          <p:nvPr/>
        </p:nvSpPr>
        <p:spPr>
          <a:xfrm xmlns:a="http://schemas.openxmlformats.org/drawingml/2006/main">
            <a:off x="7467600" y="5981700"/>
            <a:ext cx="3705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fictional vendor guide</a:t>
            </a:r>
          </a:p>
        </p:txBody>
      </p:sp>
    </p:spTree>
    <p:extLst>
      <p:ext uri="{BB962C8B-B14F-4D97-AF65-F5344CB8AC3E}">
        <p14:creationId xmlns:p14="http://schemas.microsoft.com/office/powerpoint/2010/main" val="1663296824"/>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page">
            <a:extLst xmlns:a="http://schemas.openxmlformats.org/drawingml/2006/main">
              <a:ext uri="{FF2B5EF4-FFF2-40B4-BE49-F238E27FC236}">
                <a16:creationId xmlns:a16="http://schemas.microsoft.com/office/drawing/2014/main" id="{CC56D6DC-BED0-4388-8D43-9D51BBC1AD0A}"/>
              </a:ext>
            </a:extLst>
          </p:cNvPr>
          <p:cNvSpPr>
            <a:spLocks xmlns:a="http://schemas.openxmlformats.org/drawingml/2006/main" noGrp="1"/>
          </p:cNvSpPr>
          <p:nvPr/>
        </p:nvSpPr>
        <p:spPr>
          <a:xfrm xmlns:a="http://schemas.openxmlformats.org/drawingml/2006/main">
            <a:off x="11334750" y="65151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
        <p:nvSpPr>
          <p:cNvPr id="2" name="section">
            <a:extLst xmlns:a="http://schemas.openxmlformats.org/drawingml/2006/main">
              <a:ext uri="{FF2B5EF4-FFF2-40B4-BE49-F238E27FC236}">
                <a16:creationId xmlns:a16="http://schemas.microsoft.com/office/drawing/2014/main" id="{CC54B314-D4BE-4236-9194-6A95CC83D901}"/>
              </a:ext>
            </a:extLst>
          </p:cNvPr>
          <p:cNvSpPr>
            <a:spLocks xmlns:a="http://schemas.openxmlformats.org/drawingml/2006/main" noGrp="1"/>
          </p:cNvSpPr>
          <p:nvPr/>
        </p:nvSpPr>
        <p:spPr>
          <a:xfrm xmlns:a="http://schemas.openxmlformats.org/drawingml/2006/main">
            <a:off x="609600" y="4953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PERIL TO PROFIT   /   CHARACTER HANDOUTS</a:t>
            </a:r>
          </a:p>
        </p:txBody>
      </p:sp>
      <p:sp>
        <p:nvSpPr>
          <p:cNvPr id="3" name="title">
            <a:extLst xmlns:a="http://schemas.openxmlformats.org/drawingml/2006/main">
              <a:ext uri="{FF2B5EF4-FFF2-40B4-BE49-F238E27FC236}">
                <a16:creationId xmlns:a16="http://schemas.microsoft.com/office/drawing/2014/main" id="{06BB3A0A-E21D-47F5-BAAB-668C3FD943B1}"/>
              </a:ext>
            </a:extLst>
          </p:cNvPr>
          <p:cNvSpPr>
            <a:spLocks xmlns:a="http://schemas.openxmlformats.org/drawingml/2006/main" noGrp="1"/>
          </p:cNvSpPr>
          <p:nvPr/>
        </p:nvSpPr>
        <p:spPr>
          <a:xfrm xmlns:a="http://schemas.openxmlformats.org/drawingml/2006/main">
            <a:off x="609600" y="990600"/>
            <a:ext cx="10906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Give the character a reason to act</a:t>
            </a:r>
          </a:p>
        </p:txBody>
      </p:sp>
      <p:sp>
        <p:nvSpPr>
          <p:cNvPr id="4" name="intro">
            <a:extLst xmlns:a="http://schemas.openxmlformats.org/drawingml/2006/main">
              <a:ext uri="{FF2B5EF4-FFF2-40B4-BE49-F238E27FC236}">
                <a16:creationId xmlns:a16="http://schemas.microsoft.com/office/drawing/2014/main" id="{023CC890-26F3-443E-9E7E-C6617D454873}"/>
              </a:ext>
            </a:extLst>
          </p:cNvPr>
          <p:cNvSpPr>
            <a:spLocks xmlns:a="http://schemas.openxmlformats.org/drawingml/2006/main" noGrp="1"/>
          </p:cNvSpPr>
          <p:nvPr/>
        </p:nvSpPr>
        <p:spPr>
          <a:xfrm xmlns:a="http://schemas.openxmlformats.org/drawingml/2006/main">
            <a:off x="609600" y="2009775"/>
            <a:ext cx="108870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Character biographies and fictional debt cards put a personal hook beside the premise.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cc01d98ae2f4dd4"/>
          <a:stretch xmlns:a="http://schemas.openxmlformats.org/drawingml/2006/main"/>
        </p:blipFill>
        <p:spPr>
          <a:xfrm xmlns:a="http://schemas.openxmlformats.org/drawingml/2006/main">
            <a:off x="3423191" y="2914650"/>
            <a:ext cx="5345619" cy="3171825"/>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A0EF8EDC-DCEE-4F0C-93A9-E02209940936}"/>
              </a:ext>
            </a:extLst>
          </p:cNvPr>
          <p:cNvSpPr>
            <a:spLocks xmlns:a="http://schemas.openxmlformats.org/drawingml/2006/main" noGrp="1"/>
          </p:cNvSpPr>
          <p:nvPr/>
        </p:nvSpPr>
        <p:spPr>
          <a:xfrm xmlns:a="http://schemas.openxmlformats.org/drawingml/2006/main">
            <a:off x="1847850" y="6219825"/>
            <a:ext cx="8496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Existing player-facing artifacts · fictional characters and accounts</a:t>
            </a:r>
          </a:p>
        </p:txBody>
      </p:sp>
    </p:spTree>
    <p:extLst>
      <p:ext uri="{BB962C8B-B14F-4D97-AF65-F5344CB8AC3E}">
        <p14:creationId xmlns:p14="http://schemas.microsoft.com/office/powerpoint/2010/main" val="153190990"/>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page">
            <a:extLst xmlns:a="http://schemas.openxmlformats.org/drawingml/2006/main">
              <a:ext uri="{FF2B5EF4-FFF2-40B4-BE49-F238E27FC236}">
                <a16:creationId xmlns:a16="http://schemas.microsoft.com/office/drawing/2014/main" id="{12468A66-3307-4A9D-BD73-F81FF7665B29}"/>
              </a:ext>
            </a:extLst>
          </p:cNvPr>
          <p:cNvSpPr>
            <a:spLocks xmlns:a="http://schemas.openxmlformats.org/drawingml/2006/main" noGrp="1"/>
          </p:cNvSpPr>
          <p:nvPr/>
        </p:nvSpPr>
        <p:spPr>
          <a:xfrm xmlns:a="http://schemas.openxmlformats.org/drawingml/2006/main">
            <a:off x="11334750" y="65151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
        <p:nvSpPr>
          <p:cNvPr id="2" name="section">
            <a:extLst xmlns:a="http://schemas.openxmlformats.org/drawingml/2006/main">
              <a:ext uri="{FF2B5EF4-FFF2-40B4-BE49-F238E27FC236}">
                <a16:creationId xmlns:a16="http://schemas.microsoft.com/office/drawing/2014/main" id="{C1AA7A63-EDA3-4BD2-BD0A-D88ECC29AD10}"/>
              </a:ext>
            </a:extLst>
          </p:cNvPr>
          <p:cNvSpPr>
            <a:spLocks xmlns:a="http://schemas.openxmlformats.org/drawingml/2006/main" noGrp="1"/>
          </p:cNvSpPr>
          <p:nvPr/>
        </p:nvSpPr>
        <p:spPr>
          <a:xfrm xmlns:a="http://schemas.openxmlformats.org/drawingml/2006/main">
            <a:off x="609600" y="4953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ECHOES OF STARGATE   /   PERSONAL FAN CAMPAIGN</a:t>
            </a:r>
          </a:p>
        </p:txBody>
      </p:sp>
      <p:sp>
        <p:nvSpPr>
          <p:cNvPr id="3" name="title">
            <a:extLst xmlns:a="http://schemas.openxmlformats.org/drawingml/2006/main">
              <a:ext uri="{FF2B5EF4-FFF2-40B4-BE49-F238E27FC236}">
                <a16:creationId xmlns:a16="http://schemas.microsoft.com/office/drawing/2014/main" id="{B4378B51-A6D3-4894-B631-6FA78B364739}"/>
              </a:ext>
            </a:extLst>
          </p:cNvPr>
          <p:cNvSpPr>
            <a:spLocks xmlns:a="http://schemas.openxmlformats.org/drawingml/2006/main" noGrp="1"/>
          </p:cNvSpPr>
          <p:nvPr/>
        </p:nvSpPr>
        <p:spPr>
          <a:xfrm xmlns:a="http://schemas.openxmlformats.org/drawingml/2006/main">
            <a:off x="609600" y="1171575"/>
            <a:ext cx="48672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825" b="1">
                <a:solidFill>
                  <a:srgbClr val="192B25"/>
                </a:solidFill>
                <a:latin typeface="Helvetica Neue"/>
                <a:ea typeface="Helvetica Neue"/>
                <a:cs typeface="Helvetica Neue"/>
              </a:defRPr>
            </a:pPr>
            <a:r>
              <a:rPr sz="3825" b="1">
                <a:solidFill>
                  <a:srgbClr val="192B25"/>
                </a:solidFill>
                <a:latin typeface="Helvetica Neue"/>
                <a:ea typeface="Helvetica Neue"/>
                <a:cs typeface="Helvetica Neue"/>
              </a:rPr>
              <a:t>Put the mission</a:t>
            </a:r>
          </a:p>
          <a:p xmlns:a="http://schemas.openxmlformats.org/drawingml/2006/main">
            <a:pPr>
              <a:lnSpc>
                <a:spcPct val="110000"/>
              </a:lnSpc>
              <a:buNone/>
              <a:defRPr sz="3825" b="1">
                <a:solidFill>
                  <a:srgbClr val="192B25"/>
                </a:solidFill>
                <a:latin typeface="Helvetica Neue"/>
                <a:ea typeface="Helvetica Neue"/>
                <a:cs typeface="Helvetica Neue"/>
              </a:defRPr>
            </a:pPr>
            <a:r>
              <a:rPr sz="3825" b="1">
                <a:solidFill>
                  <a:srgbClr val="192B25"/>
                </a:solidFill>
                <a:latin typeface="Helvetica Neue"/>
                <a:ea typeface="Helvetica Neue"/>
                <a:cs typeface="Helvetica Neue"/>
              </a:rPr>
              <a:t>within reach</a:t>
            </a:r>
          </a:p>
        </p:txBody>
      </p:sp>
      <p:sp>
        <p:nvSpPr>
          <p:cNvPr id="4" name="decision">
            <a:extLst xmlns:a="http://schemas.openxmlformats.org/drawingml/2006/main">
              <a:ext uri="{FF2B5EF4-FFF2-40B4-BE49-F238E27FC236}">
                <a16:creationId xmlns:a16="http://schemas.microsoft.com/office/drawing/2014/main" id="{90AC1504-D134-488E-889C-5FB5C2D5FD22}"/>
              </a:ext>
            </a:extLst>
          </p:cNvPr>
          <p:cNvSpPr>
            <a:spLocks xmlns:a="http://schemas.openxmlformats.org/drawingml/2006/main" noGrp="1"/>
          </p:cNvSpPr>
          <p:nvPr/>
        </p:nvSpPr>
        <p:spPr>
          <a:xfrm xmlns:a="http://schemas.openxmlformats.org/drawingml/2006/main">
            <a:off x="609600" y="3038475"/>
            <a:ext cx="4714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I organize objectives, character roles, and mission references so players can find their next choice.</a:t>
            </a:r>
          </a:p>
        </p:txBody>
      </p:sp>
      <p:sp>
        <p:nvSpPr>
          <p:cNvPr id="5" name="caption">
            <a:extLst xmlns:a="http://schemas.openxmlformats.org/drawingml/2006/main">
              <a:ext uri="{FF2B5EF4-FFF2-40B4-BE49-F238E27FC236}">
                <a16:creationId xmlns:a16="http://schemas.microsoft.com/office/drawing/2014/main" id="{E0F14F34-CA3B-4F54-81F5-2E906DA51BE3}"/>
              </a:ext>
            </a:extLst>
          </p:cNvPr>
          <p:cNvSpPr>
            <a:spLocks xmlns:a="http://schemas.openxmlformats.org/drawingml/2006/main" noGrp="1"/>
          </p:cNvSpPr>
          <p:nvPr/>
        </p:nvSpPr>
        <p:spPr>
          <a:xfrm xmlns:a="http://schemas.openxmlformats.org/drawingml/2006/main">
            <a:off x="609600" y="5314950"/>
            <a:ext cx="4724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Existing fictional mission briefing.</a:t>
            </a:r>
          </a:p>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Personal fan-campaign material;</a:t>
            </a:r>
          </a:p>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no official franchise affiliation.</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73464b2933c4ee1"/>
          <a:stretch xmlns:a="http://schemas.openxmlformats.org/drawingml/2006/main"/>
        </p:blipFill>
        <p:spPr>
          <a:xfrm xmlns:a="http://schemas.openxmlformats.org/drawingml/2006/main">
            <a:off x="6242998" y="990600"/>
            <a:ext cx="4030354" cy="5219700"/>
          </a:xfrm>
          <a:prstGeom xmlns:a="http://schemas.openxmlformats.org/drawingml/2006/main" prst="rect">
            <a:avLst/>
          </a:prstGeom>
        </p:spPr>
      </p:pic>
    </p:spTree>
    <p:extLst>
      <p:ext uri="{BB962C8B-B14F-4D97-AF65-F5344CB8AC3E}">
        <p14:creationId xmlns:p14="http://schemas.microsoft.com/office/powerpoint/2010/main" val="2144353578"/>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page">
            <a:extLst xmlns:a="http://schemas.openxmlformats.org/drawingml/2006/main">
              <a:ext uri="{FF2B5EF4-FFF2-40B4-BE49-F238E27FC236}">
                <a16:creationId xmlns:a16="http://schemas.microsoft.com/office/drawing/2014/main" id="{A1A0CFD6-2E08-4926-BC19-9A1E93BB98BF}"/>
              </a:ext>
            </a:extLst>
          </p:cNvPr>
          <p:cNvSpPr>
            <a:spLocks xmlns:a="http://schemas.openxmlformats.org/drawingml/2006/main" noGrp="1"/>
          </p:cNvSpPr>
          <p:nvPr/>
        </p:nvSpPr>
        <p:spPr>
          <a:xfrm xmlns:a="http://schemas.openxmlformats.org/drawingml/2006/main">
            <a:off x="11334750" y="65151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
        <p:nvSpPr>
          <p:cNvPr id="2" name="section">
            <a:extLst xmlns:a="http://schemas.openxmlformats.org/drawingml/2006/main">
              <a:ext uri="{FF2B5EF4-FFF2-40B4-BE49-F238E27FC236}">
                <a16:creationId xmlns:a16="http://schemas.microsoft.com/office/drawing/2014/main" id="{57B170E0-654E-44FC-BF6B-D6A3A5D9057B}"/>
              </a:ext>
            </a:extLst>
          </p:cNvPr>
          <p:cNvSpPr>
            <a:spLocks xmlns:a="http://schemas.openxmlformats.org/drawingml/2006/main" noGrp="1"/>
          </p:cNvSpPr>
          <p:nvPr/>
        </p:nvSpPr>
        <p:spPr>
          <a:xfrm xmlns:a="http://schemas.openxmlformats.org/drawingml/2006/main">
            <a:off x="609600" y="4953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REMOTE TABLE FACILITATION</a:t>
            </a:r>
          </a:p>
        </p:txBody>
      </p:sp>
      <p:sp>
        <p:nvSpPr>
          <p:cNvPr id="3" name="title">
            <a:extLst xmlns:a="http://schemas.openxmlformats.org/drawingml/2006/main">
              <a:ext uri="{FF2B5EF4-FFF2-40B4-BE49-F238E27FC236}">
                <a16:creationId xmlns:a16="http://schemas.microsoft.com/office/drawing/2014/main" id="{5A4EDEB4-CDD9-4532-8100-46A5BF6CE8AD}"/>
              </a:ext>
            </a:extLst>
          </p:cNvPr>
          <p:cNvSpPr>
            <a:spLocks xmlns:a="http://schemas.openxmlformats.org/drawingml/2006/main" noGrp="1"/>
          </p:cNvSpPr>
          <p:nvPr/>
        </p:nvSpPr>
        <p:spPr>
          <a:xfrm xmlns:a="http://schemas.openxmlformats.org/drawingml/2006/main">
            <a:off x="609600" y="1143000"/>
            <a:ext cx="6143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clear start for</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online table</a:t>
            </a:r>
          </a:p>
        </p:txBody>
      </p:sp>
      <p:sp>
        <p:nvSpPr>
          <p:cNvPr id="4" name="tools">
            <a:extLst xmlns:a="http://schemas.openxmlformats.org/drawingml/2006/main">
              <a:ext uri="{FF2B5EF4-FFF2-40B4-BE49-F238E27FC236}">
                <a16:creationId xmlns:a16="http://schemas.microsoft.com/office/drawing/2014/main" id="{98592977-2DAC-46F5-A0DB-F5A1B4D7DD0D}"/>
              </a:ext>
            </a:extLst>
          </p:cNvPr>
          <p:cNvSpPr>
            <a:spLocks xmlns:a="http://schemas.openxmlformats.org/drawingml/2006/main" noGrp="1"/>
          </p:cNvSpPr>
          <p:nvPr/>
        </p:nvSpPr>
        <p:spPr>
          <a:xfrm xmlns:a="http://schemas.openxmlformats.org/drawingml/2006/main">
            <a:off x="609600" y="28575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Discord · Owlbear Rodeo · Zoom</a:t>
            </a:r>
          </a:p>
        </p:txBody>
      </p:sp>
      <p:sp>
        <p:nvSpPr>
          <p:cNvPr id="5" name="approach">
            <a:extLst xmlns:a="http://schemas.openxmlformats.org/drawingml/2006/main">
              <a:ext uri="{FF2B5EF4-FFF2-40B4-BE49-F238E27FC236}">
                <a16:creationId xmlns:a16="http://schemas.microsoft.com/office/drawing/2014/main" id="{9AB63FAF-EAE7-43CB-A23B-1A16CAE4D373}"/>
              </a:ext>
            </a:extLst>
          </p:cNvPr>
          <p:cNvSpPr>
            <a:spLocks xmlns:a="http://schemas.openxmlformats.org/drawingml/2006/main" noGrp="1"/>
          </p:cNvSpPr>
          <p:nvPr/>
        </p:nvSpPr>
        <p:spPr>
          <a:xfrm xmlns:a="http://schemas.openxmlformats.org/drawingml/2006/main">
            <a:off x="609600" y="3648075"/>
            <a:ext cx="60769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For a Bigsby session, I would agree on tone and boundaries first, explain the first few choices, and make it easy to pause or ask a rules question.</a:t>
            </a:r>
          </a:p>
        </p:txBody>
      </p:sp>
      <p:sp>
        <p:nvSpPr>
          <p:cNvPr id="6" name="scope">
            <a:extLst xmlns:a="http://schemas.openxmlformats.org/drawingml/2006/main">
              <a:ext uri="{FF2B5EF4-FFF2-40B4-BE49-F238E27FC236}">
                <a16:creationId xmlns:a16="http://schemas.microsoft.com/office/drawing/2014/main" id="{DC79D267-F4E4-4110-8A7C-77CCBA88D304}"/>
              </a:ext>
            </a:extLst>
          </p:cNvPr>
          <p:cNvSpPr>
            <a:spLocks xmlns:a="http://schemas.openxmlformats.org/drawingml/2006/main" noGrp="1"/>
          </p:cNvSpPr>
          <p:nvPr/>
        </p:nvSpPr>
        <p:spPr>
          <a:xfrm xmlns:a="http://schemas.openxmlformats.org/drawingml/2006/main">
            <a:off x="609600" y="5762625"/>
            <a:ext cx="59436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Proposed session approach;</a:t>
            </a:r>
          </a:p>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schedule and preparation scope agreed together.</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271e3b44569483d"/>
          <a:stretch xmlns:a="http://schemas.openxmlformats.org/drawingml/2006/main"/>
        </p:blipFill>
        <p:spPr>
          <a:xfrm xmlns:a="http://schemas.openxmlformats.org/drawingml/2006/main">
            <a:off x="7724775" y="1344216"/>
            <a:ext cx="3419475" cy="4274344"/>
          </a:xfrm>
          <a:prstGeom xmlns:a="http://schemas.openxmlformats.org/drawingml/2006/main" prst="rect">
            <a:avLst/>
          </a:prstGeom>
        </p:spPr>
      </p:pic>
    </p:spTree>
    <p:extLst>
      <p:ext uri="{BB962C8B-B14F-4D97-AF65-F5344CB8AC3E}">
        <p14:creationId xmlns:p14="http://schemas.microsoft.com/office/powerpoint/2010/main" val="379731136"/>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3" name="page">
            <a:extLst xmlns:a="http://schemas.openxmlformats.org/drawingml/2006/main">
              <a:ext uri="{FF2B5EF4-FFF2-40B4-BE49-F238E27FC236}">
                <a16:creationId xmlns:a16="http://schemas.microsoft.com/office/drawing/2014/main" id="{B5709A14-BDB4-4AC7-9FB4-B31DB7AD7102}"/>
              </a:ext>
            </a:extLst>
          </p:cNvPr>
          <p:cNvSpPr>
            <a:spLocks xmlns:a="http://schemas.openxmlformats.org/drawingml/2006/main" noGrp="1"/>
          </p:cNvSpPr>
          <p:nvPr/>
        </p:nvSpPr>
        <p:spPr>
          <a:xfrm xmlns:a="http://schemas.openxmlformats.org/drawingml/2006/main">
            <a:off x="11334750" y="65151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
        <p:nvSpPr>
          <p:cNvPr id="2" name="section">
            <a:extLst xmlns:a="http://schemas.openxmlformats.org/drawingml/2006/main">
              <a:ext uri="{FF2B5EF4-FFF2-40B4-BE49-F238E27FC236}">
                <a16:creationId xmlns:a16="http://schemas.microsoft.com/office/drawing/2014/main" id="{4FA7D693-9FF6-4579-9A0F-6A599905F881}"/>
              </a:ext>
            </a:extLst>
          </p:cNvPr>
          <p:cNvSpPr>
            <a:spLocks xmlns:a="http://schemas.openxmlformats.org/drawingml/2006/main" noGrp="1"/>
          </p:cNvSpPr>
          <p:nvPr/>
        </p:nvSpPr>
        <p:spPr>
          <a:xfrm xmlns:a="http://schemas.openxmlformats.org/drawingml/2006/main">
            <a:off x="609600" y="4953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RELEVANT PROFESSIONAL EXPERIENCE</a:t>
            </a:r>
          </a:p>
        </p:txBody>
      </p:sp>
      <p:sp>
        <p:nvSpPr>
          <p:cNvPr id="3" name="title">
            <a:extLst xmlns:a="http://schemas.openxmlformats.org/drawingml/2006/main">
              <a:ext uri="{FF2B5EF4-FFF2-40B4-BE49-F238E27FC236}">
                <a16:creationId xmlns:a16="http://schemas.microsoft.com/office/drawing/2014/main" id="{AC358971-4D60-4CF6-991B-6840EFCE97FC}"/>
              </a:ext>
            </a:extLst>
          </p:cNvPr>
          <p:cNvSpPr>
            <a:spLocks xmlns:a="http://schemas.openxmlformats.org/drawingml/2006/main" noGrp="1"/>
          </p:cNvSpPr>
          <p:nvPr/>
        </p:nvSpPr>
        <p:spPr>
          <a:xfrm xmlns:a="http://schemas.openxmlformats.org/drawingml/2006/main">
            <a:off x="609600" y="1057275"/>
            <a:ext cx="107537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Facilitation beyond the game</a:t>
            </a:r>
          </a:p>
        </p:txBody>
      </p:sp>
      <p:sp>
        <p:nvSpPr>
          <p:cNvPr id="4" name="asu-name">
            <a:extLst xmlns:a="http://schemas.openxmlformats.org/drawingml/2006/main">
              <a:ext uri="{FF2B5EF4-FFF2-40B4-BE49-F238E27FC236}">
                <a16:creationId xmlns:a16="http://schemas.microsoft.com/office/drawing/2014/main" id="{4D101F7B-ACED-4923-AF7A-B013F1607433}"/>
              </a:ext>
            </a:extLst>
          </p:cNvPr>
          <p:cNvSpPr>
            <a:spLocks xmlns:a="http://schemas.openxmlformats.org/drawingml/2006/main" noGrp="1"/>
          </p:cNvSpPr>
          <p:nvPr/>
        </p:nvSpPr>
        <p:spPr>
          <a:xfrm xmlns:a="http://schemas.openxmlformats.org/drawingml/2006/main">
            <a:off x="609600" y="2419350"/>
            <a:ext cx="4324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Arizona State University</a:t>
            </a:r>
          </a:p>
        </p:txBody>
      </p:sp>
      <p:sp>
        <p:nvSpPr>
          <p:cNvPr id="5" name="asu-role">
            <a:extLst xmlns:a="http://schemas.openxmlformats.org/drawingml/2006/main">
              <a:ext uri="{FF2B5EF4-FFF2-40B4-BE49-F238E27FC236}">
                <a16:creationId xmlns:a16="http://schemas.microsoft.com/office/drawing/2014/main" id="{76E50959-D1A8-4C01-A950-5F15DAEA223E}"/>
              </a:ext>
            </a:extLst>
          </p:cNvPr>
          <p:cNvSpPr>
            <a:spLocks xmlns:a="http://schemas.openxmlformats.org/drawingml/2006/main" noGrp="1"/>
          </p:cNvSpPr>
          <p:nvPr/>
        </p:nvSpPr>
        <p:spPr>
          <a:xfrm xmlns:a="http://schemas.openxmlformats.org/drawingml/2006/main">
            <a:off x="609600" y="2924175"/>
            <a:ext cx="43243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Instructional Designer · 2022–2024</a:t>
            </a:r>
          </a:p>
        </p:txBody>
      </p:sp>
      <p:sp>
        <p:nvSpPr>
          <p:cNvPr id="6" name="asu-proof">
            <a:extLst xmlns:a="http://schemas.openxmlformats.org/drawingml/2006/main">
              <a:ext uri="{FF2B5EF4-FFF2-40B4-BE49-F238E27FC236}">
                <a16:creationId xmlns:a16="http://schemas.microsoft.com/office/drawing/2014/main" id="{2811F16B-4B6A-4AD8-9515-2692D855EC71}"/>
              </a:ext>
            </a:extLst>
          </p:cNvPr>
          <p:cNvSpPr>
            <a:spLocks xmlns:a="http://schemas.openxmlformats.org/drawingml/2006/main" noGrp="1"/>
          </p:cNvSpPr>
          <p:nvPr/>
        </p:nvSpPr>
        <p:spPr>
          <a:xfrm xmlns:a="http://schemas.openxmlformats.org/drawingml/2006/main">
            <a:off x="5543550" y="2428875"/>
            <a:ext cx="58578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Digital learning materials and workshops, with attention to accessibility and clear explanations.</a:t>
            </a:r>
          </a:p>
        </p:txBody>
      </p:sp>
      <p:sp>
        <p:nvSpPr>
          <p:cNvPr id="7" name="atria-name">
            <a:extLst xmlns:a="http://schemas.openxmlformats.org/drawingml/2006/main">
              <a:ext uri="{FF2B5EF4-FFF2-40B4-BE49-F238E27FC236}">
                <a16:creationId xmlns:a16="http://schemas.microsoft.com/office/drawing/2014/main" id="{8B90A3F7-8204-4228-9469-6192B188864A}"/>
              </a:ext>
            </a:extLst>
          </p:cNvPr>
          <p:cNvSpPr>
            <a:spLocks xmlns:a="http://schemas.openxmlformats.org/drawingml/2006/main" noGrp="1"/>
          </p:cNvSpPr>
          <p:nvPr/>
        </p:nvSpPr>
        <p:spPr>
          <a:xfrm xmlns:a="http://schemas.openxmlformats.org/drawingml/2006/main">
            <a:off x="609600" y="3810000"/>
            <a:ext cx="43910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1">
                <a:solidFill>
                  <a:srgbClr val="192B25"/>
                </a:solidFill>
                <a:latin typeface="Helvetica Neue"/>
                <a:ea typeface="Helvetica Neue"/>
                <a:cs typeface="Helvetica Neue"/>
              </a:defRPr>
            </a:pPr>
            <a:r>
              <a:rPr sz="2100" b="1">
                <a:solidFill>
                  <a:srgbClr val="192B25"/>
                </a:solidFill>
                <a:latin typeface="Helvetica Neue"/>
                <a:ea typeface="Helvetica Neue"/>
                <a:cs typeface="Helvetica Neue"/>
              </a:rPr>
              <a:t>Atria Park of Sierra Pointe</a:t>
            </a:r>
          </a:p>
        </p:txBody>
      </p:sp>
      <p:sp>
        <p:nvSpPr>
          <p:cNvPr id="8" name="atria-role">
            <a:extLst xmlns:a="http://schemas.openxmlformats.org/drawingml/2006/main">
              <a:ext uri="{FF2B5EF4-FFF2-40B4-BE49-F238E27FC236}">
                <a16:creationId xmlns:a16="http://schemas.microsoft.com/office/drawing/2014/main" id="{0300A662-5154-476B-8243-FC6C0DF4FFCB}"/>
              </a:ext>
            </a:extLst>
          </p:cNvPr>
          <p:cNvSpPr>
            <a:spLocks xmlns:a="http://schemas.openxmlformats.org/drawingml/2006/main" noGrp="1"/>
          </p:cNvSpPr>
          <p:nvPr/>
        </p:nvSpPr>
        <p:spPr>
          <a:xfrm xmlns:a="http://schemas.openxmlformats.org/drawingml/2006/main">
            <a:off x="609600" y="4305300"/>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Engage Life Coordinator · 2017–2019</a:t>
            </a:r>
          </a:p>
        </p:txBody>
      </p:sp>
      <p:sp>
        <p:nvSpPr>
          <p:cNvPr id="9" name="atria-proof">
            <a:extLst xmlns:a="http://schemas.openxmlformats.org/drawingml/2006/main">
              <a:ext uri="{FF2B5EF4-FFF2-40B4-BE49-F238E27FC236}">
                <a16:creationId xmlns:a16="http://schemas.microsoft.com/office/drawing/2014/main" id="{7DFC1807-B265-4320-BCD1-91CB854ADB61}"/>
              </a:ext>
            </a:extLst>
          </p:cNvPr>
          <p:cNvSpPr>
            <a:spLocks xmlns:a="http://schemas.openxmlformats.org/drawingml/2006/main" noGrp="1"/>
          </p:cNvSpPr>
          <p:nvPr/>
        </p:nvSpPr>
        <p:spPr>
          <a:xfrm xmlns:a="http://schemas.openxmlformats.org/drawingml/2006/main">
            <a:off x="5543550" y="3829050"/>
            <a:ext cx="58578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Activities, outings, and technology tutoring for older adults.</a:t>
            </a:r>
          </a:p>
        </p:txBody>
      </p:sp>
      <p:sp>
        <p:nvSpPr>
          <p:cNvPr id="10" name="factorlab-name">
            <a:extLst xmlns:a="http://schemas.openxmlformats.org/drawingml/2006/main">
              <a:ext uri="{FF2B5EF4-FFF2-40B4-BE49-F238E27FC236}">
                <a16:creationId xmlns:a16="http://schemas.microsoft.com/office/drawing/2014/main" id="{41058CD1-428A-40FD-9087-F041CA41D23E}"/>
              </a:ext>
            </a:extLst>
          </p:cNvPr>
          <p:cNvSpPr>
            <a:spLocks xmlns:a="http://schemas.openxmlformats.org/drawingml/2006/main" noGrp="1"/>
          </p:cNvSpPr>
          <p:nvPr/>
        </p:nvSpPr>
        <p:spPr>
          <a:xfrm xmlns:a="http://schemas.openxmlformats.org/drawingml/2006/main">
            <a:off x="609600" y="5257800"/>
            <a:ext cx="4295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FactorLab</a:t>
            </a:r>
          </a:p>
        </p:txBody>
      </p:sp>
      <p:sp>
        <p:nvSpPr>
          <p:cNvPr id="11" name="factorlab-role">
            <a:extLst xmlns:a="http://schemas.openxmlformats.org/drawingml/2006/main">
              <a:ext uri="{FF2B5EF4-FFF2-40B4-BE49-F238E27FC236}">
                <a16:creationId xmlns:a16="http://schemas.microsoft.com/office/drawing/2014/main" id="{39236A0D-0115-4D72-8D4F-EF482DDF40FD}"/>
              </a:ext>
            </a:extLst>
          </p:cNvPr>
          <p:cNvSpPr>
            <a:spLocks xmlns:a="http://schemas.openxmlformats.org/drawingml/2006/main" noGrp="1"/>
          </p:cNvSpPr>
          <p:nvPr/>
        </p:nvSpPr>
        <p:spPr>
          <a:xfrm xmlns:a="http://schemas.openxmlformats.org/drawingml/2006/main">
            <a:off x="609600" y="5753100"/>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UX Designer and Researcher</a:t>
            </a:r>
          </a:p>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Contract · Oct 2025–Present</a:t>
            </a:r>
          </a:p>
        </p:txBody>
      </p:sp>
      <p:sp>
        <p:nvSpPr>
          <p:cNvPr id="12" name="factorlab-proof">
            <a:extLst xmlns:a="http://schemas.openxmlformats.org/drawingml/2006/main">
              <a:ext uri="{FF2B5EF4-FFF2-40B4-BE49-F238E27FC236}">
                <a16:creationId xmlns:a16="http://schemas.microsoft.com/office/drawing/2014/main" id="{40B0AA2D-52BF-4287-85CB-6348DCE97374}"/>
              </a:ext>
            </a:extLst>
          </p:cNvPr>
          <p:cNvSpPr>
            <a:spLocks xmlns:a="http://schemas.openxmlformats.org/drawingml/2006/main" noGrp="1"/>
          </p:cNvSpPr>
          <p:nvPr/>
        </p:nvSpPr>
        <p:spPr>
          <a:xfrm xmlns:a="http://schemas.openxmlformats.org/drawingml/2006/main">
            <a:off x="5543550" y="5248275"/>
            <a:ext cx="58578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Research and design work that makes the next step in complex workflows understandable.</a:t>
            </a:r>
          </a:p>
        </p:txBody>
      </p:sp>
    </p:spTree>
    <p:extLst>
      <p:ext uri="{BB962C8B-B14F-4D97-AF65-F5344CB8AC3E}">
        <p14:creationId xmlns:p14="http://schemas.microsoft.com/office/powerpoint/2010/main" val="912257213"/>
      </p:ext>
    </p:extLst>
  </p:cSld>
</p:sld>
</file>

<file path=ppt/slides/slide8.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8" name="page">
            <a:extLst xmlns:a="http://schemas.openxmlformats.org/drawingml/2006/main">
              <a:ext uri="{FF2B5EF4-FFF2-40B4-BE49-F238E27FC236}">
                <a16:creationId xmlns:a16="http://schemas.microsoft.com/office/drawing/2014/main" id="{80882719-F21E-443F-8CA9-94ED7E67FE32}"/>
              </a:ext>
            </a:extLst>
          </p:cNvPr>
          <p:cNvSpPr>
            <a:spLocks xmlns:a="http://schemas.openxmlformats.org/drawingml/2006/main" noGrp="1"/>
          </p:cNvSpPr>
          <p:nvPr/>
        </p:nvSpPr>
        <p:spPr>
          <a:xfrm xmlns:a="http://schemas.openxmlformats.org/drawingml/2006/main">
            <a:off x="11334750" y="65151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08</a:t>
            </a:r>
          </a:p>
        </p:txBody>
      </p:sp>
      <p:sp>
        <p:nvSpPr>
          <p:cNvPr id="2" name="section">
            <a:extLst xmlns:a="http://schemas.openxmlformats.org/drawingml/2006/main">
              <a:ext uri="{FF2B5EF4-FFF2-40B4-BE49-F238E27FC236}">
                <a16:creationId xmlns:a16="http://schemas.microsoft.com/office/drawing/2014/main" id="{651AD56D-48CA-4220-96E0-5C02BBC655D6}"/>
              </a:ext>
            </a:extLst>
          </p:cNvPr>
          <p:cNvSpPr>
            <a:spLocks xmlns:a="http://schemas.openxmlformats.org/drawingml/2006/main" noGrp="1"/>
          </p:cNvSpPr>
          <p:nvPr/>
        </p:nvSpPr>
        <p:spPr>
          <a:xfrm xmlns:a="http://schemas.openxmlformats.org/drawingml/2006/main">
            <a:off x="609600" y="4953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GAME MASTER</a:t>
            </a:r>
          </a:p>
        </p:txBody>
      </p:sp>
      <p:sp>
        <p:nvSpPr>
          <p:cNvPr id="3" name="title">
            <a:extLst xmlns:a="http://schemas.openxmlformats.org/drawingml/2006/main">
              <a:ext uri="{FF2B5EF4-FFF2-40B4-BE49-F238E27FC236}">
                <a16:creationId xmlns:a16="http://schemas.microsoft.com/office/drawing/2014/main" id="{34002358-1D50-46BE-AED5-BF62174E0904}"/>
              </a:ext>
            </a:extLst>
          </p:cNvPr>
          <p:cNvSpPr>
            <a:spLocks xmlns:a="http://schemas.openxmlformats.org/drawingml/2006/main" noGrp="1"/>
          </p:cNvSpPr>
          <p:nvPr/>
        </p:nvSpPr>
        <p:spPr>
          <a:xfrm xmlns:a="http://schemas.openxmlformats.org/drawingml/2006/main">
            <a:off x="609600" y="1495425"/>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00" b="1">
                <a:solidFill>
                  <a:srgbClr val="F4F2E9"/>
                </a:solidFill>
                <a:latin typeface="Helvetica Neue"/>
                <a:ea typeface="Helvetica Neue"/>
                <a:cs typeface="Helvetica Neue"/>
              </a:defRPr>
            </a:pPr>
            <a:r>
              <a:rPr sz="4500" b="1">
                <a:solidFill>
                  <a:srgbClr val="F4F2E9"/>
                </a:solidFill>
                <a:latin typeface="Helvetica Neue"/>
                <a:ea typeface="Helvetica Neue"/>
                <a:cs typeface="Helvetica Neue"/>
              </a:rPr>
              <a:t>Working with Bigsby</a:t>
            </a:r>
          </a:p>
        </p:txBody>
      </p:sp>
      <p:sp>
        <p:nvSpPr>
          <p:cNvPr id="4" name="match">
            <a:extLst xmlns:a="http://schemas.openxmlformats.org/drawingml/2006/main">
              <a:ext uri="{FF2B5EF4-FFF2-40B4-BE49-F238E27FC236}">
                <a16:creationId xmlns:a16="http://schemas.microsoft.com/office/drawing/2014/main" id="{A4182075-5FAC-4284-85BB-CE3033985F5C}"/>
              </a:ext>
            </a:extLst>
          </p:cNvPr>
          <p:cNvSpPr>
            <a:spLocks xmlns:a="http://schemas.openxmlformats.org/drawingml/2006/main" noGrp="1"/>
          </p:cNvSpPr>
          <p:nvPr/>
        </p:nvSpPr>
        <p:spPr>
          <a:xfrm xmlns:a="http://schemas.openxmlformats.org/drawingml/2006/main">
            <a:off x="647700" y="2876550"/>
            <a:ext cx="10191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325" b="0">
                <a:solidFill>
                  <a:srgbClr val="F4F2E9"/>
                </a:solidFill>
                <a:latin typeface="Helvetica Neue"/>
                <a:ea typeface="Helvetica Neue"/>
                <a:cs typeface="Helvetica Neue"/>
              </a:defRPr>
            </a:pPr>
            <a:r>
              <a:rPr sz="2325" b="0">
                <a:solidFill>
                  <a:srgbClr val="F4F2E9"/>
                </a:solidFill>
                <a:latin typeface="Helvetica Neue"/>
                <a:ea typeface="Helvetica Neue"/>
                <a:cs typeface="Helvetica Neue"/>
              </a:rPr>
              <a:t>D&amp;D 5e and Daggerheart sessions,</a:t>
            </a:r>
          </a:p>
          <a:p xmlns:a="http://schemas.openxmlformats.org/drawingml/2006/main">
            <a:pPr>
              <a:lnSpc>
                <a:spcPct val="110000"/>
              </a:lnSpc>
              <a:buNone/>
              <a:defRPr sz="2325" b="0">
                <a:solidFill>
                  <a:srgbClr val="F4F2E9"/>
                </a:solidFill>
                <a:latin typeface="Helvetica Neue"/>
                <a:ea typeface="Helvetica Neue"/>
                <a:cs typeface="Helvetica Neue"/>
              </a:defRPr>
            </a:pPr>
            <a:r>
              <a:rPr sz="2325" b="0">
                <a:solidFill>
                  <a:srgbClr val="F4F2E9"/>
                </a:solidFill>
                <a:latin typeface="Helvetica Neue"/>
                <a:ea typeface="Helvetica Neue"/>
                <a:cs typeface="Helvetica Neue"/>
              </a:rPr>
              <a:t>original adventures, and campaign continuity.</a:t>
            </a:r>
          </a:p>
        </p:txBody>
      </p:sp>
      <p:sp>
        <p:nvSpPr>
          <p:cNvPr id="5" name="terms">
            <a:extLst xmlns:a="http://schemas.openxmlformats.org/drawingml/2006/main">
              <a:ext uri="{FF2B5EF4-FFF2-40B4-BE49-F238E27FC236}">
                <a16:creationId xmlns:a16="http://schemas.microsoft.com/office/drawing/2014/main" id="{5FF33920-1B8F-4EAE-B55E-93CBF51F6EF7}"/>
              </a:ext>
            </a:extLst>
          </p:cNvPr>
          <p:cNvSpPr>
            <a:spLocks xmlns:a="http://schemas.openxmlformats.org/drawingml/2006/main" noGrp="1"/>
          </p:cNvSpPr>
          <p:nvPr/>
        </p:nvSpPr>
        <p:spPr>
          <a:xfrm xmlns:a="http://schemas.openxmlformats.org/drawingml/2006/main">
            <a:off x="647700" y="4295775"/>
            <a:ext cx="106203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F4F2E9"/>
                </a:solidFill>
                <a:latin typeface="Helvetica Neue"/>
                <a:ea typeface="Helvetica Neue"/>
                <a:cs typeface="Helvetica Neue"/>
              </a:defRPr>
            </a:pPr>
            <a:r>
              <a:rPr sz="1725" b="0">
                <a:solidFill>
                  <a:srgbClr val="F4F2E9"/>
                </a:solidFill>
                <a:latin typeface="Helvetica Neue"/>
                <a:ea typeface="Helvetica Neue"/>
                <a:cs typeface="Helvetica Neue"/>
              </a:rPr>
              <a:t>Remote from Mesa, Arizona · Available to start ASAP</a:t>
            </a:r>
          </a:p>
          <a:p xmlns:a="http://schemas.openxmlformats.org/drawingml/2006/main">
            <a:pPr>
              <a:lnSpc>
                <a:spcPct val="110000"/>
              </a:lnSpc>
              <a:buNone/>
              <a:defRPr sz="1725" b="0">
                <a:solidFill>
                  <a:srgbClr val="F4F2E9"/>
                </a:solidFill>
                <a:latin typeface="Helvetica Neue"/>
                <a:ea typeface="Helvetica Neue"/>
                <a:cs typeface="Helvetica Neue"/>
              </a:defRPr>
            </a:pPr>
            <a:r>
              <a:rPr sz="1725" b="0">
                <a:solidFill>
                  <a:srgbClr val="F4F2E9"/>
                </a:solidFill>
                <a:latin typeface="Helvetica Neue"/>
                <a:ea typeface="Helvetica Neue"/>
                <a:cs typeface="Helvetica Neue"/>
              </a:rPr>
              <a:t>Compensation negotiable per session; scheduling by agreement.</a:t>
            </a:r>
          </a:p>
        </p:txBody>
      </p:sp>
      <p:sp>
        <p:nvSpPr>
          <p:cNvPr id="6" name="email">
            <a:extLst xmlns:a="http://schemas.openxmlformats.org/drawingml/2006/main">
              <a:ext uri="{FF2B5EF4-FFF2-40B4-BE49-F238E27FC236}">
                <a16:creationId xmlns:a16="http://schemas.microsoft.com/office/drawing/2014/main" id="{F2924B93-2202-4C65-8711-9E2C104C8BC0}"/>
              </a:ext>
            </a:extLst>
          </p:cNvPr>
          <p:cNvSpPr>
            <a:spLocks xmlns:a="http://schemas.openxmlformats.org/drawingml/2006/main" noGrp="1"/>
          </p:cNvSpPr>
          <p:nvPr/>
        </p:nvSpPr>
        <p:spPr>
          <a:xfrm xmlns:a="http://schemas.openxmlformats.org/drawingml/2006/main">
            <a:off x="647700" y="54292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DBEB89"/>
                </a:solidFill>
                <a:latin typeface="Helvetica Neue"/>
                <a:ea typeface="Helvetica Neue"/>
                <a:cs typeface="Helvetica Neue"/>
              </a:defRPr>
            </a:pPr>
            <a:r>
              <a:rPr sz="1875" b="0">
                <a:solidFill>
                  <a:srgbClr val="DBEB89"/>
                </a:solidFill>
                <a:latin typeface="Helvetica Neue"/>
                <a:ea typeface="Helvetica Neue"/>
                <a:cs typeface="Helvetica Neue"/>
                <a:hlinkClick xmlns:r="http://schemas.openxmlformats.org/officeDocument/2006/relationships" r:id="R3977090be6464841"/>
              </a:rPr>
              <a:t>JonathanKyleHobson@gmail.com</a:t>
            </a:r>
          </a:p>
        </p:txBody>
      </p:sp>
      <p:sp>
        <p:nvSpPr>
          <p:cNvPr id="7" name="portfolio">
            <a:extLst xmlns:a="http://schemas.openxmlformats.org/drawingml/2006/main">
              <a:ext uri="{FF2B5EF4-FFF2-40B4-BE49-F238E27FC236}">
                <a16:creationId xmlns:a16="http://schemas.microsoft.com/office/drawing/2014/main" id="{6DC9EEAE-835A-4892-B76E-56345F24E76F}"/>
              </a:ext>
            </a:extLst>
          </p:cNvPr>
          <p:cNvSpPr>
            <a:spLocks xmlns:a="http://schemas.openxmlformats.org/drawingml/2006/main" noGrp="1"/>
          </p:cNvSpPr>
          <p:nvPr/>
        </p:nvSpPr>
        <p:spPr>
          <a:xfrm xmlns:a="http://schemas.openxmlformats.org/drawingml/2006/main">
            <a:off x="647700" y="6029325"/>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F4F2E9"/>
                </a:solidFill>
                <a:latin typeface="Helvetica Neue"/>
                <a:ea typeface="Helvetica Neue"/>
                <a:cs typeface="Helvetica Neue"/>
              </a:defRPr>
            </a:pPr>
            <a:r>
              <a:rPr sz="1650" b="0">
                <a:solidFill>
                  <a:srgbClr val="F4F2E9"/>
                </a:solidFill>
                <a:latin typeface="Helvetica Neue"/>
                <a:ea typeface="Helvetica Neue"/>
                <a:cs typeface="Helvetica Neue"/>
                <a:hlinkClick xmlns:r="http://schemas.openxmlformats.org/officeDocument/2006/relationships" r:id="R74b29efedd7144e1"/>
              </a:rPr>
              <a:t>View the portfolio prepared for Bigsby</a:t>
            </a:r>
          </a:p>
        </p:txBody>
      </p:sp>
    </p:spTree>
    <p:extLst>
      <p:ext uri="{BB962C8B-B14F-4D97-AF65-F5344CB8AC3E}">
        <p14:creationId xmlns:p14="http://schemas.microsoft.com/office/powerpoint/2010/main" val="149576784"/>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2026-09-08T18:32:43.0320000Z</dcterms:created>
  <dcterms:modified xsi:type="dcterms:W3CDTF">2026-09-08T18:32:43.0320000Z</dcterms:modified>
</coreProperties>
</file>