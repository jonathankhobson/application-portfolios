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72c87fbb024a16" /><Relationship Type="http://schemas.openxmlformats.org/officeDocument/2006/relationships/extended-properties" Target="/docProps/app.xml" Id="Ra22f6c0f53d041c5" /><Relationship Type="http://schemas.openxmlformats.org/officeDocument/2006/relationships/officeDocument" Target="/ppt/presentation.xml" Id="Read8c5a4b3c94cd1" /></Relationships>
</file>

<file path=ppt/presentation.xml><?xml version="1.0" encoding="utf-8"?>
<p:presentation xmlns:p="http://schemas.openxmlformats.org/presentationml/2006/main">
  <p:sldMasterIdLst>
    <p:sldMasterId xmlns:r="http://schemas.openxmlformats.org/officeDocument/2006/relationships" id="2147483648" r:id="R0ad74f2db50f49d0"/>
  </p:sldMasterIdLst>
  <p:notesMasterIdLst>
    <p:notesMasterId xmlns:r="http://schemas.openxmlformats.org/officeDocument/2006/relationships" r:id="R7075cf4fc76945d2"/>
  </p:notesMasterIdLst>
  <p:sldIdLst>
    <p:sldId xmlns:r="http://schemas.openxmlformats.org/officeDocument/2006/relationships" id="256" r:id="Rf8fdd917c2c44ec1"/>
    <p:sldId xmlns:r="http://schemas.openxmlformats.org/officeDocument/2006/relationships" id="257" r:id="R3c1d6a132cef4f23"/>
    <p:sldId xmlns:r="http://schemas.openxmlformats.org/officeDocument/2006/relationships" id="258" r:id="R449363348c2b4fab"/>
    <p:sldId xmlns:r="http://schemas.openxmlformats.org/officeDocument/2006/relationships" id="259" r:id="R5c69e1be6235446f"/>
    <p:sldId xmlns:r="http://schemas.openxmlformats.org/officeDocument/2006/relationships" id="260" r:id="Rfed201b1fc8f4fcf"/>
    <p:sldId xmlns:r="http://schemas.openxmlformats.org/officeDocument/2006/relationships" id="261" r:id="Rc3d40223a99e4e44"/>
    <p:sldId xmlns:r="http://schemas.openxmlformats.org/officeDocument/2006/relationships" id="262" r:id="Re1b438a89a9b40f3"/>
    <p:sldId xmlns:r="http://schemas.openxmlformats.org/officeDocument/2006/relationships" id="263" r:id="Redb9684636bd4e0c"/>
    <p:sldId xmlns:r="http://schemas.openxmlformats.org/officeDocument/2006/relationships" id="264" r:id="R52bb194d01d74e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36e823eac64800" /><Relationship Type="http://schemas.openxmlformats.org/officeDocument/2006/relationships/slideMaster" Target="/ppt/slideMasters/slideMaster1.xml" Id="R0ad74f2db50f49d0" /><Relationship Type="http://schemas.openxmlformats.org/officeDocument/2006/relationships/notesMaster" Target="/ppt/notesMasters/notesMaster1.xml" Id="R7075cf4fc76945d2" /><Relationship Type="http://schemas.openxmlformats.org/officeDocument/2006/relationships/presProps" Target="/ppt/presProps.xml" Id="Rd2883d2676bb44e1" /><Relationship Type="http://schemas.openxmlformats.org/officeDocument/2006/relationships/tableStyles" Target="/ppt/tableStyles.xml" Id="R1cff2289cefd4018" /><Relationship Type="http://schemas.openxmlformats.org/officeDocument/2006/relationships/slide" Target="/ppt/slides/slide1.xml" Id="Rf8fdd917c2c44ec1" /><Relationship Type="http://schemas.openxmlformats.org/officeDocument/2006/relationships/slide" Target="/ppt/slides/slide2.xml" Id="R3c1d6a132cef4f23" /><Relationship Type="http://schemas.openxmlformats.org/officeDocument/2006/relationships/slide" Target="/ppt/slides/slide3.xml" Id="R449363348c2b4fab" /><Relationship Type="http://schemas.openxmlformats.org/officeDocument/2006/relationships/slide" Target="/ppt/slides/slide4.xml" Id="R5c69e1be6235446f" /><Relationship Type="http://schemas.openxmlformats.org/officeDocument/2006/relationships/slide" Target="/ppt/slides/slide5.xml" Id="Rfed201b1fc8f4fcf" /><Relationship Type="http://schemas.openxmlformats.org/officeDocument/2006/relationships/slide" Target="/ppt/slides/slide6.xml" Id="Rc3d40223a99e4e44" /><Relationship Type="http://schemas.openxmlformats.org/officeDocument/2006/relationships/slide" Target="/ppt/slides/slide7.xml" Id="Re1b438a89a9b40f3" /><Relationship Type="http://schemas.openxmlformats.org/officeDocument/2006/relationships/slide" Target="/ppt/slides/slide8.xml" Id="Redb9684636bd4e0c" /><Relationship Type="http://schemas.openxmlformats.org/officeDocument/2006/relationships/slide" Target="/ppt/slides/slide9.xml" Id="R52bb194d01d74e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3c75e5a1034b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65e03e0f9244f5" /><Relationship Type="http://schemas.openxmlformats.org/officeDocument/2006/relationships/notesMaster" Target="/ppt/notesMasters/notesMaster1.xml" Id="R67a8bba8ec404b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4cb8bf7e494bd6" /><Relationship Type="http://schemas.openxmlformats.org/officeDocument/2006/relationships/notesMaster" Target="/ppt/notesMasters/notesMaster1.xml" Id="R2c28fb10166746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5c025b5a0848b1" /><Relationship Type="http://schemas.openxmlformats.org/officeDocument/2006/relationships/notesMaster" Target="/ppt/notesMasters/notesMaster1.xml" Id="R2dccece2638f45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54d33af5bf4766" /><Relationship Type="http://schemas.openxmlformats.org/officeDocument/2006/relationships/notesMaster" Target="/ppt/notesMasters/notesMaster1.xml" Id="R012c2561111d4a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c91cdb673147e3" /><Relationship Type="http://schemas.openxmlformats.org/officeDocument/2006/relationships/notesMaster" Target="/ppt/notesMasters/notesMaster1.xml" Id="R6e12b83db33144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dc4b3f7af44c68" /><Relationship Type="http://schemas.openxmlformats.org/officeDocument/2006/relationships/notesMaster" Target="/ppt/notesMasters/notesMaster1.xml" Id="R07d5bfa5e57746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cab2330e29476c" /><Relationship Type="http://schemas.openxmlformats.org/officeDocument/2006/relationships/notesMaster" Target="/ppt/notesMasters/notesMaster1.xml" Id="R24afcef77b8b48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5270fd2592400a" /><Relationship Type="http://schemas.openxmlformats.org/officeDocument/2006/relationships/notesMaster" Target="/ppt/notesMasters/notesMaster1.xml" Id="R172285975ae946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630b3649714913" /><Relationship Type="http://schemas.openxmlformats.org/officeDocument/2006/relationships/notesMaster" Target="/ppt/notesMasters/notesMaster1.xml" Id="R1d7807aac67b46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TransPerfect Learning Experience Designer contract role supporting Amazon’s low-Earth-orbit satellite broadband program. Job source: https://transperfect.recruitee.com/o/learning-experience-designer . The approved paper-path illustration is decorative, not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evidence: ASU Knowledge Enterprise, Instructional Designer, April 2022–October 2024. MS User Experience with UX Research concentration, ASU, May 2024; BS Technical Communication with UX concentration, ASU, May 2023. The concise role scope is reviewed evidence; this slide does not claim specific SCORM/LMS production tools or measured learning gains. Public profile: https://www.linkedin.com/in/jonathankylehobson/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lesson materials and the official Coursera page https://www.coursera.org/projects/chatgpt-beginners . The image is an original course slide. Enrollments describe reach, not course completion or measured skill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2024 Task 3 recording at 02:30. This initial fictional Brew Bliss cafe draft gives learners material to inspect and revise. Later lesson steps demonstrate a more specific instruction and its resulting draft. It is not a client campaign or evidence of measured learner proficiency. Official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FactorLab UX Designer &amp; Researcher (Contract), October 2025–Present. Original Kyle-authored Figma designs and engineering annotations, reviewed in the September 2026 portfolio. Design and handoff evidence; exact pictured state is not claimed to be shipped. Its relevance to end-user documentation is adjacent: Kyle is explaining product behavior, not claiming this is satellite-industry training or a TransPerfect implementation guide. Public case: https://jonathankhobson.github.io/portfolio/design/case/flint/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developer-authored Prompt Compass local regression fixture, May 2026. Both prompts are exact fixture values. This is a designed evaluation example, not a client incident, production-model benchmark, or measured ROI. The public beta release is https://github.com/JonathanKHobson/prompt-compass/releases/tag/v0.1.0-beta.3 . Relevant to updating technical training: a clearer or shorter instruction still needs to preserve conditions and review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ASU for Life collaborative prompt architecture attributes the displayed proposed approach to Kyle. The reconstruction shows the mentor review steps without claiming production deployment, model training, or measurable savings. Reviewed AI case: https://jonathankhobson.github.io/portfolio/ai/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The TransPerfect role involves new and updated eLearning, ILT materials, job aids, assessments and collaboration with SMEs. This slide does not report past work for TransPerfect, satellite-industry production experience, or measured learning gains. Primary source: https://transperfect.recruitee.com/o/learning-experience-designer . SCORM/LMS production experience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Contact and work-authorization statements are candidate-confirmed for this application. Portfolio link targets the separately prepared TransPerfect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25f110d4124d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384e74c60e4598" /><Relationship Type="http://schemas.openxmlformats.org/officeDocument/2006/relationships/slideLayout" Target="/ppt/slideLayouts/slideLayout1.xml" Id="Rb140202039b745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40202039b745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5ab54f55044e99" /><Relationship Type="http://schemas.openxmlformats.org/officeDocument/2006/relationships/image" Target="/ppt/media/image.png" Id="R45bf5cd16c4847ff" /><Relationship Type="http://schemas.openxmlformats.org/officeDocument/2006/relationships/notesSlide" Target="/ppt/notesSlides/notesSlide1.xml" Id="Re4f36d9e5e6e46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e119d3fa7f4156" /><Relationship Type="http://schemas.openxmlformats.org/officeDocument/2006/relationships/image" Target="/ppt/media/image.jpeg" Id="R7141951748d947f2" /><Relationship Type="http://schemas.openxmlformats.org/officeDocument/2006/relationships/notesSlide" Target="/ppt/notesSlides/notesSlide2.xml" Id="Rdd23485a7fc643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4258b4949640ab" /><Relationship Type="http://schemas.openxmlformats.org/officeDocument/2006/relationships/image" Target="/ppt/media/image2.png" Id="Rae1656b66a12404f" /><Relationship Type="http://schemas.openxmlformats.org/officeDocument/2006/relationships/notesSlide" Target="/ppt/notesSlides/notesSlide3.xml" Id="R118fd6988c4348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0798102b631499a" /><Relationship Type="http://schemas.openxmlformats.org/officeDocument/2006/relationships/image" Target="/ppt/media/image3.png" Id="R537f22e27b3d4e82" /><Relationship Type="http://schemas.openxmlformats.org/officeDocument/2006/relationships/notesSlide" Target="/ppt/notesSlides/notesSlide4.xml" Id="R1a5045c7908f42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bedfd587de40aa" /><Relationship Type="http://schemas.openxmlformats.org/officeDocument/2006/relationships/image" Target="/ppt/media/image4.png" Id="R5882eafaef664036" /><Relationship Type="http://schemas.openxmlformats.org/officeDocument/2006/relationships/image" Target="/ppt/media/image5.png" Id="R81fe523336a44993" /><Relationship Type="http://schemas.openxmlformats.org/officeDocument/2006/relationships/notesSlide" Target="/ppt/notesSlides/notesSlide5.xml" Id="Rc2588947da2340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387dff5ce44ade" /><Relationship Type="http://schemas.openxmlformats.org/officeDocument/2006/relationships/notesSlide" Target="/ppt/notesSlides/notesSlide6.xml" Id="R0c4fe554cb674a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606984ad7f4f34" /><Relationship Type="http://schemas.openxmlformats.org/officeDocument/2006/relationships/image" Target="/ppt/media/image6.png" Id="R9ce564200e0a49df" /><Relationship Type="http://schemas.openxmlformats.org/officeDocument/2006/relationships/notesSlide" Target="/ppt/notesSlides/notesSlide7.xml" Id="R123836ef3c754d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d8eba43bcb4396" /><Relationship Type="http://schemas.openxmlformats.org/officeDocument/2006/relationships/notesSlide" Target="/ppt/notesSlides/notesSlide8.xml" Id="Rc1d0c9b3d40944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cfd225e1564814" /><Relationship Type="http://schemas.openxmlformats.org/officeDocument/2006/relationships/hyperlink" Target="mailto:JonathanKyleHobson@gmail.com" TargetMode="External" Id="Rf0f02eb40f2f4b95" /><Relationship Type="http://schemas.openxmlformats.org/officeDocument/2006/relationships/hyperlink" Target="https://jonathankhobson.github.io/application-portfolios/transperfect-learning-experience-designer/" TargetMode="External" Id="R200c205ab6d14344" /><Relationship Type="http://schemas.openxmlformats.org/officeDocument/2006/relationships/notesSlide" Target="/ppt/notesSlides/notesSlide9.xml" Id="R5e7a520c12f24e72"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5bf5cd16c4847ff"/>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78FE7BAE-BFF4-48D4-9633-C8317DABCF03}"/>
              </a:ext>
            </a:extLst>
          </p:cNvPr>
          <p:cNvSpPr>
            <a:spLocks xmlns:a="http://schemas.openxmlformats.org/drawingml/2006/main" noGrp="1"/>
          </p:cNvSpPr>
          <p:nvPr/>
        </p:nvSpPr>
        <p:spPr>
          <a:xfrm xmlns:a="http://schemas.openxmlformats.org/drawingml/2006/main">
            <a:off x="609600" y="5143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APPLICATION TO TRANSPERFECT</a:t>
            </a:r>
          </a:p>
        </p:txBody>
      </p:sp>
      <p:sp>
        <p:nvSpPr>
          <p:cNvPr id="3" name="headline">
            <a:extLst xmlns:a="http://schemas.openxmlformats.org/drawingml/2006/main">
              <a:ext uri="{FF2B5EF4-FFF2-40B4-BE49-F238E27FC236}">
                <a16:creationId xmlns:a16="http://schemas.microsoft.com/office/drawing/2014/main" id="{468520A5-9E55-4DFD-86B2-533B0364C348}"/>
              </a:ext>
            </a:extLst>
          </p:cNvPr>
          <p:cNvSpPr>
            <a:spLocks xmlns:a="http://schemas.openxmlformats.org/drawingml/2006/main" noGrp="1"/>
          </p:cNvSpPr>
          <p:nvPr/>
        </p:nvSpPr>
        <p:spPr>
          <a:xfrm xmlns:a="http://schemas.openxmlformats.org/drawingml/2006/main">
            <a:off x="609600" y="1485900"/>
            <a:ext cx="8382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Technical learning</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for TransPerfect</a:t>
            </a:r>
          </a:p>
        </p:txBody>
      </p:sp>
      <p:sp>
        <p:nvSpPr>
          <p:cNvPr id="4" name="cover-intro">
            <a:extLst xmlns:a="http://schemas.openxmlformats.org/drawingml/2006/main">
              <a:ext uri="{FF2B5EF4-FFF2-40B4-BE49-F238E27FC236}">
                <a16:creationId xmlns:a16="http://schemas.microsoft.com/office/drawing/2014/main" id="{EECC1FAD-F188-4F10-BBA9-5DDD7805A24C}"/>
              </a:ext>
            </a:extLst>
          </p:cNvPr>
          <p:cNvSpPr>
            <a:spLocks xmlns:a="http://schemas.openxmlformats.org/drawingml/2006/main" noGrp="1"/>
          </p:cNvSpPr>
          <p:nvPr/>
        </p:nvSpPr>
        <p:spPr>
          <a:xfrm xmlns:a="http://schemas.openxmlformats.org/drawingml/2006/main">
            <a:off x="647700" y="4448175"/>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work in guided practice,</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technical clarity and careful AI use</a:t>
            </a:r>
          </a:p>
        </p:txBody>
      </p:sp>
      <p:sp>
        <p:nvSpPr>
          <p:cNvPr id="5" name="cover-role">
            <a:extLst xmlns:a="http://schemas.openxmlformats.org/drawingml/2006/main">
              <a:ext uri="{FF2B5EF4-FFF2-40B4-BE49-F238E27FC236}">
                <a16:creationId xmlns:a16="http://schemas.microsoft.com/office/drawing/2014/main" id="{B7A974BE-5263-472A-A2C0-F452842770B8}"/>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Learning Experience Designer · U.S. remote contract</a:t>
            </a:r>
          </a:p>
        </p:txBody>
      </p:sp>
      <p:sp>
        <p:nvSpPr>
          <p:cNvPr id="6" name="slide-number">
            <a:extLst xmlns:a="http://schemas.openxmlformats.org/drawingml/2006/main">
              <a:ext uri="{FF2B5EF4-FFF2-40B4-BE49-F238E27FC236}">
                <a16:creationId xmlns:a16="http://schemas.microsoft.com/office/drawing/2014/main" id="{371ACDB6-01B9-468B-921F-08AFA5F8458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694811219"/>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ECC9D3D-DDB6-433C-8F5E-6D0BAAA4987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INSTRUCTIONAL DESIGNER</a:t>
            </a:r>
          </a:p>
        </p:txBody>
      </p:sp>
      <p:sp>
        <p:nvSpPr>
          <p:cNvPr id="2" name="headline">
            <a:extLst xmlns:a="http://schemas.openxmlformats.org/drawingml/2006/main">
              <a:ext uri="{FF2B5EF4-FFF2-40B4-BE49-F238E27FC236}">
                <a16:creationId xmlns:a16="http://schemas.microsoft.com/office/drawing/2014/main" id="{0B1F0529-512A-43A1-96DE-B6DA8285D2C4}"/>
              </a:ext>
            </a:extLst>
          </p:cNvPr>
          <p:cNvSpPr>
            <a:spLocks xmlns:a="http://schemas.openxmlformats.org/drawingml/2006/main" noGrp="1"/>
          </p:cNvSpPr>
          <p:nvPr/>
        </p:nvSpPr>
        <p:spPr>
          <a:xfrm xmlns:a="http://schemas.openxmlformats.org/drawingml/2006/main">
            <a:off x="609600" y="1285875"/>
            <a:ext cx="62865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Learning design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grounded in the task</a:t>
            </a:r>
          </a:p>
        </p:txBody>
      </p:sp>
      <p:sp>
        <p:nvSpPr>
          <p:cNvPr id="3" name="asu-direct">
            <a:extLst xmlns:a="http://schemas.openxmlformats.org/drawingml/2006/main">
              <a:ext uri="{FF2B5EF4-FFF2-40B4-BE49-F238E27FC236}">
                <a16:creationId xmlns:a16="http://schemas.microsoft.com/office/drawing/2014/main" id="{C512F0D8-E72F-4FDA-9942-8068FCCD3BA8}"/>
              </a:ext>
            </a:extLst>
          </p:cNvPr>
          <p:cNvSpPr>
            <a:spLocks xmlns:a="http://schemas.openxmlformats.org/drawingml/2006/main" noGrp="1"/>
          </p:cNvSpPr>
          <p:nvPr/>
        </p:nvSpPr>
        <p:spPr>
          <a:xfrm xmlns:a="http://schemas.openxmlformats.org/drawingml/2006/main">
            <a:off x="609600" y="320040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At ASU Knowledge Enterprise, I developed digital learning materials and workshops with accessibility improvements and AI-supported content workflows.</a:t>
            </a:r>
          </a:p>
        </p:txBody>
      </p:sp>
      <p:sp>
        <p:nvSpPr>
          <p:cNvPr id="4" name="background">
            <a:extLst xmlns:a="http://schemas.openxmlformats.org/drawingml/2006/main">
              <a:ext uri="{FF2B5EF4-FFF2-40B4-BE49-F238E27FC236}">
                <a16:creationId xmlns:a16="http://schemas.microsoft.com/office/drawing/2014/main" id="{AD010D66-5B52-485C-9EE5-F279B4EAEE7C}"/>
              </a:ext>
            </a:extLst>
          </p:cNvPr>
          <p:cNvSpPr>
            <a:spLocks xmlns:a="http://schemas.openxmlformats.org/drawingml/2006/main" noGrp="1"/>
          </p:cNvSpPr>
          <p:nvPr/>
        </p:nvSpPr>
        <p:spPr>
          <a:xfrm xmlns:a="http://schemas.openxmlformats.org/drawingml/2006/main">
            <a:off x="609600" y="5133975"/>
            <a:ext cx="59055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April 2022–October 2024</a:t>
            </a:r>
          </a:p>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MS in User Experience · BS in Technical Communication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141951748d947f2"/>
          <a:stretch xmlns:a="http://schemas.openxmlformats.org/drawingml/2006/main"/>
        </p:blipFill>
        <p:spPr>
          <a:xfrm xmlns:a="http://schemas.openxmlformats.org/drawingml/2006/main">
            <a:off x="7305675" y="1543050"/>
            <a:ext cx="4191000" cy="4191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D2135850-7EF5-437F-96C0-4C901EA31FB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257687020"/>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99AC156-128C-4D14-9717-B43E2BE8B1D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INSTRUCTOR, 2024</a:t>
            </a:r>
          </a:p>
        </p:txBody>
      </p:sp>
      <p:sp>
        <p:nvSpPr>
          <p:cNvPr id="2" name="headline">
            <a:extLst xmlns:a="http://schemas.openxmlformats.org/drawingml/2006/main">
              <a:ext uri="{FF2B5EF4-FFF2-40B4-BE49-F238E27FC236}">
                <a16:creationId xmlns:a16="http://schemas.microsoft.com/office/drawing/2014/main" id="{E0966839-B188-4760-B672-64909080D1ED}"/>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practical sequence for beginners</a:t>
            </a:r>
          </a:p>
        </p:txBody>
      </p:sp>
      <p:sp>
        <p:nvSpPr>
          <p:cNvPr id="3" name="course-title">
            <a:extLst xmlns:a="http://schemas.openxmlformats.org/drawingml/2006/main">
              <a:ext uri="{FF2B5EF4-FFF2-40B4-BE49-F238E27FC236}">
                <a16:creationId xmlns:a16="http://schemas.microsoft.com/office/drawing/2014/main" id="{0F92A8A9-1F6B-4C8C-97A6-ACF47891C317}"/>
              </a:ext>
            </a:extLst>
          </p:cNvPr>
          <p:cNvSpPr>
            <a:spLocks xmlns:a="http://schemas.openxmlformats.org/drawingml/2006/main" noGrp="1"/>
          </p:cNvSpPr>
          <p:nvPr/>
        </p:nvSpPr>
        <p:spPr>
          <a:xfrm xmlns:a="http://schemas.openxmlformats.org/drawingml/2006/main">
            <a:off x="609600" y="21145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ChatGPT 4o for Beginners: Create Social Media Content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e1656b66a12404f"/>
          <a:stretch xmlns:a="http://schemas.openxmlformats.org/drawingml/2006/main"/>
        </p:blipFill>
        <p:spPr>
          <a:xfrm xmlns:a="http://schemas.openxmlformats.org/drawingml/2006/main">
            <a:off x="1303734" y="2762250"/>
            <a:ext cx="9508331" cy="3457575"/>
          </a:xfrm>
          <a:prstGeom xmlns:a="http://schemas.openxmlformats.org/drawingml/2006/main" prst="rect">
            <a:avLst/>
          </a:prstGeom>
        </p:spPr>
      </p:pic>
      <p:sp>
        <p:nvSpPr>
          <p:cNvPr id="5" name="course-reach">
            <a:extLst xmlns:a="http://schemas.openxmlformats.org/drawingml/2006/main">
              <a:ext uri="{FF2B5EF4-FFF2-40B4-BE49-F238E27FC236}">
                <a16:creationId xmlns:a16="http://schemas.microsoft.com/office/drawing/2014/main" id="{F780D4CF-B3BF-4DED-A5A7-42FB52C5E13D}"/>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Published in 2024 · 4,700+ enrollments as of September 2026</a:t>
            </a:r>
          </a:p>
        </p:txBody>
      </p:sp>
      <p:sp>
        <p:nvSpPr>
          <p:cNvPr id="6" name="slide-number">
            <a:extLst xmlns:a="http://schemas.openxmlformats.org/drawingml/2006/main">
              <a:ext uri="{FF2B5EF4-FFF2-40B4-BE49-F238E27FC236}">
                <a16:creationId xmlns:a16="http://schemas.microsoft.com/office/drawing/2014/main" id="{DA27D650-3FE1-493C-951E-D3BD2984754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633420820"/>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33FA8529-AB88-466D-A6FF-978D0855573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ORIGINAL DEMONSTRATION</a:t>
            </a:r>
          </a:p>
        </p:txBody>
      </p:sp>
      <p:sp>
        <p:nvSpPr>
          <p:cNvPr id="2" name="headline">
            <a:extLst xmlns:a="http://schemas.openxmlformats.org/drawingml/2006/main">
              <a:ext uri="{FF2B5EF4-FFF2-40B4-BE49-F238E27FC236}">
                <a16:creationId xmlns:a16="http://schemas.microsoft.com/office/drawing/2014/main" id="{92856A23-0E68-4939-A331-DF10501D7B73}"/>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first attempt gives learners</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to revise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37f22e27b3d4e82"/>
          <a:stretch xmlns:a="http://schemas.openxmlformats.org/drawingml/2006/main"/>
        </p:blipFill>
        <p:spPr>
          <a:xfrm xmlns:a="http://schemas.openxmlformats.org/drawingml/2006/main">
            <a:off x="609600" y="2477029"/>
            <a:ext cx="9525000" cy="3704167"/>
          </a:xfrm>
          <a:prstGeom xmlns:a="http://schemas.openxmlformats.org/drawingml/2006/main" prst="rect">
            <a:avLst/>
          </a:prstGeom>
        </p:spPr>
      </p:pic>
      <p:sp>
        <p:nvSpPr>
          <p:cNvPr id="4" name="practice-purpose">
            <a:extLst xmlns:a="http://schemas.openxmlformats.org/drawingml/2006/main">
              <a:ext uri="{FF2B5EF4-FFF2-40B4-BE49-F238E27FC236}">
                <a16:creationId xmlns:a16="http://schemas.microsoft.com/office/drawing/2014/main" id="{8AA9F706-A168-402C-979C-71D3B2FCA73B}"/>
              </a:ext>
            </a:extLst>
          </p:cNvPr>
          <p:cNvSpPr>
            <a:spLocks xmlns:a="http://schemas.openxmlformats.org/drawingml/2006/main" noGrp="1"/>
          </p:cNvSpPr>
          <p:nvPr/>
        </p:nvSpPr>
        <p:spPr>
          <a:xfrm xmlns:a="http://schemas.openxmlformats.org/drawingml/2006/main">
            <a:off x="609600" y="63817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The next step is to make the request more specific and compare the result.</a:t>
            </a:r>
          </a:p>
        </p:txBody>
      </p:sp>
      <p:sp>
        <p:nvSpPr>
          <p:cNvPr id="5" name="slide-number">
            <a:extLst xmlns:a="http://schemas.openxmlformats.org/drawingml/2006/main">
              <a:ext uri="{FF2B5EF4-FFF2-40B4-BE49-F238E27FC236}">
                <a16:creationId xmlns:a16="http://schemas.microsoft.com/office/drawing/2014/main" id="{89EBD7E9-158C-4D84-BFFC-5BE5053ACAD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623950739"/>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ACAFA24F-F7D1-4FAE-8706-CEC5DA34CB7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SMARTTAGIT FLINT DESIGN</a:t>
            </a:r>
          </a:p>
        </p:txBody>
      </p:sp>
      <p:sp>
        <p:nvSpPr>
          <p:cNvPr id="2" name="headline">
            <a:extLst xmlns:a="http://schemas.openxmlformats.org/drawingml/2006/main">
              <a:ext uri="{FF2B5EF4-FFF2-40B4-BE49-F238E27FC236}">
                <a16:creationId xmlns:a16="http://schemas.microsoft.com/office/drawing/2014/main" id="{00F1B4AF-2EF2-4576-B6F3-F503B879B287}"/>
              </a:ext>
            </a:extLst>
          </p:cNvPr>
          <p:cNvSpPr>
            <a:spLocks xmlns:a="http://schemas.openxmlformats.org/drawingml/2006/main" noGrp="1"/>
          </p:cNvSpPr>
          <p:nvPr/>
        </p:nvSpPr>
        <p:spPr>
          <a:xfrm xmlns:a="http://schemas.openxmlformats.org/drawingml/2006/main">
            <a:off x="609600" y="1219200"/>
            <a:ext cx="5905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Recovery guidance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has to describe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the real state</a:t>
            </a:r>
          </a:p>
        </p:txBody>
      </p:sp>
      <p:sp>
        <p:nvSpPr>
          <p:cNvPr id="3" name="flint-specific">
            <a:extLst xmlns:a="http://schemas.openxmlformats.org/drawingml/2006/main">
              <a:ext uri="{FF2B5EF4-FFF2-40B4-BE49-F238E27FC236}">
                <a16:creationId xmlns:a16="http://schemas.microsoft.com/office/drawing/2014/main" id="{BC40ADAC-8CCB-4E65-AF5C-9A72E60A6FA4}"/>
              </a:ext>
            </a:extLst>
          </p:cNvPr>
          <p:cNvSpPr>
            <a:spLocks xmlns:a="http://schemas.openxmlformats.org/drawingml/2006/main" noGrp="1"/>
          </p:cNvSpPr>
          <p:nvPr/>
        </p:nvSpPr>
        <p:spPr>
          <a:xfrm xmlns:a="http://schemas.openxmlformats.org/drawingml/2006/main">
            <a:off x="609600" y="3609975"/>
            <a:ext cx="54768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An interrupted answer and a lost connection needed different messages and actions. I organized those states in Figma and annotated the behavior for engineering.</a:t>
            </a:r>
          </a:p>
        </p:txBody>
      </p:sp>
      <p:sp>
        <p:nvSpPr>
          <p:cNvPr id="4" name="flint-adjacent">
            <a:extLst xmlns:a="http://schemas.openxmlformats.org/drawingml/2006/main">
              <a:ext uri="{FF2B5EF4-FFF2-40B4-BE49-F238E27FC236}">
                <a16:creationId xmlns:a16="http://schemas.microsoft.com/office/drawing/2014/main" id="{376C4785-0053-4464-BC61-D7F42DC78846}"/>
              </a:ext>
            </a:extLst>
          </p:cNvPr>
          <p:cNvSpPr>
            <a:spLocks xmlns:a="http://schemas.openxmlformats.org/drawingml/2006/main" noGrp="1"/>
          </p:cNvSpPr>
          <p:nvPr/>
        </p:nvSpPr>
        <p:spPr>
          <a:xfrm xmlns:a="http://schemas.openxmlformats.org/drawingml/2006/main">
            <a:off x="609600" y="5467350"/>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For technical learning: distinguish the condition before explaining the recovery action.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882eafaef664036"/>
          <a:stretch xmlns:a="http://schemas.openxmlformats.org/drawingml/2006/main"/>
        </p:blipFill>
        <p:spPr>
          <a:xfrm xmlns:a="http://schemas.openxmlformats.org/drawingml/2006/main">
            <a:off x="6629400" y="1326390"/>
            <a:ext cx="2238375" cy="4795771"/>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1fe523336a44993"/>
          <a:stretch xmlns:a="http://schemas.openxmlformats.org/drawingml/2006/main"/>
        </p:blipFill>
        <p:spPr>
          <a:xfrm xmlns:a="http://schemas.openxmlformats.org/drawingml/2006/main">
            <a:off x="9210675" y="1326390"/>
            <a:ext cx="2238375" cy="4795771"/>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98043E09-60AA-4A74-82AD-170234DC61D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555324227"/>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02165E62-054F-4007-9BCC-B1D8484EB61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DESIGNED LOCAL REGRESSION CASE</a:t>
            </a:r>
          </a:p>
        </p:txBody>
      </p:sp>
      <p:sp>
        <p:nvSpPr>
          <p:cNvPr id="2" name="headline">
            <a:extLst xmlns:a="http://schemas.openxmlformats.org/drawingml/2006/main">
              <a:ext uri="{FF2B5EF4-FFF2-40B4-BE49-F238E27FC236}">
                <a16:creationId xmlns:a16="http://schemas.microsoft.com/office/drawing/2014/main" id="{B9D233EA-4567-4CBC-B8C0-B775F2E2C4E4}"/>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rewrite must preserve the requirement</a:t>
            </a:r>
          </a:p>
        </p:txBody>
      </p:sp>
      <p:sp>
        <p:nvSpPr>
          <p:cNvPr id="3" name="before-label">
            <a:extLst xmlns:a="http://schemas.openxmlformats.org/drawingml/2006/main">
              <a:ext uri="{FF2B5EF4-FFF2-40B4-BE49-F238E27FC236}">
                <a16:creationId xmlns:a16="http://schemas.microsoft.com/office/drawing/2014/main" id="{3B16D4B8-F915-4D1F-A843-D3083E2B550D}"/>
              </a:ext>
            </a:extLst>
          </p:cNvPr>
          <p:cNvSpPr>
            <a:spLocks xmlns:a="http://schemas.openxmlformats.org/drawingml/2006/main" noGrp="1"/>
          </p:cNvSpPr>
          <p:nvPr/>
        </p:nvSpPr>
        <p:spPr>
          <a:xfrm xmlns:a="http://schemas.openxmlformats.org/drawingml/2006/main">
            <a:off x="609600" y="2476500"/>
            <a:ext cx="59531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 FIXTURE PROMPT</a:t>
            </a:r>
          </a:p>
        </p:txBody>
      </p:sp>
      <p:sp>
        <p:nvSpPr>
          <p:cNvPr id="4" name="after-label">
            <a:extLst xmlns:a="http://schemas.openxmlformats.org/drawingml/2006/main">
              <a:ext uri="{FF2B5EF4-FFF2-40B4-BE49-F238E27FC236}">
                <a16:creationId xmlns:a16="http://schemas.microsoft.com/office/drawing/2014/main" id="{EC687B64-C8A7-4FEC-82A7-9D0C4C4DBE8E}"/>
              </a:ext>
            </a:extLst>
          </p:cNvPr>
          <p:cNvSpPr>
            <a:spLocks xmlns:a="http://schemas.openxmlformats.org/drawingml/2006/main" noGrp="1"/>
          </p:cNvSpPr>
          <p:nvPr/>
        </p:nvSpPr>
        <p:spPr>
          <a:xfrm xmlns:a="http://schemas.openxmlformats.org/drawingml/2006/main">
            <a:off x="7181850" y="2476500"/>
            <a:ext cx="4314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SHORTER REWRITE</a:t>
            </a:r>
          </a:p>
        </p:txBody>
      </p:sp>
      <p:sp>
        <p:nvSpPr>
          <p:cNvPr id="5" name="before-prompt">
            <a:extLst xmlns:a="http://schemas.openxmlformats.org/drawingml/2006/main">
              <a:ext uri="{FF2B5EF4-FFF2-40B4-BE49-F238E27FC236}">
                <a16:creationId xmlns:a16="http://schemas.microsoft.com/office/drawing/2014/main" id="{03E7CAD4-D3F9-4B5E-8651-8972793AEBAC}"/>
              </a:ext>
            </a:extLst>
          </p:cNvPr>
          <p:cNvSpPr>
            <a:spLocks xmlns:a="http://schemas.openxmlformats.org/drawingml/2006/main" noGrp="1"/>
          </p:cNvSpPr>
          <p:nvPr/>
        </p:nvSpPr>
        <p:spPr>
          <a:xfrm xmlns:a="http://schemas.openxmlformats.org/drawingml/2006/main">
            <a:off x="609600" y="3057525"/>
            <a:ext cx="59055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valid JSON only with fields category, article_id, confidence, and suggested_response. If confidence is below 0.7, set suggested_response to needs_review. Success: parser accepts the response.</a:t>
            </a:r>
          </a:p>
        </p:txBody>
      </p:sp>
      <p:sp>
        <p:nvSpPr>
          <p:cNvPr id="6" name="after-prompt">
            <a:extLst xmlns:a="http://schemas.openxmlformats.org/drawingml/2006/main">
              <a:ext uri="{FF2B5EF4-FFF2-40B4-BE49-F238E27FC236}">
                <a16:creationId xmlns:a16="http://schemas.microsoft.com/office/drawing/2014/main" id="{A23D65D8-0F87-4B69-9923-42A6755595B3}"/>
              </a:ext>
            </a:extLst>
          </p:cNvPr>
          <p:cNvSpPr>
            <a:spLocks xmlns:a="http://schemas.openxmlformats.org/drawingml/2006/main" noGrp="1"/>
          </p:cNvSpPr>
          <p:nvPr/>
        </p:nvSpPr>
        <p:spPr>
          <a:xfrm xmlns:a="http://schemas.openxmlformats.org/drawingml/2006/main">
            <a:off x="7181850" y="3057525"/>
            <a:ext cx="4314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Return a clean structured answer with the best response for the user.</a:t>
            </a:r>
          </a:p>
        </p:txBody>
      </p:sp>
      <p:sp>
        <p:nvSpPr>
          <p:cNvPr id="7" name="expected-winner">
            <a:extLst xmlns:a="http://schemas.openxmlformats.org/drawingml/2006/main">
              <a:ext uri="{FF2B5EF4-FFF2-40B4-BE49-F238E27FC236}">
                <a16:creationId xmlns:a16="http://schemas.microsoft.com/office/drawing/2014/main" id="{F7BC670C-F79A-4184-92A5-DA5AA3B6A6AB}"/>
              </a:ext>
            </a:extLst>
          </p:cNvPr>
          <p:cNvSpPr>
            <a:spLocks xmlns:a="http://schemas.openxmlformats.org/drawingml/2006/main" noGrp="1"/>
          </p:cNvSpPr>
          <p:nvPr/>
        </p:nvSpPr>
        <p:spPr>
          <a:xfrm xmlns:a="http://schemas.openxmlformats.org/drawingml/2006/main">
            <a:off x="609600" y="54864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244D3C"/>
                </a:solidFill>
                <a:latin typeface="Helvetica Neue"/>
                <a:ea typeface="Helvetica Neue"/>
                <a:cs typeface="Helvetica Neue"/>
              </a:defRPr>
            </a:pPr>
            <a:r>
              <a:rPr sz="2100" b="1">
                <a:solidFill>
                  <a:srgbClr val="244D3C"/>
                </a:solidFill>
                <a:latin typeface="Helvetica Neue"/>
                <a:ea typeface="Helvetica Neue"/>
                <a:cs typeface="Helvetica Neue"/>
              </a:rPr>
              <a:t>Expected winner: the original</a:t>
            </a:r>
          </a:p>
        </p:txBody>
      </p:sp>
      <p:sp>
        <p:nvSpPr>
          <p:cNvPr id="8" name="fixture-reason">
            <a:extLst xmlns:a="http://schemas.openxmlformats.org/drawingml/2006/main">
              <a:ext uri="{FF2B5EF4-FFF2-40B4-BE49-F238E27FC236}">
                <a16:creationId xmlns:a16="http://schemas.microsoft.com/office/drawing/2014/main" id="{355CC15E-CFC1-4717-A9CA-02B640257A9E}"/>
              </a:ext>
            </a:extLst>
          </p:cNvPr>
          <p:cNvSpPr>
            <a:spLocks xmlns:a="http://schemas.openxmlformats.org/drawingml/2006/main" noGrp="1"/>
          </p:cNvSpPr>
          <p:nvPr/>
        </p:nvSpPr>
        <p:spPr>
          <a:xfrm xmlns:a="http://schemas.openxmlformats.org/drawingml/2006/main">
            <a:off x="609600" y="60769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rewrite loses named fields, JSON-only output and the review condition.</a:t>
            </a:r>
          </a:p>
        </p:txBody>
      </p:sp>
      <p:sp>
        <p:nvSpPr>
          <p:cNvPr id="9" name="slide-number">
            <a:extLst xmlns:a="http://schemas.openxmlformats.org/drawingml/2006/main">
              <a:ext uri="{FF2B5EF4-FFF2-40B4-BE49-F238E27FC236}">
                <a16:creationId xmlns:a16="http://schemas.microsoft.com/office/drawing/2014/main" id="{469C5A21-CD26-44BE-B8D6-6694CCB7012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315427117"/>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14980C1-B19D-4345-8D5A-F9A528A791A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AI ANALYST, FEB–OCT 2024</a:t>
            </a:r>
          </a:p>
        </p:txBody>
      </p:sp>
      <p:sp>
        <p:nvSpPr>
          <p:cNvPr id="2" name="headline">
            <a:extLst xmlns:a="http://schemas.openxmlformats.org/drawingml/2006/main">
              <a:ext uri="{FF2B5EF4-FFF2-40B4-BE49-F238E27FC236}">
                <a16:creationId xmlns:a16="http://schemas.microsoft.com/office/drawing/2014/main" id="{5E754740-0207-446E-8875-C0132C1F1A57}"/>
              </a:ext>
            </a:extLst>
          </p:cNvPr>
          <p:cNvSpPr>
            <a:spLocks xmlns:a="http://schemas.openxmlformats.org/drawingml/2006/main" noGrp="1"/>
          </p:cNvSpPr>
          <p:nvPr/>
        </p:nvSpPr>
        <p:spPr>
          <a:xfrm xmlns:a="http://schemas.openxmlformats.org/drawingml/2006/main">
            <a:off x="609600" y="1095375"/>
            <a:ext cx="6810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Mentor review shaped</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the learner workflow</a:t>
            </a:r>
          </a:p>
        </p:txBody>
      </p:sp>
      <p:sp>
        <p:nvSpPr>
          <p:cNvPr id="3" name="asu-purpose">
            <a:extLst xmlns:a="http://schemas.openxmlformats.org/drawingml/2006/main">
              <a:ext uri="{FF2B5EF4-FFF2-40B4-BE49-F238E27FC236}">
                <a16:creationId xmlns:a16="http://schemas.microsoft.com/office/drawing/2014/main" id="{EFD91972-0BB5-48E4-AB9C-0E427F043CE7}"/>
              </a:ext>
            </a:extLst>
          </p:cNvPr>
          <p:cNvSpPr>
            <a:spLocks xmlns:a="http://schemas.openxmlformats.org/drawingml/2006/main" noGrp="1"/>
          </p:cNvSpPr>
          <p:nvPr/>
        </p:nvSpPr>
        <p:spPr>
          <a:xfrm xmlns:a="http://schemas.openxmlformats.org/drawingml/2006/main">
            <a:off x="609600" y="3228975"/>
            <a:ext cx="6286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proposed staged generation of personalized learner tasks, with a mentor checking the context and the output.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ce564200e0a49df"/>
          <a:stretch xmlns:a="http://schemas.openxmlformats.org/drawingml/2006/main"/>
        </p:blipFill>
        <p:spPr>
          <a:xfrm xmlns:a="http://schemas.openxmlformats.org/drawingml/2006/main">
            <a:off x="8241908" y="1200150"/>
            <a:ext cx="2604285" cy="5038725"/>
          </a:xfrm>
          <a:prstGeom xmlns:a="http://schemas.openxmlformats.org/drawingml/2006/main" prst="rect">
            <a:avLst/>
          </a:prstGeom>
        </p:spPr>
      </p:pic>
      <p:sp>
        <p:nvSpPr>
          <p:cNvPr id="5" name="asu-stage">
            <a:extLst xmlns:a="http://schemas.openxmlformats.org/drawingml/2006/main">
              <a:ext uri="{FF2B5EF4-FFF2-40B4-BE49-F238E27FC236}">
                <a16:creationId xmlns:a16="http://schemas.microsoft.com/office/drawing/2014/main" id="{0453E37C-E0E8-4E61-8B7B-BCC2DBB6B2EB}"/>
              </a:ext>
            </a:extLst>
          </p:cNvPr>
          <p:cNvSpPr>
            <a:spLocks xmlns:a="http://schemas.openxmlformats.org/drawingml/2006/main" noGrp="1"/>
          </p:cNvSpPr>
          <p:nvPr/>
        </p:nvSpPr>
        <p:spPr>
          <a:xfrm xmlns:a="http://schemas.openxmlformats.org/drawingml/2006/main">
            <a:off x="609600" y="5257800"/>
            <a:ext cx="638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Simplified reconstruction of my 2024 proposal. Deployment and time savings were not established.</a:t>
            </a:r>
          </a:p>
        </p:txBody>
      </p:sp>
      <p:sp>
        <p:nvSpPr>
          <p:cNvPr id="6" name="slide-number">
            <a:extLst xmlns:a="http://schemas.openxmlformats.org/drawingml/2006/main">
              <a:ext uri="{FF2B5EF4-FFF2-40B4-BE49-F238E27FC236}">
                <a16:creationId xmlns:a16="http://schemas.microsoft.com/office/drawing/2014/main" id="{98C87005-4E43-4733-9DC2-CF0E5982B18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448711626"/>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A52D992-2D84-47EF-833E-B536FCC6D65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TRANSPERFECT   /   PROPOSED FIRST CONTRIBUTION</a:t>
            </a:r>
          </a:p>
        </p:txBody>
      </p:sp>
      <p:sp>
        <p:nvSpPr>
          <p:cNvPr id="2" name="headline">
            <a:extLst xmlns:a="http://schemas.openxmlformats.org/drawingml/2006/main">
              <a:ext uri="{FF2B5EF4-FFF2-40B4-BE49-F238E27FC236}">
                <a16:creationId xmlns:a16="http://schemas.microsoft.com/office/drawing/2014/main" id="{94F059D9-B662-4646-802F-6E2C205F7140}"/>
              </a:ext>
            </a:extLst>
          </p:cNvPr>
          <p:cNvSpPr>
            <a:spLocks xmlns:a="http://schemas.openxmlformats.org/drawingml/2006/main" noGrp="1"/>
          </p:cNvSpPr>
          <p:nvPr/>
        </p:nvSpPr>
        <p:spPr>
          <a:xfrm xmlns:a="http://schemas.openxmlformats.org/drawingml/2006/main">
            <a:off x="609600" y="1066800"/>
            <a:ext cx="10896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One procedure.</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 consistent learning set.</a:t>
            </a:r>
          </a:p>
        </p:txBody>
      </p:sp>
      <p:sp>
        <p:nvSpPr>
          <p:cNvPr id="3" name="proposal-intro">
            <a:extLst xmlns:a="http://schemas.openxmlformats.org/drawingml/2006/main">
              <a:ext uri="{FF2B5EF4-FFF2-40B4-BE49-F238E27FC236}">
                <a16:creationId xmlns:a16="http://schemas.microsoft.com/office/drawing/2014/main" id="{D1EB6225-8E8D-4572-8326-6FA2F20B3A88}"/>
              </a:ext>
            </a:extLst>
          </p:cNvPr>
          <p:cNvSpPr>
            <a:spLocks xmlns:a="http://schemas.openxmlformats.org/drawingml/2006/main" noGrp="1"/>
          </p:cNvSpPr>
          <p:nvPr/>
        </p:nvSpPr>
        <p:spPr>
          <a:xfrm xmlns:a="http://schemas.openxmlformats.org/drawingml/2006/main">
            <a:off x="609600" y="245745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For a technical procedure, I would work from approved source material with your subject matter expert to define the task and its success conditions.</a:t>
            </a:r>
          </a:p>
        </p:txBody>
      </p:sp>
      <p:sp>
        <p:nvSpPr>
          <p:cNvPr id="4" name="proposal-steps">
            <a:extLst xmlns:a="http://schemas.openxmlformats.org/drawingml/2006/main">
              <a:ext uri="{FF2B5EF4-FFF2-40B4-BE49-F238E27FC236}">
                <a16:creationId xmlns:a16="http://schemas.microsoft.com/office/drawing/2014/main" id="{A16857CF-C90B-47D4-ADD1-BAC20BABAB74}"/>
              </a:ext>
            </a:extLst>
          </p:cNvPr>
          <p:cNvSpPr>
            <a:spLocks xmlns:a="http://schemas.openxmlformats.org/drawingml/2006/main" noGrp="1"/>
          </p:cNvSpPr>
          <p:nvPr/>
        </p:nvSpPr>
        <p:spPr>
          <a:xfrm xmlns:a="http://schemas.openxmlformats.org/drawingml/2006/main">
            <a:off x="609600" y="3486150"/>
            <a:ext cx="10334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Storyboard the steps and the decisions learners must make.</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Connect the example to a job aid and a facilitator activity.</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Check a different scenario and explain the recovery choice.</a:t>
            </a:r>
          </a:p>
          <a:p xmlns:a="http://schemas.openxmlformats.org/drawingml/2006/main">
            <a:r>
              <a:t/>
            </a:r>
          </a:p>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Record the source owner and the materials affected by each update.</a:t>
            </a:r>
          </a:p>
        </p:txBody>
      </p:sp>
      <p:sp>
        <p:nvSpPr>
          <p:cNvPr id="5" name="proposal-boundary">
            <a:extLst xmlns:a="http://schemas.openxmlformats.org/drawingml/2006/main">
              <a:ext uri="{FF2B5EF4-FFF2-40B4-BE49-F238E27FC236}">
                <a16:creationId xmlns:a16="http://schemas.microsoft.com/office/drawing/2014/main" id="{C7D77FF1-C77E-4A57-8146-C0CB07260E37}"/>
              </a:ext>
            </a:extLst>
          </p:cNvPr>
          <p:cNvSpPr>
            <a:spLocks xmlns:a="http://schemas.openxmlformats.org/drawingml/2006/main" noGrp="1"/>
          </p:cNvSpPr>
          <p:nvPr/>
        </p:nvSpPr>
        <p:spPr>
          <a:xfrm xmlns:a="http://schemas.openxmlformats.org/drawingml/2006/main">
            <a:off x="609600" y="624840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Proposed approach for discussion; no satellite production experience or client access is implied.</a:t>
            </a:r>
          </a:p>
        </p:txBody>
      </p:sp>
      <p:sp>
        <p:nvSpPr>
          <p:cNvPr id="6" name="slide-number">
            <a:extLst xmlns:a="http://schemas.openxmlformats.org/drawingml/2006/main">
              <a:ext uri="{FF2B5EF4-FFF2-40B4-BE49-F238E27FC236}">
                <a16:creationId xmlns:a16="http://schemas.microsoft.com/office/drawing/2014/main" id="{32A34658-FDB5-4BD7-BF02-9DE757EC885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827873259"/>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6C4F084-44D2-4369-83C2-B0C0D40F92F5}"/>
              </a:ext>
            </a:extLst>
          </p:cNvPr>
          <p:cNvSpPr>
            <a:spLocks xmlns:a="http://schemas.openxmlformats.org/drawingml/2006/main" noGrp="1"/>
          </p:cNvSpPr>
          <p:nvPr/>
        </p:nvSpPr>
        <p:spPr>
          <a:xfrm xmlns:a="http://schemas.openxmlformats.org/drawingml/2006/main">
            <a:off x="609600" y="52387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TRANSPERFECT APPLICATION</a:t>
            </a:r>
          </a:p>
        </p:txBody>
      </p:sp>
      <p:sp>
        <p:nvSpPr>
          <p:cNvPr id="2" name="headline">
            <a:extLst xmlns:a="http://schemas.openxmlformats.org/drawingml/2006/main">
              <a:ext uri="{FF2B5EF4-FFF2-40B4-BE49-F238E27FC236}">
                <a16:creationId xmlns:a16="http://schemas.microsoft.com/office/drawing/2014/main" id="{3E13FF2A-75C6-4E83-AD93-8E40FF01AE89}"/>
              </a:ext>
            </a:extLst>
          </p:cNvPr>
          <p:cNvSpPr>
            <a:spLocks xmlns:a="http://schemas.openxmlformats.org/drawingml/2006/main" noGrp="1"/>
          </p:cNvSpPr>
          <p:nvPr/>
        </p:nvSpPr>
        <p:spPr>
          <a:xfrm xmlns:a="http://schemas.openxmlformats.org/drawingml/2006/main">
            <a:off x="609600" y="1457325"/>
            <a:ext cx="107632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Learning Experience</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Designer</a:t>
            </a:r>
          </a:p>
        </p:txBody>
      </p:sp>
      <p:sp>
        <p:nvSpPr>
          <p:cNvPr id="3" name="contact-intent">
            <a:extLst xmlns:a="http://schemas.openxmlformats.org/drawingml/2006/main">
              <a:ext uri="{FF2B5EF4-FFF2-40B4-BE49-F238E27FC236}">
                <a16:creationId xmlns:a16="http://schemas.microsoft.com/office/drawing/2014/main" id="{40C7C895-51CB-4CF4-AEA5-654825A49938}"/>
              </a:ext>
            </a:extLst>
          </p:cNvPr>
          <p:cNvSpPr>
            <a:spLocks xmlns:a="http://schemas.openxmlformats.org/drawingml/2006/main" noGrp="1"/>
          </p:cNvSpPr>
          <p:nvPr/>
        </p:nvSpPr>
        <p:spPr>
          <a:xfrm xmlns:a="http://schemas.openxmlformats.org/drawingml/2006/main">
            <a:off x="647700" y="3714750"/>
            <a:ext cx="100203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Based in Mesa, Arizona. Available for U.S. remote contracts.</a:t>
            </a:r>
          </a:p>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Authorized to work without sponsorship. Available ASAP.</a:t>
            </a:r>
          </a:p>
        </p:txBody>
      </p:sp>
      <p:sp>
        <p:nvSpPr>
          <p:cNvPr id="4" name="email">
            <a:extLst xmlns:a="http://schemas.openxmlformats.org/drawingml/2006/main">
              <a:ext uri="{FF2B5EF4-FFF2-40B4-BE49-F238E27FC236}">
                <a16:creationId xmlns:a16="http://schemas.microsoft.com/office/drawing/2014/main" id="{A2202BA4-C7D4-464E-A984-41002A173511}"/>
              </a:ext>
            </a:extLst>
          </p:cNvPr>
          <p:cNvSpPr>
            <a:spLocks xmlns:a="http://schemas.openxmlformats.org/drawingml/2006/main" noGrp="1"/>
          </p:cNvSpPr>
          <p:nvPr/>
        </p:nvSpPr>
        <p:spPr>
          <a:xfrm xmlns:a="http://schemas.openxmlformats.org/drawingml/2006/main">
            <a:off x="647700" y="51054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f0f02eb40f2f4b95"/>
              </a:rPr>
              <a:t>JonathanKyleHobson@gmail.com</a:t>
            </a:r>
          </a:p>
        </p:txBody>
      </p:sp>
      <p:sp>
        <p:nvSpPr>
          <p:cNvPr id="5" name="portfolio">
            <a:extLst xmlns:a="http://schemas.openxmlformats.org/drawingml/2006/main">
              <a:ext uri="{FF2B5EF4-FFF2-40B4-BE49-F238E27FC236}">
                <a16:creationId xmlns:a16="http://schemas.microsoft.com/office/drawing/2014/main" id="{77EB23CB-9CAD-40A3-9A77-7A6245DCFA7F}"/>
              </a:ext>
            </a:extLst>
          </p:cNvPr>
          <p:cNvSpPr>
            <a:spLocks xmlns:a="http://schemas.openxmlformats.org/drawingml/2006/main" noGrp="1"/>
          </p:cNvSpPr>
          <p:nvPr/>
        </p:nvSpPr>
        <p:spPr>
          <a:xfrm xmlns:a="http://schemas.openxmlformats.org/drawingml/2006/main">
            <a:off x="647700" y="57721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200c205ab6d14344"/>
              </a:rPr>
              <a:t>View the tailored TransPerfect portfolio</a:t>
            </a:r>
          </a:p>
        </p:txBody>
      </p:sp>
      <p:sp>
        <p:nvSpPr>
          <p:cNvPr id="6" name="slide-number">
            <a:extLst xmlns:a="http://schemas.openxmlformats.org/drawingml/2006/main">
              <a:ext uri="{FF2B5EF4-FFF2-40B4-BE49-F238E27FC236}">
                <a16:creationId xmlns:a16="http://schemas.microsoft.com/office/drawing/2014/main" id="{F1FF82E6-032B-47DE-A964-3C4F9FAF5EE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118596793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2026-09-08T19:16:33.8060000Z</dcterms:created>
  <dcterms:modified xsi:type="dcterms:W3CDTF">2026-09-08T19:16:33.8060000Z</dcterms:modified>
</coreProperties>
</file>