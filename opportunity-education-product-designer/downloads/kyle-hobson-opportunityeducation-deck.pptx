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4d136d6e054d49" /><Relationship Type="http://schemas.openxmlformats.org/officeDocument/2006/relationships/extended-properties" Target="/docProps/app.xml" Id="Rf6cb6414c404479b" /><Relationship Type="http://schemas.openxmlformats.org/officeDocument/2006/relationships/officeDocument" Target="/ppt/presentation.xml" Id="R22c07632f84649be" /></Relationships>
</file>

<file path=ppt/presentation.xml><?xml version="1.0" encoding="utf-8"?>
<p:presentation xmlns:p="http://schemas.openxmlformats.org/presentationml/2006/main">
  <p:sldMasterIdLst>
    <p:sldMasterId xmlns:r="http://schemas.openxmlformats.org/officeDocument/2006/relationships" id="2147483648" r:id="R4cb3fdc6c1564189"/>
  </p:sldMasterIdLst>
  <p:notesMasterIdLst>
    <p:notesMasterId xmlns:r="http://schemas.openxmlformats.org/officeDocument/2006/relationships" r:id="R5e4bf7c8f3234a68"/>
  </p:notesMasterIdLst>
  <p:sldIdLst>
    <p:sldId xmlns:r="http://schemas.openxmlformats.org/officeDocument/2006/relationships" id="256" r:id="R68df5183f687439d"/>
    <p:sldId xmlns:r="http://schemas.openxmlformats.org/officeDocument/2006/relationships" id="257" r:id="R61aa49a633d4472c"/>
    <p:sldId xmlns:r="http://schemas.openxmlformats.org/officeDocument/2006/relationships" id="258" r:id="Re5e326b5d1064932"/>
    <p:sldId xmlns:r="http://schemas.openxmlformats.org/officeDocument/2006/relationships" id="259" r:id="R8f6338f8c8674e71"/>
    <p:sldId xmlns:r="http://schemas.openxmlformats.org/officeDocument/2006/relationships" id="260" r:id="Re8da7dcd1a904538"/>
    <p:sldId xmlns:r="http://schemas.openxmlformats.org/officeDocument/2006/relationships" id="261" r:id="Re1e4f7fbcdc44dc8"/>
    <p:sldId xmlns:r="http://schemas.openxmlformats.org/officeDocument/2006/relationships" id="262" r:id="Rb6a167ca06144d8c"/>
    <p:sldId xmlns:r="http://schemas.openxmlformats.org/officeDocument/2006/relationships" id="263" r:id="R029e50dd6d7d47cc"/>
    <p:sldId xmlns:r="http://schemas.openxmlformats.org/officeDocument/2006/relationships" id="264" r:id="Rbe6119d009324a9a"/>
    <p:sldId xmlns:r="http://schemas.openxmlformats.org/officeDocument/2006/relationships" id="265" r:id="Rc0b14e5fa2a840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1fee45d09c413b" /><Relationship Type="http://schemas.openxmlformats.org/officeDocument/2006/relationships/slideMaster" Target="/ppt/slideMasters/slideMaster1.xml" Id="R4cb3fdc6c1564189" /><Relationship Type="http://schemas.openxmlformats.org/officeDocument/2006/relationships/notesMaster" Target="/ppt/notesMasters/notesMaster1.xml" Id="R5e4bf7c8f3234a68" /><Relationship Type="http://schemas.openxmlformats.org/officeDocument/2006/relationships/presProps" Target="/ppt/presProps.xml" Id="Reb4fd6981da740f0" /><Relationship Type="http://schemas.openxmlformats.org/officeDocument/2006/relationships/tableStyles" Target="/ppt/tableStyles.xml" Id="Re730009dde8c471f" /><Relationship Type="http://schemas.openxmlformats.org/officeDocument/2006/relationships/slide" Target="/ppt/slides/slide1.xml" Id="R68df5183f687439d" /><Relationship Type="http://schemas.openxmlformats.org/officeDocument/2006/relationships/slide" Target="/ppt/slides/slide2.xml" Id="R61aa49a633d4472c" /><Relationship Type="http://schemas.openxmlformats.org/officeDocument/2006/relationships/slide" Target="/ppt/slides/slide3.xml" Id="Re5e326b5d1064932" /><Relationship Type="http://schemas.openxmlformats.org/officeDocument/2006/relationships/slide" Target="/ppt/slides/slide4.xml" Id="R8f6338f8c8674e71" /><Relationship Type="http://schemas.openxmlformats.org/officeDocument/2006/relationships/slide" Target="/ppt/slides/slide5.xml" Id="Re8da7dcd1a904538" /><Relationship Type="http://schemas.openxmlformats.org/officeDocument/2006/relationships/slide" Target="/ppt/slides/slide6.xml" Id="Re1e4f7fbcdc44dc8" /><Relationship Type="http://schemas.openxmlformats.org/officeDocument/2006/relationships/slide" Target="/ppt/slides/slide7.xml" Id="Rb6a167ca06144d8c" /><Relationship Type="http://schemas.openxmlformats.org/officeDocument/2006/relationships/slide" Target="/ppt/slides/slide8.xml" Id="R029e50dd6d7d47cc" /><Relationship Type="http://schemas.openxmlformats.org/officeDocument/2006/relationships/slide" Target="/ppt/slides/slide9.xml" Id="Rbe6119d009324a9a" /><Relationship Type="http://schemas.openxmlformats.org/officeDocument/2006/relationships/slide" Target="/ppt/slides/slide10.xml" Id="Rc0b14e5fa2a840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1b22e337db46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8fbc19166b4e50" /><Relationship Type="http://schemas.openxmlformats.org/officeDocument/2006/relationships/notesMaster" Target="/ppt/notesMasters/notesMaster1.xml" Id="Rcfd883e2d50942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698dc2523646de" /><Relationship Type="http://schemas.openxmlformats.org/officeDocument/2006/relationships/notesMaster" Target="/ppt/notesMasters/notesMaster1.xml" Id="R53800143f64144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a2cafb1a5a464c" /><Relationship Type="http://schemas.openxmlformats.org/officeDocument/2006/relationships/notesMaster" Target="/ppt/notesMasters/notesMaster1.xml" Id="Rf4c9667a32c841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9254d4cf54480d" /><Relationship Type="http://schemas.openxmlformats.org/officeDocument/2006/relationships/notesMaster" Target="/ppt/notesMasters/notesMaster1.xml" Id="Rdabc011100024a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6b62806c0f4a85" /><Relationship Type="http://schemas.openxmlformats.org/officeDocument/2006/relationships/notesMaster" Target="/ppt/notesMasters/notesMaster1.xml" Id="Ra1619ea7af8d47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bb1bd54def4c55" /><Relationship Type="http://schemas.openxmlformats.org/officeDocument/2006/relationships/notesMaster" Target="/ppt/notesMasters/notesMaster1.xml" Id="Ra18ae07a2cab4b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cfb81aa8034073" /><Relationship Type="http://schemas.openxmlformats.org/officeDocument/2006/relationships/notesMaster" Target="/ppt/notesMasters/notesMaster1.xml" Id="Rcf020a22f5ca4f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229fbe0d3b41ad" /><Relationship Type="http://schemas.openxmlformats.org/officeDocument/2006/relationships/notesMaster" Target="/ppt/notesMasters/notesMaster1.xml" Id="R657bcafeed554b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02dbc7a14f45d9" /><Relationship Type="http://schemas.openxmlformats.org/officeDocument/2006/relationships/notesMaster" Target="/ppt/notesMasters/notesMaster1.xml" Id="R6468268cbd2442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0259486c074c89" /><Relationship Type="http://schemas.openxmlformats.org/officeDocument/2006/relationships/notesMaster" Target="/ppt/notesMasters/notesMaster1.xml" Id="R10350b1911dc41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Product Designer (Opportunity Education), https://opportunityeducation.org/product-designer/ . Opportunity Education is a prospective employer; the displayed projects are prior FactorLab, Oak and Coursera work. The undated standalone role page remains published, but the current hiring board has no openings; this is a future-work interest packet. Decorative cover uses existing canonical artwork and is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canonical design.json.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Flint original loading state and canonical design case waiting decision. This is a design exploration and discussion of constraints, not a measured wait-time reduction or evidence of a shipped animation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ai.json teaching-ai case, original 2024 lesson material and https://www.coursera.org/projects/chatgpt-beginners . Kyle created and taught the published project ChatGPT 4o for Beginners: Create Social Media Content. The crop preserves all original Task 3 goal text without changing source pixels: ai-course-goals.png x80 y85 w650 h370. Learning sequence and teaching materials are direct evidence; enrollment is not a learning-gain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teaching-ai case and original recorded revision instruction at 03:35. The screenshot preserves the historical interface and original text, including typos. Brew Bliss is fictional practice material. This slide shows teaching judgment, not a school deployment, controlled experiment or measured learner result. The retrospective check is a later reflection, not an assessment reported 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canonical design.json.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discovery and design approach based on the published role description, https://opportunityeducation.org/product-designer/ . This is not previous Opportunity Education work, a diagnosed product defect or a committed roadmap. Product analytics access, implementation ownership and classroom study findings are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portfolio and six background files are tailored for Opportunity Education’s published US-based fully remote role description. The current hiring board has no openings; this is future-work outreach. Kyle’s history combines research and hands-on product design; three years leading UI/UX design is not established by the reviewed evidence. Front-end coding proficiency is not claimed. Compensation is unpublished and no offer is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a26fa941044c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075f58e6344521" /><Relationship Type="http://schemas.openxmlformats.org/officeDocument/2006/relationships/slideLayout" Target="/ppt/slideLayouts/slideLayout1.xml" Id="Rb96490b286564c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6490b286564c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1feded0aec4204" /><Relationship Type="http://schemas.openxmlformats.org/officeDocument/2006/relationships/image" Target="/ppt/media/image.png" Id="R77afb57d8d3f41b7" /><Relationship Type="http://schemas.openxmlformats.org/officeDocument/2006/relationships/notesSlide" Target="/ppt/notesSlides/notesSlide1.xml" Id="R4bc6cdc5af5a42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9f6e3f5f8449b3" /><Relationship Type="http://schemas.openxmlformats.org/officeDocument/2006/relationships/image" Target="/ppt/media/image2.png" Id="R72ca956450a248a5" /><Relationship Type="http://schemas.openxmlformats.org/officeDocument/2006/relationships/notesSlide" Target="/ppt/notesSlides/notesSlide2.xml" Id="R3484babafe0444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88a06d731347ab" /><Relationship Type="http://schemas.openxmlformats.org/officeDocument/2006/relationships/image" Target="/ppt/media/image3.png" Id="R9e6b37742323475e" /><Relationship Type="http://schemas.openxmlformats.org/officeDocument/2006/relationships/notesSlide" Target="/ppt/notesSlides/notesSlide3.xml" Id="R71456014e96a4b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43f4a8b2a64836" /><Relationship Type="http://schemas.openxmlformats.org/officeDocument/2006/relationships/image" Target="/ppt/media/image4.png" Id="Rb9215ee640614bf5" /><Relationship Type="http://schemas.openxmlformats.org/officeDocument/2006/relationships/image" Target="/ppt/media/image5.png" Id="R2e64e258cf534941" /><Relationship Type="http://schemas.openxmlformats.org/officeDocument/2006/relationships/notesSlide" Target="/ppt/notesSlides/notesSlide4.xml" Id="R5f678d4fab474a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6500a670ed4352" /><Relationship Type="http://schemas.openxmlformats.org/officeDocument/2006/relationships/image" Target="/ppt/media/image6.png" Id="R221b5df65b5d4839" /><Relationship Type="http://schemas.openxmlformats.org/officeDocument/2006/relationships/notesSlide" Target="/ppt/notesSlides/notesSlide5.xml" Id="R4c0d5b56dc0947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3cd91c0e504331" /><Relationship Type="http://schemas.openxmlformats.org/officeDocument/2006/relationships/image" Target="/ppt/media/image7.png" Id="R5044f6a3efd8428c" /><Relationship Type="http://schemas.openxmlformats.org/officeDocument/2006/relationships/notesSlide" Target="/ppt/notesSlides/notesSlide6.xml" Id="R3a68ff8c49f643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d78979c13843b6" /><Relationship Type="http://schemas.openxmlformats.org/officeDocument/2006/relationships/image" Target="/ppt/media/image8.png" Id="R7f7cf54762e74a93" /><Relationship Type="http://schemas.openxmlformats.org/officeDocument/2006/relationships/image" Target="/ppt/media/image9.png" Id="R861d8073adb44321" /><Relationship Type="http://schemas.openxmlformats.org/officeDocument/2006/relationships/image" Target="/ppt/media/image10.png" Id="R26ef86c897cb424b" /><Relationship Type="http://schemas.openxmlformats.org/officeDocument/2006/relationships/notesSlide" Target="/ppt/notesSlides/notesSlide7.xml" Id="Rc828e9d3078b42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457afdbd204ac6" /><Relationship Type="http://schemas.openxmlformats.org/officeDocument/2006/relationships/image" Target="/ppt/media/image11.png" Id="R87367f93b87d4439" /><Relationship Type="http://schemas.openxmlformats.org/officeDocument/2006/relationships/notesSlide" Target="/ppt/notesSlides/notesSlide8.xml" Id="R4bfbfd22df564c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a7c60dddaa84f94" /><Relationship Type="http://schemas.openxmlformats.org/officeDocument/2006/relationships/notesSlide" Target="/ppt/notesSlides/notesSlide9.xml" Id="Rb543274c95f14a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aac25e23434641" /><Relationship Type="http://schemas.openxmlformats.org/officeDocument/2006/relationships/hyperlink" Target="mailto:JonathanKyleHobson@gmail.com" TargetMode="External" Id="Ree021e4a7cd54952" /><Relationship Type="http://schemas.openxmlformats.org/officeDocument/2006/relationships/hyperlink" Target="https://jonathankhobson.github.io/application-portfolios/opportunity-education-product-designer/" TargetMode="External" Id="R82bcde7d5e9b4765" /><Relationship Type="http://schemas.openxmlformats.org/officeDocument/2006/relationships/notesSlide" Target="/ppt/notesSlides/notesSlide10.xml" Id="R3eb8d2b63fc94504"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7afb57d8d3f41b7"/>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5C6B4347-AB5F-4CB2-BF7C-BBDDCE63B5CD}"/>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OPPORTUNITY EDUCATION · PRODUCT DESIGN</a:t>
            </a:r>
          </a:p>
        </p:txBody>
      </p:sp>
      <p:sp>
        <p:nvSpPr>
          <p:cNvPr id="3" name="headline">
            <a:extLst xmlns:a="http://schemas.openxmlformats.org/drawingml/2006/main">
              <a:ext uri="{FF2B5EF4-FFF2-40B4-BE49-F238E27FC236}">
                <a16:creationId xmlns:a16="http://schemas.microsoft.com/office/drawing/2014/main" id="{586E8607-DAD9-49F1-9E2A-2A5634F11082}"/>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Make the next step clear.</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Help learning continue.</a:t>
            </a:r>
          </a:p>
        </p:txBody>
      </p:sp>
      <p:sp>
        <p:nvSpPr>
          <p:cNvPr id="4" name="cover-intro">
            <a:extLst xmlns:a="http://schemas.openxmlformats.org/drawingml/2006/main">
              <a:ext uri="{FF2B5EF4-FFF2-40B4-BE49-F238E27FC236}">
                <a16:creationId xmlns:a16="http://schemas.microsoft.com/office/drawing/2014/main" id="{B75F72C3-9308-4C77-973A-4F6CECA2F499}"/>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Mobile and web interactions, clear feedback</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purposeful learning activities.</a:t>
            </a:r>
          </a:p>
        </p:txBody>
      </p:sp>
      <p:sp>
        <p:nvSpPr>
          <p:cNvPr id="5" name="cover-role">
            <a:extLst xmlns:a="http://schemas.openxmlformats.org/drawingml/2006/main">
              <a:ext uri="{FF2B5EF4-FFF2-40B4-BE49-F238E27FC236}">
                <a16:creationId xmlns:a16="http://schemas.microsoft.com/office/drawing/2014/main" id="{BF403DCC-42D8-465A-844D-51011C5B3BCA}"/>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Future design, research and contract work · September 2026</a:t>
            </a:r>
          </a:p>
        </p:txBody>
      </p:sp>
      <p:sp>
        <p:nvSpPr>
          <p:cNvPr id="6" name="slide-number">
            <a:extLst xmlns:a="http://schemas.openxmlformats.org/drawingml/2006/main">
              <a:ext uri="{FF2B5EF4-FFF2-40B4-BE49-F238E27FC236}">
                <a16:creationId xmlns:a16="http://schemas.microsoft.com/office/drawing/2014/main" id="{FCBAB377-0F30-4A82-9759-E58879A088B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07315520"/>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ADD1FFE-9B52-429A-A84E-18E11EEF0ED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2025–2026</a:t>
            </a:r>
          </a:p>
        </p:txBody>
      </p:sp>
      <p:sp>
        <p:nvSpPr>
          <p:cNvPr id="2" name="headline">
            <a:extLst xmlns:a="http://schemas.openxmlformats.org/drawingml/2006/main">
              <a:ext uri="{FF2B5EF4-FFF2-40B4-BE49-F238E27FC236}">
                <a16:creationId xmlns:a16="http://schemas.microsoft.com/office/drawing/2014/main" id="{2A1B4D08-77F6-4397-81F6-2B56649863A5}"/>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first question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easier to ask</a:t>
            </a:r>
          </a:p>
        </p:txBody>
      </p:sp>
      <p:sp>
        <p:nvSpPr>
          <p:cNvPr id="3" name="entry-decision">
            <a:extLst xmlns:a="http://schemas.openxmlformats.org/drawingml/2006/main">
              <a:ext uri="{FF2B5EF4-FFF2-40B4-BE49-F238E27FC236}">
                <a16:creationId xmlns:a16="http://schemas.microsoft.com/office/drawing/2014/main" id="{30D6E2FB-4DC0-44F2-BBC8-1FECD8C72CAE}"/>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D47DC514-E6DA-450F-9DA0-60AACA406EC8}"/>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2ca956450a248a5"/>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55859E2A-BFFD-46DA-B1D8-7FA1BBCF6AB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889295661"/>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D9D911F-6CBB-402E-BEAA-8DB92A4470B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RESPONSE IN PROGRESS</a:t>
            </a:r>
          </a:p>
        </p:txBody>
      </p:sp>
      <p:sp>
        <p:nvSpPr>
          <p:cNvPr id="2" name="headline">
            <a:extLst xmlns:a="http://schemas.openxmlformats.org/drawingml/2006/main">
              <a:ext uri="{FF2B5EF4-FFF2-40B4-BE49-F238E27FC236}">
                <a16:creationId xmlns:a16="http://schemas.microsoft.com/office/drawing/2014/main" id="{54D16B89-4C31-455F-96CB-AEF7FDC3C331}"/>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Keep the request visible</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while it runs</a:t>
            </a:r>
          </a:p>
        </p:txBody>
      </p:sp>
      <p:sp>
        <p:nvSpPr>
          <p:cNvPr id="3" name="waiting-need">
            <a:extLst xmlns:a="http://schemas.openxmlformats.org/drawingml/2006/main">
              <a:ext uri="{FF2B5EF4-FFF2-40B4-BE49-F238E27FC236}">
                <a16:creationId xmlns:a16="http://schemas.microsoft.com/office/drawing/2014/main" id="{DE817A92-EA53-4078-AE1F-DEA15B33E8C8}"/>
              </a:ext>
            </a:extLst>
          </p:cNvPr>
          <p:cNvSpPr>
            <a:spLocks xmlns:a="http://schemas.openxmlformats.org/drawingml/2006/main" noGrp="1"/>
          </p:cNvSpPr>
          <p:nvPr/>
        </p:nvSpPr>
        <p:spPr>
          <a:xfrm xmlns:a="http://schemas.openxmlformats.org/drawingml/2006/main">
            <a:off x="609600" y="3152775"/>
            <a:ext cx="58864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conversation needed to show that a request was still in progress, without making a new result appear before it existed.</a:t>
            </a:r>
          </a:p>
        </p:txBody>
      </p:sp>
      <p:sp>
        <p:nvSpPr>
          <p:cNvPr id="4" name="waiting-scope">
            <a:extLst xmlns:a="http://schemas.openxmlformats.org/drawingml/2006/main">
              <a:ext uri="{FF2B5EF4-FFF2-40B4-BE49-F238E27FC236}">
                <a16:creationId xmlns:a16="http://schemas.microsoft.com/office/drawing/2014/main" id="{1F960141-DBD1-4087-8FD2-4D6E114CCF63}"/>
              </a:ext>
            </a:extLst>
          </p:cNvPr>
          <p:cNvSpPr>
            <a:spLocks xmlns:a="http://schemas.openxmlformats.org/drawingml/2006/main" noGrp="1"/>
          </p:cNvSpPr>
          <p:nvPr/>
        </p:nvSpPr>
        <p:spPr>
          <a:xfrm xmlns:a="http://schemas.openxmlformats.org/drawingml/2006/main">
            <a:off x="609600" y="5086350"/>
            <a:ext cx="58864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explored waiting feedback within the existing conversation and worked through animation constraints with the product lead.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e6b37742323475e"/>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77F5BF37-CA7E-41D5-92C0-44FFA096FCF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125658639"/>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9E80A363-EE2A-4B31-9836-7BF7CADC43C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5BC5565B-969C-4948-965D-7AED98880583}"/>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7136759F-D523-4A95-A4CB-32C4C1738081}"/>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013FE636-4E3D-4580-BCF2-EA7C6B0AC39E}"/>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46D183AA-9E1E-4AC5-991B-11B1860935AD}"/>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F37AC70F-55C5-4465-B0A7-B8A252FD6872}"/>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9215ee640614bf5"/>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e64e258cf534941"/>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0ABF768E-E7FA-41AA-8207-372E58365A7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768260045"/>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B8DB03F9-D790-4462-900A-AB6C52ABD56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F0F16312-476E-4FE1-A818-3A9E04A55DB5}"/>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Make revision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the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learner can see</a:t>
            </a:r>
          </a:p>
        </p:txBody>
      </p:sp>
      <p:sp>
        <p:nvSpPr>
          <p:cNvPr id="3" name="teaching-rationale">
            <a:extLst xmlns:a="http://schemas.openxmlformats.org/drawingml/2006/main">
              <a:ext uri="{FF2B5EF4-FFF2-40B4-BE49-F238E27FC236}">
                <a16:creationId xmlns:a16="http://schemas.microsoft.com/office/drawing/2014/main" id="{A08EAE75-E45B-44F8-A05F-8BEDF69976EA}"/>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31ED716C-9414-4ED8-8826-95549E510D69}"/>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21b5df65b5d4839"/>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7E0D84BB-3BDF-4A04-81A4-A826F55A01F6}"/>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81DB5514-6184-4173-B74C-93F51F5D3B2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328832776"/>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276E3CF4-9244-4459-9083-22DAE2E0153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3A409AF3-B806-4C68-924D-5BBC9638C084}"/>
              </a:ext>
            </a:extLst>
          </p:cNvPr>
          <p:cNvSpPr>
            <a:spLocks xmlns:a="http://schemas.openxmlformats.org/drawingml/2006/main" noGrp="1"/>
          </p:cNvSpPr>
          <p:nvPr/>
        </p:nvSpPr>
        <p:spPr>
          <a:xfrm xmlns:a="http://schemas.openxmlformats.org/drawingml/2006/main">
            <a:off x="609600" y="1085850"/>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Turn a broad request</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into a specific revision</a:t>
            </a:r>
          </a:p>
        </p:txBody>
      </p:sp>
      <p:sp>
        <p:nvSpPr>
          <p:cNvPr id="3" name="revision-need">
            <a:extLst xmlns:a="http://schemas.openxmlformats.org/drawingml/2006/main">
              <a:ext uri="{FF2B5EF4-FFF2-40B4-BE49-F238E27FC236}">
                <a16:creationId xmlns:a16="http://schemas.microsoft.com/office/drawing/2014/main" id="{3E0A636C-D167-41E1-A789-408111C290F0}"/>
              </a:ext>
            </a:extLst>
          </p:cNvPr>
          <p:cNvSpPr>
            <a:spLocks xmlns:a="http://schemas.openxmlformats.org/drawingml/2006/main" noGrp="1"/>
          </p:cNvSpPr>
          <p:nvPr/>
        </p:nvSpPr>
        <p:spPr>
          <a:xfrm xmlns:a="http://schemas.openxmlformats.org/drawingml/2006/main">
            <a:off x="609600" y="3019425"/>
            <a:ext cx="523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 familiar café example gave beginners a draft to inspect and an instruction to change.</a:t>
            </a:r>
          </a:p>
        </p:txBody>
      </p:sp>
      <p:sp>
        <p:nvSpPr>
          <p:cNvPr id="4" name="revision-check">
            <a:extLst xmlns:a="http://schemas.openxmlformats.org/drawingml/2006/main">
              <a:ext uri="{FF2B5EF4-FFF2-40B4-BE49-F238E27FC236}">
                <a16:creationId xmlns:a16="http://schemas.microsoft.com/office/drawing/2014/main" id="{9CB619B7-ED31-4A75-BEB1-C92C0E356F03}"/>
              </a:ext>
            </a:extLst>
          </p:cNvPr>
          <p:cNvSpPr>
            <a:spLocks xmlns:a="http://schemas.openxmlformats.org/drawingml/2006/main" noGrp="1"/>
          </p:cNvSpPr>
          <p:nvPr/>
        </p:nvSpPr>
        <p:spPr>
          <a:xfrm xmlns:a="http://schemas.openxmlformats.org/drawingml/2006/main">
            <a:off x="609600" y="4772025"/>
            <a:ext cx="5238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revised answer added detail. In my retrospective, I would make factual checks and length limits more explicit.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044f6a3efd8428c"/>
          <a:stretch xmlns:a="http://schemas.openxmlformats.org/drawingml/2006/main"/>
        </p:blipFill>
        <p:spPr>
          <a:xfrm xmlns:a="http://schemas.openxmlformats.org/drawingml/2006/main">
            <a:off x="6572250" y="3478584"/>
            <a:ext cx="4991100" cy="681883"/>
          </a:xfrm>
          <a:prstGeom xmlns:a="http://schemas.openxmlformats.org/drawingml/2006/main" prst="rect">
            <a:avLst/>
          </a:prstGeom>
        </p:spPr>
      </p:pic>
      <p:sp>
        <p:nvSpPr>
          <p:cNvPr id="6" name="revision-caption">
            <a:extLst xmlns:a="http://schemas.openxmlformats.org/drawingml/2006/main">
              <a:ext uri="{FF2B5EF4-FFF2-40B4-BE49-F238E27FC236}">
                <a16:creationId xmlns:a16="http://schemas.microsoft.com/office/drawing/2014/main" id="{5031156F-F056-4B19-ABB1-A1C0F5B5ED3B}"/>
              </a:ext>
            </a:extLst>
          </p:cNvPr>
          <p:cNvSpPr>
            <a:spLocks xmlns:a="http://schemas.openxmlformats.org/drawingml/2006/main" noGrp="1"/>
          </p:cNvSpPr>
          <p:nvPr/>
        </p:nvSpPr>
        <p:spPr>
          <a:xfrm xmlns:a="http://schemas.openxmlformats.org/drawingml/2006/main">
            <a:off x="6572250" y="6115050"/>
            <a:ext cx="4991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2024 recording, Task 3 · 03:35</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Fictional practice brand · unchanged source excerpt</a:t>
            </a:r>
          </a:p>
        </p:txBody>
      </p:sp>
      <p:sp>
        <p:nvSpPr>
          <p:cNvPr id="7" name="slide-number">
            <a:extLst xmlns:a="http://schemas.openxmlformats.org/drawingml/2006/main">
              <a:ext uri="{FF2B5EF4-FFF2-40B4-BE49-F238E27FC236}">
                <a16:creationId xmlns:a16="http://schemas.microsoft.com/office/drawing/2014/main" id="{199470BA-F0E4-4A87-9E3C-5570F049BD6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616616124"/>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C1B5F095-FD17-439A-AC48-B443574F3F8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5AC66693-C286-4BB7-9245-FC55326CBB85}"/>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FED15233-505E-41D1-BE08-83217771911C}"/>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64DB0C06-6E16-4934-B15B-1E6530E4EF45}"/>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4FB8E5B9-2609-45F5-8F75-60E9D77212DF}"/>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74878883-F2A4-4507-9A23-36392C95F39B}"/>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f7cf54762e74a93"/>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61d8073adb44321"/>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0785CA49-179F-49F8-9031-C0CB9F476B42}"/>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6ef86c897cb424b"/>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89A2169F-10B8-4F71-99C4-A45D7286077E}"/>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DA778DBA-1C6B-4959-9B6D-A993702443D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44563839"/>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641110B-DD49-49E2-9967-B913243F8C1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9B216AC5-661E-4E48-8BE2-797AE05AB92D}"/>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Give color</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defined job</a:t>
            </a:r>
          </a:p>
        </p:txBody>
      </p:sp>
      <p:sp>
        <p:nvSpPr>
          <p:cNvPr id="3" name="color-purpose">
            <a:extLst xmlns:a="http://schemas.openxmlformats.org/drawingml/2006/main">
              <a:ext uri="{FF2B5EF4-FFF2-40B4-BE49-F238E27FC236}">
                <a16:creationId xmlns:a16="http://schemas.microsoft.com/office/drawing/2014/main" id="{FE5C9B14-B8D7-4462-A436-132113AB4A69}"/>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72341A37-05CE-4F79-93B5-C70C8133657B}"/>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7367f93b87d4439"/>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265AECD4-765D-4BFE-BD1E-C8B98002099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615806871"/>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8B763DBE-51F6-4C71-9F22-41CBB7E00E1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LEARNING OPPORTUNITY EDUCATION’S PRODUCTS</a:t>
            </a:r>
          </a:p>
        </p:txBody>
      </p:sp>
      <p:sp>
        <p:nvSpPr>
          <p:cNvPr id="2" name="headline">
            <a:extLst xmlns:a="http://schemas.openxmlformats.org/drawingml/2006/main">
              <a:ext uri="{FF2B5EF4-FFF2-40B4-BE49-F238E27FC236}">
                <a16:creationId xmlns:a16="http://schemas.microsoft.com/office/drawing/2014/main" id="{41669D3C-DC5B-4215-AF2E-0CE479323FBF}"/>
              </a:ext>
            </a:extLst>
          </p:cNvPr>
          <p:cNvSpPr>
            <a:spLocks xmlns:a="http://schemas.openxmlformats.org/drawingml/2006/main" noGrp="1"/>
          </p:cNvSpPr>
          <p:nvPr/>
        </p:nvSpPr>
        <p:spPr>
          <a:xfrm xmlns:a="http://schemas.openxmlformats.org/drawingml/2006/main">
            <a:off x="609600" y="1076325"/>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Follow one learning task end to end</a:t>
            </a:r>
          </a:p>
        </p:txBody>
      </p:sp>
      <p:sp>
        <p:nvSpPr>
          <p:cNvPr id="3" name="purpose-heading">
            <a:extLst xmlns:a="http://schemas.openxmlformats.org/drawingml/2006/main">
              <a:ext uri="{FF2B5EF4-FFF2-40B4-BE49-F238E27FC236}">
                <a16:creationId xmlns:a16="http://schemas.microsoft.com/office/drawing/2014/main" id="{C8F6A7F2-7785-440B-9CEC-96BE3F082924}"/>
              </a:ext>
            </a:extLst>
          </p:cNvPr>
          <p:cNvSpPr>
            <a:spLocks xmlns:a="http://schemas.openxmlformats.org/drawingml/2006/main" noGrp="1"/>
          </p:cNvSpPr>
          <p:nvPr/>
        </p:nvSpPr>
        <p:spPr>
          <a:xfrm xmlns:a="http://schemas.openxmlformats.org/drawingml/2006/main">
            <a:off x="609600" y="2952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Learn the classroom task</a:t>
            </a:r>
          </a:p>
        </p:txBody>
      </p:sp>
      <p:sp>
        <p:nvSpPr>
          <p:cNvPr id="4" name="purpose-body">
            <a:extLst xmlns:a="http://schemas.openxmlformats.org/drawingml/2006/main">
              <a:ext uri="{FF2B5EF4-FFF2-40B4-BE49-F238E27FC236}">
                <a16:creationId xmlns:a16="http://schemas.microsoft.com/office/drawing/2014/main" id="{693154FC-CFF6-4A1C-A4E5-336C3459B43E}"/>
              </a:ext>
            </a:extLst>
          </p:cNvPr>
          <p:cNvSpPr>
            <a:spLocks xmlns:a="http://schemas.openxmlformats.org/drawingml/2006/main" noGrp="1"/>
          </p:cNvSpPr>
          <p:nvPr/>
        </p:nvSpPr>
        <p:spPr>
          <a:xfrm xmlns:a="http://schemas.openxmlformats.org/drawingml/2006/main">
            <a:off x="609600" y="35052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Observe the teacher or learner. Identify</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what they need to understand and where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the flow interrupts their work.</a:t>
            </a:r>
          </a:p>
        </p:txBody>
      </p:sp>
      <p:sp>
        <p:nvSpPr>
          <p:cNvPr id="5" name="structure-heading">
            <a:extLst xmlns:a="http://schemas.openxmlformats.org/drawingml/2006/main">
              <a:ext uri="{FF2B5EF4-FFF2-40B4-BE49-F238E27FC236}">
                <a16:creationId xmlns:a16="http://schemas.microsoft.com/office/drawing/2014/main" id="{D5ACC312-9AE5-4210-8A80-05C2BE9FC24F}"/>
              </a:ext>
            </a:extLst>
          </p:cNvPr>
          <p:cNvSpPr>
            <a:spLocks xmlns:a="http://schemas.openxmlformats.org/drawingml/2006/main" noGrp="1"/>
          </p:cNvSpPr>
          <p:nvPr/>
        </p:nvSpPr>
        <p:spPr>
          <a:xfrm xmlns:a="http://schemas.openxmlformats.org/drawingml/2006/main">
            <a:off x="6705600" y="2952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Connect feedback to a next step</a:t>
            </a:r>
          </a:p>
        </p:txBody>
      </p:sp>
      <p:sp>
        <p:nvSpPr>
          <p:cNvPr id="6" name="structure-body">
            <a:extLst xmlns:a="http://schemas.openxmlformats.org/drawingml/2006/main">
              <a:ext uri="{FF2B5EF4-FFF2-40B4-BE49-F238E27FC236}">
                <a16:creationId xmlns:a16="http://schemas.microsoft.com/office/drawing/2014/main" id="{7F3C15AA-9D89-491D-8AC8-2FA41D7F1085}"/>
              </a:ext>
            </a:extLst>
          </p:cNvPr>
          <p:cNvSpPr>
            <a:spLocks xmlns:a="http://schemas.openxmlformats.org/drawingml/2006/main" noGrp="1"/>
          </p:cNvSpPr>
          <p:nvPr/>
        </p:nvSpPr>
        <p:spPr>
          <a:xfrm xmlns:a="http://schemas.openxmlformats.org/drawingml/2006/main">
            <a:off x="6705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Review instructions and interaction states.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Make progress, errors and recovery clear</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across mobile and web.</a:t>
            </a:r>
          </a:p>
        </p:txBody>
      </p:sp>
      <p:sp>
        <p:nvSpPr>
          <p:cNvPr id="7" name="compare-heading">
            <a:extLst xmlns:a="http://schemas.openxmlformats.org/drawingml/2006/main">
              <a:ext uri="{FF2B5EF4-FFF2-40B4-BE49-F238E27FC236}">
                <a16:creationId xmlns:a16="http://schemas.microsoft.com/office/drawing/2014/main" id="{7B31BB2C-A880-4C7E-816E-433ABF83CCC4}"/>
              </a:ext>
            </a:extLst>
          </p:cNvPr>
          <p:cNvSpPr>
            <a:spLocks xmlns:a="http://schemas.openxmlformats.org/drawingml/2006/main" noGrp="1"/>
          </p:cNvSpPr>
          <p:nvPr/>
        </p:nvSpPr>
        <p:spPr>
          <a:xfrm xmlns:a="http://schemas.openxmlformats.org/drawingml/2006/main">
            <a:off x="609600" y="4857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Work within real constraints</a:t>
            </a:r>
          </a:p>
        </p:txBody>
      </p:sp>
      <p:sp>
        <p:nvSpPr>
          <p:cNvPr id="8" name="compare-body">
            <a:extLst xmlns:a="http://schemas.openxmlformats.org/drawingml/2006/main">
              <a:ext uri="{FF2B5EF4-FFF2-40B4-BE49-F238E27FC236}">
                <a16:creationId xmlns:a16="http://schemas.microsoft.com/office/drawing/2014/main" id="{2C44FF5D-DC1B-4F93-8711-FC0AF5DF80E5}"/>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Compare a small flow with the team.</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Reuse components and discuss data,</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accessibility and engineering needs.</a:t>
            </a:r>
          </a:p>
        </p:txBody>
      </p:sp>
      <p:sp>
        <p:nvSpPr>
          <p:cNvPr id="9" name="handoff-heading">
            <a:extLst xmlns:a="http://schemas.openxmlformats.org/drawingml/2006/main">
              <a:ext uri="{FF2B5EF4-FFF2-40B4-BE49-F238E27FC236}">
                <a16:creationId xmlns:a16="http://schemas.microsoft.com/office/drawing/2014/main" id="{2E93BEBA-7F2E-4B8C-BE42-D8E777C0906F}"/>
              </a:ext>
            </a:extLst>
          </p:cNvPr>
          <p:cNvSpPr>
            <a:spLocks xmlns:a="http://schemas.openxmlformats.org/drawingml/2006/main" noGrp="1"/>
          </p:cNvSpPr>
          <p:nvPr/>
        </p:nvSpPr>
        <p:spPr>
          <a:xfrm xmlns:a="http://schemas.openxmlformats.org/drawingml/2006/main">
            <a:off x="6705600" y="4857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Check understanding before scope</a:t>
            </a:r>
          </a:p>
        </p:txBody>
      </p:sp>
      <p:sp>
        <p:nvSpPr>
          <p:cNvPr id="10" name="handoff-body">
            <a:extLst xmlns:a="http://schemas.openxmlformats.org/drawingml/2006/main">
              <a:ext uri="{FF2B5EF4-FFF2-40B4-BE49-F238E27FC236}">
                <a16:creationId xmlns:a16="http://schemas.microsoft.com/office/drawing/2014/main" id="{235538D4-4229-412F-90BC-5E36D0B5C285}"/>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Test whether people understand the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next action. Read feedback and available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analytics to inform the next priority.</a:t>
            </a:r>
          </a:p>
        </p:txBody>
      </p:sp>
      <p:sp>
        <p:nvSpPr>
          <p:cNvPr id="11" name="slide-number">
            <a:extLst xmlns:a="http://schemas.openxmlformats.org/drawingml/2006/main">
              <a:ext uri="{FF2B5EF4-FFF2-40B4-BE49-F238E27FC236}">
                <a16:creationId xmlns:a16="http://schemas.microsoft.com/office/drawing/2014/main" id="{308FAA74-BC35-4AB9-8B75-F528D7EC86A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805040901"/>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DB0A08F-24CA-45DD-AA73-58100D7DF7F8}"/>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OPPORTUNITY EDUCATION · PRODUCT DESIGN</a:t>
            </a:r>
          </a:p>
        </p:txBody>
      </p:sp>
      <p:sp>
        <p:nvSpPr>
          <p:cNvPr id="2" name="headline">
            <a:extLst xmlns:a="http://schemas.openxmlformats.org/drawingml/2006/main">
              <a:ext uri="{FF2B5EF4-FFF2-40B4-BE49-F238E27FC236}">
                <a16:creationId xmlns:a16="http://schemas.microsoft.com/office/drawing/2014/main" id="{2DE52A47-C57B-498C-A0AD-E316E9E9984E}"/>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make learning tools</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easier to use</a:t>
            </a:r>
          </a:p>
        </p:txBody>
      </p:sp>
      <p:sp>
        <p:nvSpPr>
          <p:cNvPr id="3" name="contact-intent">
            <a:extLst xmlns:a="http://schemas.openxmlformats.org/drawingml/2006/main">
              <a:ext uri="{FF2B5EF4-FFF2-40B4-BE49-F238E27FC236}">
                <a16:creationId xmlns:a16="http://schemas.microsoft.com/office/drawing/2014/main" id="{42563770-737A-4D1A-AA1F-608F204579E9}"/>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285DB1B0-7A4E-474E-84A7-0F122212ACA5}"/>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ee021e4a7cd54952"/>
              </a:rPr>
              <a:t>JonathanKyleHobson@gmail.com</a:t>
            </a:r>
          </a:p>
        </p:txBody>
      </p:sp>
      <p:sp>
        <p:nvSpPr>
          <p:cNvPr id="5" name="portfolio">
            <a:extLst xmlns:a="http://schemas.openxmlformats.org/drawingml/2006/main">
              <a:ext uri="{FF2B5EF4-FFF2-40B4-BE49-F238E27FC236}">
                <a16:creationId xmlns:a16="http://schemas.microsoft.com/office/drawing/2014/main" id="{2D60B808-77AB-4644-B099-0A4087CA13BD}"/>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82bcde7d5e9b4765"/>
              </a:rPr>
              <a:t>jonathankhobson.github.io/application-portfolios/opportunity-education-product-designer</a:t>
            </a:r>
          </a:p>
        </p:txBody>
      </p:sp>
      <p:sp>
        <p:nvSpPr>
          <p:cNvPr id="6" name="slide-number">
            <a:extLst xmlns:a="http://schemas.openxmlformats.org/drawingml/2006/main">
              <a:ext uri="{FF2B5EF4-FFF2-40B4-BE49-F238E27FC236}">
                <a16:creationId xmlns:a16="http://schemas.microsoft.com/office/drawing/2014/main" id="{D7559333-2B11-432E-B7C6-36F27A6E0E7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81754626"/>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2026-09-09T03:03:03.3870000Z</dcterms:created>
  <dcterms:modified xsi:type="dcterms:W3CDTF">2026-09-09T03:03:03.3870000Z</dcterms:modified>
</coreProperties>
</file>