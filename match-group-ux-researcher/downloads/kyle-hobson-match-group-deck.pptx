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3542c8191854279" /><Relationship Type="http://schemas.openxmlformats.org/officeDocument/2006/relationships/extended-properties" Target="/docProps/app.xml" Id="R1eb46a31a1b745ce" /><Relationship Type="http://schemas.openxmlformats.org/officeDocument/2006/relationships/officeDocument" Target="/ppt/presentation.xml" Id="R80b1a05d53474c3f" /></Relationships>
</file>

<file path=ppt/presentation.xml><?xml version="1.0" encoding="utf-8"?>
<p:presentation xmlns:p="http://schemas.openxmlformats.org/presentationml/2006/main">
  <p:sldMasterIdLst>
    <p:sldMasterId xmlns:r="http://schemas.openxmlformats.org/officeDocument/2006/relationships" id="2147483648" r:id="Rc7fbe61a21194c07"/>
  </p:sldMasterIdLst>
  <p:notesMasterIdLst>
    <p:notesMasterId xmlns:r="http://schemas.openxmlformats.org/officeDocument/2006/relationships" r:id="Ra15166cbc5cb4cb5"/>
  </p:notesMasterIdLst>
  <p:sldIdLst>
    <p:sldId xmlns:r="http://schemas.openxmlformats.org/officeDocument/2006/relationships" id="256" r:id="Rd26346b155024d82"/>
    <p:sldId xmlns:r="http://schemas.openxmlformats.org/officeDocument/2006/relationships" id="257" r:id="R3e74dd1dfb34444f"/>
    <p:sldId xmlns:r="http://schemas.openxmlformats.org/officeDocument/2006/relationships" id="258" r:id="R187061b585634c9e"/>
    <p:sldId xmlns:r="http://schemas.openxmlformats.org/officeDocument/2006/relationships" id="259" r:id="R37b4b614c2414e32"/>
    <p:sldId xmlns:r="http://schemas.openxmlformats.org/officeDocument/2006/relationships" id="260" r:id="Re7d094d2892a4629"/>
    <p:sldId xmlns:r="http://schemas.openxmlformats.org/officeDocument/2006/relationships" id="261" r:id="R653b8979aad94690"/>
    <p:sldId xmlns:r="http://schemas.openxmlformats.org/officeDocument/2006/relationships" id="262" r:id="R9969544896134cf3"/>
    <p:sldId xmlns:r="http://schemas.openxmlformats.org/officeDocument/2006/relationships" id="263" r:id="R55ff65627945410b"/>
    <p:sldId xmlns:r="http://schemas.openxmlformats.org/officeDocument/2006/relationships" id="264" r:id="R1db7bf0057d24f88"/>
    <p:sldId xmlns:r="http://schemas.openxmlformats.org/officeDocument/2006/relationships" id="265" r:id="R3abec57cbf2f4740"/>
    <p:sldId xmlns:r="http://schemas.openxmlformats.org/officeDocument/2006/relationships" id="266" r:id="R41f5283902b0430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1ba723b7c7d4b28" /><Relationship Type="http://schemas.openxmlformats.org/officeDocument/2006/relationships/slideMaster" Target="/ppt/slideMasters/slideMaster1.xml" Id="Rc7fbe61a21194c07" /><Relationship Type="http://schemas.openxmlformats.org/officeDocument/2006/relationships/notesMaster" Target="/ppt/notesMasters/notesMaster1.xml" Id="Ra15166cbc5cb4cb5" /><Relationship Type="http://schemas.openxmlformats.org/officeDocument/2006/relationships/presProps" Target="/ppt/presProps.xml" Id="R6296bfac31ca411a" /><Relationship Type="http://schemas.openxmlformats.org/officeDocument/2006/relationships/tableStyles" Target="/ppt/tableStyles.xml" Id="R00aa46be0cba426c" /><Relationship Type="http://schemas.openxmlformats.org/officeDocument/2006/relationships/slide" Target="/ppt/slides/slide1.xml" Id="Rd26346b155024d82" /><Relationship Type="http://schemas.openxmlformats.org/officeDocument/2006/relationships/slide" Target="/ppt/slides/slide2.xml" Id="R3e74dd1dfb34444f" /><Relationship Type="http://schemas.openxmlformats.org/officeDocument/2006/relationships/slide" Target="/ppt/slides/slide3.xml" Id="R187061b585634c9e" /><Relationship Type="http://schemas.openxmlformats.org/officeDocument/2006/relationships/slide" Target="/ppt/slides/slide4.xml" Id="R37b4b614c2414e32" /><Relationship Type="http://schemas.openxmlformats.org/officeDocument/2006/relationships/slide" Target="/ppt/slides/slide5.xml" Id="Re7d094d2892a4629" /><Relationship Type="http://schemas.openxmlformats.org/officeDocument/2006/relationships/slide" Target="/ppt/slides/slide6.xml" Id="R653b8979aad94690" /><Relationship Type="http://schemas.openxmlformats.org/officeDocument/2006/relationships/slide" Target="/ppt/slides/slide7.xml" Id="R9969544896134cf3" /><Relationship Type="http://schemas.openxmlformats.org/officeDocument/2006/relationships/slide" Target="/ppt/slides/slide8.xml" Id="R55ff65627945410b" /><Relationship Type="http://schemas.openxmlformats.org/officeDocument/2006/relationships/slide" Target="/ppt/slides/slide9.xml" Id="R1db7bf0057d24f88" /><Relationship Type="http://schemas.openxmlformats.org/officeDocument/2006/relationships/slide" Target="/ppt/slides/slide10.xml" Id="R3abec57cbf2f4740" /><Relationship Type="http://schemas.openxmlformats.org/officeDocument/2006/relationships/slide" Target="/ppt/slides/slide11.xml" Id="R41f5283902b0430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8875573567b4de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6fda53a2e774df2" /><Relationship Type="http://schemas.openxmlformats.org/officeDocument/2006/relationships/notesMaster" Target="/ppt/notesMasters/notesMaster1.xml" Id="Rb00518744f7b4801" /></Relationships>
</file>

<file path=ppt/notesSlides/_rels/notesSlide2.xml.rels>&#65279;<?xml version="1.0" encoding="utf-8"?><Relationships xmlns="http://schemas.openxmlformats.org/package/2006/relationships"><Relationship Type="http://schemas.openxmlformats.org/officeDocument/2006/relationships/slide" Target="/ppt/slides/slide2.xml" Id="R249c700abdaa4034" /><Relationship Type="http://schemas.openxmlformats.org/officeDocument/2006/relationships/notesMaster" Target="/ppt/notesMasters/notesMaster1.xml" Id="R190544903cac4abc" /></Relationships>
</file>

<file path=ppt/notesSlides/_rels/notesSlide3.xml.rels>&#65279;<?xml version="1.0" encoding="utf-8"?><Relationships xmlns="http://schemas.openxmlformats.org/package/2006/relationships"><Relationship Type="http://schemas.openxmlformats.org/officeDocument/2006/relationships/slide" Target="/ppt/slides/slide3.xml" Id="R7603b07e3a834b2d" /><Relationship Type="http://schemas.openxmlformats.org/officeDocument/2006/relationships/notesMaster" Target="/ppt/notesMasters/notesMaster1.xml" Id="Rb14d467d1f284566" /></Relationships>
</file>

<file path=ppt/notesSlides/_rels/notesSlide4.xml.rels>&#65279;<?xml version="1.0" encoding="utf-8"?><Relationships xmlns="http://schemas.openxmlformats.org/package/2006/relationships"><Relationship Type="http://schemas.openxmlformats.org/officeDocument/2006/relationships/slide" Target="/ppt/slides/slide4.xml" Id="R2146af41f0ec4c10" /><Relationship Type="http://schemas.openxmlformats.org/officeDocument/2006/relationships/notesMaster" Target="/ppt/notesMasters/notesMaster1.xml" Id="R26c7b79e87214fbd" /></Relationships>
</file>

<file path=ppt/notesSlides/_rels/notesSlide5.xml.rels>&#65279;<?xml version="1.0" encoding="utf-8"?><Relationships xmlns="http://schemas.openxmlformats.org/package/2006/relationships"><Relationship Type="http://schemas.openxmlformats.org/officeDocument/2006/relationships/slide" Target="/ppt/slides/slide5.xml" Id="Rae71161de13b47e8" /><Relationship Type="http://schemas.openxmlformats.org/officeDocument/2006/relationships/notesMaster" Target="/ppt/notesMasters/notesMaster1.xml" Id="Rf5c9bab032cf4121" /></Relationships>
</file>

<file path=ppt/notesSlides/_rels/notesSlide6.xml.rels>&#65279;<?xml version="1.0" encoding="utf-8"?><Relationships xmlns="http://schemas.openxmlformats.org/package/2006/relationships"><Relationship Type="http://schemas.openxmlformats.org/officeDocument/2006/relationships/slide" Target="/ppt/slides/slide6.xml" Id="R657487c62b324fa8" /><Relationship Type="http://schemas.openxmlformats.org/officeDocument/2006/relationships/notesMaster" Target="/ppt/notesMasters/notesMaster1.xml" Id="Rc702bde11dc5425a" /></Relationships>
</file>

<file path=ppt/notesSlides/_rels/notesSlide7.xml.rels>&#65279;<?xml version="1.0" encoding="utf-8"?><Relationships xmlns="http://schemas.openxmlformats.org/package/2006/relationships"><Relationship Type="http://schemas.openxmlformats.org/officeDocument/2006/relationships/slide" Target="/ppt/slides/slide7.xml" Id="R33c8fcc94cc446de" /><Relationship Type="http://schemas.openxmlformats.org/officeDocument/2006/relationships/notesMaster" Target="/ppt/notesMasters/notesMaster1.xml" Id="Re123f1fadfec459c" /></Relationships>
</file>

<file path=ppt/notesSlides/_rels/notesSlide8.xml.rels>&#65279;<?xml version="1.0" encoding="utf-8"?><Relationships xmlns="http://schemas.openxmlformats.org/package/2006/relationships"><Relationship Type="http://schemas.openxmlformats.org/officeDocument/2006/relationships/slide" Target="/ppt/slides/slide8.xml" Id="R42b0a590f907469c" /><Relationship Type="http://schemas.openxmlformats.org/officeDocument/2006/relationships/notesMaster" Target="/ppt/notesMasters/notesMaster1.xml" Id="R7e0dde4fe969478c" /></Relationships>
</file>

<file path=ppt/notesSlides/_rels/notesSlide9.xml.rels>&#65279;<?xml version="1.0" encoding="utf-8"?><Relationships xmlns="http://schemas.openxmlformats.org/package/2006/relationships"><Relationship Type="http://schemas.openxmlformats.org/officeDocument/2006/relationships/slide" Target="/ppt/slides/slide9.xml" Id="Rbdcf9559a9614f33" /><Relationship Type="http://schemas.openxmlformats.org/officeDocument/2006/relationships/notesMaster" Target="/ppt/notesMasters/notesMaster1.xml" Id="Re11b0a1b4a874d8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1b7264113f44fe4" /><Relationship Type="http://schemas.openxmlformats.org/officeDocument/2006/relationships/notesMaster" Target="/ppt/notesMasters/notesMaster1.xml" Id="R4a7bf449966d458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cd8114011164f14" /><Relationship Type="http://schemas.openxmlformats.org/officeDocument/2006/relationships/notesMaster" Target="/ppt/notesMasters/notesMaster1.xml" Id="R8b55177b609144d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Kyle Hobson, UX Researcher. Selected work at Oak AI and Oak + Qasim. The cover uses a generated decorative paper-path image, not project evidence. The following cases show research methods, evidence, product decisions and the limits on each conclusion.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 Oak + Qasim audience survey, March 2025. Kyle’s reviewed portfolio identifies his role as leading survey design, launch and analysis. Original source: Survey #1 Phase 2 — Findings Report: Understanding Audience Pain Points &amp; Value-Aligned Actions, page 4. The report records 1,459 complete submissions as of March 14, 2025 while the survey remained live. This is a voluntary creator/advocacy audience sample, with predominantly older, female and highly educated respondents. Self-reported needs and preferences do not establish future behavior.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Oak + Qasim March 2025 findings report, page 14, shown unchanged at left. Native editable chart reproduces the report’s values: decision fatigue 60%; financial constraints 40%; time limitations 38%; lack of clear action steps 35%; trust issues 20%. The chart workbook is a new snapshot of these literal reported values, not the original response data. Per-item denominators, skip logic and response-level quality checks were not recovered. These are reported survey percentages, not independently recalculated estimates or population prevalence.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March 2025 report pages 14–15 and Kyle’s retrospective portfolio discussion of an Action Hub direction. This slide is an editable synthesis connecting reported barriers and feature requests to a proposed product direction. It does not show an implemented product, verified adoption, funding secured, or a causal outcome. The final sentence proposes a next validation step for the portfolio narrative; it is not a claim that the test occurred.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 Oak AI privacy-community research, September 2024. Original evidence: a partial Dovetail coding export and synthesis notes with observations dated September 25–28 and entries created September 29–30. Kyle’s contribution log corroborates community synthesis and persona validation. The displayed source plate is reformatted from the coding export; this crop selects the first three metadata rows, with no participant excerpts or locators. The retrospective also describes later active engagement; the partial export does not establish the full sampling frame.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original September 2024 coding export and synthesis; reviewed career evidence and retrospective case narrative. Themes include data security, corporate accountability and personal control. This visual is a retrospective portfolio synthesis, not a historical presentation artifact or a set of respondent quotations. The crop shows the three interpretive questions; the original full plate links those questions to source tags. The work raised concerns about audience fit and supported reconsidering the next research investment. It did not prove product-market fit impossible or establish a quantified budget saving. A next study should compare concrete needs and current workarounds across explicitly recruited audiences.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 Oak AI desktop heuristic evaluation. Original evaluation workbook identifies Mac desktop/Chrome and November 22, 2023. Kyle conducted the heuristic evaluation and UX audit, examined information architecture, and compiled findings and recommendations. The original navigation detail shows competing entry points. This is expert judgment, not a controlled user study. The workbook contains 94 rated desktop checklist rows; those are neither 94 participants nor 94 distinct observed user failures. A completed mobile audit is not evidenced.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original Oak desktop evaluation and error-messaging recommendation artifact. The shown crops retain original interface pixels and exclude the identity-bearing example field. Original and Proposed labels distinguish the existing interface from the recommendation. The evaluation identified error feedback that did not explain recovery, and the recommendation made a specific correction visible near the password field. This is a recommendation, not a measured usability improvement or a claim that the exact variant shipped.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original desktop heuristic evaluation dated November 22, 2023; recommendations report exported November 27, 2023; Kyle’s contribution log for December 3, 2023 documents presenting the evaluation and recommendations, then initiating a UX improvement list for transformation into a backlog. It does not establish delivery of a completed prioritized backlog on that date. The January 29, 2024 contribution entry credits lead designer Megan with later design refinements and mockup iterations. This slide documents the research handoff, not a shipping or outcome metric. Next validation would observe realistic navigation and error-recovery tasks; future methods named in the report are not presented as completed studies.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working approach for Match Group Affinity. This is not a completed dating-product study or a claim of prior work for Match Group. The methods would depend on the decision, available product evidence, recruitment needs and study constraints. No participant count, study schedule, result or rate acceptance is promised. The portrait is user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Prepared for the Match Group Affinity six-month UX Researcher opening. The portfolio destination is configured as a hyperlink. Availability for discussion does not imply acceptance of the advertised compensation.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13a38e1d5074ec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9be3f4ca34442f0" /><Relationship Type="http://schemas.openxmlformats.org/officeDocument/2006/relationships/slideLayout" Target="/ppt/slideLayouts/slideLayout1.xml" Id="Rca3088e48a304fc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a3088e48a304fc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f716b060a2b4bf4" /><Relationship Type="http://schemas.openxmlformats.org/officeDocument/2006/relationships/image" Target="/ppt/media/image.png" Id="Rcc1685f038f24cc7" /><Relationship Type="http://schemas.openxmlformats.org/officeDocument/2006/relationships/notesSlide" Target="/ppt/notesSlides/notesSlide1.xml" Id="Ra8deb6882c71402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5aa5f2625084179" /><Relationship Type="http://schemas.openxmlformats.org/officeDocument/2006/relationships/image" Target="/ppt/media/image2.png" Id="Rd5ccbe9efe0d44c0" /><Relationship Type="http://schemas.openxmlformats.org/officeDocument/2006/relationships/notesSlide" Target="/ppt/notesSlides/notesSlide2.xml" Id="Rf9b136dcc61146f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0afe156d82d4d62" /><Relationship Type="http://schemas.openxmlformats.org/officeDocument/2006/relationships/image" Target="/ppt/media/image3.png" Id="R1466c3ad37044661" /><Relationship Type="http://schemas.openxmlformats.org/officeDocument/2006/relationships/chart" Target="/ppt/slides/charts/chart1.xml" Id="R27072c1e6bb34911" /><Relationship Type="http://schemas.openxmlformats.org/officeDocument/2006/relationships/notesSlide" Target="/ppt/notesSlides/notesSlide3.xml" Id="Rff6cc8a27048421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a1c6dc174294d5f" /><Relationship Type="http://schemas.openxmlformats.org/officeDocument/2006/relationships/notesSlide" Target="/ppt/notesSlides/notesSlide4.xml" Id="R471187cfdaa7452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bece39ff58d4e21" /><Relationship Type="http://schemas.openxmlformats.org/officeDocument/2006/relationships/image" Target="/ppt/media/image4.png" Id="R044fdf110e53497f" /><Relationship Type="http://schemas.openxmlformats.org/officeDocument/2006/relationships/notesSlide" Target="/ppt/notesSlides/notesSlide5.xml" Id="R8b5aa1bf1b824a9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35056bc396a4bef" /><Relationship Type="http://schemas.openxmlformats.org/officeDocument/2006/relationships/image" Target="/ppt/media/image5.png" Id="Re587c360798e437f" /><Relationship Type="http://schemas.openxmlformats.org/officeDocument/2006/relationships/notesSlide" Target="/ppt/notesSlides/notesSlide6.xml" Id="R0a37cd8b212b452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eb534c32db3405b" /><Relationship Type="http://schemas.openxmlformats.org/officeDocument/2006/relationships/image" Target="/ppt/media/image6.png" Id="Rbd7692539cf84058" /><Relationship Type="http://schemas.openxmlformats.org/officeDocument/2006/relationships/notesSlide" Target="/ppt/notesSlides/notesSlide7.xml" Id="Ra1957f805d43486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2ae5eeb2bca424d" /><Relationship Type="http://schemas.openxmlformats.org/officeDocument/2006/relationships/image" Target="/ppt/media/image7.png" Id="R6c79d7c7edd84b1f" /><Relationship Type="http://schemas.openxmlformats.org/officeDocument/2006/relationships/image" Target="/ppt/media/image8.png" Id="R21857ad692434f35" /><Relationship Type="http://schemas.openxmlformats.org/officeDocument/2006/relationships/image" Target="/ppt/media/image9.png" Id="R544cd61647ce405e" /><Relationship Type="http://schemas.openxmlformats.org/officeDocument/2006/relationships/notesSlide" Target="/ppt/notesSlides/notesSlide8.xml" Id="R24949743f11445c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d67bcb973564cf6" /><Relationship Type="http://schemas.openxmlformats.org/officeDocument/2006/relationships/notesSlide" Target="/ppt/notesSlides/notesSlide9.xml" Id="Rd3e11a6f22b24e4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e0d34953e2d49cd" /><Relationship Type="http://schemas.openxmlformats.org/officeDocument/2006/relationships/image" Target="/ppt/media/image.jpeg" Id="Re9d36fd34e234d62" /><Relationship Type="http://schemas.openxmlformats.org/officeDocument/2006/relationships/notesSlide" Target="/ppt/notesSlides/notesSlide10.xml" Id="R139a26abf2334d0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0d40495e8a34898" /><Relationship Type="http://schemas.openxmlformats.org/officeDocument/2006/relationships/hyperlink" Target="mailto:JonathanKyleHobson@gmail.com" TargetMode="External" Id="R6a6580e07c914548" /><Relationship Type="http://schemas.openxmlformats.org/officeDocument/2006/relationships/hyperlink" Target="https://jonathankhobson.github.io/application-portfolios/match-group-ux-researcher/" TargetMode="External" Id="R6278416129b84e48" /><Relationship Type="http://schemas.openxmlformats.org/officeDocument/2006/relationships/notesSlide" Target="/ppt/notesSlides/notesSlide11.xml" Id="Rf191bc16eeaf426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Reported barrier</c:v>
          </c:tx>
          <c:spPr>
            <a:solidFill xmlns:a="http://schemas.openxmlformats.org/drawingml/2006/main">
              <a:srgbClr val="244D3C"/>
            </a:solidFill>
          </c:spPr>
          <c:cat>
            <c:strRef>
              <c:f>'Chart Data'!$A$2:$A$6</c:f>
              <c:strCache>
                <c:ptCount val="5"/>
                <c:pt idx="0">
                  <c:v>Trust issues</c:v>
                </c:pt>
                <c:pt idx="1">
                  <c:v>Unclear action steps</c:v>
                </c:pt>
                <c:pt idx="2">
                  <c:v>Time limitations</c:v>
                </c:pt>
                <c:pt idx="3">
                  <c:v>Financial constraints</c:v>
                </c:pt>
                <c:pt idx="4">
                  <c:v>Decision fatigue</c:v>
                </c:pt>
              </c:strCache>
            </c:strRef>
          </c:cat>
          <c:val>
            <c:numRef>
              <c:f>'Chart Data'!$B$2:$B$6</c:f>
              <c:numCache>
                <c:formatCode>0%</c:formatCode>
                <c:ptCount val="5"/>
                <c:pt idx="0">
                  <c:v>0.2</c:v>
                </c:pt>
                <c:pt idx="1">
                  <c:v>0.35</c:v>
                </c:pt>
                <c:pt idx="2">
                  <c:v>0.38</c:v>
                </c:pt>
                <c:pt idx="3">
                  <c:v>0.4</c:v>
                </c:pt>
                <c:pt idx="4">
                  <c:v>0.6</c:v>
                </c:pt>
              </c:numCache>
            </c:numRef>
          </c:val>
        </c:ser>
        <c:dLbls>
          <c:txPr>
            <a:bodyPr xmlns:a="http://schemas.openxmlformats.org/drawingml/2006/main" anchorCtr="1"/>
            <a:lstStyle xmlns:a="http://schemas.openxmlformats.org/drawingml/2006/main"/>
            <a:p xmlns:a="http://schemas.openxmlformats.org/drawingml/2006/main">
              <a:pPr>
                <a:defRPr sz="1800" b="1">
                  <a:solidFill>
                    <a:srgbClr val="244D3C"/>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62"/>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75">
                <a:solidFill>
                  <a:srgbClr val="192B25"/>
                </a:solidFill>
                <a:latin typeface="Helvetica Neue"/>
                <a:ea typeface="Helvetica Neue"/>
                <a:cs typeface="Helvetica Neue"/>
              </a:defRPr>
            </a:pPr>
          </a:p>
        </c:txPr>
        <c:crossAx val="48672768"/>
      </c:catAx>
      <c:valAx>
        <c:axId val="48672768"/>
        <c:scaling>
          <c:orientation val="minMax"/>
          <c:max val="0.7"/>
          <c:min val="0"/>
        </c:scaling>
        <c:delete val="0"/>
        <c:axPos val="b"/>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58645D"/>
                </a:solidFill>
                <a:latin typeface="Helvetica Neue"/>
                <a:ea typeface="Helvetica Neue"/>
                <a:cs typeface="Helvetica Neue"/>
              </a:defRPr>
            </a:pPr>
          </a:p>
        </c:txPr>
        <c:crossAx val="48650112"/>
        <c:crossBetween val="between"/>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cc1685f038f24cc7"/>
          <a:srcRect xmlns:a="http://schemas.openxmlformats.org/drawingml/2006/main" l="0" t="7813" r="0" b="781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ection-label">
            <a:extLst xmlns:a="http://schemas.openxmlformats.org/drawingml/2006/main">
              <a:ext uri="{FF2B5EF4-FFF2-40B4-BE49-F238E27FC236}">
                <a16:creationId xmlns:a16="http://schemas.microsoft.com/office/drawing/2014/main" id="{93F30D33-EDD6-4915-9DFE-8BF1F04876D6}"/>
              </a:ext>
            </a:extLst>
          </p:cNvPr>
          <p:cNvSpPr>
            <a:spLocks xmlns:a="http://schemas.openxmlformats.org/drawingml/2006/main" noGrp="1"/>
          </p:cNvSpPr>
          <p:nvPr/>
        </p:nvSpPr>
        <p:spPr>
          <a:xfrm xmlns:a="http://schemas.openxmlformats.org/drawingml/2006/main">
            <a:off x="609600" y="514350"/>
            <a:ext cx="685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KYLE HOBSON   /   MATCH GROUP · UX RESEARCH</a:t>
            </a:r>
          </a:p>
        </p:txBody>
      </p:sp>
      <p:sp>
        <p:nvSpPr>
          <p:cNvPr id="3" name="headline">
            <a:extLst xmlns:a="http://schemas.openxmlformats.org/drawingml/2006/main">
              <a:ext uri="{FF2B5EF4-FFF2-40B4-BE49-F238E27FC236}">
                <a16:creationId xmlns:a16="http://schemas.microsoft.com/office/drawing/2014/main" id="{CDA9AD44-FAC4-441F-A9FB-0B6194BF0F77}"/>
              </a:ext>
            </a:extLst>
          </p:cNvPr>
          <p:cNvSpPr>
            <a:spLocks xmlns:a="http://schemas.openxmlformats.org/drawingml/2006/main" noGrp="1"/>
          </p:cNvSpPr>
          <p:nvPr/>
        </p:nvSpPr>
        <p:spPr>
          <a:xfrm xmlns:a="http://schemas.openxmlformats.org/drawingml/2006/main">
            <a:off x="609600" y="1552575"/>
            <a:ext cx="8086725"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500" b="1">
                <a:solidFill>
                  <a:srgbClr val="192B25"/>
                </a:solidFill>
                <a:latin typeface="Helvetica Neue"/>
                <a:ea typeface="Helvetica Neue"/>
                <a:cs typeface="Helvetica Neue"/>
              </a:defRPr>
            </a:pPr>
            <a:r>
              <a:rPr sz="4500" b="1">
                <a:solidFill>
                  <a:srgbClr val="192B25"/>
                </a:solidFill>
                <a:latin typeface="Helvetica Neue"/>
                <a:ea typeface="Helvetica Neue"/>
                <a:cs typeface="Helvetica Neue"/>
              </a:rPr>
              <a:t>Research for the</a:t>
            </a:r>
          </a:p>
          <a:p xmlns:a="http://schemas.openxmlformats.org/drawingml/2006/main">
            <a:pPr>
              <a:lnSpc>
                <a:spcPct val="110000"/>
              </a:lnSpc>
              <a:buNone/>
              <a:defRPr sz="4500" b="1">
                <a:solidFill>
                  <a:srgbClr val="192B25"/>
                </a:solidFill>
                <a:latin typeface="Helvetica Neue"/>
                <a:ea typeface="Helvetica Neue"/>
                <a:cs typeface="Helvetica Neue"/>
              </a:defRPr>
            </a:pPr>
            <a:r>
              <a:rPr sz="4500" b="1">
                <a:solidFill>
                  <a:srgbClr val="192B25"/>
                </a:solidFill>
                <a:latin typeface="Helvetica Neue"/>
                <a:ea typeface="Helvetica Neue"/>
                <a:cs typeface="Helvetica Neue"/>
              </a:rPr>
              <a:t>next product decision</a:t>
            </a:r>
          </a:p>
        </p:txBody>
      </p:sp>
      <p:sp>
        <p:nvSpPr>
          <p:cNvPr id="4" name="cover-intro">
            <a:extLst xmlns:a="http://schemas.openxmlformats.org/drawingml/2006/main">
              <a:ext uri="{FF2B5EF4-FFF2-40B4-BE49-F238E27FC236}">
                <a16:creationId xmlns:a16="http://schemas.microsoft.com/office/drawing/2014/main" id="{004D9996-7D89-4BA8-AEAA-95AAB932A73B}"/>
              </a:ext>
            </a:extLst>
          </p:cNvPr>
          <p:cNvSpPr>
            <a:spLocks xmlns:a="http://schemas.openxmlformats.org/drawingml/2006/main" noGrp="1"/>
          </p:cNvSpPr>
          <p:nvPr/>
        </p:nvSpPr>
        <p:spPr>
          <a:xfrm xmlns:a="http://schemas.openxmlformats.org/drawingml/2006/main">
            <a:off x="647700" y="3971925"/>
            <a:ext cx="72294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Mixed methods research into audience needs,</a:t>
            </a:r>
          </a:p>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barriers, and the next product decision.</a:t>
            </a:r>
          </a:p>
        </p:txBody>
      </p:sp>
      <p:sp>
        <p:nvSpPr>
          <p:cNvPr id="5" name="cover-scope">
            <a:extLst xmlns:a="http://schemas.openxmlformats.org/drawingml/2006/main">
              <a:ext uri="{FF2B5EF4-FFF2-40B4-BE49-F238E27FC236}">
                <a16:creationId xmlns:a16="http://schemas.microsoft.com/office/drawing/2014/main" id="{174E43DD-5E21-4A8E-BCED-48499B4A0FB6}"/>
              </a:ext>
            </a:extLst>
          </p:cNvPr>
          <p:cNvSpPr>
            <a:spLocks xmlns:a="http://schemas.openxmlformats.org/drawingml/2006/main" noGrp="1"/>
          </p:cNvSpPr>
          <p:nvPr/>
        </p:nvSpPr>
        <p:spPr>
          <a:xfrm xmlns:a="http://schemas.openxmlformats.org/drawingml/2006/main">
            <a:off x="647700" y="6000750"/>
            <a:ext cx="657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0">
                <a:solidFill>
                  <a:srgbClr val="192B25"/>
                </a:solidFill>
                <a:latin typeface="Helvetica Neue"/>
                <a:ea typeface="Helvetica Neue"/>
                <a:cs typeface="Helvetica Neue"/>
              </a:defRPr>
            </a:pPr>
            <a:r>
              <a:rPr sz="1425" b="0">
                <a:solidFill>
                  <a:srgbClr val="192B25"/>
                </a:solidFill>
                <a:latin typeface="Helvetica Neue"/>
                <a:ea typeface="Helvetica Neue"/>
                <a:cs typeface="Helvetica Neue"/>
              </a:rPr>
              <a:t>Selected for Match Group Affinity · September 2026</a:t>
            </a:r>
          </a:p>
        </p:txBody>
      </p:sp>
      <p:sp>
        <p:nvSpPr>
          <p:cNvPr id="6" name="slide-number">
            <a:extLst xmlns:a="http://schemas.openxmlformats.org/drawingml/2006/main">
              <a:ext uri="{FF2B5EF4-FFF2-40B4-BE49-F238E27FC236}">
                <a16:creationId xmlns:a16="http://schemas.microsoft.com/office/drawing/2014/main" id="{044A3DAA-9AC1-4BF1-986D-76471640045F}"/>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01</a:t>
            </a:r>
          </a:p>
        </p:txBody>
      </p:sp>
    </p:spTree>
    <p:extLst>
      <p:ext uri="{BB962C8B-B14F-4D97-AF65-F5344CB8AC3E}">
        <p14:creationId xmlns:p14="http://schemas.microsoft.com/office/powerpoint/2010/main" val="1209858003"/>
      </p:ext>
    </p:extLst>
  </p:cSld>
</p:sld>
</file>

<file path=ppt/slides/slide2.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9" name="section-label">
            <a:extLst xmlns:a="http://schemas.openxmlformats.org/drawingml/2006/main">
              <a:ext uri="{FF2B5EF4-FFF2-40B4-BE49-F238E27FC236}">
                <a16:creationId xmlns:a16="http://schemas.microsoft.com/office/drawing/2014/main" id="{98DC83A8-EED6-4218-AF62-DCEC9A4D1DEB}"/>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 QASIM   /   AUDIENCE SURVEY, MARCH 2025</a:t>
            </a:r>
          </a:p>
        </p:txBody>
      </p:sp>
      <p:sp>
        <p:nvSpPr>
          <p:cNvPr id="2" name="headline">
            <a:extLst xmlns:a="http://schemas.openxmlformats.org/drawingml/2006/main">
              <a:ext uri="{FF2B5EF4-FFF2-40B4-BE49-F238E27FC236}">
                <a16:creationId xmlns:a16="http://schemas.microsoft.com/office/drawing/2014/main" id="{AB806151-34B6-4A07-81F8-533CE25E825D}"/>
              </a:ext>
            </a:extLst>
          </p:cNvPr>
          <p:cNvSpPr>
            <a:spLocks xmlns:a="http://schemas.openxmlformats.org/drawingml/2006/main" noGrp="1"/>
          </p:cNvSpPr>
          <p:nvPr/>
        </p:nvSpPr>
        <p:spPr>
          <a:xfrm xmlns:a="http://schemas.openxmlformats.org/drawingml/2006/main">
            <a:off x="609600" y="1104900"/>
            <a:ext cx="54197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What keeps interest</a:t>
            </a:r>
          </a:p>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from becoming action?</a:t>
            </a:r>
          </a:p>
        </p:txBody>
      </p:sp>
      <p:sp>
        <p:nvSpPr>
          <p:cNvPr id="3" name="survey-role">
            <a:extLst xmlns:a="http://schemas.openxmlformats.org/drawingml/2006/main">
              <a:ext uri="{FF2B5EF4-FFF2-40B4-BE49-F238E27FC236}">
                <a16:creationId xmlns:a16="http://schemas.microsoft.com/office/drawing/2014/main" id="{EAFCC120-2A7D-4B08-B9AC-8BBF1471B3E9}"/>
              </a:ext>
            </a:extLst>
          </p:cNvPr>
          <p:cNvSpPr>
            <a:spLocks xmlns:a="http://schemas.openxmlformats.org/drawingml/2006/main" noGrp="1"/>
          </p:cNvSpPr>
          <p:nvPr/>
        </p:nvSpPr>
        <p:spPr>
          <a:xfrm xmlns:a="http://schemas.openxmlformats.org/drawingml/2006/main">
            <a:off x="609600" y="2781300"/>
            <a:ext cx="52673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1">
                <a:solidFill>
                  <a:srgbClr val="244D3C"/>
                </a:solidFill>
                <a:latin typeface="Helvetica Neue"/>
                <a:ea typeface="Helvetica Neue"/>
                <a:cs typeface="Helvetica Neue"/>
              </a:defRPr>
            </a:pPr>
            <a:r>
              <a:rPr sz="1575" b="1">
                <a:solidFill>
                  <a:srgbClr val="244D3C"/>
                </a:solidFill>
                <a:latin typeface="Helvetica Neue"/>
                <a:ea typeface="Helvetica Neue"/>
                <a:cs typeface="Helvetica Neue"/>
              </a:rPr>
              <a:t>I led survey design, launch and analysis.</a:t>
            </a:r>
          </a:p>
        </p:txBody>
      </p:sp>
      <p:sp>
        <p:nvSpPr>
          <p:cNvPr id="4" name="survey-method">
            <a:extLst xmlns:a="http://schemas.openxmlformats.org/drawingml/2006/main">
              <a:ext uri="{FF2B5EF4-FFF2-40B4-BE49-F238E27FC236}">
                <a16:creationId xmlns:a16="http://schemas.microsoft.com/office/drawing/2014/main" id="{1D45FCEA-081C-4685-9FCA-5F8DE0B10947}"/>
              </a:ext>
            </a:extLst>
          </p:cNvPr>
          <p:cNvSpPr>
            <a:spLocks xmlns:a="http://schemas.openxmlformats.org/drawingml/2006/main" noGrp="1"/>
          </p:cNvSpPr>
          <p:nvPr/>
        </p:nvSpPr>
        <p:spPr>
          <a:xfrm xmlns:a="http://schemas.openxmlformats.org/drawingml/2006/main">
            <a:off x="609600" y="3533775"/>
            <a:ext cx="494347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I combined structured questions about barriers with open responses about what would help.</a:t>
            </a:r>
          </a:p>
        </p:txBody>
      </p:sp>
      <p:sp>
        <p:nvSpPr>
          <p:cNvPr id="5" name="survey-tradeoff">
            <a:extLst xmlns:a="http://schemas.openxmlformats.org/drawingml/2006/main">
              <a:ext uri="{FF2B5EF4-FFF2-40B4-BE49-F238E27FC236}">
                <a16:creationId xmlns:a16="http://schemas.microsoft.com/office/drawing/2014/main" id="{7206F0E5-014C-4B7D-AA5B-BB0156878C95}"/>
              </a:ext>
            </a:extLst>
          </p:cNvPr>
          <p:cNvSpPr>
            <a:spLocks xmlns:a="http://schemas.openxmlformats.org/drawingml/2006/main" noGrp="1"/>
          </p:cNvSpPr>
          <p:nvPr/>
        </p:nvSpPr>
        <p:spPr>
          <a:xfrm xmlns:a="http://schemas.openxmlformats.org/drawingml/2006/main">
            <a:off x="609600" y="5019675"/>
            <a:ext cx="49434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0">
                <a:solidFill>
                  <a:srgbClr val="58645D"/>
                </a:solidFill>
                <a:latin typeface="Helvetica Neue"/>
                <a:ea typeface="Helvetica Neue"/>
                <a:cs typeface="Helvetica Neue"/>
              </a:defRPr>
            </a:pPr>
            <a:r>
              <a:rPr sz="1650" b="0">
                <a:solidFill>
                  <a:srgbClr val="58645D"/>
                </a:solidFill>
                <a:latin typeface="Helvetica Neue"/>
                <a:ea typeface="Helvetica Neue"/>
                <a:cs typeface="Helvetica Neue"/>
              </a:rPr>
              <a:t>A voluntary audience sample surfaced reported needs. It could not establish future use or purchase.</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d5ccbe9efe0d44c0"/>
          <a:stretch xmlns:a="http://schemas.openxmlformats.org/drawingml/2006/main"/>
        </p:blipFill>
        <p:spPr>
          <a:xfrm xmlns:a="http://schemas.openxmlformats.org/drawingml/2006/main">
            <a:off x="6438900" y="1896618"/>
            <a:ext cx="5086350" cy="3255264"/>
          </a:xfrm>
          <a:prstGeom xmlns:a="http://schemas.openxmlformats.org/drawingml/2006/main" prst="rect">
            <a:avLst/>
          </a:prstGeom>
        </p:spPr>
      </p:pic>
      <p:sp>
        <p:nvSpPr>
          <p:cNvPr id="7" name="sample-caption">
            <a:extLst xmlns:a="http://schemas.openxmlformats.org/drawingml/2006/main">
              <a:ext uri="{FF2B5EF4-FFF2-40B4-BE49-F238E27FC236}">
                <a16:creationId xmlns:a16="http://schemas.microsoft.com/office/drawing/2014/main" id="{FBBEC59B-FFC6-4194-AF4B-622E61900126}"/>
              </a:ext>
            </a:extLst>
          </p:cNvPr>
          <p:cNvSpPr>
            <a:spLocks xmlns:a="http://schemas.openxmlformats.org/drawingml/2006/main" noGrp="1"/>
          </p:cNvSpPr>
          <p:nvPr/>
        </p:nvSpPr>
        <p:spPr>
          <a:xfrm xmlns:a="http://schemas.openxmlformats.org/drawingml/2006/main">
            <a:off x="6477000" y="5629275"/>
            <a:ext cx="49434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00" b="1">
                <a:solidFill>
                  <a:srgbClr val="244D3C"/>
                </a:solidFill>
                <a:latin typeface="Helvetica Neue"/>
                <a:ea typeface="Helvetica Neue"/>
                <a:cs typeface="Helvetica Neue"/>
              </a:defRPr>
            </a:pPr>
            <a:r>
              <a:rPr sz="1500" b="1">
                <a:solidFill>
                  <a:srgbClr val="244D3C"/>
                </a:solidFill>
                <a:latin typeface="Helvetica Neue"/>
                <a:ea typeface="Helvetica Neue"/>
                <a:cs typeface="Helvetica Neue"/>
              </a:rPr>
              <a:t>1,459 complete submissions</a:t>
            </a:r>
          </a:p>
          <a:p xmlns:a="http://schemas.openxmlformats.org/drawingml/2006/main">
            <a:pPr>
              <a:lnSpc>
                <a:spcPct val="110000"/>
              </a:lnSpc>
              <a:buNone/>
              <a:defRPr sz="1500" b="1">
                <a:solidFill>
                  <a:srgbClr val="244D3C"/>
                </a:solidFill>
                <a:latin typeface="Helvetica Neue"/>
                <a:ea typeface="Helvetica Neue"/>
                <a:cs typeface="Helvetica Neue"/>
              </a:defRPr>
            </a:pPr>
            <a:r>
              <a:rPr sz="1500" b="1">
                <a:solidFill>
                  <a:srgbClr val="244D3C"/>
                </a:solidFill>
                <a:latin typeface="Helvetica Neue"/>
                <a:ea typeface="Helvetica Neue"/>
                <a:cs typeface="Helvetica Neue"/>
              </a:rPr>
              <a:t>March 14, 2025 · survey still live</a:t>
            </a:r>
          </a:p>
        </p:txBody>
      </p:sp>
      <p:sp>
        <p:nvSpPr>
          <p:cNvPr id="8" name="slide-number">
            <a:extLst xmlns:a="http://schemas.openxmlformats.org/drawingml/2006/main">
              <a:ext uri="{FF2B5EF4-FFF2-40B4-BE49-F238E27FC236}">
                <a16:creationId xmlns:a16="http://schemas.microsoft.com/office/drawing/2014/main" id="{6F4FF043-C445-4EC8-B438-64A32F644804}"/>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02</a:t>
            </a:r>
          </a:p>
        </p:txBody>
      </p:sp>
    </p:spTree>
    <p:extLst>
      <p:ext uri="{BB962C8B-B14F-4D97-AF65-F5344CB8AC3E}">
        <p14:creationId xmlns:p14="http://schemas.microsoft.com/office/powerpoint/2010/main" val="425105174"/>
      </p:ext>
    </p:extLst>
  </p:cSld>
</p:sld>
</file>

<file path=ppt/slides/slide3.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38D761FC-7622-4440-86EF-CE8F8D0182ED}"/>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 QASIM   /   REPORTED BARRIERS</a:t>
            </a:r>
          </a:p>
        </p:txBody>
      </p:sp>
      <p:sp>
        <p:nvSpPr>
          <p:cNvPr id="2" name="headline">
            <a:extLst xmlns:a="http://schemas.openxmlformats.org/drawingml/2006/main">
              <a:ext uri="{FF2B5EF4-FFF2-40B4-BE49-F238E27FC236}">
                <a16:creationId xmlns:a16="http://schemas.microsoft.com/office/drawing/2014/main" id="{4CFBDF35-8002-4384-A470-A9D510C0DB27}"/>
              </a:ext>
            </a:extLst>
          </p:cNvPr>
          <p:cNvSpPr>
            <a:spLocks xmlns:a="http://schemas.openxmlformats.org/drawingml/2006/main" noGrp="1"/>
          </p:cNvSpPr>
          <p:nvPr/>
        </p:nvSpPr>
        <p:spPr>
          <a:xfrm xmlns:a="http://schemas.openxmlformats.org/drawingml/2006/main">
            <a:off x="609600" y="1104900"/>
            <a:ext cx="109442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Reported barriers to taking action</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1466c3ad37044661"/>
          <a:stretch xmlns:a="http://schemas.openxmlformats.org/drawingml/2006/main"/>
        </p:blipFill>
        <p:spPr>
          <a:xfrm xmlns:a="http://schemas.openxmlformats.org/drawingml/2006/main">
            <a:off x="612246" y="2752725"/>
            <a:ext cx="4233333" cy="2381250"/>
          </a:xfrm>
          <a:prstGeom xmlns:a="http://schemas.openxmlformats.org/drawingml/2006/main" prst="rect">
            <a:avLst/>
          </a:prstGeom>
        </p:spPr>
      </p:pic>
      <p:sp>
        <p:nvSpPr>
          <p:cNvPr id="4" name="original-report-caption">
            <a:extLst xmlns:a="http://schemas.openxmlformats.org/drawingml/2006/main">
              <a:ext uri="{FF2B5EF4-FFF2-40B4-BE49-F238E27FC236}">
                <a16:creationId xmlns:a16="http://schemas.microsoft.com/office/drawing/2014/main" id="{B89C40A6-1C77-42BB-91D3-85FA6B2CF39E}"/>
              </a:ext>
            </a:extLst>
          </p:cNvPr>
          <p:cNvSpPr>
            <a:spLocks xmlns:a="http://schemas.openxmlformats.org/drawingml/2006/main" noGrp="1"/>
          </p:cNvSpPr>
          <p:nvPr/>
        </p:nvSpPr>
        <p:spPr>
          <a:xfrm xmlns:a="http://schemas.openxmlformats.org/drawingml/2006/main">
            <a:off x="609600" y="5410200"/>
            <a:ext cx="4238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Original findings report · March 2025</a:t>
            </a:r>
          </a:p>
        </p:txBody>
      </p:sp>
      <p:graphicFrame>
        <p:nvGraphicFramePr>
          <p:cNvPr id="12" name="Chart"/>
          <p:cNvGraphicFramePr/>
          <p:nvPr/>
        </p:nvGraphicFramePr>
        <p:xfrm>
          <a:off xmlns:a="http://schemas.openxmlformats.org/drawingml/2006/main" x="5114925" y="2143125"/>
          <a:ext xmlns:a="http://schemas.openxmlformats.org/drawingml/2006/main" cx="6457950" cy="3590925"/>
        </p:xfrm>
        <a:graphic xmlns:a="http://schemas.openxmlformats.org/drawingml/2006/main">
          <a:graphicData uri="http://schemas.openxmlformats.org/drawingml/2006/chart">
            <c:chart xmlns:r="http://schemas.openxmlformats.org/officeDocument/2006/relationships" xmlns:c="http://schemas.openxmlformats.org/drawingml/2006/chart" r:id="R27072c1e6bb34911"/>
          </a:graphicData>
        </a:graphic>
      </p:graphicFrame>
      <p:sp>
        <p:nvSpPr>
          <p:cNvPr id="6" name="barrier-limit">
            <a:extLst xmlns:a="http://schemas.openxmlformats.org/drawingml/2006/main">
              <a:ext uri="{FF2B5EF4-FFF2-40B4-BE49-F238E27FC236}">
                <a16:creationId xmlns:a16="http://schemas.microsoft.com/office/drawing/2014/main" id="{49D3F2D7-281C-47A2-8CEC-F6E0F4EDDE25}"/>
              </a:ext>
            </a:extLst>
          </p:cNvPr>
          <p:cNvSpPr>
            <a:spLocks xmlns:a="http://schemas.openxmlformats.org/drawingml/2006/main" noGrp="1"/>
          </p:cNvSpPr>
          <p:nvPr/>
        </p:nvSpPr>
        <p:spPr>
          <a:xfrm xmlns:a="http://schemas.openxmlformats.org/drawingml/2006/main">
            <a:off x="609600" y="6096000"/>
            <a:ext cx="109442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0">
                <a:solidFill>
                  <a:srgbClr val="58645D"/>
                </a:solidFill>
                <a:latin typeface="Helvetica Neue"/>
                <a:ea typeface="Helvetica Neue"/>
                <a:cs typeface="Helvetica Neue"/>
              </a:defRPr>
            </a:pPr>
            <a:r>
              <a:rPr sz="1425" b="0">
                <a:solidFill>
                  <a:srgbClr val="58645D"/>
                </a:solidFill>
                <a:latin typeface="Helvetica Neue"/>
                <a:ea typeface="Helvetica Neue"/>
                <a:cs typeface="Helvetica Neue"/>
              </a:rPr>
              <a:t>Reported percentages · per-item response base unavailable · voluntary audience sample</a:t>
            </a:r>
          </a:p>
        </p:txBody>
      </p:sp>
      <p:sp>
        <p:nvSpPr>
          <p:cNvPr id="7" name="slide-number">
            <a:extLst xmlns:a="http://schemas.openxmlformats.org/drawingml/2006/main">
              <a:ext uri="{FF2B5EF4-FFF2-40B4-BE49-F238E27FC236}">
                <a16:creationId xmlns:a16="http://schemas.microsoft.com/office/drawing/2014/main" id="{7BB6E649-4578-435E-8B2F-B5821E5DE38A}"/>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03</a:t>
            </a:r>
          </a:p>
        </p:txBody>
      </p:sp>
    </p:spTree>
    <p:extLst>
      <p:ext uri="{BB962C8B-B14F-4D97-AF65-F5344CB8AC3E}">
        <p14:creationId xmlns:p14="http://schemas.microsoft.com/office/powerpoint/2010/main" val="817967042"/>
      </p:ext>
    </p:extLst>
  </p:cSld>
</p:sld>
</file>

<file path=ppt/slides/slide4.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B021EF94-55D7-4E27-8938-9DEA3FEF9203}"/>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 QASIM   /   FINDINGS INTO A PRODUCT QUESTION</a:t>
            </a:r>
          </a:p>
        </p:txBody>
      </p:sp>
      <p:sp>
        <p:nvSpPr>
          <p:cNvPr id="2" name="headline">
            <a:extLst xmlns:a="http://schemas.openxmlformats.org/drawingml/2006/main">
              <a:ext uri="{FF2B5EF4-FFF2-40B4-BE49-F238E27FC236}">
                <a16:creationId xmlns:a16="http://schemas.microsoft.com/office/drawing/2014/main" id="{31CCBF2C-6BFB-45B4-AB84-BDF686A9671E}"/>
              </a:ext>
            </a:extLst>
          </p:cNvPr>
          <p:cNvSpPr>
            <a:spLocks xmlns:a="http://schemas.openxmlformats.org/drawingml/2006/main" noGrp="1"/>
          </p:cNvSpPr>
          <p:nvPr/>
        </p:nvSpPr>
        <p:spPr>
          <a:xfrm xmlns:a="http://schemas.openxmlformats.org/drawingml/2006/main">
            <a:off x="609600" y="1095375"/>
            <a:ext cx="1095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A proposed Action Hub direction</a:t>
            </a:r>
          </a:p>
        </p:txBody>
      </p:sp>
      <p:sp>
        <p:nvSpPr>
          <p:cNvPr id="3" name="proposal-context">
            <a:extLst xmlns:a="http://schemas.openxmlformats.org/drawingml/2006/main">
              <a:ext uri="{FF2B5EF4-FFF2-40B4-BE49-F238E27FC236}">
                <a16:creationId xmlns:a16="http://schemas.microsoft.com/office/drawing/2014/main" id="{9F8D33B1-B5C1-478D-B151-33A2209764D5}"/>
              </a:ext>
            </a:extLst>
          </p:cNvPr>
          <p:cNvSpPr>
            <a:spLocks xmlns:a="http://schemas.openxmlformats.org/drawingml/2006/main" noGrp="1"/>
          </p:cNvSpPr>
          <p:nvPr/>
        </p:nvSpPr>
        <p:spPr>
          <a:xfrm xmlns:a="http://schemas.openxmlformats.org/drawingml/2006/main">
            <a:off x="609600" y="2257425"/>
            <a:ext cx="10382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The findings pointed toward smaller, clearer actions and support for following through.</a:t>
            </a:r>
          </a:p>
        </p:txBody>
      </p:sp>
      <p:sp>
        <p:nvSpPr>
          <p:cNvPr id="4" name="finding-label">
            <a:extLst xmlns:a="http://schemas.openxmlformats.org/drawingml/2006/main">
              <a:ext uri="{FF2B5EF4-FFF2-40B4-BE49-F238E27FC236}">
                <a16:creationId xmlns:a16="http://schemas.microsoft.com/office/drawing/2014/main" id="{DD3EB0E8-42C1-4FB4-87EB-D940D6F2259D}"/>
              </a:ext>
            </a:extLst>
          </p:cNvPr>
          <p:cNvSpPr>
            <a:spLocks xmlns:a="http://schemas.openxmlformats.org/drawingml/2006/main" noGrp="1"/>
          </p:cNvSpPr>
          <p:nvPr/>
        </p:nvSpPr>
        <p:spPr>
          <a:xfrm xmlns:a="http://schemas.openxmlformats.org/drawingml/2006/main">
            <a:off x="609600" y="3390900"/>
            <a:ext cx="476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REPORTED NEED</a:t>
            </a:r>
          </a:p>
        </p:txBody>
      </p:sp>
      <p:sp>
        <p:nvSpPr>
          <p:cNvPr id="5" name="direction-label">
            <a:extLst xmlns:a="http://schemas.openxmlformats.org/drawingml/2006/main">
              <a:ext uri="{FF2B5EF4-FFF2-40B4-BE49-F238E27FC236}">
                <a16:creationId xmlns:a16="http://schemas.microsoft.com/office/drawing/2014/main" id="{8095908B-9719-44F1-BA4B-6EBF306F07E8}"/>
              </a:ext>
            </a:extLst>
          </p:cNvPr>
          <p:cNvSpPr>
            <a:spLocks xmlns:a="http://schemas.openxmlformats.org/drawingml/2006/main" noGrp="1"/>
          </p:cNvSpPr>
          <p:nvPr/>
        </p:nvSpPr>
        <p:spPr>
          <a:xfrm xmlns:a="http://schemas.openxmlformats.org/drawingml/2006/main">
            <a:off x="6191250" y="3390900"/>
            <a:ext cx="5124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PROPOSED DIRECTION</a:t>
            </a:r>
          </a:p>
        </p:txBody>
      </p:sp>
      <p:sp>
        <p:nvSpPr>
          <p:cNvPr id="6" name="need-0">
            <a:extLst xmlns:a="http://schemas.openxmlformats.org/drawingml/2006/main">
              <a:ext uri="{FF2B5EF4-FFF2-40B4-BE49-F238E27FC236}">
                <a16:creationId xmlns:a16="http://schemas.microsoft.com/office/drawing/2014/main" id="{4E58078F-B09D-4B95-9A6F-310B7F99E739}"/>
              </a:ext>
            </a:extLst>
          </p:cNvPr>
          <p:cNvSpPr>
            <a:spLocks xmlns:a="http://schemas.openxmlformats.org/drawingml/2006/main" noGrp="1"/>
          </p:cNvSpPr>
          <p:nvPr/>
        </p:nvSpPr>
        <p:spPr>
          <a:xfrm xmlns:a="http://schemas.openxmlformats.org/drawingml/2006/main">
            <a:off x="609600" y="3829050"/>
            <a:ext cx="4905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192B25"/>
                </a:solidFill>
                <a:latin typeface="Helvetica Neue"/>
                <a:ea typeface="Helvetica Neue"/>
                <a:cs typeface="Helvetica Neue"/>
              </a:defRPr>
            </a:pPr>
            <a:r>
              <a:rPr sz="1800" b="0">
                <a:solidFill>
                  <a:srgbClr val="192B25"/>
                </a:solidFill>
                <a:latin typeface="Helvetica Neue"/>
                <a:ea typeface="Helvetica Neue"/>
                <a:cs typeface="Helvetica Neue"/>
              </a:rPr>
              <a:t>Overwhelm and unclear steps</a:t>
            </a:r>
          </a:p>
        </p:txBody>
      </p:sp>
      <p:sp>
        <p:nvSpPr>
          <p:cNvPr id="7" name="direction-0">
            <a:extLst xmlns:a="http://schemas.openxmlformats.org/drawingml/2006/main">
              <a:ext uri="{FF2B5EF4-FFF2-40B4-BE49-F238E27FC236}">
                <a16:creationId xmlns:a16="http://schemas.microsoft.com/office/drawing/2014/main" id="{38063F2F-0638-45F4-8CE8-31881C5B3D6C}"/>
              </a:ext>
            </a:extLst>
          </p:cNvPr>
          <p:cNvSpPr>
            <a:spLocks xmlns:a="http://schemas.openxmlformats.org/drawingml/2006/main" noGrp="1"/>
          </p:cNvSpPr>
          <p:nvPr/>
        </p:nvSpPr>
        <p:spPr>
          <a:xfrm xmlns:a="http://schemas.openxmlformats.org/drawingml/2006/main">
            <a:off x="6191250" y="3829050"/>
            <a:ext cx="52482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1">
                <a:solidFill>
                  <a:srgbClr val="244D3C"/>
                </a:solidFill>
                <a:latin typeface="Helvetica Neue"/>
                <a:ea typeface="Helvetica Neue"/>
                <a:cs typeface="Helvetica Neue"/>
              </a:defRPr>
            </a:pPr>
            <a:r>
              <a:rPr sz="1800" b="1">
                <a:solidFill>
                  <a:srgbClr val="244D3C"/>
                </a:solidFill>
                <a:latin typeface="Helvetica Neue"/>
                <a:ea typeface="Helvetica Neue"/>
                <a:cs typeface="Helvetica Neue"/>
              </a:rPr>
              <a:t>A focused action with instructions</a:t>
            </a:r>
          </a:p>
        </p:txBody>
      </p:sp>
      <p:sp>
        <p:nvSpPr>
          <p:cNvPr id="8" name="need-1">
            <a:extLst xmlns:a="http://schemas.openxmlformats.org/drawingml/2006/main">
              <a:ext uri="{FF2B5EF4-FFF2-40B4-BE49-F238E27FC236}">
                <a16:creationId xmlns:a16="http://schemas.microsoft.com/office/drawing/2014/main" id="{3434B7A7-F2B7-4D7C-AB96-2C371344C98E}"/>
              </a:ext>
            </a:extLst>
          </p:cNvPr>
          <p:cNvSpPr>
            <a:spLocks xmlns:a="http://schemas.openxmlformats.org/drawingml/2006/main" noGrp="1"/>
          </p:cNvSpPr>
          <p:nvPr/>
        </p:nvSpPr>
        <p:spPr>
          <a:xfrm xmlns:a="http://schemas.openxmlformats.org/drawingml/2006/main">
            <a:off x="609600" y="4467225"/>
            <a:ext cx="4905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192B25"/>
                </a:solidFill>
                <a:latin typeface="Helvetica Neue"/>
                <a:ea typeface="Helvetica Neue"/>
                <a:cs typeface="Helvetica Neue"/>
              </a:defRPr>
            </a:pPr>
            <a:r>
              <a:rPr sz="1800" b="0">
                <a:solidFill>
                  <a:srgbClr val="192B25"/>
                </a:solidFill>
                <a:latin typeface="Helvetica Neue"/>
                <a:ea typeface="Helvetica Neue"/>
                <a:cs typeface="Helvetica Neue"/>
              </a:rPr>
              <a:t>Limited time and resources</a:t>
            </a:r>
          </a:p>
        </p:txBody>
      </p:sp>
      <p:sp>
        <p:nvSpPr>
          <p:cNvPr id="9" name="direction-1">
            <a:extLst xmlns:a="http://schemas.openxmlformats.org/drawingml/2006/main">
              <a:ext uri="{FF2B5EF4-FFF2-40B4-BE49-F238E27FC236}">
                <a16:creationId xmlns:a16="http://schemas.microsoft.com/office/drawing/2014/main" id="{99C23B9E-9CEB-4E00-AB51-802E49481518}"/>
              </a:ext>
            </a:extLst>
          </p:cNvPr>
          <p:cNvSpPr>
            <a:spLocks xmlns:a="http://schemas.openxmlformats.org/drawingml/2006/main" noGrp="1"/>
          </p:cNvSpPr>
          <p:nvPr/>
        </p:nvSpPr>
        <p:spPr>
          <a:xfrm xmlns:a="http://schemas.openxmlformats.org/drawingml/2006/main">
            <a:off x="6191250" y="4467225"/>
            <a:ext cx="52482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1">
                <a:solidFill>
                  <a:srgbClr val="244D3C"/>
                </a:solidFill>
                <a:latin typeface="Helvetica Neue"/>
                <a:ea typeface="Helvetica Neue"/>
                <a:cs typeface="Helvetica Neue"/>
              </a:defRPr>
            </a:pPr>
            <a:r>
              <a:rPr sz="1800" b="1">
                <a:solidFill>
                  <a:srgbClr val="244D3C"/>
                </a:solidFill>
                <a:latin typeface="Helvetica Neue"/>
                <a:ea typeface="Helvetica Neue"/>
                <a:cs typeface="Helvetica Neue"/>
              </a:rPr>
              <a:t>Reusable templates and task support</a:t>
            </a:r>
          </a:p>
        </p:txBody>
      </p:sp>
      <p:sp>
        <p:nvSpPr>
          <p:cNvPr id="10" name="need-2">
            <a:extLst xmlns:a="http://schemas.openxmlformats.org/drawingml/2006/main">
              <a:ext uri="{FF2B5EF4-FFF2-40B4-BE49-F238E27FC236}">
                <a16:creationId xmlns:a16="http://schemas.microsoft.com/office/drawing/2014/main" id="{271CA76C-A17C-4B6A-8F38-496DA219A2C2}"/>
              </a:ext>
            </a:extLst>
          </p:cNvPr>
          <p:cNvSpPr>
            <a:spLocks xmlns:a="http://schemas.openxmlformats.org/drawingml/2006/main" noGrp="1"/>
          </p:cNvSpPr>
          <p:nvPr/>
        </p:nvSpPr>
        <p:spPr>
          <a:xfrm xmlns:a="http://schemas.openxmlformats.org/drawingml/2006/main">
            <a:off x="609600" y="5105400"/>
            <a:ext cx="4905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192B25"/>
                </a:solidFill>
                <a:latin typeface="Helvetica Neue"/>
                <a:ea typeface="Helvetica Neue"/>
                <a:cs typeface="Helvetica Neue"/>
              </a:defRPr>
            </a:pPr>
            <a:r>
              <a:rPr sz="1800" b="0">
                <a:solidFill>
                  <a:srgbClr val="192B25"/>
                </a:solidFill>
                <a:latin typeface="Helvetica Neue"/>
                <a:ea typeface="Helvetica Neue"/>
                <a:cs typeface="Helvetica Neue"/>
              </a:rPr>
              <a:t>Doubt about whether action matters</a:t>
            </a:r>
          </a:p>
        </p:txBody>
      </p:sp>
      <p:sp>
        <p:nvSpPr>
          <p:cNvPr id="11" name="direction-2">
            <a:extLst xmlns:a="http://schemas.openxmlformats.org/drawingml/2006/main">
              <a:ext uri="{FF2B5EF4-FFF2-40B4-BE49-F238E27FC236}">
                <a16:creationId xmlns:a16="http://schemas.microsoft.com/office/drawing/2014/main" id="{8E269A3C-FE4C-4200-8CB7-486E3A02DDC0}"/>
              </a:ext>
            </a:extLst>
          </p:cNvPr>
          <p:cNvSpPr>
            <a:spLocks xmlns:a="http://schemas.openxmlformats.org/drawingml/2006/main" noGrp="1"/>
          </p:cNvSpPr>
          <p:nvPr/>
        </p:nvSpPr>
        <p:spPr>
          <a:xfrm xmlns:a="http://schemas.openxmlformats.org/drawingml/2006/main">
            <a:off x="6191250" y="5105400"/>
            <a:ext cx="52482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1">
                <a:solidFill>
                  <a:srgbClr val="244D3C"/>
                </a:solidFill>
                <a:latin typeface="Helvetica Neue"/>
                <a:ea typeface="Helvetica Neue"/>
                <a:cs typeface="Helvetica Neue"/>
              </a:defRPr>
            </a:pPr>
            <a:r>
              <a:rPr sz="1800" b="1">
                <a:solidFill>
                  <a:srgbClr val="244D3C"/>
                </a:solidFill>
                <a:latin typeface="Helvetica Neue"/>
                <a:ea typeface="Helvetica Neue"/>
                <a:cs typeface="Helvetica Neue"/>
              </a:rPr>
              <a:t>Visible progress and feedback</a:t>
            </a:r>
          </a:p>
        </p:txBody>
      </p:sp>
      <p:sp>
        <p:nvSpPr>
          <p:cNvPr id="12" name="next-test">
            <a:extLst xmlns:a="http://schemas.openxmlformats.org/drawingml/2006/main">
              <a:ext uri="{FF2B5EF4-FFF2-40B4-BE49-F238E27FC236}">
                <a16:creationId xmlns:a16="http://schemas.microsoft.com/office/drawing/2014/main" id="{918D8598-C951-4265-B912-DEDEC5A72FC1}"/>
              </a:ext>
            </a:extLst>
          </p:cNvPr>
          <p:cNvSpPr>
            <a:spLocks xmlns:a="http://schemas.openxmlformats.org/drawingml/2006/main" noGrp="1"/>
          </p:cNvSpPr>
          <p:nvPr/>
        </p:nvSpPr>
        <p:spPr>
          <a:xfrm xmlns:a="http://schemas.openxmlformats.org/drawingml/2006/main">
            <a:off x="609600" y="5915025"/>
            <a:ext cx="1090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0">
                <a:solidFill>
                  <a:srgbClr val="58645D"/>
                </a:solidFill>
                <a:latin typeface="Helvetica Neue"/>
                <a:ea typeface="Helvetica Neue"/>
                <a:cs typeface="Helvetica Neue"/>
              </a:defRPr>
            </a:pPr>
            <a:r>
              <a:rPr sz="1575" b="0">
                <a:solidFill>
                  <a:srgbClr val="58645D"/>
                </a:solidFill>
                <a:latin typeface="Helvetica Neue"/>
                <a:ea typeface="Helvetica Neue"/>
                <a:cs typeface="Helvetica Neue"/>
              </a:rPr>
              <a:t>Next validation: test whether people can choose and complete an action in a prototype.</a:t>
            </a:r>
          </a:p>
        </p:txBody>
      </p:sp>
      <p:sp>
        <p:nvSpPr>
          <p:cNvPr id="13" name="slide-number">
            <a:extLst xmlns:a="http://schemas.openxmlformats.org/drawingml/2006/main">
              <a:ext uri="{FF2B5EF4-FFF2-40B4-BE49-F238E27FC236}">
                <a16:creationId xmlns:a16="http://schemas.microsoft.com/office/drawing/2014/main" id="{5E3B5764-3138-4826-863F-829AD6DFD53C}"/>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04</a:t>
            </a:r>
          </a:p>
        </p:txBody>
      </p:sp>
    </p:spTree>
    <p:extLst>
      <p:ext uri="{BB962C8B-B14F-4D97-AF65-F5344CB8AC3E}">
        <p14:creationId xmlns:p14="http://schemas.microsoft.com/office/powerpoint/2010/main" val="161940544"/>
      </p:ext>
    </p:extLst>
  </p:cSld>
</p:sld>
</file>

<file path=ppt/slides/slide5.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575906EA-36F6-425D-A2B4-33CDBC078FEA}"/>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PRIVACY-COMMUNITY RESEARCH, SEPTEMBER 2024</a:t>
            </a:r>
          </a:p>
        </p:txBody>
      </p:sp>
      <p:sp>
        <p:nvSpPr>
          <p:cNvPr id="2" name="headline">
            <a:extLst xmlns:a="http://schemas.openxmlformats.org/drawingml/2006/main">
              <a:ext uri="{FF2B5EF4-FFF2-40B4-BE49-F238E27FC236}">
                <a16:creationId xmlns:a16="http://schemas.microsoft.com/office/drawing/2014/main" id="{97ECFF69-5E9B-4668-A881-1353562CDE19}"/>
              </a:ext>
            </a:extLst>
          </p:cNvPr>
          <p:cNvSpPr>
            <a:spLocks xmlns:a="http://schemas.openxmlformats.org/drawingml/2006/main" noGrp="1"/>
          </p:cNvSpPr>
          <p:nvPr/>
        </p:nvSpPr>
        <p:spPr>
          <a:xfrm xmlns:a="http://schemas.openxmlformats.org/drawingml/2006/main">
            <a:off x="609600" y="1104900"/>
            <a:ext cx="109251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Testing an audience assumption</a:t>
            </a:r>
          </a:p>
        </p:txBody>
      </p:sp>
      <p:sp>
        <p:nvSpPr>
          <p:cNvPr id="3" name="privacy-method">
            <a:extLst xmlns:a="http://schemas.openxmlformats.org/drawingml/2006/main">
              <a:ext uri="{FF2B5EF4-FFF2-40B4-BE49-F238E27FC236}">
                <a16:creationId xmlns:a16="http://schemas.microsoft.com/office/drawing/2014/main" id="{C9F7E641-BF67-4085-AB18-9989BA7EC0A8}"/>
              </a:ext>
            </a:extLst>
          </p:cNvPr>
          <p:cNvSpPr>
            <a:spLocks xmlns:a="http://schemas.openxmlformats.org/drawingml/2006/main" noGrp="1"/>
          </p:cNvSpPr>
          <p:nvPr/>
        </p:nvSpPr>
        <p:spPr>
          <a:xfrm xmlns:a="http://schemas.openxmlformats.org/drawingml/2006/main">
            <a:off x="609600" y="2200275"/>
            <a:ext cx="10715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I studied existing community discussions, then coded excerpts to examine whether Oak’s audience assumptions fit.</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044fdf110e53497f"/>
          <a:stretch xmlns:a="http://schemas.openxmlformats.org/drawingml/2006/main"/>
        </p:blipFill>
        <p:spPr>
          <a:xfrm xmlns:a="http://schemas.openxmlformats.org/drawingml/2006/main">
            <a:off x="609600" y="3315102"/>
            <a:ext cx="10896600" cy="2675721"/>
          </a:xfrm>
          <a:prstGeom xmlns:a="http://schemas.openxmlformats.org/drawingml/2006/main" prst="rect">
            <a:avLst/>
          </a:prstGeom>
        </p:spPr>
      </p:pic>
      <p:sp>
        <p:nvSpPr>
          <p:cNvPr id="5" name="privacy-stage">
            <a:extLst xmlns:a="http://schemas.openxmlformats.org/drawingml/2006/main">
              <a:ext uri="{FF2B5EF4-FFF2-40B4-BE49-F238E27FC236}">
                <a16:creationId xmlns:a16="http://schemas.microsoft.com/office/drawing/2014/main" id="{0C4492F6-27D1-4F40-8455-31DA2FF2C78A}"/>
              </a:ext>
            </a:extLst>
          </p:cNvPr>
          <p:cNvSpPr>
            <a:spLocks xmlns:a="http://schemas.openxmlformats.org/drawingml/2006/main" noGrp="1"/>
          </p:cNvSpPr>
          <p:nvPr/>
        </p:nvSpPr>
        <p:spPr>
          <a:xfrm xmlns:a="http://schemas.openxmlformats.org/drawingml/2006/main">
            <a:off x="609600" y="6210300"/>
            <a:ext cx="10715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0">
                <a:solidFill>
                  <a:srgbClr val="58645D"/>
                </a:solidFill>
                <a:latin typeface="Helvetica Neue"/>
                <a:ea typeface="Helvetica Neue"/>
                <a:cs typeface="Helvetica Neue"/>
              </a:defRPr>
            </a:pPr>
            <a:r>
              <a:rPr sz="1425" b="0">
                <a:solidFill>
                  <a:srgbClr val="58645D"/>
                </a:solidFill>
                <a:latin typeface="Helvetica Neue"/>
                <a:ea typeface="Helvetica Neue"/>
                <a:cs typeface="Helvetica Neue"/>
              </a:rPr>
              <a:t>Reformatted source metadata · exploratory research and synthesis · September 2024</a:t>
            </a:r>
          </a:p>
        </p:txBody>
      </p:sp>
      <p:sp>
        <p:nvSpPr>
          <p:cNvPr id="6" name="slide-number">
            <a:extLst xmlns:a="http://schemas.openxmlformats.org/drawingml/2006/main">
              <a:ext uri="{FF2B5EF4-FFF2-40B4-BE49-F238E27FC236}">
                <a16:creationId xmlns:a16="http://schemas.microsoft.com/office/drawing/2014/main" id="{5ABD0AD7-BCA5-4D96-8F30-648DFA65B4C0}"/>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05</a:t>
            </a:r>
          </a:p>
        </p:txBody>
      </p:sp>
    </p:spTree>
    <p:extLst>
      <p:ext uri="{BB962C8B-B14F-4D97-AF65-F5344CB8AC3E}">
        <p14:creationId xmlns:p14="http://schemas.microsoft.com/office/powerpoint/2010/main" val="1598698699"/>
      </p:ext>
    </p:extLst>
  </p:cSld>
</p:sld>
</file>

<file path=ppt/slides/slide6.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0773FAFE-9177-4C43-8483-54B519EB08BE}"/>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QUALITATIVE FINDINGS AND DECISION</a:t>
            </a:r>
          </a:p>
        </p:txBody>
      </p:sp>
      <p:sp>
        <p:nvSpPr>
          <p:cNvPr id="2" name="headline">
            <a:extLst xmlns:a="http://schemas.openxmlformats.org/drawingml/2006/main">
              <a:ext uri="{FF2B5EF4-FFF2-40B4-BE49-F238E27FC236}">
                <a16:creationId xmlns:a16="http://schemas.microsoft.com/office/drawing/2014/main" id="{988CAF07-660A-4B2D-851F-4D4BDF0FC4F6}"/>
              </a:ext>
            </a:extLst>
          </p:cNvPr>
          <p:cNvSpPr>
            <a:spLocks xmlns:a="http://schemas.openxmlformats.org/drawingml/2006/main" noGrp="1"/>
          </p:cNvSpPr>
          <p:nvPr/>
        </p:nvSpPr>
        <p:spPr>
          <a:xfrm xmlns:a="http://schemas.openxmlformats.org/drawingml/2006/main">
            <a:off x="609600" y="1104900"/>
            <a:ext cx="108966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Audience fit needed another look</a:t>
            </a:r>
          </a:p>
        </p:txBody>
      </p:sp>
      <p:sp>
        <p:nvSpPr>
          <p:cNvPr id="3" name="privacy-decision">
            <a:extLst xmlns:a="http://schemas.openxmlformats.org/drawingml/2006/main">
              <a:ext uri="{FF2B5EF4-FFF2-40B4-BE49-F238E27FC236}">
                <a16:creationId xmlns:a16="http://schemas.microsoft.com/office/drawing/2014/main" id="{BD4746A7-C5E6-4FF1-AEEE-D52BFC72F86D}"/>
              </a:ext>
            </a:extLst>
          </p:cNvPr>
          <p:cNvSpPr>
            <a:spLocks xmlns:a="http://schemas.openxmlformats.org/drawingml/2006/main" noGrp="1"/>
          </p:cNvSpPr>
          <p:nvPr/>
        </p:nvSpPr>
        <p:spPr>
          <a:xfrm xmlns:a="http://schemas.openxmlformats.org/drawingml/2006/main">
            <a:off x="609600" y="2152650"/>
            <a:ext cx="107156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I used concerns about data protection, accountability and control to question audience fit and reconsider the next research investment.</a:t>
            </a:r>
          </a:p>
        </p:txBody>
      </p:sp>
      <p:sp>
        <p:nvSpPr>
          <p:cNvPr id="4" name="theme-caption">
            <a:extLst xmlns:a="http://schemas.openxmlformats.org/drawingml/2006/main">
              <a:ext uri="{FF2B5EF4-FFF2-40B4-BE49-F238E27FC236}">
                <a16:creationId xmlns:a16="http://schemas.microsoft.com/office/drawing/2014/main" id="{6022D8E8-B9D9-4D86-A397-BDDE8DF4B619}"/>
              </a:ext>
            </a:extLst>
          </p:cNvPr>
          <p:cNvSpPr>
            <a:spLocks xmlns:a="http://schemas.openxmlformats.org/drawingml/2006/main" noGrp="1"/>
          </p:cNvSpPr>
          <p:nvPr/>
        </p:nvSpPr>
        <p:spPr>
          <a:xfrm xmlns:a="http://schemas.openxmlformats.org/drawingml/2006/main">
            <a:off x="609600" y="3133725"/>
            <a:ext cx="105632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Portfolio synthesis based on source tags</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e587c360798e437f"/>
          <a:stretch xmlns:a="http://schemas.openxmlformats.org/drawingml/2006/main"/>
        </p:blipFill>
        <p:spPr>
          <a:xfrm xmlns:a="http://schemas.openxmlformats.org/drawingml/2006/main">
            <a:off x="614363" y="3533775"/>
            <a:ext cx="10887075" cy="2419350"/>
          </a:xfrm>
          <a:prstGeom xmlns:a="http://schemas.openxmlformats.org/drawingml/2006/main" prst="rect">
            <a:avLst/>
          </a:prstGeom>
        </p:spPr>
      </p:pic>
      <p:sp>
        <p:nvSpPr>
          <p:cNvPr id="6" name="privacy-limits">
            <a:extLst xmlns:a="http://schemas.openxmlformats.org/drawingml/2006/main">
              <a:ext uri="{FF2B5EF4-FFF2-40B4-BE49-F238E27FC236}">
                <a16:creationId xmlns:a16="http://schemas.microsoft.com/office/drawing/2014/main" id="{3DF40174-B246-4B46-800D-D6B594C4D4B2}"/>
              </a:ext>
            </a:extLst>
          </p:cNvPr>
          <p:cNvSpPr>
            <a:spLocks xmlns:a="http://schemas.openxmlformats.org/drawingml/2006/main" noGrp="1"/>
          </p:cNvSpPr>
          <p:nvPr/>
        </p:nvSpPr>
        <p:spPr>
          <a:xfrm xmlns:a="http://schemas.openxmlformats.org/drawingml/2006/main">
            <a:off x="609600" y="6210300"/>
            <a:ext cx="10896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0">
                <a:solidFill>
                  <a:srgbClr val="58645D"/>
                </a:solidFill>
                <a:latin typeface="Helvetica Neue"/>
                <a:ea typeface="Helvetica Neue"/>
                <a:cs typeface="Helvetica Neue"/>
              </a:defRPr>
            </a:pPr>
            <a:r>
              <a:rPr sz="1425" b="0">
                <a:solidFill>
                  <a:srgbClr val="58645D"/>
                </a:solidFill>
                <a:latin typeface="Helvetica Neue"/>
                <a:ea typeface="Helvetica Neue"/>
                <a:cs typeface="Helvetica Neue"/>
              </a:rPr>
              <a:t>A partial coding export supports exploration. A purposive sample cannot establish market-wide demand.</a:t>
            </a:r>
          </a:p>
        </p:txBody>
      </p:sp>
      <p:sp>
        <p:nvSpPr>
          <p:cNvPr id="7" name="slide-number">
            <a:extLst xmlns:a="http://schemas.openxmlformats.org/drawingml/2006/main">
              <a:ext uri="{FF2B5EF4-FFF2-40B4-BE49-F238E27FC236}">
                <a16:creationId xmlns:a16="http://schemas.microsoft.com/office/drawing/2014/main" id="{D65BD672-26EE-4C98-B3ED-FDB3A368FFDF}"/>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06</a:t>
            </a:r>
          </a:p>
        </p:txBody>
      </p:sp>
    </p:spTree>
    <p:extLst>
      <p:ext uri="{BB962C8B-B14F-4D97-AF65-F5344CB8AC3E}">
        <p14:creationId xmlns:p14="http://schemas.microsoft.com/office/powerpoint/2010/main" val="374205825"/>
      </p:ext>
    </p:extLst>
  </p:cSld>
</p:sld>
</file>

<file path=ppt/slides/slide7.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B1576F70-5EB5-419D-A065-3921D9B441A3}"/>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DESKTOP HEURISTIC EVALUATION, NOVEMBER 2023</a:t>
            </a:r>
          </a:p>
        </p:txBody>
      </p:sp>
      <p:sp>
        <p:nvSpPr>
          <p:cNvPr id="2" name="headline">
            <a:extLst xmlns:a="http://schemas.openxmlformats.org/drawingml/2006/main">
              <a:ext uri="{FF2B5EF4-FFF2-40B4-BE49-F238E27FC236}">
                <a16:creationId xmlns:a16="http://schemas.microsoft.com/office/drawing/2014/main" id="{2C5687D9-92BC-4011-9507-3BFEADAB9D36}"/>
              </a:ext>
            </a:extLst>
          </p:cNvPr>
          <p:cNvSpPr>
            <a:spLocks xmlns:a="http://schemas.openxmlformats.org/drawingml/2006/main" noGrp="1"/>
          </p:cNvSpPr>
          <p:nvPr/>
        </p:nvSpPr>
        <p:spPr>
          <a:xfrm xmlns:a="http://schemas.openxmlformats.org/drawingml/2006/main">
            <a:off x="609600" y="1104900"/>
            <a:ext cx="44196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Where would</a:t>
            </a:r>
          </a:p>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someone get stuck?</a:t>
            </a:r>
          </a:p>
        </p:txBody>
      </p:sp>
      <p:sp>
        <p:nvSpPr>
          <p:cNvPr id="3" name="audit-role">
            <a:extLst xmlns:a="http://schemas.openxmlformats.org/drawingml/2006/main">
              <a:ext uri="{FF2B5EF4-FFF2-40B4-BE49-F238E27FC236}">
                <a16:creationId xmlns:a16="http://schemas.microsoft.com/office/drawing/2014/main" id="{D1319AB4-A5A2-4B96-BFED-4D1C75F8D1EE}"/>
              </a:ext>
            </a:extLst>
          </p:cNvPr>
          <p:cNvSpPr>
            <a:spLocks xmlns:a="http://schemas.openxmlformats.org/drawingml/2006/main" noGrp="1"/>
          </p:cNvSpPr>
          <p:nvPr/>
        </p:nvSpPr>
        <p:spPr>
          <a:xfrm xmlns:a="http://schemas.openxmlformats.org/drawingml/2006/main">
            <a:off x="609600" y="3048000"/>
            <a:ext cx="43243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evaluated the desktop experience and documented findings for the product team.</a:t>
            </a:r>
          </a:p>
        </p:txBody>
      </p:sp>
      <p:sp>
        <p:nvSpPr>
          <p:cNvPr id="4" name="audit-method">
            <a:extLst xmlns:a="http://schemas.openxmlformats.org/drawingml/2006/main">
              <a:ext uri="{FF2B5EF4-FFF2-40B4-BE49-F238E27FC236}">
                <a16:creationId xmlns:a16="http://schemas.microsoft.com/office/drawing/2014/main" id="{06B8B16F-DAC2-4196-AA52-B5EBEA04C96B}"/>
              </a:ext>
            </a:extLst>
          </p:cNvPr>
          <p:cNvSpPr>
            <a:spLocks xmlns:a="http://schemas.openxmlformats.org/drawingml/2006/main" noGrp="1"/>
          </p:cNvSpPr>
          <p:nvPr/>
        </p:nvSpPr>
        <p:spPr>
          <a:xfrm xmlns:a="http://schemas.openxmlformats.org/drawingml/2006/main">
            <a:off x="609600" y="4743450"/>
            <a:ext cx="43243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Expert review exposed navigation and recovery problems to investigate next.</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bd7692539cf84058"/>
          <a:stretch xmlns:a="http://schemas.openxmlformats.org/drawingml/2006/main"/>
        </p:blipFill>
        <p:spPr>
          <a:xfrm xmlns:a="http://schemas.openxmlformats.org/drawingml/2006/main">
            <a:off x="5238750" y="1555125"/>
            <a:ext cx="6229350" cy="4890750"/>
          </a:xfrm>
          <a:prstGeom xmlns:a="http://schemas.openxmlformats.org/drawingml/2006/main" prst="rect">
            <a:avLst/>
          </a:prstGeom>
        </p:spPr>
      </p:pic>
      <p:sp>
        <p:nvSpPr>
          <p:cNvPr id="6" name="slide-number">
            <a:extLst xmlns:a="http://schemas.openxmlformats.org/drawingml/2006/main">
              <a:ext uri="{FF2B5EF4-FFF2-40B4-BE49-F238E27FC236}">
                <a16:creationId xmlns:a16="http://schemas.microsoft.com/office/drawing/2014/main" id="{F83EC678-652F-48AC-80B5-9F3622D54DDE}"/>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07</a:t>
            </a:r>
          </a:p>
        </p:txBody>
      </p:sp>
    </p:spTree>
    <p:extLst>
      <p:ext uri="{BB962C8B-B14F-4D97-AF65-F5344CB8AC3E}">
        <p14:creationId xmlns:p14="http://schemas.microsoft.com/office/powerpoint/2010/main" val="1394239283"/>
      </p:ext>
    </p:extLst>
  </p:cSld>
</p:sld>
</file>

<file path=ppt/slides/slide8.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2" name="section-label">
            <a:extLst xmlns:a="http://schemas.openxmlformats.org/drawingml/2006/main">
              <a:ext uri="{FF2B5EF4-FFF2-40B4-BE49-F238E27FC236}">
                <a16:creationId xmlns:a16="http://schemas.microsoft.com/office/drawing/2014/main" id="{721A66BE-25FC-4E19-8142-39700E74489C}"/>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ERROR RECOVERY RECOMMENDATION</a:t>
            </a:r>
          </a:p>
        </p:txBody>
      </p:sp>
      <p:sp>
        <p:nvSpPr>
          <p:cNvPr id="2" name="headline">
            <a:extLst xmlns:a="http://schemas.openxmlformats.org/drawingml/2006/main">
              <a:ext uri="{FF2B5EF4-FFF2-40B4-BE49-F238E27FC236}">
                <a16:creationId xmlns:a16="http://schemas.microsoft.com/office/drawing/2014/main" id="{1830B6DD-1CE7-4EDC-B728-E938123D6830}"/>
              </a:ext>
            </a:extLst>
          </p:cNvPr>
          <p:cNvSpPr>
            <a:spLocks xmlns:a="http://schemas.openxmlformats.org/drawingml/2006/main" noGrp="1"/>
          </p:cNvSpPr>
          <p:nvPr/>
        </p:nvSpPr>
        <p:spPr>
          <a:xfrm xmlns:a="http://schemas.openxmlformats.org/drawingml/2006/main">
            <a:off x="609600" y="1104900"/>
            <a:ext cx="55721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Recovery feedback</a:t>
            </a:r>
          </a:p>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needed a clearer location</a:t>
            </a:r>
          </a:p>
        </p:txBody>
      </p:sp>
      <p:sp>
        <p:nvSpPr>
          <p:cNvPr id="3" name="error-observation">
            <a:extLst xmlns:a="http://schemas.openxmlformats.org/drawingml/2006/main">
              <a:ext uri="{FF2B5EF4-FFF2-40B4-BE49-F238E27FC236}">
                <a16:creationId xmlns:a16="http://schemas.microsoft.com/office/drawing/2014/main" id="{85EFE895-96DD-4940-BF9D-67228B61B4AC}"/>
              </a:ext>
            </a:extLst>
          </p:cNvPr>
          <p:cNvSpPr>
            <a:spLocks xmlns:a="http://schemas.openxmlformats.org/drawingml/2006/main" noGrp="1"/>
          </p:cNvSpPr>
          <p:nvPr/>
        </p:nvSpPr>
        <p:spPr>
          <a:xfrm xmlns:a="http://schemas.openxmlformats.org/drawingml/2006/main">
            <a:off x="609600" y="3105150"/>
            <a:ext cx="3400425"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The existing error appeared at the page footer, away from the login fields.</a:t>
            </a:r>
          </a:p>
        </p:txBody>
      </p:sp>
      <p:sp>
        <p:nvSpPr>
          <p:cNvPr id="4" name="error-recommendation">
            <a:extLst xmlns:a="http://schemas.openxmlformats.org/drawingml/2006/main">
              <a:ext uri="{FF2B5EF4-FFF2-40B4-BE49-F238E27FC236}">
                <a16:creationId xmlns:a16="http://schemas.microsoft.com/office/drawing/2014/main" id="{94793144-9DD5-4A16-AF9F-3200FA61B579}"/>
              </a:ext>
            </a:extLst>
          </p:cNvPr>
          <p:cNvSpPr>
            <a:spLocks xmlns:a="http://schemas.openxmlformats.org/drawingml/2006/main" noGrp="1"/>
          </p:cNvSpPr>
          <p:nvPr/>
        </p:nvSpPr>
        <p:spPr>
          <a:xfrm xmlns:a="http://schemas.openxmlformats.org/drawingml/2006/main">
            <a:off x="609600" y="4819650"/>
            <a:ext cx="34004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1">
                <a:solidFill>
                  <a:srgbClr val="244D3C"/>
                </a:solidFill>
                <a:latin typeface="Helvetica Neue"/>
                <a:ea typeface="Helvetica Neue"/>
                <a:cs typeface="Helvetica Neue"/>
              </a:defRPr>
            </a:pPr>
            <a:r>
              <a:rPr sz="1800" b="1">
                <a:solidFill>
                  <a:srgbClr val="244D3C"/>
                </a:solidFill>
                <a:latin typeface="Helvetica Neue"/>
                <a:ea typeface="Helvetica Neue"/>
                <a:cs typeface="Helvetica Neue"/>
              </a:rPr>
              <a:t>I recommended placing the correction beside the field where someone could act.</a:t>
            </a:r>
          </a:p>
        </p:txBody>
      </p:sp>
      <p:sp>
        <p:nvSpPr>
          <p:cNvPr id="5" name="original-label">
            <a:extLst xmlns:a="http://schemas.openxmlformats.org/drawingml/2006/main">
              <a:ext uri="{FF2B5EF4-FFF2-40B4-BE49-F238E27FC236}">
                <a16:creationId xmlns:a16="http://schemas.microsoft.com/office/drawing/2014/main" id="{88636A61-EFDE-4203-A2EC-5F7F2D488247}"/>
              </a:ext>
            </a:extLst>
          </p:cNvPr>
          <p:cNvSpPr>
            <a:spLocks xmlns:a="http://schemas.openxmlformats.org/drawingml/2006/main" noGrp="1"/>
          </p:cNvSpPr>
          <p:nvPr/>
        </p:nvSpPr>
        <p:spPr>
          <a:xfrm xmlns:a="http://schemas.openxmlformats.org/drawingml/2006/main">
            <a:off x="4419600" y="2609850"/>
            <a:ext cx="3257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Original</a:t>
            </a:r>
          </a:p>
        </p:txBody>
      </p:sp>
      <p:sp>
        <p:nvSpPr>
          <p:cNvPr id="6" name="proposed-label">
            <a:extLst xmlns:a="http://schemas.openxmlformats.org/drawingml/2006/main">
              <a:ext uri="{FF2B5EF4-FFF2-40B4-BE49-F238E27FC236}">
                <a16:creationId xmlns:a16="http://schemas.microsoft.com/office/drawing/2014/main" id="{47EAF744-11F6-46CC-8530-618B85815F03}"/>
              </a:ext>
            </a:extLst>
          </p:cNvPr>
          <p:cNvSpPr>
            <a:spLocks xmlns:a="http://schemas.openxmlformats.org/drawingml/2006/main" noGrp="1"/>
          </p:cNvSpPr>
          <p:nvPr/>
        </p:nvSpPr>
        <p:spPr>
          <a:xfrm xmlns:a="http://schemas.openxmlformats.org/drawingml/2006/main">
            <a:off x="8086725" y="2609850"/>
            <a:ext cx="3257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Proposed</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6c79d7c7edd84b1f"/>
          <a:stretch xmlns:a="http://schemas.openxmlformats.org/drawingml/2006/main"/>
        </p:blipFill>
        <p:spPr>
          <a:xfrm xmlns:a="http://schemas.openxmlformats.org/drawingml/2006/main">
            <a:off x="4419600" y="3079091"/>
            <a:ext cx="3257550" cy="2642918"/>
          </a:xfrm>
          <a:prstGeom xmlns:a="http://schemas.openxmlformats.org/drawingml/2006/main" prst="rect">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21857ad692434f35"/>
          <a:stretch xmlns:a="http://schemas.openxmlformats.org/drawingml/2006/main"/>
        </p:blipFill>
        <p:spPr>
          <a:xfrm xmlns:a="http://schemas.openxmlformats.org/drawingml/2006/main">
            <a:off x="8086725" y="3233261"/>
            <a:ext cx="3257550" cy="2334578"/>
          </a:xfrm>
          <a:prstGeom xmlns:a="http://schemas.openxmlformats.org/drawingml/2006/main" prst="rect">
            <a:avLst/>
          </a:prstGeom>
        </p:spPr>
      </p:pic>
      <p:sp>
        <p:nvSpPr>
          <p:cNvPr id="9" name="footer-label">
            <a:extLst xmlns:a="http://schemas.openxmlformats.org/drawingml/2006/main">
              <a:ext uri="{FF2B5EF4-FFF2-40B4-BE49-F238E27FC236}">
                <a16:creationId xmlns:a16="http://schemas.microsoft.com/office/drawing/2014/main" id="{0902014D-45F4-4ABA-BDB5-3F3F4A7196FF}"/>
              </a:ext>
            </a:extLst>
          </p:cNvPr>
          <p:cNvSpPr>
            <a:spLocks xmlns:a="http://schemas.openxmlformats.org/drawingml/2006/main" noGrp="1"/>
          </p:cNvSpPr>
          <p:nvPr/>
        </p:nvSpPr>
        <p:spPr>
          <a:xfrm xmlns:a="http://schemas.openxmlformats.org/drawingml/2006/main">
            <a:off x="4419600" y="5876925"/>
            <a:ext cx="3257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58645D"/>
                </a:solidFill>
                <a:latin typeface="Helvetica Neue"/>
                <a:ea typeface="Helvetica Neue"/>
                <a:cs typeface="Helvetica Neue"/>
              </a:defRPr>
            </a:pPr>
            <a:r>
              <a:rPr sz="1200" b="0">
                <a:solidFill>
                  <a:srgbClr val="58645D"/>
                </a:solidFill>
                <a:latin typeface="Helvetica Neue"/>
                <a:ea typeface="Helvetica Neue"/>
                <a:cs typeface="Helvetica Neue"/>
              </a:rPr>
              <a:t>Original page-footer error</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544cd61647ce405e"/>
          <a:stretch xmlns:a="http://schemas.openxmlformats.org/drawingml/2006/main"/>
        </p:blipFill>
        <p:spPr>
          <a:xfrm xmlns:a="http://schemas.openxmlformats.org/drawingml/2006/main">
            <a:off x="4419600" y="6182704"/>
            <a:ext cx="3257550" cy="312368"/>
          </a:xfrm>
          <a:prstGeom xmlns:a="http://schemas.openxmlformats.org/drawingml/2006/main" prst="rect">
            <a:avLst/>
          </a:prstGeom>
        </p:spPr>
      </p:pic>
      <p:sp>
        <p:nvSpPr>
          <p:cNvPr id="11" name="slide-number">
            <a:extLst xmlns:a="http://schemas.openxmlformats.org/drawingml/2006/main">
              <a:ext uri="{FF2B5EF4-FFF2-40B4-BE49-F238E27FC236}">
                <a16:creationId xmlns:a16="http://schemas.microsoft.com/office/drawing/2014/main" id="{9E1A63CD-C25D-4067-83DA-D06BB3EB77E5}"/>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08</a:t>
            </a:r>
          </a:p>
        </p:txBody>
      </p:sp>
    </p:spTree>
    <p:extLst>
      <p:ext uri="{BB962C8B-B14F-4D97-AF65-F5344CB8AC3E}">
        <p14:creationId xmlns:p14="http://schemas.microsoft.com/office/powerpoint/2010/main" val="933022437"/>
      </p:ext>
    </p:extLst>
  </p:cSld>
</p:sld>
</file>

<file path=ppt/slides/slide9.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5" name="section-label">
            <a:extLst xmlns:a="http://schemas.openxmlformats.org/drawingml/2006/main">
              <a:ext uri="{FF2B5EF4-FFF2-40B4-BE49-F238E27FC236}">
                <a16:creationId xmlns:a16="http://schemas.microsoft.com/office/drawing/2014/main" id="{69206F86-BFC6-4989-81E9-9BEF845670D4}"/>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RESEARCH HANDOFF</a:t>
            </a:r>
          </a:p>
        </p:txBody>
      </p:sp>
      <p:sp>
        <p:nvSpPr>
          <p:cNvPr id="2" name="headline">
            <a:extLst xmlns:a="http://schemas.openxmlformats.org/drawingml/2006/main">
              <a:ext uri="{FF2B5EF4-FFF2-40B4-BE49-F238E27FC236}">
                <a16:creationId xmlns:a16="http://schemas.microsoft.com/office/drawing/2014/main" id="{8279A0FD-05AA-4D8D-B2D5-27212AB5C7CF}"/>
              </a:ext>
            </a:extLst>
          </p:cNvPr>
          <p:cNvSpPr>
            <a:spLocks xmlns:a="http://schemas.openxmlformats.org/drawingml/2006/main" noGrp="1"/>
          </p:cNvSpPr>
          <p:nvPr/>
        </p:nvSpPr>
        <p:spPr>
          <a:xfrm xmlns:a="http://schemas.openxmlformats.org/drawingml/2006/main">
            <a:off x="609600" y="1104900"/>
            <a:ext cx="108680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Findings ready for backlog planning</a:t>
            </a:r>
          </a:p>
        </p:txBody>
      </p:sp>
      <p:sp>
        <p:nvSpPr>
          <p:cNvPr id="3" name="handoff-intro">
            <a:extLst xmlns:a="http://schemas.openxmlformats.org/drawingml/2006/main">
              <a:ext uri="{FF2B5EF4-FFF2-40B4-BE49-F238E27FC236}">
                <a16:creationId xmlns:a16="http://schemas.microsoft.com/office/drawing/2014/main" id="{13F2042B-29BF-4313-B84A-BC5DB196035D}"/>
              </a:ext>
            </a:extLst>
          </p:cNvPr>
          <p:cNvSpPr>
            <a:spLocks xmlns:a="http://schemas.openxmlformats.org/drawingml/2006/main" noGrp="1"/>
          </p:cNvSpPr>
          <p:nvPr/>
        </p:nvSpPr>
        <p:spPr>
          <a:xfrm xmlns:a="http://schemas.openxmlformats.org/drawingml/2006/main">
            <a:off x="609600" y="2276475"/>
            <a:ext cx="104489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presented the evaluation and recommendations, then helped turn the findings into a UX improvement list.</a:t>
            </a:r>
          </a:p>
        </p:txBody>
      </p:sp>
      <p:sp>
        <p:nvSpPr>
          <p:cNvPr id="4" name="step-date-0">
            <a:extLst xmlns:a="http://schemas.openxmlformats.org/drawingml/2006/main">
              <a:ext uri="{FF2B5EF4-FFF2-40B4-BE49-F238E27FC236}">
                <a16:creationId xmlns:a16="http://schemas.microsoft.com/office/drawing/2014/main" id="{49BCDA28-C1F3-49A9-A286-B389D0165448}"/>
              </a:ext>
            </a:extLst>
          </p:cNvPr>
          <p:cNvSpPr>
            <a:spLocks xmlns:a="http://schemas.openxmlformats.org/drawingml/2006/main" noGrp="1"/>
          </p:cNvSpPr>
          <p:nvPr/>
        </p:nvSpPr>
        <p:spPr>
          <a:xfrm xmlns:a="http://schemas.openxmlformats.org/drawingml/2006/main">
            <a:off x="609600" y="3543300"/>
            <a:ext cx="33242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22 NOV 2023</a:t>
            </a:r>
          </a:p>
        </p:txBody>
      </p:sp>
      <p:sp>
        <p:nvSpPr>
          <p:cNvPr id="5" name="step-title-0">
            <a:extLst xmlns:a="http://schemas.openxmlformats.org/drawingml/2006/main">
              <a:ext uri="{FF2B5EF4-FFF2-40B4-BE49-F238E27FC236}">
                <a16:creationId xmlns:a16="http://schemas.microsoft.com/office/drawing/2014/main" id="{52CCE977-FF12-4AB4-8359-95C735210C7D}"/>
              </a:ext>
            </a:extLst>
          </p:cNvPr>
          <p:cNvSpPr>
            <a:spLocks xmlns:a="http://schemas.openxmlformats.org/drawingml/2006/main" noGrp="1"/>
          </p:cNvSpPr>
          <p:nvPr/>
        </p:nvSpPr>
        <p:spPr>
          <a:xfrm xmlns:a="http://schemas.openxmlformats.org/drawingml/2006/main">
            <a:off x="609600" y="4038600"/>
            <a:ext cx="33242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1">
                <a:solidFill>
                  <a:srgbClr val="192B25"/>
                </a:solidFill>
                <a:latin typeface="Helvetica Neue"/>
                <a:ea typeface="Helvetica Neue"/>
                <a:cs typeface="Helvetica Neue"/>
              </a:defRPr>
            </a:pPr>
            <a:r>
              <a:rPr sz="2175" b="1">
                <a:solidFill>
                  <a:srgbClr val="192B25"/>
                </a:solidFill>
                <a:latin typeface="Helvetica Neue"/>
                <a:ea typeface="Helvetica Neue"/>
                <a:cs typeface="Helvetica Neue"/>
              </a:rPr>
              <a:t>Desktop evaluation</a:t>
            </a:r>
          </a:p>
        </p:txBody>
      </p:sp>
      <p:sp>
        <p:nvSpPr>
          <p:cNvPr id="6" name="step-detail-0">
            <a:extLst xmlns:a="http://schemas.openxmlformats.org/drawingml/2006/main">
              <a:ext uri="{FF2B5EF4-FFF2-40B4-BE49-F238E27FC236}">
                <a16:creationId xmlns:a16="http://schemas.microsoft.com/office/drawing/2014/main" id="{0A549065-0E1D-4E20-8ECF-80B8BEC9A978}"/>
              </a:ext>
            </a:extLst>
          </p:cNvPr>
          <p:cNvSpPr>
            <a:spLocks xmlns:a="http://schemas.openxmlformats.org/drawingml/2006/main" noGrp="1"/>
          </p:cNvSpPr>
          <p:nvPr/>
        </p:nvSpPr>
        <p:spPr>
          <a:xfrm xmlns:a="http://schemas.openxmlformats.org/drawingml/2006/main">
            <a:off x="609600" y="4981575"/>
            <a:ext cx="33242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0">
                <a:solidFill>
                  <a:srgbClr val="58645D"/>
                </a:solidFill>
                <a:latin typeface="Helvetica Neue"/>
                <a:ea typeface="Helvetica Neue"/>
                <a:cs typeface="Helvetica Neue"/>
              </a:defRPr>
            </a:pPr>
            <a:r>
              <a:rPr sz="1650" b="0">
                <a:solidFill>
                  <a:srgbClr val="58645D"/>
                </a:solidFill>
                <a:latin typeface="Helvetica Neue"/>
                <a:ea typeface="Helvetica Neue"/>
                <a:cs typeface="Helvetica Neue"/>
              </a:rPr>
              <a:t>Navigation, hierarchy and error recovery</a:t>
            </a:r>
          </a:p>
        </p:txBody>
      </p:sp>
      <p:sp>
        <p:nvSpPr>
          <p:cNvPr id="7" name="step-date-1">
            <a:extLst xmlns:a="http://schemas.openxmlformats.org/drawingml/2006/main">
              <a:ext uri="{FF2B5EF4-FFF2-40B4-BE49-F238E27FC236}">
                <a16:creationId xmlns:a16="http://schemas.microsoft.com/office/drawing/2014/main" id="{510D3ECC-EB5E-463A-8487-94E17DA4BE9D}"/>
              </a:ext>
            </a:extLst>
          </p:cNvPr>
          <p:cNvSpPr>
            <a:spLocks xmlns:a="http://schemas.openxmlformats.org/drawingml/2006/main" noGrp="1"/>
          </p:cNvSpPr>
          <p:nvPr/>
        </p:nvSpPr>
        <p:spPr>
          <a:xfrm xmlns:a="http://schemas.openxmlformats.org/drawingml/2006/main">
            <a:off x="4400550" y="3543300"/>
            <a:ext cx="33242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27 NOV 2023</a:t>
            </a:r>
          </a:p>
        </p:txBody>
      </p:sp>
      <p:sp>
        <p:nvSpPr>
          <p:cNvPr id="8" name="step-title-1">
            <a:extLst xmlns:a="http://schemas.openxmlformats.org/drawingml/2006/main">
              <a:ext uri="{FF2B5EF4-FFF2-40B4-BE49-F238E27FC236}">
                <a16:creationId xmlns:a16="http://schemas.microsoft.com/office/drawing/2014/main" id="{5C0DCCF0-C35A-42A2-A3FA-57B04B2701C8}"/>
              </a:ext>
            </a:extLst>
          </p:cNvPr>
          <p:cNvSpPr>
            <a:spLocks xmlns:a="http://schemas.openxmlformats.org/drawingml/2006/main" noGrp="1"/>
          </p:cNvSpPr>
          <p:nvPr/>
        </p:nvSpPr>
        <p:spPr>
          <a:xfrm xmlns:a="http://schemas.openxmlformats.org/drawingml/2006/main">
            <a:off x="4400550" y="4038600"/>
            <a:ext cx="33242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1">
                <a:solidFill>
                  <a:srgbClr val="192B25"/>
                </a:solidFill>
                <a:latin typeface="Helvetica Neue"/>
                <a:ea typeface="Helvetica Neue"/>
                <a:cs typeface="Helvetica Neue"/>
              </a:defRPr>
            </a:pPr>
            <a:r>
              <a:rPr sz="2175" b="1">
                <a:solidFill>
                  <a:srgbClr val="192B25"/>
                </a:solidFill>
                <a:latin typeface="Helvetica Neue"/>
                <a:ea typeface="Helvetica Neue"/>
                <a:cs typeface="Helvetica Neue"/>
              </a:rPr>
              <a:t>Recommendations report</a:t>
            </a:r>
          </a:p>
        </p:txBody>
      </p:sp>
      <p:sp>
        <p:nvSpPr>
          <p:cNvPr id="9" name="step-detail-1">
            <a:extLst xmlns:a="http://schemas.openxmlformats.org/drawingml/2006/main">
              <a:ext uri="{FF2B5EF4-FFF2-40B4-BE49-F238E27FC236}">
                <a16:creationId xmlns:a16="http://schemas.microsoft.com/office/drawing/2014/main" id="{5CF470A2-82E6-4E1D-AEAD-F9D6553244E2}"/>
              </a:ext>
            </a:extLst>
          </p:cNvPr>
          <p:cNvSpPr>
            <a:spLocks xmlns:a="http://schemas.openxmlformats.org/drawingml/2006/main" noGrp="1"/>
          </p:cNvSpPr>
          <p:nvPr/>
        </p:nvSpPr>
        <p:spPr>
          <a:xfrm xmlns:a="http://schemas.openxmlformats.org/drawingml/2006/main">
            <a:off x="4400550" y="4981575"/>
            <a:ext cx="33242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0">
                <a:solidFill>
                  <a:srgbClr val="58645D"/>
                </a:solidFill>
                <a:latin typeface="Helvetica Neue"/>
                <a:ea typeface="Helvetica Neue"/>
                <a:cs typeface="Helvetica Neue"/>
              </a:defRPr>
            </a:pPr>
            <a:r>
              <a:rPr sz="1650" b="0">
                <a:solidFill>
                  <a:srgbClr val="58645D"/>
                </a:solidFill>
                <a:latin typeface="Helvetica Neue"/>
                <a:ea typeface="Helvetica Neue"/>
                <a:cs typeface="Helvetica Neue"/>
              </a:rPr>
              <a:t>Specific interface changes and rationale</a:t>
            </a:r>
          </a:p>
        </p:txBody>
      </p:sp>
      <p:sp>
        <p:nvSpPr>
          <p:cNvPr id="10" name="step-date-2">
            <a:extLst xmlns:a="http://schemas.openxmlformats.org/drawingml/2006/main">
              <a:ext uri="{FF2B5EF4-FFF2-40B4-BE49-F238E27FC236}">
                <a16:creationId xmlns:a16="http://schemas.microsoft.com/office/drawing/2014/main" id="{A94C50D2-B3A2-4D01-9E43-23577A84D58C}"/>
              </a:ext>
            </a:extLst>
          </p:cNvPr>
          <p:cNvSpPr>
            <a:spLocks xmlns:a="http://schemas.openxmlformats.org/drawingml/2006/main" noGrp="1"/>
          </p:cNvSpPr>
          <p:nvPr/>
        </p:nvSpPr>
        <p:spPr>
          <a:xfrm xmlns:a="http://schemas.openxmlformats.org/drawingml/2006/main">
            <a:off x="8191500" y="3543300"/>
            <a:ext cx="33242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03 DEC 2023</a:t>
            </a:r>
          </a:p>
        </p:txBody>
      </p:sp>
      <p:sp>
        <p:nvSpPr>
          <p:cNvPr id="11" name="step-title-2">
            <a:extLst xmlns:a="http://schemas.openxmlformats.org/drawingml/2006/main">
              <a:ext uri="{FF2B5EF4-FFF2-40B4-BE49-F238E27FC236}">
                <a16:creationId xmlns:a16="http://schemas.microsoft.com/office/drawing/2014/main" id="{6FF95A0B-934B-436C-A968-998401C5EA3B}"/>
              </a:ext>
            </a:extLst>
          </p:cNvPr>
          <p:cNvSpPr>
            <a:spLocks xmlns:a="http://schemas.openxmlformats.org/drawingml/2006/main" noGrp="1"/>
          </p:cNvSpPr>
          <p:nvPr/>
        </p:nvSpPr>
        <p:spPr>
          <a:xfrm xmlns:a="http://schemas.openxmlformats.org/drawingml/2006/main">
            <a:off x="8191500" y="4038600"/>
            <a:ext cx="33242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1">
                <a:solidFill>
                  <a:srgbClr val="192B25"/>
                </a:solidFill>
                <a:latin typeface="Helvetica Neue"/>
                <a:ea typeface="Helvetica Neue"/>
                <a:cs typeface="Helvetica Neue"/>
              </a:defRPr>
            </a:pPr>
            <a:r>
              <a:rPr sz="2175" b="1">
                <a:solidFill>
                  <a:srgbClr val="192B25"/>
                </a:solidFill>
                <a:latin typeface="Helvetica Neue"/>
                <a:ea typeface="Helvetica Neue"/>
                <a:cs typeface="Helvetica Neue"/>
              </a:rPr>
              <a:t>Presentation</a:t>
            </a:r>
          </a:p>
        </p:txBody>
      </p:sp>
      <p:sp>
        <p:nvSpPr>
          <p:cNvPr id="12" name="step-detail-2">
            <a:extLst xmlns:a="http://schemas.openxmlformats.org/drawingml/2006/main">
              <a:ext uri="{FF2B5EF4-FFF2-40B4-BE49-F238E27FC236}">
                <a16:creationId xmlns:a16="http://schemas.microsoft.com/office/drawing/2014/main" id="{BD126C95-F4EB-4ED2-B183-5199F322FB39}"/>
              </a:ext>
            </a:extLst>
          </p:cNvPr>
          <p:cNvSpPr>
            <a:spLocks xmlns:a="http://schemas.openxmlformats.org/drawingml/2006/main" noGrp="1"/>
          </p:cNvSpPr>
          <p:nvPr/>
        </p:nvSpPr>
        <p:spPr>
          <a:xfrm xmlns:a="http://schemas.openxmlformats.org/drawingml/2006/main">
            <a:off x="8191500" y="4981575"/>
            <a:ext cx="33242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0">
                <a:solidFill>
                  <a:srgbClr val="58645D"/>
                </a:solidFill>
                <a:latin typeface="Helvetica Neue"/>
                <a:ea typeface="Helvetica Neue"/>
                <a:cs typeface="Helvetica Neue"/>
              </a:defRPr>
            </a:pPr>
            <a:r>
              <a:rPr sz="1650" b="0">
                <a:solidFill>
                  <a:srgbClr val="58645D"/>
                </a:solidFill>
                <a:latin typeface="Helvetica Neue"/>
                <a:ea typeface="Helvetica Neue"/>
                <a:cs typeface="Helvetica Neue"/>
              </a:rPr>
              <a:t>Improvement list started for backlog planning</a:t>
            </a:r>
          </a:p>
        </p:txBody>
      </p:sp>
      <p:sp>
        <p:nvSpPr>
          <p:cNvPr id="13" name="credit">
            <a:extLst xmlns:a="http://schemas.openxmlformats.org/drawingml/2006/main">
              <a:ext uri="{FF2B5EF4-FFF2-40B4-BE49-F238E27FC236}">
                <a16:creationId xmlns:a16="http://schemas.microsoft.com/office/drawing/2014/main" id="{5B4146F4-70C4-4A9F-8A02-D38A13CB1333}"/>
              </a:ext>
            </a:extLst>
          </p:cNvPr>
          <p:cNvSpPr>
            <a:spLocks xmlns:a="http://schemas.openxmlformats.org/drawingml/2006/main" noGrp="1"/>
          </p:cNvSpPr>
          <p:nvPr/>
        </p:nvSpPr>
        <p:spPr>
          <a:xfrm xmlns:a="http://schemas.openxmlformats.org/drawingml/2006/main">
            <a:off x="609600" y="6000750"/>
            <a:ext cx="107251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00" b="0">
                <a:solidFill>
                  <a:srgbClr val="58645D"/>
                </a:solidFill>
                <a:latin typeface="Helvetica Neue"/>
                <a:ea typeface="Helvetica Neue"/>
                <a:cs typeface="Helvetica Neue"/>
              </a:defRPr>
            </a:pPr>
            <a:r>
              <a:rPr sz="1500" b="0">
                <a:solidFill>
                  <a:srgbClr val="58645D"/>
                </a:solidFill>
                <a:latin typeface="Helvetica Neue"/>
                <a:ea typeface="Helvetica Neue"/>
                <a:cs typeface="Helvetica Neue"/>
              </a:rPr>
              <a:t>I collaborated on Figma mockups. Lead designer Megan led the later design refinements.</a:t>
            </a:r>
          </a:p>
        </p:txBody>
      </p:sp>
      <p:sp>
        <p:nvSpPr>
          <p:cNvPr id="14" name="slide-number">
            <a:extLst xmlns:a="http://schemas.openxmlformats.org/drawingml/2006/main">
              <a:ext uri="{FF2B5EF4-FFF2-40B4-BE49-F238E27FC236}">
                <a16:creationId xmlns:a16="http://schemas.microsoft.com/office/drawing/2014/main" id="{C2D3E046-5D04-40B5-9CA6-657642FBBF3F}"/>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09</a:t>
            </a:r>
          </a:p>
        </p:txBody>
      </p:sp>
    </p:spTree>
    <p:extLst>
      <p:ext uri="{BB962C8B-B14F-4D97-AF65-F5344CB8AC3E}">
        <p14:creationId xmlns:p14="http://schemas.microsoft.com/office/powerpoint/2010/main" val="1839479057"/>
      </p:ext>
    </p:extLst>
  </p:cSld>
</p:sld>
</file>

<file path=ppt/slides/slide10.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AC860A7B-C5E2-4706-80F8-B033F5E985B6}"/>
              </a:ext>
            </a:extLst>
          </p:cNvPr>
          <p:cNvSpPr>
            <a:spLocks xmlns:a="http://schemas.openxmlformats.org/drawingml/2006/main" noGrp="1"/>
          </p:cNvSpPr>
          <p:nvPr/>
        </p:nvSpPr>
        <p:spPr>
          <a:xfrm xmlns:a="http://schemas.openxmlformats.org/drawingml/2006/main">
            <a:off x="609600" y="5143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PROPOSED APPROACH   /   MATCH GROUP AFFINITY</a:t>
            </a:r>
          </a:p>
        </p:txBody>
      </p:sp>
      <p:sp>
        <p:nvSpPr>
          <p:cNvPr id="2" name="headline">
            <a:extLst xmlns:a="http://schemas.openxmlformats.org/drawingml/2006/main">
              <a:ext uri="{FF2B5EF4-FFF2-40B4-BE49-F238E27FC236}">
                <a16:creationId xmlns:a16="http://schemas.microsoft.com/office/drawing/2014/main" id="{D35DE43A-121D-4259-8304-2B6C32CDDBDE}"/>
              </a:ext>
            </a:extLst>
          </p:cNvPr>
          <p:cNvSpPr>
            <a:spLocks xmlns:a="http://schemas.openxmlformats.org/drawingml/2006/main" noGrp="1"/>
          </p:cNvSpPr>
          <p:nvPr/>
        </p:nvSpPr>
        <p:spPr>
          <a:xfrm xmlns:a="http://schemas.openxmlformats.org/drawingml/2006/main">
            <a:off x="609600" y="1323975"/>
            <a:ext cx="6153150" cy="1590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Understand the context</a:t>
            </a:r>
          </a:p>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behind the pattern</a:t>
            </a:r>
          </a:p>
        </p:txBody>
      </p:sp>
      <p:sp>
        <p:nvSpPr>
          <p:cNvPr id="3" name="research-question">
            <a:extLst xmlns:a="http://schemas.openxmlformats.org/drawingml/2006/main">
              <a:ext uri="{FF2B5EF4-FFF2-40B4-BE49-F238E27FC236}">
                <a16:creationId xmlns:a16="http://schemas.microsoft.com/office/drawing/2014/main" id="{CC8764FE-3C7A-42A9-94D1-2584E4324555}"/>
              </a:ext>
            </a:extLst>
          </p:cNvPr>
          <p:cNvSpPr>
            <a:spLocks xmlns:a="http://schemas.openxmlformats.org/drawingml/2006/main" noGrp="1"/>
          </p:cNvSpPr>
          <p:nvPr/>
        </p:nvSpPr>
        <p:spPr>
          <a:xfrm xmlns:a="http://schemas.openxmlformats.org/drawingml/2006/main">
            <a:off x="609600" y="3295650"/>
            <a:ext cx="5448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Start with one product decision and the behavior that needs explaining. Learn how that moment differs across the relevant communities.</a:t>
            </a:r>
          </a:p>
        </p:txBody>
      </p:sp>
      <p:sp>
        <p:nvSpPr>
          <p:cNvPr id="4" name="research-plan">
            <a:extLst xmlns:a="http://schemas.openxmlformats.org/drawingml/2006/main">
              <a:ext uri="{FF2B5EF4-FFF2-40B4-BE49-F238E27FC236}">
                <a16:creationId xmlns:a16="http://schemas.microsoft.com/office/drawing/2014/main" id="{4E70B17D-664C-48EA-9503-F716A410BA63}"/>
              </a:ext>
            </a:extLst>
          </p:cNvPr>
          <p:cNvSpPr>
            <a:spLocks xmlns:a="http://schemas.openxmlformats.org/drawingml/2006/main" noGrp="1"/>
          </p:cNvSpPr>
          <p:nvPr/>
        </p:nvSpPr>
        <p:spPr>
          <a:xfrm xmlns:a="http://schemas.openxmlformats.org/drawingml/2006/main">
            <a:off x="609600" y="4886325"/>
            <a:ext cx="544830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Then choose the study: interviews for context, a survey for reported patterns, or usability testing for an interaction. Bring back the evidence and its limits.</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e9d36fd34e234d62"/>
          <a:stretch xmlns:a="http://schemas.openxmlformats.org/drawingml/2006/main"/>
        </p:blipFill>
        <p:spPr>
          <a:xfrm xmlns:a="http://schemas.openxmlformats.org/drawingml/2006/main">
            <a:off x="7010400" y="1447800"/>
            <a:ext cx="4876800" cy="4876800"/>
          </a:xfrm>
          <a:prstGeom xmlns:a="http://schemas.openxmlformats.org/drawingml/2006/main" prst="rect">
            <a:avLst/>
          </a:prstGeom>
        </p:spPr>
      </p:pic>
      <p:sp>
        <p:nvSpPr>
          <p:cNvPr id="6" name="slide-number">
            <a:extLst xmlns:a="http://schemas.openxmlformats.org/drawingml/2006/main">
              <a:ext uri="{FF2B5EF4-FFF2-40B4-BE49-F238E27FC236}">
                <a16:creationId xmlns:a16="http://schemas.microsoft.com/office/drawing/2014/main" id="{2F1B7D7F-5F17-4FCC-BF58-B31E4B3C9A25}"/>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10</a:t>
            </a:r>
          </a:p>
        </p:txBody>
      </p:sp>
    </p:spTree>
    <p:extLst>
      <p:ext uri="{BB962C8B-B14F-4D97-AF65-F5344CB8AC3E}">
        <p14:creationId xmlns:p14="http://schemas.microsoft.com/office/powerpoint/2010/main" val="412533125"/>
      </p:ext>
    </p:extLst>
  </p:cSld>
</p:sld>
</file>

<file path=ppt/slides/slide11.xml><?xml version="1.0" encoding="utf-8"?>
<p:sld xmlns:p="http://schemas.openxmlformats.org/presentationml/2006/main">
  <p:cSld>
    <p:bg>
      <p:bgPr>
        <a:solidFill xmlns:a="http://schemas.openxmlformats.org/drawingml/2006/main">
          <a:srgbClr val="244D3C"/>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192B4A54-A86B-4368-B68F-D71F715E4323}"/>
              </a:ext>
            </a:extLst>
          </p:cNvPr>
          <p:cNvSpPr>
            <a:spLocks xmlns:a="http://schemas.openxmlformats.org/drawingml/2006/main" noGrp="1"/>
          </p:cNvSpPr>
          <p:nvPr/>
        </p:nvSpPr>
        <p:spPr>
          <a:xfrm xmlns:a="http://schemas.openxmlformats.org/drawingml/2006/main">
            <a:off x="609600" y="523875"/>
            <a:ext cx="933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DBEB89"/>
                </a:solidFill>
                <a:latin typeface="Helvetica Neue"/>
                <a:ea typeface="Helvetica Neue"/>
                <a:cs typeface="Helvetica Neue"/>
              </a:defRPr>
            </a:pPr>
            <a:r>
              <a:rPr sz="1200" b="1">
                <a:solidFill>
                  <a:srgbClr val="DBEB89"/>
                </a:solidFill>
                <a:latin typeface="Helvetica Neue"/>
                <a:ea typeface="Helvetica Neue"/>
                <a:cs typeface="Helvetica Neue"/>
              </a:rPr>
              <a:t>KYLE HOBSON   /   MATCH GROUP · UX RESEARCH</a:t>
            </a:r>
          </a:p>
        </p:txBody>
      </p:sp>
      <p:sp>
        <p:nvSpPr>
          <p:cNvPr id="2" name="headline">
            <a:extLst xmlns:a="http://schemas.openxmlformats.org/drawingml/2006/main">
              <a:ext uri="{FF2B5EF4-FFF2-40B4-BE49-F238E27FC236}">
                <a16:creationId xmlns:a16="http://schemas.microsoft.com/office/drawing/2014/main" id="{E11978F5-D1E3-457A-ABFE-16EE60153A43}"/>
              </a:ext>
            </a:extLst>
          </p:cNvPr>
          <p:cNvSpPr>
            <a:spLocks xmlns:a="http://schemas.openxmlformats.org/drawingml/2006/main" noGrp="1"/>
          </p:cNvSpPr>
          <p:nvPr/>
        </p:nvSpPr>
        <p:spPr>
          <a:xfrm xmlns:a="http://schemas.openxmlformats.org/drawingml/2006/main">
            <a:off x="609600" y="1647825"/>
            <a:ext cx="102870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800" b="1">
                <a:solidFill>
                  <a:srgbClr val="F4F2E9"/>
                </a:solidFill>
                <a:latin typeface="Helvetica Neue"/>
                <a:ea typeface="Helvetica Neue"/>
                <a:cs typeface="Helvetica Neue"/>
              </a:defRPr>
            </a:pPr>
            <a:r>
              <a:rPr sz="4800" b="1">
                <a:solidFill>
                  <a:srgbClr val="F4F2E9"/>
                </a:solidFill>
                <a:latin typeface="Helvetica Neue"/>
                <a:ea typeface="Helvetica Neue"/>
                <a:cs typeface="Helvetica Neue"/>
              </a:rPr>
              <a:t>Let’s make the next</a:t>
            </a:r>
          </a:p>
          <a:p xmlns:a="http://schemas.openxmlformats.org/drawingml/2006/main">
            <a:pPr>
              <a:lnSpc>
                <a:spcPct val="110000"/>
              </a:lnSpc>
              <a:buNone/>
              <a:defRPr sz="4800" b="1">
                <a:solidFill>
                  <a:srgbClr val="F4F2E9"/>
                </a:solidFill>
                <a:latin typeface="Helvetica Neue"/>
                <a:ea typeface="Helvetica Neue"/>
                <a:cs typeface="Helvetica Neue"/>
              </a:defRPr>
            </a:pPr>
            <a:r>
              <a:rPr sz="4800" b="1">
                <a:solidFill>
                  <a:srgbClr val="F4F2E9"/>
                </a:solidFill>
                <a:latin typeface="Helvetica Neue"/>
                <a:ea typeface="Helvetica Neue"/>
                <a:cs typeface="Helvetica Neue"/>
              </a:rPr>
              <a:t>decision clearer</a:t>
            </a:r>
          </a:p>
        </p:txBody>
      </p:sp>
      <p:sp>
        <p:nvSpPr>
          <p:cNvPr id="3" name="contact-intent">
            <a:extLst xmlns:a="http://schemas.openxmlformats.org/drawingml/2006/main">
              <a:ext uri="{FF2B5EF4-FFF2-40B4-BE49-F238E27FC236}">
                <a16:creationId xmlns:a16="http://schemas.microsoft.com/office/drawing/2014/main" id="{5A2ECF99-C615-49F7-B982-F21DB65DBCC3}"/>
              </a:ext>
            </a:extLst>
          </p:cNvPr>
          <p:cNvSpPr>
            <a:spLocks xmlns:a="http://schemas.openxmlformats.org/drawingml/2006/main" noGrp="1"/>
          </p:cNvSpPr>
          <p:nvPr/>
        </p:nvSpPr>
        <p:spPr>
          <a:xfrm xmlns:a="http://schemas.openxmlformats.org/drawingml/2006/main">
            <a:off x="647700" y="3943350"/>
            <a:ext cx="100203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F4F2E9"/>
                </a:solidFill>
                <a:latin typeface="Helvetica Neue"/>
                <a:ea typeface="Helvetica Neue"/>
                <a:cs typeface="Helvetica Neue"/>
              </a:defRPr>
            </a:pPr>
            <a:r>
              <a:rPr sz="2025" b="0">
                <a:solidFill>
                  <a:srgbClr val="F4F2E9"/>
                </a:solidFill>
                <a:latin typeface="Helvetica Neue"/>
                <a:ea typeface="Helvetica Neue"/>
                <a:cs typeface="Helvetica Neue"/>
              </a:rPr>
              <a:t>Available to discuss the six-month UX Researcher role at Match Group Affinity. Based in Mesa, Arizona; ready to start as soon as possible.</a:t>
            </a:r>
          </a:p>
        </p:txBody>
      </p:sp>
      <p:sp>
        <p:nvSpPr>
          <p:cNvPr id="4" name="email">
            <a:extLst xmlns:a="http://schemas.openxmlformats.org/drawingml/2006/main">
              <a:ext uri="{FF2B5EF4-FFF2-40B4-BE49-F238E27FC236}">
                <a16:creationId xmlns:a16="http://schemas.microsoft.com/office/drawing/2014/main" id="{FA80514C-5A3B-4B52-BDFA-29CB15D91108}"/>
              </a:ext>
            </a:extLst>
          </p:cNvPr>
          <p:cNvSpPr>
            <a:spLocks xmlns:a="http://schemas.openxmlformats.org/drawingml/2006/main" noGrp="1"/>
          </p:cNvSpPr>
          <p:nvPr/>
        </p:nvSpPr>
        <p:spPr>
          <a:xfrm xmlns:a="http://schemas.openxmlformats.org/drawingml/2006/main">
            <a:off x="647700" y="5057775"/>
            <a:ext cx="10191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u="sng">
                <a:solidFill>
                  <a:srgbClr val="DBEB89"/>
                </a:solidFill>
                <a:latin typeface="Helvetica Neue"/>
                <a:ea typeface="Helvetica Neue"/>
                <a:cs typeface="Helvetica Neue"/>
              </a:defRPr>
            </a:pPr>
            <a:r>
              <a:rPr sz="1875" b="0" u="sng">
                <a:solidFill>
                  <a:srgbClr val="DBEB89"/>
                </a:solidFill>
                <a:latin typeface="Helvetica Neue"/>
                <a:ea typeface="Helvetica Neue"/>
                <a:cs typeface="Helvetica Neue"/>
                <a:hlinkClick xmlns:r="http://schemas.openxmlformats.org/officeDocument/2006/relationships" r:id="R6a6580e07c914548"/>
              </a:rPr>
              <a:t>JonathanKyleHobson@gmail.com</a:t>
            </a:r>
          </a:p>
        </p:txBody>
      </p:sp>
      <p:sp>
        <p:nvSpPr>
          <p:cNvPr id="5" name="portfolio">
            <a:extLst xmlns:a="http://schemas.openxmlformats.org/drawingml/2006/main">
              <a:ext uri="{FF2B5EF4-FFF2-40B4-BE49-F238E27FC236}">
                <a16:creationId xmlns:a16="http://schemas.microsoft.com/office/drawing/2014/main" id="{66522AA8-065C-42DD-B11C-A6FCE2316CF4}"/>
              </a:ext>
            </a:extLst>
          </p:cNvPr>
          <p:cNvSpPr>
            <a:spLocks xmlns:a="http://schemas.openxmlformats.org/drawingml/2006/main" noGrp="1"/>
          </p:cNvSpPr>
          <p:nvPr/>
        </p:nvSpPr>
        <p:spPr>
          <a:xfrm xmlns:a="http://schemas.openxmlformats.org/drawingml/2006/main">
            <a:off x="647700" y="570547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u="sng">
                <a:solidFill>
                  <a:srgbClr val="DBEB89"/>
                </a:solidFill>
                <a:latin typeface="Helvetica Neue"/>
                <a:ea typeface="Helvetica Neue"/>
                <a:cs typeface="Helvetica Neue"/>
              </a:defRPr>
            </a:pPr>
            <a:r>
              <a:rPr sz="1725" b="0" u="sng">
                <a:solidFill>
                  <a:srgbClr val="DBEB89"/>
                </a:solidFill>
                <a:latin typeface="Helvetica Neue"/>
                <a:ea typeface="Helvetica Neue"/>
                <a:cs typeface="Helvetica Neue"/>
                <a:hlinkClick xmlns:r="http://schemas.openxmlformats.org/officeDocument/2006/relationships" r:id="R6278416129b84e48"/>
              </a:rPr>
              <a:t>jonathankhobson.github.io/application-portfolios/match-group-ux-researcher</a:t>
            </a:r>
          </a:p>
        </p:txBody>
      </p:sp>
      <p:sp>
        <p:nvSpPr>
          <p:cNvPr id="6" name="slide-number">
            <a:extLst xmlns:a="http://schemas.openxmlformats.org/drawingml/2006/main">
              <a:ext uri="{FF2B5EF4-FFF2-40B4-BE49-F238E27FC236}">
                <a16:creationId xmlns:a16="http://schemas.microsoft.com/office/drawing/2014/main" id="{FC29AAB8-1480-471D-A2A7-D1CA8AAE06A1}"/>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DBEB89"/>
                </a:solidFill>
                <a:latin typeface="Helvetica Neue"/>
                <a:ea typeface="Helvetica Neue"/>
                <a:cs typeface="Helvetica Neue"/>
              </a:defRPr>
            </a:pPr>
            <a:r>
              <a:rPr sz="1050" b="0">
                <a:solidFill>
                  <a:srgbClr val="DBEB89"/>
                </a:solidFill>
                <a:latin typeface="Helvetica Neue"/>
                <a:ea typeface="Helvetica Neue"/>
                <a:cs typeface="Helvetica Neue"/>
              </a:rPr>
              <a:t>11</a:t>
            </a:r>
          </a:p>
        </p:txBody>
      </p:sp>
    </p:spTree>
    <p:extLst>
      <p:ext uri="{BB962C8B-B14F-4D97-AF65-F5344CB8AC3E}">
        <p14:creationId xmlns:p14="http://schemas.microsoft.com/office/powerpoint/2010/main" val="513130967"/>
      </p:ext>
    </p:extLst>
  </p:cSld>
</p:sld>
</file>

<file path=ppt/theme/theme1.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2026-09-08T19:14:21.7040000Z</dcterms:created>
  <dcterms:modified xsi:type="dcterms:W3CDTF">2026-09-08T19:14:21.7040000Z</dcterms:modified>
</coreProperties>
</file>