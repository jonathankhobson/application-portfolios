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98f7c0d44442f8" /><Relationship Type="http://schemas.openxmlformats.org/officeDocument/2006/relationships/extended-properties" Target="/docProps/app.xml" Id="Rd74e5e1bc8ac4f95" /><Relationship Type="http://schemas.openxmlformats.org/officeDocument/2006/relationships/officeDocument" Target="/ppt/presentation.xml" Id="Rbae815ff78514b4a" /></Relationships>
</file>

<file path=ppt/presentation.xml><?xml version="1.0" encoding="utf-8"?>
<p:presentation xmlns:p="http://schemas.openxmlformats.org/presentationml/2006/main">
  <p:sldMasterIdLst>
    <p:sldMasterId xmlns:r="http://schemas.openxmlformats.org/officeDocument/2006/relationships" id="2147483648" r:id="Rf64cd4821b77442a"/>
  </p:sldMasterIdLst>
  <p:notesMasterIdLst>
    <p:notesMasterId xmlns:r="http://schemas.openxmlformats.org/officeDocument/2006/relationships" r:id="Rfcd400a3fccf4bba"/>
  </p:notesMasterIdLst>
  <p:sldIdLst>
    <p:sldId xmlns:r="http://schemas.openxmlformats.org/officeDocument/2006/relationships" id="256" r:id="R3e1213fcdd1345ff"/>
    <p:sldId xmlns:r="http://schemas.openxmlformats.org/officeDocument/2006/relationships" id="257" r:id="Rb6663c7a74ad4faa"/>
    <p:sldId xmlns:r="http://schemas.openxmlformats.org/officeDocument/2006/relationships" id="258" r:id="Re083c4d297c2469b"/>
    <p:sldId xmlns:r="http://schemas.openxmlformats.org/officeDocument/2006/relationships" id="259" r:id="R5709e88f67674a01"/>
    <p:sldId xmlns:r="http://schemas.openxmlformats.org/officeDocument/2006/relationships" id="260" r:id="R68d5f27fb0924163"/>
    <p:sldId xmlns:r="http://schemas.openxmlformats.org/officeDocument/2006/relationships" id="261" r:id="R2f38d19b1bc84b61"/>
    <p:sldId xmlns:r="http://schemas.openxmlformats.org/officeDocument/2006/relationships" id="262" r:id="R20ca1b01f7474453"/>
    <p:sldId xmlns:r="http://schemas.openxmlformats.org/officeDocument/2006/relationships" id="263" r:id="Rce5787e91d2a47d0"/>
    <p:sldId xmlns:r="http://schemas.openxmlformats.org/officeDocument/2006/relationships" id="264" r:id="Rb1a9f140b7674542"/>
    <p:sldId xmlns:r="http://schemas.openxmlformats.org/officeDocument/2006/relationships" id="265" r:id="Re095d010d22c4d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a6348b906e44e7" /><Relationship Type="http://schemas.openxmlformats.org/officeDocument/2006/relationships/slideMaster" Target="/ppt/slideMasters/slideMaster1.xml" Id="Rf64cd4821b77442a" /><Relationship Type="http://schemas.openxmlformats.org/officeDocument/2006/relationships/notesMaster" Target="/ppt/notesMasters/notesMaster1.xml" Id="Rfcd400a3fccf4bba" /><Relationship Type="http://schemas.openxmlformats.org/officeDocument/2006/relationships/presProps" Target="/ppt/presProps.xml" Id="R79596eaeb76d4787" /><Relationship Type="http://schemas.openxmlformats.org/officeDocument/2006/relationships/tableStyles" Target="/ppt/tableStyles.xml" Id="R709c3923120e45d9" /><Relationship Type="http://schemas.openxmlformats.org/officeDocument/2006/relationships/slide" Target="/ppt/slides/slide1.xml" Id="R3e1213fcdd1345ff" /><Relationship Type="http://schemas.openxmlformats.org/officeDocument/2006/relationships/slide" Target="/ppt/slides/slide2.xml" Id="Rb6663c7a74ad4faa" /><Relationship Type="http://schemas.openxmlformats.org/officeDocument/2006/relationships/slide" Target="/ppt/slides/slide3.xml" Id="Re083c4d297c2469b" /><Relationship Type="http://schemas.openxmlformats.org/officeDocument/2006/relationships/slide" Target="/ppt/slides/slide4.xml" Id="R5709e88f67674a01" /><Relationship Type="http://schemas.openxmlformats.org/officeDocument/2006/relationships/slide" Target="/ppt/slides/slide5.xml" Id="R68d5f27fb0924163" /><Relationship Type="http://schemas.openxmlformats.org/officeDocument/2006/relationships/slide" Target="/ppt/slides/slide6.xml" Id="R2f38d19b1bc84b61" /><Relationship Type="http://schemas.openxmlformats.org/officeDocument/2006/relationships/slide" Target="/ppt/slides/slide7.xml" Id="R20ca1b01f7474453" /><Relationship Type="http://schemas.openxmlformats.org/officeDocument/2006/relationships/slide" Target="/ppt/slides/slide8.xml" Id="Rce5787e91d2a47d0" /><Relationship Type="http://schemas.openxmlformats.org/officeDocument/2006/relationships/slide" Target="/ppt/slides/slide9.xml" Id="Rb1a9f140b7674542" /><Relationship Type="http://schemas.openxmlformats.org/officeDocument/2006/relationships/slide" Target="/ppt/slides/slide10.xml" Id="Re095d010d22c4d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e29b0a27c946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1d376bf63e4831" /><Relationship Type="http://schemas.openxmlformats.org/officeDocument/2006/relationships/notesMaster" Target="/ppt/notesMasters/notesMaster1.xml" Id="R3f156840cfe34b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bd8a8962164f41" /><Relationship Type="http://schemas.openxmlformats.org/officeDocument/2006/relationships/notesMaster" Target="/ppt/notesMasters/notesMaster1.xml" Id="Rf54f8d6cfbc546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c33957af0348dd" /><Relationship Type="http://schemas.openxmlformats.org/officeDocument/2006/relationships/notesMaster" Target="/ppt/notesMasters/notesMaster1.xml" Id="R6426707b97b045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05b7e527ce4ae2" /><Relationship Type="http://schemas.openxmlformats.org/officeDocument/2006/relationships/notesMaster" Target="/ppt/notesMasters/notesMaster1.xml" Id="R849b747d5ac94d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4a8641545e4311" /><Relationship Type="http://schemas.openxmlformats.org/officeDocument/2006/relationships/notesMaster" Target="/ppt/notesMasters/notesMaster1.xml" Id="R0477403989a04d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24f3b84985475b" /><Relationship Type="http://schemas.openxmlformats.org/officeDocument/2006/relationships/notesMaster" Target="/ppt/notesMasters/notesMaster1.xml" Id="Rd070c81a8b7544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0842633d294b6b" /><Relationship Type="http://schemas.openxmlformats.org/officeDocument/2006/relationships/notesMaster" Target="/ppt/notesMasters/notesMaster1.xml" Id="Rdc8e4035366749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565ef3cf9c4b45" /><Relationship Type="http://schemas.openxmlformats.org/officeDocument/2006/relationships/notesMaster" Target="/ppt/notesMasters/notesMaster1.xml" Id="R73cfdaeb423248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cd5b2de64a456d" /><Relationship Type="http://schemas.openxmlformats.org/officeDocument/2006/relationships/notesMaster" Target="/ppt/notesMasters/notesMaster1.xml" Id="Rbcb6a6e84aab42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0cb974d0204163" /><Relationship Type="http://schemas.openxmlformats.org/officeDocument/2006/relationships/notesMaster" Target="/ppt/notesMasters/notesMaster1.xml" Id="R241663c4c3164f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Designer. Source: selected original SmartTagIt About Me widget design export. Interface content and values are illustrative design content. The deck discusses design deliverables, handoff and proposed iterations, with work stage stated at each case 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About Me, SmartTagIt at FactorLab. Kyle: UX Designer &amp; Researcher (Contract), 2026. Source: original About Me Figma direction and April–May 2026 walkthroughs. The displayed crop retains original sample content. A September 2, 2026 engineering update confirms the About Me web/server release. These images document design iterations rather than the exact released layout.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About Me Topic Comparison widget and stakeholder design discussions. Values are illustrative design content, not research outcomes. Kyle advocated neutral feedback and made cohort definition and interpretation questions explicit. The case output was a family of insight layouts and concrete product questions for alignment.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Flint, SmartTagIt at FactorLab. Kyle: UX Designer &amp; Researcher (Contract), 2025–2026. Source: original mobile design export, question suggestions and project walkthroughs. Work stage: design deliverables and engineering handoff. These examples document designed states, not a claim that every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response-in-progress mobile export and design walkthrough. The inset enlarges an unchanged region of the same source image. Kyle explored the waiting treatment alongside the conversation and discussed animation constraints with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Kyle: Lead UX Researcher, 2023–2025. Source: original Oak navigation evaluation screenshot, with the identity area omitted. Training the assistant, starting Vibecheck and requesting support appear as competing entry points. Kyle documented the labels and visual treatments and used the audit to make these choices explicit for review. Work stage: usability evaluation and design recommendations. This slide does not present a finished navigation redesign or a user-study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a HopSkipDrive transportation-coordinator workflow, grounded in Kyle’s Figma prototypes, documented interaction states and developer collaboration. Transportation application is adjacent; this is not prior HopSkipDrive work, a released transportation experience, or a measured safety/efficiency outcome. The portrait is user-supplied identity material.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product and UX design roles, contract projects and professional collaborations. The displayed contact links are clickable.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5526517af143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c725ce9f0548ae" /><Relationship Type="http://schemas.openxmlformats.org/officeDocument/2006/relationships/slideLayout" Target="/ppt/slideLayouts/slideLayout1.xml" Id="Red82be0a13e240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82be0a13e240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a12d1a2b9ee4fa2" /><Relationship Type="http://schemas.openxmlformats.org/officeDocument/2006/relationships/image" Target="/ppt/media/image.png" Id="R22ce4ac897a84468" /><Relationship Type="http://schemas.openxmlformats.org/officeDocument/2006/relationships/notesSlide" Target="/ppt/notesSlides/notesSlide1.xml" Id="R1cd08eb2a4804e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76d247ad3d413a" /><Relationship Type="http://schemas.openxmlformats.org/officeDocument/2006/relationships/image" Target="/ppt/media/image2.png" Id="R7ffe8ca167d24ee2" /><Relationship Type="http://schemas.openxmlformats.org/officeDocument/2006/relationships/notesSlide" Target="/ppt/notesSlides/notesSlide2.xml" Id="R9d718637b8374e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e446ed33eb749fe" /><Relationship Type="http://schemas.openxmlformats.org/officeDocument/2006/relationships/image" Target="/ppt/media/image3.png" Id="R51b6a5fdfe8d4bb0" /><Relationship Type="http://schemas.openxmlformats.org/officeDocument/2006/relationships/notesSlide" Target="/ppt/notesSlides/notesSlide3.xml" Id="R4723edd9ea4c47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e037df279924af7" /><Relationship Type="http://schemas.openxmlformats.org/officeDocument/2006/relationships/image" Target="/ppt/media/image4.png" Id="R9e464bce5e6e49f4" /><Relationship Type="http://schemas.openxmlformats.org/officeDocument/2006/relationships/notesSlide" Target="/ppt/notesSlides/notesSlide4.xml" Id="Rf6f8980b246d48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92f913f87b44c8" /><Relationship Type="http://schemas.openxmlformats.org/officeDocument/2006/relationships/image" Target="/ppt/media/image5.png" Id="Rf8ad35e6e92041d6" /><Relationship Type="http://schemas.openxmlformats.org/officeDocument/2006/relationships/image" Target="/ppt/media/image6.png" Id="Rc94c051c70c44cde" /><Relationship Type="http://schemas.openxmlformats.org/officeDocument/2006/relationships/notesSlide" Target="/ppt/notesSlides/notesSlide5.xml" Id="R89fc21910e354c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43d26f1ffa43de" /><Relationship Type="http://schemas.openxmlformats.org/officeDocument/2006/relationships/image" Target="/ppt/media/image7.png" Id="R02a0592599574274" /><Relationship Type="http://schemas.openxmlformats.org/officeDocument/2006/relationships/image" Target="/ppt/media/image8.png" Id="Ree07285522eb4e47" /><Relationship Type="http://schemas.openxmlformats.org/officeDocument/2006/relationships/notesSlide" Target="/ppt/notesSlides/notesSlide6.xml" Id="R309b0376021c47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9d867551b424a2c" /><Relationship Type="http://schemas.openxmlformats.org/officeDocument/2006/relationships/image" Target="/ppt/media/image9.png" Id="R7f5664268c9a47b8" /><Relationship Type="http://schemas.openxmlformats.org/officeDocument/2006/relationships/notesSlide" Target="/ppt/notesSlides/notesSlide7.xml" Id="Rb2161195490b40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2e1beb6d32a42d0" /><Relationship Type="http://schemas.openxmlformats.org/officeDocument/2006/relationships/image" Target="/ppt/media/image10.png" Id="R5449177c0d3344cb" /><Relationship Type="http://schemas.openxmlformats.org/officeDocument/2006/relationships/image" Target="/ppt/media/image11.png" Id="Red80916a4c4d43a7" /><Relationship Type="http://schemas.openxmlformats.org/officeDocument/2006/relationships/image" Target="/ppt/media/image12.png" Id="R8e59d0933c7f4411" /><Relationship Type="http://schemas.openxmlformats.org/officeDocument/2006/relationships/notesSlide" Target="/ppt/notesSlides/notesSlide8.xml" Id="R7155616baafa4e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858e6b6305e4c85" /><Relationship Type="http://schemas.openxmlformats.org/officeDocument/2006/relationships/image" Target="/ppt/media/image.jpeg" Id="R817a7d18e9b34028" /><Relationship Type="http://schemas.openxmlformats.org/officeDocument/2006/relationships/notesSlide" Target="/ppt/notesSlides/notesSlide9.xml" Id="Raab1e95b229247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e9b04cbaff34290" /><Relationship Type="http://schemas.openxmlformats.org/officeDocument/2006/relationships/hyperlink" Target="mailto:JonathanKyleHobson@gmail.com" TargetMode="External" Id="R23e6504bc72a4764" /><Relationship Type="http://schemas.openxmlformats.org/officeDocument/2006/relationships/hyperlink" Target="https://jonathankhobson.github.io/application-portfolios/hopskipdrive-product-designer/" TargetMode="External" Id="R00c1b71be8bf4d7b" /><Relationship Type="http://schemas.openxmlformats.org/officeDocument/2006/relationships/notesSlide" Target="/ppt/notesSlides/notesSlide10.xml" Id="R4072424527864ce6" /></Relationships>
</file>

<file path=ppt/slides/slide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12515B2E-848A-456A-9BB9-77E9E309725F}"/>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01</a:t>
            </a:r>
          </a:p>
        </p:txBody>
      </p:sp>
      <p:sp>
        <p:nvSpPr>
          <p:cNvPr id="2" name="section-label">
            <a:extLst xmlns:a="http://schemas.openxmlformats.org/drawingml/2006/main">
              <a:ext uri="{FF2B5EF4-FFF2-40B4-BE49-F238E27FC236}">
                <a16:creationId xmlns:a16="http://schemas.microsoft.com/office/drawing/2014/main" id="{FDE7D93D-0E71-48D6-A421-30689CE2443F}"/>
              </a:ext>
            </a:extLst>
          </p:cNvPr>
          <p:cNvSpPr>
            <a:spLocks xmlns:a="http://schemas.openxmlformats.org/drawingml/2006/main" noGrp="1"/>
          </p:cNvSpPr>
          <p:nvPr/>
        </p:nvSpPr>
        <p:spPr>
          <a:xfrm xmlns:a="http://schemas.openxmlformats.org/drawingml/2006/main">
            <a:off x="609600" y="5143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HOPSKIPDRIVE · PRODUCT DESIGN</a:t>
            </a:r>
          </a:p>
        </p:txBody>
      </p:sp>
      <p:sp>
        <p:nvSpPr>
          <p:cNvPr id="3" name="headline">
            <a:extLst xmlns:a="http://schemas.openxmlformats.org/drawingml/2006/main">
              <a:ext uri="{FF2B5EF4-FFF2-40B4-BE49-F238E27FC236}">
                <a16:creationId xmlns:a16="http://schemas.microsoft.com/office/drawing/2014/main" id="{0E72C8EC-9778-4DBE-9AF2-32EB26957270}"/>
              </a:ext>
            </a:extLst>
          </p:cNvPr>
          <p:cNvSpPr>
            <a:spLocks xmlns:a="http://schemas.openxmlformats.org/drawingml/2006/main" noGrp="1"/>
          </p:cNvSpPr>
          <p:nvPr/>
        </p:nvSpPr>
        <p:spPr>
          <a:xfrm xmlns:a="http://schemas.openxmlformats.org/drawingml/2006/main">
            <a:off x="609600" y="1924050"/>
            <a:ext cx="7334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Clear choices.</a:t>
            </a:r>
          </a:p>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Useful recovery.</a:t>
            </a:r>
          </a:p>
        </p:txBody>
      </p:sp>
      <p:sp>
        <p:nvSpPr>
          <p:cNvPr id="4" name="cover-intro">
            <a:extLst xmlns:a="http://schemas.openxmlformats.org/drawingml/2006/main">
              <a:ext uri="{FF2B5EF4-FFF2-40B4-BE49-F238E27FC236}">
                <a16:creationId xmlns:a16="http://schemas.microsoft.com/office/drawing/2014/main" id="{33A52DA5-79F1-4258-8B96-12E75FBC0D8B}"/>
              </a:ext>
            </a:extLst>
          </p:cNvPr>
          <p:cNvSpPr>
            <a:spLocks xmlns:a="http://schemas.openxmlformats.org/drawingml/2006/main" noGrp="1"/>
          </p:cNvSpPr>
          <p:nvPr/>
        </p:nvSpPr>
        <p:spPr>
          <a:xfrm xmlns:a="http://schemas.openxmlformats.org/drawingml/2006/main">
            <a:off x="647700" y="4324350"/>
            <a:ext cx="676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Interpretable guidance,</a:t>
            </a:r>
          </a:p>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AI states, and recoverable interactions.</a:t>
            </a:r>
          </a:p>
        </p:txBody>
      </p:sp>
      <p:sp>
        <p:nvSpPr>
          <p:cNvPr id="5" name="cover-accent">
            <a:extLst xmlns:a="http://schemas.openxmlformats.org/drawingml/2006/main">
              <a:ext uri="{FF2B5EF4-FFF2-40B4-BE49-F238E27FC236}">
                <a16:creationId xmlns:a16="http://schemas.microsoft.com/office/drawing/2014/main" id="{EAD122FF-3A5E-4614-B310-7CB6122B3883}"/>
              </a:ext>
            </a:extLst>
          </p:cNvPr>
          <p:cNvSpPr>
            <a:spLocks xmlns:a="http://schemas.openxmlformats.org/drawingml/2006/main" noGrp="1"/>
          </p:cNvSpPr>
          <p:nvPr/>
        </p:nvSpPr>
        <p:spPr>
          <a:xfrm xmlns:a="http://schemas.openxmlformats.org/drawingml/2006/main">
            <a:off x="647700" y="5838825"/>
            <a:ext cx="647700" cy="47625"/>
          </a:xfrm>
          <a:prstGeom xmlns:a="http://schemas.openxmlformats.org/drawingml/2006/main" prst="rect">
            <a:avLst/>
          </a:prstGeom>
          <a:solidFill xmlns:a="http://schemas.openxmlformats.org/drawingml/2006/main">
            <a:srgbClr val="DBEB89"/>
          </a:solidFill>
          <a:ln xmlns:a="http://schemas.openxmlformats.org/drawingml/2006/main" w="0">
            <a:noFill/>
          </a:ln>
        </p:spPr>
      </p:sp>
      <p:sp>
        <p:nvSpPr>
          <p:cNvPr id="6" name="cover-type">
            <a:extLst xmlns:a="http://schemas.openxmlformats.org/drawingml/2006/main">
              <a:ext uri="{FF2B5EF4-FFF2-40B4-BE49-F238E27FC236}">
                <a16:creationId xmlns:a16="http://schemas.microsoft.com/office/drawing/2014/main" id="{F3056BDA-DA10-438C-BAF0-62AF935E2D60}"/>
              </a:ext>
            </a:extLst>
          </p:cNvPr>
          <p:cNvSpPr>
            <a:spLocks xmlns:a="http://schemas.openxmlformats.org/drawingml/2006/main" noGrp="1"/>
          </p:cNvSpPr>
          <p:nvPr/>
        </p:nvSpPr>
        <p:spPr>
          <a:xfrm xmlns:a="http://schemas.openxmlformats.org/drawingml/2006/main">
            <a:off x="647700" y="613410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F4F2E9"/>
                </a:solidFill>
                <a:latin typeface="Helvetica Neue"/>
                <a:ea typeface="Helvetica Neue"/>
                <a:cs typeface="Helvetica Neue"/>
              </a:defRPr>
            </a:pPr>
            <a:r>
              <a:rPr sz="1350" b="0">
                <a:solidFill>
                  <a:srgbClr val="F4F2E9"/>
                </a:solidFill>
                <a:latin typeface="Helvetica Neue"/>
                <a:ea typeface="Helvetica Neue"/>
                <a:cs typeface="Helvetica Neue"/>
              </a:rPr>
              <a:t>Selected work for HopSkipDrive · September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2ce4ac897a84468"/>
          <a:stretch xmlns:a="http://schemas.openxmlformats.org/drawingml/2006/main"/>
        </p:blipFill>
        <p:spPr>
          <a:xfrm xmlns:a="http://schemas.openxmlformats.org/drawingml/2006/main">
            <a:off x="7829550" y="1554273"/>
            <a:ext cx="3600450" cy="3511330"/>
          </a:xfrm>
          <a:prstGeom xmlns:a="http://schemas.openxmlformats.org/drawingml/2006/main" prst="rect">
            <a:avLst/>
          </a:prstGeom>
        </p:spPr>
      </p:pic>
    </p:spTree>
    <p:extLst>
      <p:ext uri="{BB962C8B-B14F-4D97-AF65-F5344CB8AC3E}">
        <p14:creationId xmlns:p14="http://schemas.microsoft.com/office/powerpoint/2010/main" val="21087092"/>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12D08D42-F269-471C-9A3E-ED63EBE78714}"/>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
        <p:nvSpPr>
          <p:cNvPr id="2" name="section-label">
            <a:extLst xmlns:a="http://schemas.openxmlformats.org/drawingml/2006/main">
              <a:ext uri="{FF2B5EF4-FFF2-40B4-BE49-F238E27FC236}">
                <a16:creationId xmlns:a16="http://schemas.microsoft.com/office/drawing/2014/main" id="{38E114C5-B26B-41A4-8E1D-7DAB60154C1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SMARTTAGIT, FACTORLAB</a:t>
            </a:r>
          </a:p>
        </p:txBody>
      </p:sp>
      <p:sp>
        <p:nvSpPr>
          <p:cNvPr id="3" name="headline">
            <a:extLst xmlns:a="http://schemas.openxmlformats.org/drawingml/2006/main">
              <a:ext uri="{FF2B5EF4-FFF2-40B4-BE49-F238E27FC236}">
                <a16:creationId xmlns:a16="http://schemas.microsoft.com/office/drawing/2014/main" id="{BAA87FAF-98CE-4F54-8D96-52D47D4F8431}"/>
              </a:ext>
            </a:extLst>
          </p:cNvPr>
          <p:cNvSpPr>
            <a:spLocks xmlns:a="http://schemas.openxmlformats.org/drawingml/2006/main" noGrp="1"/>
          </p:cNvSpPr>
          <p:nvPr/>
        </p:nvSpPr>
        <p:spPr>
          <a:xfrm xmlns:a="http://schemas.openxmlformats.org/drawingml/2006/main">
            <a:off x="609600" y="10953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Feedback</a:t>
            </a:r>
          </a:p>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with context</a:t>
            </a:r>
          </a:p>
        </p:txBody>
      </p:sp>
      <p:sp>
        <p:nvSpPr>
          <p:cNvPr id="4" name="role">
            <a:extLst xmlns:a="http://schemas.openxmlformats.org/drawingml/2006/main">
              <a:ext uri="{FF2B5EF4-FFF2-40B4-BE49-F238E27FC236}">
                <a16:creationId xmlns:a16="http://schemas.microsoft.com/office/drawing/2014/main" id="{A93C7117-76A6-4046-ABDC-51BA6480DD2C}"/>
              </a:ext>
            </a:extLst>
          </p:cNvPr>
          <p:cNvSpPr>
            <a:spLocks xmlns:a="http://schemas.openxmlformats.org/drawingml/2006/main" noGrp="1"/>
          </p:cNvSpPr>
          <p:nvPr/>
        </p:nvSpPr>
        <p:spPr>
          <a:xfrm xmlns:a="http://schemas.openxmlformats.org/drawingml/2006/main">
            <a:off x="609600" y="2724150"/>
            <a:ext cx="5267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1">
                <a:solidFill>
                  <a:srgbClr val="244D3C"/>
                </a:solidFill>
                <a:latin typeface="Helvetica Neue"/>
                <a:ea typeface="Helvetica Neue"/>
                <a:cs typeface="Helvetica Neue"/>
              </a:defRPr>
            </a:pPr>
            <a:r>
              <a:rPr sz="1425" b="1">
                <a:solidFill>
                  <a:srgbClr val="244D3C"/>
                </a:solidFill>
                <a:latin typeface="Helvetica Neue"/>
                <a:ea typeface="Helvetica Neue"/>
                <a:cs typeface="Helvetica Neue"/>
              </a:rPr>
              <a:t>UX Designer &amp; Researcher (Contract), 2026</a:t>
            </a:r>
          </a:p>
        </p:txBody>
      </p:sp>
      <p:sp>
        <p:nvSpPr>
          <p:cNvPr id="5" name="about-decision">
            <a:extLst xmlns:a="http://schemas.openxmlformats.org/drawingml/2006/main">
              <a:ext uri="{FF2B5EF4-FFF2-40B4-BE49-F238E27FC236}">
                <a16:creationId xmlns:a16="http://schemas.microsoft.com/office/drawing/2014/main" id="{D9CA42C1-9D5B-4EC0-867D-E0649DF2D82F}"/>
              </a:ext>
            </a:extLst>
          </p:cNvPr>
          <p:cNvSpPr>
            <a:spLocks xmlns:a="http://schemas.openxmlformats.org/drawingml/2006/main" noGrp="1"/>
          </p:cNvSpPr>
          <p:nvPr/>
        </p:nvSpPr>
        <p:spPr>
          <a:xfrm xmlns:a="http://schemas.openxmlformats.org/drawingml/2006/main">
            <a:off x="609600" y="3429000"/>
            <a:ext cx="46767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connected a personal summary to its supporting observations and a useful next action.</a:t>
            </a:r>
          </a:p>
        </p:txBody>
      </p:sp>
      <p:sp>
        <p:nvSpPr>
          <p:cNvPr id="6" name="about-stage">
            <a:extLst xmlns:a="http://schemas.openxmlformats.org/drawingml/2006/main">
              <a:ext uri="{FF2B5EF4-FFF2-40B4-BE49-F238E27FC236}">
                <a16:creationId xmlns:a16="http://schemas.microsoft.com/office/drawing/2014/main" id="{0CDFAD00-876D-49FF-876A-4754A1498139}"/>
              </a:ext>
            </a:extLst>
          </p:cNvPr>
          <p:cNvSpPr>
            <a:spLocks xmlns:a="http://schemas.openxmlformats.org/drawingml/2006/main" noGrp="1"/>
          </p:cNvSpPr>
          <p:nvPr/>
        </p:nvSpPr>
        <p:spPr>
          <a:xfrm xmlns:a="http://schemas.openxmlformats.org/drawingml/2006/main">
            <a:off x="609600" y="53149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iterations shown with sample content.</a:t>
            </a:r>
          </a:p>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Web/server release confirmed September 2,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ffe8ca167d24ee2"/>
          <a:stretch xmlns:a="http://schemas.openxmlformats.org/drawingml/2006/main"/>
        </p:blipFill>
        <p:spPr>
          <a:xfrm xmlns:a="http://schemas.openxmlformats.org/drawingml/2006/main">
            <a:off x="6410325" y="1546021"/>
            <a:ext cx="4857750" cy="4737509"/>
          </a:xfrm>
          <a:prstGeom xmlns:a="http://schemas.openxmlformats.org/drawingml/2006/main" prst="rect">
            <a:avLst/>
          </a:prstGeom>
        </p:spPr>
      </p:pic>
    </p:spTree>
    <p:extLst>
      <p:ext uri="{BB962C8B-B14F-4D97-AF65-F5344CB8AC3E}">
        <p14:creationId xmlns:p14="http://schemas.microsoft.com/office/powerpoint/2010/main" val="1871356558"/>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8AC9D635-AD42-42E3-A6BD-F231A6BD4C6E}"/>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
        <p:nvSpPr>
          <p:cNvPr id="2" name="section-label">
            <a:extLst xmlns:a="http://schemas.openxmlformats.org/drawingml/2006/main">
              <a:ext uri="{FF2B5EF4-FFF2-40B4-BE49-F238E27FC236}">
                <a16:creationId xmlns:a16="http://schemas.microsoft.com/office/drawing/2014/main" id="{0BAF98CE-940C-4ADA-A3AB-DA1169C7026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NEUTRAL COMPARISON</a:t>
            </a:r>
          </a:p>
        </p:txBody>
      </p:sp>
      <p:sp>
        <p:nvSpPr>
          <p:cNvPr id="3" name="headline">
            <a:extLst xmlns:a="http://schemas.openxmlformats.org/drawingml/2006/main">
              <a:ext uri="{FF2B5EF4-FFF2-40B4-BE49-F238E27FC236}">
                <a16:creationId xmlns:a16="http://schemas.microsoft.com/office/drawing/2014/main" id="{2A82BA85-64B0-4004-A455-BDCCA718FA67}"/>
              </a:ext>
            </a:extLst>
          </p:cNvPr>
          <p:cNvSpPr>
            <a:spLocks xmlns:a="http://schemas.openxmlformats.org/drawingml/2006/main" noGrp="1"/>
          </p:cNvSpPr>
          <p:nvPr/>
        </p:nvSpPr>
        <p:spPr>
          <a:xfrm xmlns:a="http://schemas.openxmlformats.org/drawingml/2006/main">
            <a:off x="609600" y="1114425"/>
            <a:ext cx="5572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comparison needs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an interpretation</a:t>
            </a:r>
          </a:p>
        </p:txBody>
      </p:sp>
      <p:sp>
        <p:nvSpPr>
          <p:cNvPr id="4" name="comparison-decision">
            <a:extLst xmlns:a="http://schemas.openxmlformats.org/drawingml/2006/main">
              <a:ext uri="{FF2B5EF4-FFF2-40B4-BE49-F238E27FC236}">
                <a16:creationId xmlns:a16="http://schemas.microsoft.com/office/drawing/2014/main" id="{DB29BC46-C304-43B3-A1B6-8C1FE9163F37}"/>
              </a:ext>
            </a:extLst>
          </p:cNvPr>
          <p:cNvSpPr>
            <a:spLocks xmlns:a="http://schemas.openxmlformats.org/drawingml/2006/main" noGrp="1"/>
          </p:cNvSpPr>
          <p:nvPr/>
        </p:nvSpPr>
        <p:spPr>
          <a:xfrm xmlns:a="http://schemas.openxmlformats.org/drawingml/2006/main">
            <a:off x="609600" y="3181350"/>
            <a:ext cx="44005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Mentioning fatigue less often is a comparison. Whether that is good depends on the context.</a:t>
            </a:r>
          </a:p>
        </p:txBody>
      </p:sp>
      <p:sp>
        <p:nvSpPr>
          <p:cNvPr id="5" name="comparison-outcome">
            <a:extLst xmlns:a="http://schemas.openxmlformats.org/drawingml/2006/main">
              <a:ext uri="{FF2B5EF4-FFF2-40B4-BE49-F238E27FC236}">
                <a16:creationId xmlns:a16="http://schemas.microsoft.com/office/drawing/2014/main" id="{CEAD045B-1D12-40D3-B76F-9DF2FC3CBA9B}"/>
              </a:ext>
            </a:extLst>
          </p:cNvPr>
          <p:cNvSpPr>
            <a:spLocks xmlns:a="http://schemas.openxmlformats.org/drawingml/2006/main" noGrp="1"/>
          </p:cNvSpPr>
          <p:nvPr/>
        </p:nvSpPr>
        <p:spPr>
          <a:xfrm xmlns:a="http://schemas.openxmlformats.org/drawingml/2006/main">
            <a:off x="609600" y="5010150"/>
            <a:ext cx="44005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raised the cohort, percentile and wording questions before they became interface rules.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1b6a5fdfe8d4bb0"/>
          <a:stretch xmlns:a="http://schemas.openxmlformats.org/drawingml/2006/main"/>
        </p:blipFill>
        <p:spPr>
          <a:xfrm xmlns:a="http://schemas.openxmlformats.org/drawingml/2006/main">
            <a:off x="5876925" y="2249327"/>
            <a:ext cx="5572125" cy="3692847"/>
          </a:xfrm>
          <a:prstGeom xmlns:a="http://schemas.openxmlformats.org/drawingml/2006/main" prst="rect">
            <a:avLst/>
          </a:prstGeom>
        </p:spPr>
      </p:pic>
      <p:sp>
        <p:nvSpPr>
          <p:cNvPr id="7" name="sample-label">
            <a:extLst xmlns:a="http://schemas.openxmlformats.org/drawingml/2006/main">
              <a:ext uri="{FF2B5EF4-FFF2-40B4-BE49-F238E27FC236}">
                <a16:creationId xmlns:a16="http://schemas.microsoft.com/office/drawing/2014/main" id="{7E72725E-1289-43BD-8016-1157D03400A6}"/>
              </a:ext>
            </a:extLst>
          </p:cNvPr>
          <p:cNvSpPr>
            <a:spLocks xmlns:a="http://schemas.openxmlformats.org/drawingml/2006/main" noGrp="1"/>
          </p:cNvSpPr>
          <p:nvPr/>
        </p:nvSpPr>
        <p:spPr>
          <a:xfrm xmlns:a="http://schemas.openxmlformats.org/drawingml/2006/main">
            <a:off x="5915025" y="6153150"/>
            <a:ext cx="550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widget, illustrative values</a:t>
            </a:r>
          </a:p>
        </p:txBody>
      </p:sp>
    </p:spTree>
    <p:extLst>
      <p:ext uri="{BB962C8B-B14F-4D97-AF65-F5344CB8AC3E}">
        <p14:creationId xmlns:p14="http://schemas.microsoft.com/office/powerpoint/2010/main" val="1210527053"/>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ED4F76E9-FE99-46B5-842A-CAC7B2143FDC}"/>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
        <p:nvSpPr>
          <p:cNvPr id="2" name="section-label">
            <a:extLst xmlns:a="http://schemas.openxmlformats.org/drawingml/2006/main">
              <a:ext uri="{FF2B5EF4-FFF2-40B4-BE49-F238E27FC236}">
                <a16:creationId xmlns:a16="http://schemas.microsoft.com/office/drawing/2014/main" id="{A7F46B84-AD1B-40C3-B026-53CA7E3EEE6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SMARTTAGIT, FACTORLAB</a:t>
            </a:r>
          </a:p>
        </p:txBody>
      </p:sp>
      <p:sp>
        <p:nvSpPr>
          <p:cNvPr id="3" name="headline">
            <a:extLst xmlns:a="http://schemas.openxmlformats.org/drawingml/2006/main">
              <a:ext uri="{FF2B5EF4-FFF2-40B4-BE49-F238E27FC236}">
                <a16:creationId xmlns:a16="http://schemas.microsoft.com/office/drawing/2014/main" id="{69ED35CC-B666-46A3-9029-F8D6C337E216}"/>
              </a:ext>
            </a:extLst>
          </p:cNvPr>
          <p:cNvSpPr>
            <a:spLocks xmlns:a="http://schemas.openxmlformats.org/drawingml/2006/main" noGrp="1"/>
          </p:cNvSpPr>
          <p:nvPr/>
        </p:nvSpPr>
        <p:spPr>
          <a:xfrm xmlns:a="http://schemas.openxmlformats.org/drawingml/2006/main">
            <a:off x="609600" y="11049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A useful</a:t>
            </a:r>
          </a:p>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first question</a:t>
            </a:r>
          </a:p>
        </p:txBody>
      </p:sp>
      <p:sp>
        <p:nvSpPr>
          <p:cNvPr id="4" name="role">
            <a:extLst xmlns:a="http://schemas.openxmlformats.org/drawingml/2006/main">
              <a:ext uri="{FF2B5EF4-FFF2-40B4-BE49-F238E27FC236}">
                <a16:creationId xmlns:a16="http://schemas.microsoft.com/office/drawing/2014/main" id="{24373E1B-CE4B-4224-A38C-81693BBB22E2}"/>
              </a:ext>
            </a:extLst>
          </p:cNvPr>
          <p:cNvSpPr>
            <a:spLocks xmlns:a="http://schemas.openxmlformats.org/drawingml/2006/main" noGrp="1"/>
          </p:cNvSpPr>
          <p:nvPr/>
        </p:nvSpPr>
        <p:spPr>
          <a:xfrm xmlns:a="http://schemas.openxmlformats.org/drawingml/2006/main">
            <a:off x="609600" y="2705100"/>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UX Designer &amp; Researcher (Contract)</a:t>
            </a:r>
          </a:p>
          <a:p xmlns:a="http://schemas.openxmlformats.org/drawingml/2006/main">
            <a:pPr>
              <a:lnSpc>
                <a:spcPct val="110000"/>
              </a:lnSpc>
              <a:buNone/>
              <a:defRPr sz="1500" b="1">
                <a:solidFill>
                  <a:srgbClr val="244D3C"/>
                </a:solidFill>
                <a:latin typeface="Helvetica Neue"/>
                <a:ea typeface="Helvetica Neue"/>
                <a:cs typeface="Helvetica Neue"/>
              </a:defRPr>
            </a:pPr>
            <a:r>
              <a:rPr sz="1500" b="1">
                <a:solidFill>
                  <a:srgbClr val="244D3C"/>
                </a:solidFill>
                <a:latin typeface="Helvetica Neue"/>
                <a:ea typeface="Helvetica Neue"/>
                <a:cs typeface="Helvetica Neue"/>
              </a:rPr>
              <a:t>2025–2026</a:t>
            </a:r>
          </a:p>
        </p:txBody>
      </p:sp>
      <p:sp>
        <p:nvSpPr>
          <p:cNvPr id="5" name="entry-decision">
            <a:extLst xmlns:a="http://schemas.openxmlformats.org/drawingml/2006/main">
              <a:ext uri="{FF2B5EF4-FFF2-40B4-BE49-F238E27FC236}">
                <a16:creationId xmlns:a16="http://schemas.microsoft.com/office/drawing/2014/main" id="{6BFABE22-A15E-4CD8-A1CD-AAB2FD8167ED}"/>
              </a:ext>
            </a:extLst>
          </p:cNvPr>
          <p:cNvSpPr>
            <a:spLocks xmlns:a="http://schemas.openxmlformats.org/drawingml/2006/main" noGrp="1"/>
          </p:cNvSpPr>
          <p:nvPr/>
        </p:nvSpPr>
        <p:spPr>
          <a:xfrm xmlns:a="http://schemas.openxmlformats.org/drawingml/2006/main">
            <a:off x="609600" y="3676650"/>
            <a:ext cx="4667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explored suggested questions and a question library while keeping a person’s own question close at hand.</a:t>
            </a:r>
          </a:p>
        </p:txBody>
      </p:sp>
      <p:sp>
        <p:nvSpPr>
          <p:cNvPr id="6" name="stage">
            <a:extLst xmlns:a="http://schemas.openxmlformats.org/drawingml/2006/main">
              <a:ext uri="{FF2B5EF4-FFF2-40B4-BE49-F238E27FC236}">
                <a16:creationId xmlns:a16="http://schemas.microsoft.com/office/drawing/2014/main" id="{08B7AEC4-2C16-469A-893D-7CDE443E0EDC}"/>
              </a:ext>
            </a:extLst>
          </p:cNvPr>
          <p:cNvSpPr>
            <a:spLocks xmlns:a="http://schemas.openxmlformats.org/drawingml/2006/main" noGrp="1"/>
          </p:cNvSpPr>
          <p:nvPr/>
        </p:nvSpPr>
        <p:spPr>
          <a:xfrm xmlns:a="http://schemas.openxmlformats.org/drawingml/2006/main">
            <a:off x="609600" y="5486400"/>
            <a:ext cx="5219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deliverables and engineering handoff</a:t>
            </a:r>
          </a:p>
        </p:txBody>
      </p:sp>
      <p:sp>
        <p:nvSpPr>
          <p:cNvPr id="7" name="entry-scope">
            <a:extLst xmlns:a="http://schemas.openxmlformats.org/drawingml/2006/main">
              <a:ext uri="{FF2B5EF4-FFF2-40B4-BE49-F238E27FC236}">
                <a16:creationId xmlns:a16="http://schemas.microsoft.com/office/drawing/2014/main" id="{BAD5F45B-E962-4F7D-9F7B-BF6D013CEFC8}"/>
              </a:ext>
            </a:extLst>
          </p:cNvPr>
          <p:cNvSpPr>
            <a:spLocks xmlns:a="http://schemas.openxmlformats.org/drawingml/2006/main" noGrp="1"/>
          </p:cNvSpPr>
          <p:nvPr/>
        </p:nvSpPr>
        <p:spPr>
          <a:xfrm xmlns:a="http://schemas.openxmlformats.org/drawingml/2006/main">
            <a:off x="609600" y="59436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Mobile and desktop conversation flows</a:t>
            </a:r>
          </a:p>
        </p:txBody>
      </p:sp>
      <p:sp>
        <p:nvSpPr>
          <p:cNvPr id="8" name="phone-surface">
            <a:extLst xmlns:a="http://schemas.openxmlformats.org/drawingml/2006/main">
              <a:ext uri="{FF2B5EF4-FFF2-40B4-BE49-F238E27FC236}">
                <a16:creationId xmlns:a16="http://schemas.microsoft.com/office/drawing/2014/main" id="{648DFBF0-5288-4FD8-99B9-0D96CABEF2F9}"/>
              </a:ext>
            </a:extLst>
          </p:cNvPr>
          <p:cNvSpPr>
            <a:spLocks xmlns:a="http://schemas.openxmlformats.org/drawingml/2006/main" noGrp="1"/>
          </p:cNvSpPr>
          <p:nvPr/>
        </p:nvSpPr>
        <p:spPr>
          <a:xfrm xmlns:a="http://schemas.openxmlformats.org/drawingml/2006/main">
            <a:off x="7372350" y="847725"/>
            <a:ext cx="3657600" cy="5514975"/>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e464bce5e6e49f4"/>
          <a:stretch xmlns:a="http://schemas.openxmlformats.org/drawingml/2006/main"/>
        </p:blipFill>
        <p:spPr>
          <a:xfrm xmlns:a="http://schemas.openxmlformats.org/drawingml/2006/main">
            <a:off x="7982069" y="895350"/>
            <a:ext cx="2542936" cy="5448300"/>
          </a:xfrm>
          <a:prstGeom xmlns:a="http://schemas.openxmlformats.org/drawingml/2006/main" prst="rect">
            <a:avLst/>
          </a:prstGeom>
        </p:spPr>
      </p:pic>
    </p:spTree>
    <p:extLst>
      <p:ext uri="{BB962C8B-B14F-4D97-AF65-F5344CB8AC3E}">
        <p14:creationId xmlns:p14="http://schemas.microsoft.com/office/powerpoint/2010/main" val="48614218"/>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06C1C677-931F-46D4-84D1-5BA8EB1B22C6}"/>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
        <p:nvSpPr>
          <p:cNvPr id="2" name="section-label">
            <a:extLst xmlns:a="http://schemas.openxmlformats.org/drawingml/2006/main">
              <a:ext uri="{FF2B5EF4-FFF2-40B4-BE49-F238E27FC236}">
                <a16:creationId xmlns:a16="http://schemas.microsoft.com/office/drawing/2014/main" id="{7D16AB10-6971-4BEF-852F-2FC569F9086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RESPONSE IN PROGRESS</a:t>
            </a:r>
          </a:p>
        </p:txBody>
      </p:sp>
      <p:sp>
        <p:nvSpPr>
          <p:cNvPr id="3" name="headline">
            <a:extLst xmlns:a="http://schemas.openxmlformats.org/drawingml/2006/main">
              <a:ext uri="{FF2B5EF4-FFF2-40B4-BE49-F238E27FC236}">
                <a16:creationId xmlns:a16="http://schemas.microsoft.com/office/drawing/2014/main" id="{3D5CDAC4-8ECF-4CB2-A06E-269A6816E8D3}"/>
              </a:ext>
            </a:extLst>
          </p:cNvPr>
          <p:cNvSpPr>
            <a:spLocks xmlns:a="http://schemas.openxmlformats.org/drawingml/2006/main" noGrp="1"/>
          </p:cNvSpPr>
          <p:nvPr/>
        </p:nvSpPr>
        <p:spPr>
          <a:xfrm xmlns:a="http://schemas.openxmlformats.org/drawingml/2006/main">
            <a:off x="609600" y="1123950"/>
            <a:ext cx="56769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Waiting is part of</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conversation</a:t>
            </a:r>
          </a:p>
        </p:txBody>
      </p:sp>
      <p:sp>
        <p:nvSpPr>
          <p:cNvPr id="4" name="waiting-decision">
            <a:extLst xmlns:a="http://schemas.openxmlformats.org/drawingml/2006/main">
              <a:ext uri="{FF2B5EF4-FFF2-40B4-BE49-F238E27FC236}">
                <a16:creationId xmlns:a16="http://schemas.microsoft.com/office/drawing/2014/main" id="{89187788-B579-4026-9831-282BFA3DD993}"/>
              </a:ext>
            </a:extLst>
          </p:cNvPr>
          <p:cNvSpPr>
            <a:spLocks xmlns:a="http://schemas.openxmlformats.org/drawingml/2006/main" noGrp="1"/>
          </p:cNvSpPr>
          <p:nvPr/>
        </p:nvSpPr>
        <p:spPr>
          <a:xfrm xmlns:a="http://schemas.openxmlformats.org/drawingml/2006/main">
            <a:off x="609600" y="312420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kept the question visible and gave the response a distinct waiting state.</a:t>
            </a:r>
          </a:p>
        </p:txBody>
      </p:sp>
      <p:sp>
        <p:nvSpPr>
          <p:cNvPr id="5" name="waiting-constraint">
            <a:extLst xmlns:a="http://schemas.openxmlformats.org/drawingml/2006/main">
              <a:ext uri="{FF2B5EF4-FFF2-40B4-BE49-F238E27FC236}">
                <a16:creationId xmlns:a16="http://schemas.microsoft.com/office/drawing/2014/main" id="{3C539FD4-180D-46E6-88A4-A2516EB28F9E}"/>
              </a:ext>
            </a:extLst>
          </p:cNvPr>
          <p:cNvSpPr>
            <a:spLocks xmlns:a="http://schemas.openxmlformats.org/drawingml/2006/main" noGrp="1"/>
          </p:cNvSpPr>
          <p:nvPr/>
        </p:nvSpPr>
        <p:spPr>
          <a:xfrm xmlns:a="http://schemas.openxmlformats.org/drawingml/2006/main">
            <a:off x="609600" y="45434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Animation was an implementation question to resolve with engineering.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8ad35e6e92041d6"/>
          <a:stretch xmlns:a="http://schemas.openxmlformats.org/drawingml/2006/main"/>
        </p:blipFill>
        <p:spPr>
          <a:xfrm xmlns:a="http://schemas.openxmlformats.org/drawingml/2006/main">
            <a:off x="5850211" y="2362200"/>
            <a:ext cx="2872828" cy="1219200"/>
          </a:xfrm>
          <a:prstGeom xmlns:a="http://schemas.openxmlformats.org/drawingml/2006/main" prst="rect">
            <a:avLst/>
          </a:prstGeom>
        </p:spPr>
      </p:pic>
      <p:sp>
        <p:nvSpPr>
          <p:cNvPr id="7" name="detail-caption">
            <a:extLst xmlns:a="http://schemas.openxmlformats.org/drawingml/2006/main">
              <a:ext uri="{FF2B5EF4-FFF2-40B4-BE49-F238E27FC236}">
                <a16:creationId xmlns:a16="http://schemas.microsoft.com/office/drawing/2014/main" id="{C294E7F6-4F27-4B88-BCBD-C87DE287B37B}"/>
              </a:ext>
            </a:extLst>
          </p:cNvPr>
          <p:cNvSpPr>
            <a:spLocks xmlns:a="http://schemas.openxmlformats.org/drawingml/2006/main" noGrp="1"/>
          </p:cNvSpPr>
          <p:nvPr/>
        </p:nvSpPr>
        <p:spPr>
          <a:xfrm xmlns:a="http://schemas.openxmlformats.org/drawingml/2006/main">
            <a:off x="5905500" y="381000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state detail</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94c051c70c44cde"/>
          <a:stretch xmlns:a="http://schemas.openxmlformats.org/drawingml/2006/main"/>
        </p:blipFill>
        <p:spPr>
          <a:xfrm xmlns:a="http://schemas.openxmlformats.org/drawingml/2006/main">
            <a:off x="9087302" y="1076325"/>
            <a:ext cx="2351771" cy="5038725"/>
          </a:xfrm>
          <a:prstGeom xmlns:a="http://schemas.openxmlformats.org/drawingml/2006/main" prst="rect">
            <a:avLst/>
          </a:prstGeom>
        </p:spPr>
      </p:pic>
    </p:spTree>
    <p:extLst>
      <p:ext uri="{BB962C8B-B14F-4D97-AF65-F5344CB8AC3E}">
        <p14:creationId xmlns:p14="http://schemas.microsoft.com/office/powerpoint/2010/main" val="1568321326"/>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74DD6FCF-8C5F-45DF-A11E-7E46FA151444}"/>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
        <p:nvSpPr>
          <p:cNvPr id="2" name="section-label">
            <a:extLst xmlns:a="http://schemas.openxmlformats.org/drawingml/2006/main">
              <a:ext uri="{FF2B5EF4-FFF2-40B4-BE49-F238E27FC236}">
                <a16:creationId xmlns:a16="http://schemas.microsoft.com/office/drawing/2014/main" id="{EA386E32-13E7-4FBA-8142-E61D16A6974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3" name="headline">
            <a:extLst xmlns:a="http://schemas.openxmlformats.org/drawingml/2006/main">
              <a:ext uri="{FF2B5EF4-FFF2-40B4-BE49-F238E27FC236}">
                <a16:creationId xmlns:a16="http://schemas.microsoft.com/office/drawing/2014/main" id="{F44A66C4-A950-49CC-BFCF-1993DF37A8C3}"/>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4" name="recovery-decision">
            <a:extLst xmlns:a="http://schemas.openxmlformats.org/drawingml/2006/main">
              <a:ext uri="{FF2B5EF4-FFF2-40B4-BE49-F238E27FC236}">
                <a16:creationId xmlns:a16="http://schemas.microsoft.com/office/drawing/2014/main" id="{A02277BE-7060-49AA-ACA5-82267E1EA6DD}"/>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5" name="recovery-outcome">
            <a:extLst xmlns:a="http://schemas.openxmlformats.org/drawingml/2006/main">
              <a:ext uri="{FF2B5EF4-FFF2-40B4-BE49-F238E27FC236}">
                <a16:creationId xmlns:a16="http://schemas.microsoft.com/office/drawing/2014/main" id="{576AEB7E-4FE5-4465-A37E-020D594B2F8B}"/>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6" name="incomplete-label">
            <a:extLst xmlns:a="http://schemas.openxmlformats.org/drawingml/2006/main">
              <a:ext uri="{FF2B5EF4-FFF2-40B4-BE49-F238E27FC236}">
                <a16:creationId xmlns:a16="http://schemas.microsoft.com/office/drawing/2014/main" id="{99892A77-5D6C-474D-B74E-F483F599DA59}"/>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7" name="offline-label">
            <a:extLst xmlns:a="http://schemas.openxmlformats.org/drawingml/2006/main">
              <a:ext uri="{FF2B5EF4-FFF2-40B4-BE49-F238E27FC236}">
                <a16:creationId xmlns:a16="http://schemas.microsoft.com/office/drawing/2014/main" id="{A6FFDEC8-1FDC-499C-91A3-4F200947E1FB}"/>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2a0592599574274"/>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e07285522eb4e47"/>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Tree>
    <p:extLst>
      <p:ext uri="{BB962C8B-B14F-4D97-AF65-F5344CB8AC3E}">
        <p14:creationId xmlns:p14="http://schemas.microsoft.com/office/powerpoint/2010/main" val="1379535386"/>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25835093-5ADB-4744-BE98-0663A8168936}"/>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
        <p:nvSpPr>
          <p:cNvPr id="2" name="section-label">
            <a:extLst xmlns:a="http://schemas.openxmlformats.org/drawingml/2006/main">
              <a:ext uri="{FF2B5EF4-FFF2-40B4-BE49-F238E27FC236}">
                <a16:creationId xmlns:a16="http://schemas.microsoft.com/office/drawing/2014/main" id="{38CDC73C-D862-4528-B3B4-32CDE7D3594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LEAD UX RESEARCHER, 2023–2025</a:t>
            </a:r>
          </a:p>
        </p:txBody>
      </p:sp>
      <p:sp>
        <p:nvSpPr>
          <p:cNvPr id="3" name="headline">
            <a:extLst xmlns:a="http://schemas.openxmlformats.org/drawingml/2006/main">
              <a:ext uri="{FF2B5EF4-FFF2-40B4-BE49-F238E27FC236}">
                <a16:creationId xmlns:a16="http://schemas.microsoft.com/office/drawing/2014/main" id="{100064EA-289E-4DE2-A0B7-F425705CF01A}"/>
              </a:ext>
            </a:extLst>
          </p:cNvPr>
          <p:cNvSpPr>
            <a:spLocks xmlns:a="http://schemas.openxmlformats.org/drawingml/2006/main" noGrp="1"/>
          </p:cNvSpPr>
          <p:nvPr/>
        </p:nvSpPr>
        <p:spPr>
          <a:xfrm xmlns:a="http://schemas.openxmlformats.org/drawingml/2006/main">
            <a:off x="609600" y="1104900"/>
            <a:ext cx="42481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Competing</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entry points</a:t>
            </a:r>
          </a:p>
        </p:txBody>
      </p:sp>
      <p:sp>
        <p:nvSpPr>
          <p:cNvPr id="4" name="oak-observation">
            <a:extLst xmlns:a="http://schemas.openxmlformats.org/drawingml/2006/main">
              <a:ext uri="{FF2B5EF4-FFF2-40B4-BE49-F238E27FC236}">
                <a16:creationId xmlns:a16="http://schemas.microsoft.com/office/drawing/2014/main" id="{C49122DB-9A7F-42E0-B243-FF42109E7EAE}"/>
              </a:ext>
            </a:extLst>
          </p:cNvPr>
          <p:cNvSpPr>
            <a:spLocks xmlns:a="http://schemas.openxmlformats.org/drawingml/2006/main" noGrp="1"/>
          </p:cNvSpPr>
          <p:nvPr/>
        </p:nvSpPr>
        <p:spPr>
          <a:xfrm xmlns:a="http://schemas.openxmlformats.org/drawingml/2006/main">
            <a:off x="609600" y="2981325"/>
            <a:ext cx="40576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Training an assistant, starting a Vibecheck and requesting support competed at the same entry point.</a:t>
            </a:r>
          </a:p>
        </p:txBody>
      </p:sp>
      <p:sp>
        <p:nvSpPr>
          <p:cNvPr id="5" name="oak-rationale">
            <a:extLst xmlns:a="http://schemas.openxmlformats.org/drawingml/2006/main">
              <a:ext uri="{FF2B5EF4-FFF2-40B4-BE49-F238E27FC236}">
                <a16:creationId xmlns:a16="http://schemas.microsoft.com/office/drawing/2014/main" id="{159B7DB0-45F6-4683-867D-C92DC25AC9FC}"/>
              </a:ext>
            </a:extLst>
          </p:cNvPr>
          <p:cNvSpPr>
            <a:spLocks xmlns:a="http://schemas.openxmlformats.org/drawingml/2006/main" noGrp="1"/>
          </p:cNvSpPr>
          <p:nvPr/>
        </p:nvSpPr>
        <p:spPr>
          <a:xfrm xmlns:a="http://schemas.openxmlformats.org/drawingml/2006/main">
            <a:off x="609600" y="5038725"/>
            <a:ext cx="4057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used the audit to make these choices explicit for the team’s review.</a:t>
            </a:r>
          </a:p>
        </p:txBody>
      </p:sp>
      <p:sp>
        <p:nvSpPr>
          <p:cNvPr id="6" name="oak-stage">
            <a:extLst xmlns:a="http://schemas.openxmlformats.org/drawingml/2006/main">
              <a:ext uri="{FF2B5EF4-FFF2-40B4-BE49-F238E27FC236}">
                <a16:creationId xmlns:a16="http://schemas.microsoft.com/office/drawing/2014/main" id="{BE06CD64-3069-4C50-A5D7-20864C078C60}"/>
              </a:ext>
            </a:extLst>
          </p:cNvPr>
          <p:cNvSpPr>
            <a:spLocks xmlns:a="http://schemas.openxmlformats.org/drawingml/2006/main" noGrp="1"/>
          </p:cNvSpPr>
          <p:nvPr/>
        </p:nvSpPr>
        <p:spPr>
          <a:xfrm xmlns:a="http://schemas.openxmlformats.org/drawingml/2006/main">
            <a:off x="609600" y="6096000"/>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Usability evaluation and design recommendations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f5664268c9a47b8"/>
          <a:stretch xmlns:a="http://schemas.openxmlformats.org/drawingml/2006/main"/>
        </p:blipFill>
        <p:spPr>
          <a:xfrm xmlns:a="http://schemas.openxmlformats.org/drawingml/2006/main">
            <a:off x="5147971" y="1438275"/>
            <a:ext cx="6429958" cy="5048250"/>
          </a:xfrm>
          <a:prstGeom xmlns:a="http://schemas.openxmlformats.org/drawingml/2006/main" prst="rect">
            <a:avLst/>
          </a:prstGeom>
        </p:spPr>
      </p:pic>
    </p:spTree>
    <p:extLst>
      <p:ext uri="{BB962C8B-B14F-4D97-AF65-F5344CB8AC3E}">
        <p14:creationId xmlns:p14="http://schemas.microsoft.com/office/powerpoint/2010/main" val="99421717"/>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lide-number">
            <a:extLst xmlns:a="http://schemas.openxmlformats.org/drawingml/2006/main">
              <a:ext uri="{FF2B5EF4-FFF2-40B4-BE49-F238E27FC236}">
                <a16:creationId xmlns:a16="http://schemas.microsoft.com/office/drawing/2014/main" id="{C2E8FBF2-A270-472C-8251-CBD5350F6A5A}"/>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
        <p:nvSpPr>
          <p:cNvPr id="2" name="section-label">
            <a:extLst xmlns:a="http://schemas.openxmlformats.org/drawingml/2006/main">
              <a:ext uri="{FF2B5EF4-FFF2-40B4-BE49-F238E27FC236}">
                <a16:creationId xmlns:a16="http://schemas.microsoft.com/office/drawing/2014/main" id="{2EB9A54F-18AA-459D-B62A-441F17D5AAE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3" name="headline">
            <a:extLst xmlns:a="http://schemas.openxmlformats.org/drawingml/2006/main">
              <a:ext uri="{FF2B5EF4-FFF2-40B4-BE49-F238E27FC236}">
                <a16:creationId xmlns:a16="http://schemas.microsoft.com/office/drawing/2014/main" id="{2D52213A-F0BA-403F-B9DB-66F78C7F4D2C}"/>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4" name="oak-error-decision">
            <a:extLst xmlns:a="http://schemas.openxmlformats.org/drawingml/2006/main">
              <a:ext uri="{FF2B5EF4-FFF2-40B4-BE49-F238E27FC236}">
                <a16:creationId xmlns:a16="http://schemas.microsoft.com/office/drawing/2014/main" id="{C034EF39-2468-4381-8165-702F6A09C6B8}"/>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5" name="oak-error-outcome">
            <a:extLst xmlns:a="http://schemas.openxmlformats.org/drawingml/2006/main">
              <a:ext uri="{FF2B5EF4-FFF2-40B4-BE49-F238E27FC236}">
                <a16:creationId xmlns:a16="http://schemas.microsoft.com/office/drawing/2014/main" id="{E464C0EF-9752-46FD-92B7-1420ED6C423A}"/>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6" name="before-label">
            <a:extLst xmlns:a="http://schemas.openxmlformats.org/drawingml/2006/main">
              <a:ext uri="{FF2B5EF4-FFF2-40B4-BE49-F238E27FC236}">
                <a16:creationId xmlns:a16="http://schemas.microsoft.com/office/drawing/2014/main" id="{3F5E3D92-09D1-44A2-AAC9-294AEB3687E3}"/>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7" name="after-label">
            <a:extLst xmlns:a="http://schemas.openxmlformats.org/drawingml/2006/main">
              <a:ext uri="{FF2B5EF4-FFF2-40B4-BE49-F238E27FC236}">
                <a16:creationId xmlns:a16="http://schemas.microsoft.com/office/drawing/2014/main" id="{93B00ABE-8C5B-4D33-B7B8-46B90883CA84}"/>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449177c0d3344cb"/>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d80916a4c4d43a7"/>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10" name="footer-label">
            <a:extLst xmlns:a="http://schemas.openxmlformats.org/drawingml/2006/main">
              <a:ext uri="{FF2B5EF4-FFF2-40B4-BE49-F238E27FC236}">
                <a16:creationId xmlns:a16="http://schemas.microsoft.com/office/drawing/2014/main" id="{44100E98-587D-4231-ADC6-F94E806F71BE}"/>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e59d0933c7f4411"/>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2" name="field-label">
            <a:extLst xmlns:a="http://schemas.openxmlformats.org/drawingml/2006/main">
              <a:ext uri="{FF2B5EF4-FFF2-40B4-BE49-F238E27FC236}">
                <a16:creationId xmlns:a16="http://schemas.microsoft.com/office/drawing/2014/main" id="{B442A0CD-F38B-4E9D-8346-6CC287F1F4D7}"/>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Tree>
    <p:extLst>
      <p:ext uri="{BB962C8B-B14F-4D97-AF65-F5344CB8AC3E}">
        <p14:creationId xmlns:p14="http://schemas.microsoft.com/office/powerpoint/2010/main" val="1118239274"/>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tory-image-surface">
            <a:extLst xmlns:a="http://schemas.openxmlformats.org/drawingml/2006/main">
              <a:ext uri="{FF2B5EF4-FFF2-40B4-BE49-F238E27FC236}">
                <a16:creationId xmlns:a16="http://schemas.microsoft.com/office/drawing/2014/main" id="{E4E4FDEF-0F71-45A9-8DE4-87D0D9D75556}"/>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17a7d18e9b34028"/>
          <a:stretch xmlns:a="http://schemas.openxmlformats.org/drawingml/2006/main"/>
        </p:blipFill>
        <p:spPr>
          <a:xfrm xmlns:a="http://schemas.openxmlformats.org/drawingml/2006/main">
            <a:off x="7010400" y="1466850"/>
            <a:ext cx="4876800" cy="4876800"/>
          </a:xfrm>
          <a:prstGeom xmlns:a="http://schemas.openxmlformats.org/drawingml/2006/main" prst="rect">
            <a:avLst/>
          </a:prstGeom>
        </p:spPr>
      </p:pic>
      <p:sp>
        <p:nvSpPr>
          <p:cNvPr id="3" name="section-label">
            <a:extLst xmlns:a="http://schemas.openxmlformats.org/drawingml/2006/main">
              <a:ext uri="{FF2B5EF4-FFF2-40B4-BE49-F238E27FC236}">
                <a16:creationId xmlns:a16="http://schemas.microsoft.com/office/drawing/2014/main" id="{0EA51B0E-E020-4CD7-B0EB-3AA64183DD31}"/>
              </a:ext>
            </a:extLst>
          </p:cNvPr>
          <p:cNvSpPr>
            <a:spLocks xmlns:a="http://schemas.openxmlformats.org/drawingml/2006/main" noGrp="1"/>
          </p:cNvSpPr>
          <p:nvPr/>
        </p:nvSpPr>
        <p:spPr>
          <a:xfrm xmlns:a="http://schemas.openxmlformats.org/drawingml/2006/main">
            <a:off x="609600" y="514350"/>
            <a:ext cx="575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 PROPOSED APPROACH TO HOPSKIPDRIVE</a:t>
            </a:r>
          </a:p>
        </p:txBody>
      </p:sp>
      <p:sp>
        <p:nvSpPr>
          <p:cNvPr id="4" name="headline">
            <a:extLst xmlns:a="http://schemas.openxmlformats.org/drawingml/2006/main">
              <a:ext uri="{FF2B5EF4-FFF2-40B4-BE49-F238E27FC236}">
                <a16:creationId xmlns:a16="http://schemas.microsoft.com/office/drawing/2014/main" id="{0A97B8CD-7B07-4EC9-81AA-CB267836DC32}"/>
              </a:ext>
            </a:extLst>
          </p:cNvPr>
          <p:cNvSpPr>
            <a:spLocks xmlns:a="http://schemas.openxmlformats.org/drawingml/2006/main" noGrp="1"/>
          </p:cNvSpPr>
          <p:nvPr/>
        </p:nvSpPr>
        <p:spPr>
          <a:xfrm xmlns:a="http://schemas.openxmlformats.org/drawingml/2006/main">
            <a:off x="609600" y="1438275"/>
            <a:ext cx="57340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Keep the person</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in control</a:t>
            </a:r>
          </a:p>
        </p:txBody>
      </p:sp>
      <p:sp>
        <p:nvSpPr>
          <p:cNvPr id="5" name="story-documentary">
            <a:extLst xmlns:a="http://schemas.openxmlformats.org/drawingml/2006/main">
              <a:ext uri="{FF2B5EF4-FFF2-40B4-BE49-F238E27FC236}">
                <a16:creationId xmlns:a16="http://schemas.microsoft.com/office/drawing/2014/main" id="{C7239FF1-4184-4086-B671-75411FF2E6A3}"/>
              </a:ext>
            </a:extLst>
          </p:cNvPr>
          <p:cNvSpPr>
            <a:spLocks xmlns:a="http://schemas.openxmlformats.org/drawingml/2006/main" noGrp="1"/>
          </p:cNvSpPr>
          <p:nvPr/>
        </p:nvSpPr>
        <p:spPr>
          <a:xfrm xmlns:a="http://schemas.openxmlformats.org/drawingml/2006/main">
            <a:off x="609600" y="3609975"/>
            <a:ext cx="56102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Start with one coordinator workflow. Learn what must be checked before a recommendation can change a transportation plan.</a:t>
            </a:r>
          </a:p>
        </p:txBody>
      </p:sp>
      <p:sp>
        <p:nvSpPr>
          <p:cNvPr id="6" name="story-now">
            <a:extLst xmlns:a="http://schemas.openxmlformats.org/drawingml/2006/main">
              <a:ext uri="{FF2B5EF4-FFF2-40B4-BE49-F238E27FC236}">
                <a16:creationId xmlns:a16="http://schemas.microsoft.com/office/drawing/2014/main" id="{E9F55AC1-C1C2-42C5-8488-9AAFD715D3C8}"/>
              </a:ext>
            </a:extLst>
          </p:cNvPr>
          <p:cNvSpPr>
            <a:spLocks xmlns:a="http://schemas.openxmlformats.org/drawingml/2006/main" noGrp="1"/>
          </p:cNvSpPr>
          <p:nvPr/>
        </p:nvSpPr>
        <p:spPr>
          <a:xfrm xmlns:a="http://schemas.openxmlformats.org/drawingml/2006/main">
            <a:off x="609600" y="5057775"/>
            <a:ext cx="56102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Proposed test: can someone review the reason for a recommendation, recognize uncertainty, and choose the next step after an interruption?</a:t>
            </a:r>
          </a:p>
        </p:txBody>
      </p:sp>
      <p:sp>
        <p:nvSpPr>
          <p:cNvPr id="7" name="slide-number">
            <a:extLst xmlns:a="http://schemas.openxmlformats.org/drawingml/2006/main">
              <a:ext uri="{FF2B5EF4-FFF2-40B4-BE49-F238E27FC236}">
                <a16:creationId xmlns:a16="http://schemas.microsoft.com/office/drawing/2014/main" id="{933AE28B-598C-41F7-8BB1-B1644F324A7D}"/>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1377407786"/>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lide-number">
            <a:extLst xmlns:a="http://schemas.openxmlformats.org/drawingml/2006/main">
              <a:ext uri="{FF2B5EF4-FFF2-40B4-BE49-F238E27FC236}">
                <a16:creationId xmlns:a16="http://schemas.microsoft.com/office/drawing/2014/main" id="{1AF0551D-BE85-474D-B572-1996762608C2}"/>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
        <p:nvSpPr>
          <p:cNvPr id="2" name="section-label">
            <a:extLst xmlns:a="http://schemas.openxmlformats.org/drawingml/2006/main">
              <a:ext uri="{FF2B5EF4-FFF2-40B4-BE49-F238E27FC236}">
                <a16:creationId xmlns:a16="http://schemas.microsoft.com/office/drawing/2014/main" id="{6932B814-8725-4F67-9463-B09190C49BAE}"/>
              </a:ext>
            </a:extLst>
          </p:cNvPr>
          <p:cNvSpPr>
            <a:spLocks xmlns:a="http://schemas.openxmlformats.org/drawingml/2006/main" noGrp="1"/>
          </p:cNvSpPr>
          <p:nvPr/>
        </p:nvSpPr>
        <p:spPr>
          <a:xfrm xmlns:a="http://schemas.openxmlformats.org/drawingml/2006/main">
            <a:off x="609600" y="523875"/>
            <a:ext cx="914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HOPSKIPDRIVE · PRODUCT DESIGN</a:t>
            </a:r>
          </a:p>
        </p:txBody>
      </p:sp>
      <p:sp>
        <p:nvSpPr>
          <p:cNvPr id="3" name="headline">
            <a:extLst xmlns:a="http://schemas.openxmlformats.org/drawingml/2006/main">
              <a:ext uri="{FF2B5EF4-FFF2-40B4-BE49-F238E27FC236}">
                <a16:creationId xmlns:a16="http://schemas.microsoft.com/office/drawing/2014/main" id="{83BD4B6E-2647-43EA-9A7A-0965A355D083}"/>
              </a:ext>
            </a:extLst>
          </p:cNvPr>
          <p:cNvSpPr>
            <a:spLocks xmlns:a="http://schemas.openxmlformats.org/drawingml/2006/main" noGrp="1"/>
          </p:cNvSpPr>
          <p:nvPr/>
        </p:nvSpPr>
        <p:spPr>
          <a:xfrm xmlns:a="http://schemas.openxmlformats.org/drawingml/2006/main">
            <a:off x="609600" y="1666875"/>
            <a:ext cx="103155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discuss</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product design</a:t>
            </a:r>
          </a:p>
        </p:txBody>
      </p:sp>
      <p:sp>
        <p:nvSpPr>
          <p:cNvPr id="4" name="contact-intent">
            <a:extLst xmlns:a="http://schemas.openxmlformats.org/drawingml/2006/main">
              <a:ext uri="{FF2B5EF4-FFF2-40B4-BE49-F238E27FC236}">
                <a16:creationId xmlns:a16="http://schemas.microsoft.com/office/drawing/2014/main" id="{86865521-7338-4076-870B-BDB613DD43B2}"/>
              </a:ext>
            </a:extLst>
          </p:cNvPr>
          <p:cNvSpPr>
            <a:spLocks xmlns:a="http://schemas.openxmlformats.org/drawingml/2006/main" noGrp="1"/>
          </p:cNvSpPr>
          <p:nvPr/>
        </p:nvSpPr>
        <p:spPr>
          <a:xfrm xmlns:a="http://schemas.openxmlformats.org/drawingml/2006/main">
            <a:off x="647700" y="3857625"/>
            <a:ext cx="98393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Available for HopSkipDrive’s Sr. Product Designer role. Based in Mesa, Arizona; ready to start as soon as possible.</a:t>
            </a:r>
          </a:p>
        </p:txBody>
      </p:sp>
      <p:sp>
        <p:nvSpPr>
          <p:cNvPr id="5" name="email">
            <a:extLst xmlns:a="http://schemas.openxmlformats.org/drawingml/2006/main">
              <a:ext uri="{FF2B5EF4-FFF2-40B4-BE49-F238E27FC236}">
                <a16:creationId xmlns:a16="http://schemas.microsoft.com/office/drawing/2014/main" id="{C0F86B10-AF00-4C77-8612-3109CE659F9E}"/>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23e6504bc72a4764"/>
              </a:rPr>
              <a:t>JonathanKyleHobson@gmail.com</a:t>
            </a:r>
          </a:p>
        </p:txBody>
      </p:sp>
      <p:sp>
        <p:nvSpPr>
          <p:cNvPr id="6" name="public-profile">
            <a:extLst xmlns:a="http://schemas.openxmlformats.org/drawingml/2006/main">
              <a:ext uri="{FF2B5EF4-FFF2-40B4-BE49-F238E27FC236}">
                <a16:creationId xmlns:a16="http://schemas.microsoft.com/office/drawing/2014/main" id="{8C9C3754-E95C-4099-B575-6EFF788D2E7F}"/>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u="sng">
                <a:solidFill>
                  <a:srgbClr val="F4F2E9"/>
                </a:solidFill>
                <a:latin typeface="Helvetica Neue"/>
                <a:ea typeface="Helvetica Neue"/>
                <a:cs typeface="Helvetica Neue"/>
              </a:defRPr>
            </a:pPr>
            <a:r>
              <a:rPr sz="1500" b="0" u="sng">
                <a:solidFill>
                  <a:srgbClr val="F4F2E9"/>
                </a:solidFill>
                <a:latin typeface="Helvetica Neue"/>
                <a:ea typeface="Helvetica Neue"/>
                <a:cs typeface="Helvetica Neue"/>
                <a:hlinkClick xmlns:r="http://schemas.openxmlformats.org/officeDocument/2006/relationships" r:id="R00c1b71be8bf4d7b"/>
              </a:rPr>
              <a:t>jonathankhobson.github.io/application-portfolios/hopskipdrive-product-designer</a:t>
            </a:r>
          </a:p>
        </p:txBody>
      </p:sp>
    </p:spTree>
    <p:extLst>
      <p:ext uri="{BB962C8B-B14F-4D97-AF65-F5344CB8AC3E}">
        <p14:creationId xmlns:p14="http://schemas.microsoft.com/office/powerpoint/2010/main" val="1588711579"/>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2026-09-08T21:13:10.5670000Z</dcterms:created>
  <dcterms:modified xsi:type="dcterms:W3CDTF">2026-09-08T21:13:10.5670000Z</dcterms:modified>
</coreProperties>
</file>