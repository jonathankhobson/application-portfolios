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051f1ee664de2" /><Relationship Type="http://schemas.openxmlformats.org/officeDocument/2006/relationships/extended-properties" Target="/docProps/app.xml" Id="R1cf08d80f7cf480d" /><Relationship Type="http://schemas.openxmlformats.org/officeDocument/2006/relationships/officeDocument" Target="/ppt/presentation.xml" Id="R0bf0eaea5d4e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3723f8a7314004"/>
  </p:sldMasterIdLst>
  <p:notesMasterIdLst>
    <p:notesMasterId xmlns:r="http://schemas.openxmlformats.org/officeDocument/2006/relationships" r:id="R99b107b4862345fd"/>
  </p:notesMasterIdLst>
  <p:sldIdLst>
    <p:sldId xmlns:r="http://schemas.openxmlformats.org/officeDocument/2006/relationships" id="256" r:id="R64ffb64736574984"/>
    <p:sldId xmlns:r="http://schemas.openxmlformats.org/officeDocument/2006/relationships" id="257" r:id="Raf83046958a8457c"/>
    <p:sldId xmlns:r="http://schemas.openxmlformats.org/officeDocument/2006/relationships" id="258" r:id="Rdf4fe3ba221648ab"/>
    <p:sldId xmlns:r="http://schemas.openxmlformats.org/officeDocument/2006/relationships" id="259" r:id="Rcc8ef2cf807a4967"/>
    <p:sldId xmlns:r="http://schemas.openxmlformats.org/officeDocument/2006/relationships" id="260" r:id="R4cbc4fcff5e34d0c"/>
    <p:sldId xmlns:r="http://schemas.openxmlformats.org/officeDocument/2006/relationships" id="261" r:id="R57435a849a974a35"/>
    <p:sldId xmlns:r="http://schemas.openxmlformats.org/officeDocument/2006/relationships" id="262" r:id="R91e65eaf2d354b91"/>
    <p:sldId xmlns:r="http://schemas.openxmlformats.org/officeDocument/2006/relationships" id="263" r:id="R8f7bc4c08a244781"/>
    <p:sldId xmlns:r="http://schemas.openxmlformats.org/officeDocument/2006/relationships" id="264" r:id="Ra31a3f74f05148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cc2260e1c463b" /><Relationship Type="http://schemas.openxmlformats.org/officeDocument/2006/relationships/slideMaster" Target="/ppt/slideMasters/slideMaster1.xml" Id="Rb93723f8a7314004" /><Relationship Type="http://schemas.openxmlformats.org/officeDocument/2006/relationships/notesMaster" Target="/ppt/notesMasters/notesMaster1.xml" Id="R99b107b4862345fd" /><Relationship Type="http://schemas.openxmlformats.org/officeDocument/2006/relationships/presProps" Target="/ppt/presProps.xml" Id="R677b6fc791ac4108" /><Relationship Type="http://schemas.openxmlformats.org/officeDocument/2006/relationships/tableStyles" Target="/ppt/tableStyles.xml" Id="R6a23c4fbc05a45e5" /><Relationship Type="http://schemas.openxmlformats.org/officeDocument/2006/relationships/slide" Target="/ppt/slides/slide1.xml" Id="R64ffb64736574984" /><Relationship Type="http://schemas.openxmlformats.org/officeDocument/2006/relationships/slide" Target="/ppt/slides/slide2.xml" Id="Raf83046958a8457c" /><Relationship Type="http://schemas.openxmlformats.org/officeDocument/2006/relationships/slide" Target="/ppt/slides/slide3.xml" Id="Rdf4fe3ba221648ab" /><Relationship Type="http://schemas.openxmlformats.org/officeDocument/2006/relationships/slide" Target="/ppt/slides/slide4.xml" Id="Rcc8ef2cf807a4967" /><Relationship Type="http://schemas.openxmlformats.org/officeDocument/2006/relationships/slide" Target="/ppt/slides/slide5.xml" Id="R4cbc4fcff5e34d0c" /><Relationship Type="http://schemas.openxmlformats.org/officeDocument/2006/relationships/slide" Target="/ppt/slides/slide6.xml" Id="R57435a849a974a35" /><Relationship Type="http://schemas.openxmlformats.org/officeDocument/2006/relationships/slide" Target="/ppt/slides/slide7.xml" Id="R91e65eaf2d354b91" /><Relationship Type="http://schemas.openxmlformats.org/officeDocument/2006/relationships/slide" Target="/ppt/slides/slide8.xml" Id="R8f7bc4c08a244781" /><Relationship Type="http://schemas.openxmlformats.org/officeDocument/2006/relationships/slide" Target="/ppt/slides/slide9.xml" Id="Ra31a3f74f051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34a05c28194a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746ee6dea4e49" /><Relationship Type="http://schemas.openxmlformats.org/officeDocument/2006/relationships/notesMaster" Target="/ppt/notesMasters/notesMaster1.xml" Id="R9a934b3e4b1e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377c3092f44c2f" /><Relationship Type="http://schemas.openxmlformats.org/officeDocument/2006/relationships/notesMaster" Target="/ppt/notesMasters/notesMaster1.xml" Id="Ra9be901e8ed3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8b2c21d524fff" /><Relationship Type="http://schemas.openxmlformats.org/officeDocument/2006/relationships/notesMaster" Target="/ppt/notesMasters/notesMaster1.xml" Id="Rd611eb218fca45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1f14c199646af" /><Relationship Type="http://schemas.openxmlformats.org/officeDocument/2006/relationships/notesMaster" Target="/ppt/notesMasters/notesMaster1.xml" Id="R0c2d314515fa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30631155b24c59" /><Relationship Type="http://schemas.openxmlformats.org/officeDocument/2006/relationships/notesMaster" Target="/ppt/notesMasters/notesMaster1.xml" Id="R3f43a09bb77740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a50184f904b1d" /><Relationship Type="http://schemas.openxmlformats.org/officeDocument/2006/relationships/notesMaster" Target="/ppt/notesMasters/notesMaster1.xml" Id="R61e62ad38e724c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199212bd8480e" /><Relationship Type="http://schemas.openxmlformats.org/officeDocument/2006/relationships/notesMaster" Target="/ppt/notesMasters/notesMaster1.xml" Id="R5244cff1b06a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0a39d931404482" /><Relationship Type="http://schemas.openxmlformats.org/officeDocument/2006/relationships/notesMaster" Target="/ppt/notesMasters/notesMaster1.xml" Id="Rc734f657c4884e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708cdf79f24bfb" /><Relationship Type="http://schemas.openxmlformats.org/officeDocument/2006/relationships/notesMaster" Target="/ppt/notesMasters/notesMaster1.xml" Id="R224b15ef2bbe4e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ASG Instructional Designer (Temporary), https://www.asgllc.com/careers/instructional-designer-temporary/ . Displayed work belongs to prior ASU, Coursera, FactorLab and independent tool projects. Decorative cover is existing canonical art, not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ai.json teaching-ai case, original 2024 lesson material and https://www.coursera.org/projects/chatgpt-beginners . Kyle created and taught the published project ChatGPT 4o for Beginners: Create Social Media Content. The crop preserves all original Task 3 goal text without changing source pixels: ai-course-goals.png x80 y85 w650 h370. Learning sequence and teaching materials are direct evidence; enrollment is not a learning-gain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October 1,2024 Course Shell Feedback rows16,19,20,22 and instructor-response notes. Four rows summarize actual concerns and recorded revisions. Completed appears in instructor-response status; separate QA ID Approval remains false. No final row-level signoff or measured learner gain claimed. Native editable two-column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teaching-ai case and original recorded revision instruction at 03:35. The screenshot preserves the historical interface and original text, including typos. Brew Bliss is fictional practice material. This slide shows teaching judgment, not a school deployment, controlled experiment or measured learner result. The retrospective check is a later reflection, not an assessment reported as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reviewed 2024 ASU Learning Innovations proposal and accompanying source brief. Kyle proposed a prompt workflow that condensed learner context, included mentor validation of context, personalized a task template, generated and refined tasks, included mentor confirmation or revision, and prepared structured learner-facing output and feedback. This editable reconstruction groups the original steps into six stages while retaining both mentor review gates. It is a proposal, not a deployed clinical system or a measured efficiency or learning outcome. The human review pattern is adjacent evidence for discussing learning workflows at ASG; no prior ASG engagement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selected original Flint interrupted-response and offline design variants, including the March 27, 2026 error-state handoff. Distinct recovery actions follow the state: Ask again or Continue for a partial response, and retry after connection loss with the question preserved. Deliverable: connected flows, interaction states and engineering annotations.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Experience synthesis, not a new case study. ASU Instructional Designer Apr2022–Oct2024 and AI Analyst Feb–Oct2024 overlap. Coursera2024 also overlaps; no inflated elapsed training tenure. Last row is a proposed measure, not an observed enterprise adoption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for ASG Instructional Designer (Temporary), https://www.asgllc.com/careers/instructional-designer-temporary/ . Not prior ASG delivery, a diagnosed product issue, a security investigation or a measured learner outcome. ASG authoring tools and subject matter require onboarding and expert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Tailored Instructional Designer (Temporary) packet. Related experience spans ASU learning design, Coursera teaching and assessment revisions, the ASU workflow proposal and product research. Course-authoring and product-documentation evidence are distinct from LMS administration or independent publishing-control ownership. Advanced Evolve or Articulate 360 experience is not claimed. Mesa is disclosed.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97e1da639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26a751a654654" /><Relationship Type="http://schemas.openxmlformats.org/officeDocument/2006/relationships/slideLayout" Target="/ppt/slideLayouts/slideLayout1.xml" Id="R72315048d968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15048d968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2916309fa4a8c" /><Relationship Type="http://schemas.openxmlformats.org/officeDocument/2006/relationships/image" Target="/ppt/media/image.png" Id="Re831b2326f474a16" /><Relationship Type="http://schemas.openxmlformats.org/officeDocument/2006/relationships/notesSlide" Target="/ppt/notesSlides/notesSlide1.xml" Id="Rf1d2e9a5e032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a6e1b26c24bca" /><Relationship Type="http://schemas.openxmlformats.org/officeDocument/2006/relationships/image" Target="/ppt/media/image2.png" Id="Rec0f7818b02a4082" /><Relationship Type="http://schemas.openxmlformats.org/officeDocument/2006/relationships/notesSlide" Target="/ppt/notesSlides/notesSlide2.xml" Id="R17f62e20f5c546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ca5a6261e4765" /><Relationship Type="http://schemas.openxmlformats.org/officeDocument/2006/relationships/notesSlide" Target="/ppt/notesSlides/notesSlide3.xml" Id="R0e5eb9d1acfa4c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b384c324c4c0c" /><Relationship Type="http://schemas.openxmlformats.org/officeDocument/2006/relationships/image" Target="/ppt/media/image3.png" Id="Re6caec916aa24608" /><Relationship Type="http://schemas.openxmlformats.org/officeDocument/2006/relationships/notesSlide" Target="/ppt/notesSlides/notesSlide4.xml" Id="R9fbadfd784b8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31dea6d9d4b06" /><Relationship Type="http://schemas.openxmlformats.org/officeDocument/2006/relationships/notesSlide" Target="/ppt/notesSlides/notesSlide5.xml" Id="R9cae03d3a8a0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dbda0e8ce4f9a" /><Relationship Type="http://schemas.openxmlformats.org/officeDocument/2006/relationships/image" Target="/ppt/media/image4.png" Id="Rbb3c6add6c7941c4" /><Relationship Type="http://schemas.openxmlformats.org/officeDocument/2006/relationships/image" Target="/ppt/media/image5.png" Id="Rfc1a13acc0834176" /><Relationship Type="http://schemas.openxmlformats.org/officeDocument/2006/relationships/notesSlide" Target="/ppt/notesSlides/notesSlide6.xml" Id="R76b62c9c288a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a99f5b6d94486" /><Relationship Type="http://schemas.openxmlformats.org/officeDocument/2006/relationships/notesSlide" Target="/ppt/notesSlides/notesSlide7.xml" Id="R95113381fc4445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69f6c64d74679" /><Relationship Type="http://schemas.openxmlformats.org/officeDocument/2006/relationships/notesSlide" Target="/ppt/notesSlides/notesSlide8.xml" Id="R21d88fa331c541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8e57fcb774cdf" /><Relationship Type="http://schemas.openxmlformats.org/officeDocument/2006/relationships/hyperlink" Target="mailto:JonathanKyleHobson@gmail.com" TargetMode="External" Id="R3ace749a7d104b7b" /><Relationship Type="http://schemas.openxmlformats.org/officeDocument/2006/relationships/hyperlink" Target="https://jonathankhobson.github.io/application-portfolios/asg-instructional-designer-temporary/" TargetMode="External" Id="R9bfeb30ef5894684" /><Relationship Type="http://schemas.openxmlformats.org/officeDocument/2006/relationships/notesSlide" Target="/ppt/notesSlides/notesSlide9.xml" Id="Rce43434b98cb4c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1b2326f474a16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CEEB593-03B6-4E2C-B46E-F2D35F2F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ASG · INSTRUCTIONAL DESIGNER (TEMPORARY)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54D39B1D-2129-4E99-992E-72686347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3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Build practice.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3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 from the revision.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87593063-446C-4818-A553-D59F4F3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ASU learning design, original Coursera lessons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and Figma workflow design.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77621E98-07DB-419F-A20C-6C96BD42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Instructional Designer (Temporary) application · September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11265B-7620-4F5B-8D31-1A2332D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1559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02793D2-1B42-41BD-B8D5-9FCC463A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· GUIDED PROJECT   /   ORIGINAL TEACHING, 2024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1A3E8C6-6720-4DDD-8F4C-8BFBDB2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0006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revision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something the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learner can see</a:t>
            </a:r>
          </a:p>
        </p:txBody>
      </p:sp>
      <p:sp>
        <p:nvSpPr>
          <p:cNvPr id="3" name="teaching-rationale">
            <a:extLst xmlns:a="http://schemas.openxmlformats.org/drawingml/2006/main">
              <a:ext uri="{FF2B5EF4-FFF2-40B4-BE49-F238E27FC236}">
                <a16:creationId xmlns:a16="http://schemas.microsoft.com/office/drawing/2014/main" id="{7163508B-BC56-411F-B95C-2C87101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81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created a beginner project around drafting, reviewing and refining content against a goal.</a:t>
            </a:r>
          </a:p>
        </p:txBody>
      </p:sp>
      <p:sp>
        <p:nvSpPr>
          <p:cNvPr id="4" name="teaching-boundary">
            <a:extLst xmlns:a="http://schemas.openxmlformats.org/drawingml/2006/main">
              <a:ext uri="{FF2B5EF4-FFF2-40B4-BE49-F238E27FC236}">
                <a16:creationId xmlns:a16="http://schemas.microsoft.com/office/drawing/2014/main" id="{2EB3CB3E-04A5-4582-8210-6D15121E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78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Published teaching activity. Learner improvement is not measured here.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f7818b02a4082"/>
          <a:stretch xmlns:a="http://schemas.openxmlformats.org/drawingml/2006/main"/>
        </p:blipFill>
        <p:spPr>
          <a:xfrm xmlns:a="http://schemas.openxmlformats.org/drawingml/2006/main">
            <a:off x="6068841" y="2466975"/>
            <a:ext cx="5454993" cy="3105150"/>
          </a:xfrm>
          <a:prstGeom xmlns:a="http://schemas.openxmlformats.org/drawingml/2006/main" prst="rect">
            <a:avLst/>
          </a:prstGeom>
        </p:spPr>
      </p:pic>
      <p:sp>
        <p:nvSpPr>
          <p:cNvPr id="6" name="teaching-caption">
            <a:extLst xmlns:a="http://schemas.openxmlformats.org/drawingml/2006/main">
              <a:ext uri="{FF2B5EF4-FFF2-40B4-BE49-F238E27FC236}">
                <a16:creationId xmlns:a16="http://schemas.microsoft.com/office/drawing/2014/main" id="{65DACAA8-1B3F-4B47-A215-C5850DA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953125"/>
            <a:ext cx="545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2024 lesson material · goals excerpt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AF8B2F-D517-4336-A436-87B565A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8235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B1B8EE2-A273-41DF-A11A-3FF0F180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ASSESSMENT REVIEW, OCTOBER 2024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19CC146-BB49-4CDA-92B8-1C4B3D32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review change the material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219325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7086600"/>
              </a:tblGrid>
              <a:tr h="49530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4F2E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finding</a:t>
                      </a:r>
                    </a:p>
                  </a:txBody>
                  <a:tcPr marL="91440" marR="91440" marT="45720" marB="45720" anchor="ctr">
                    <a:solidFill>
                      <a:srgbClr val="244D3C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4F2E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My documented revision</a:t>
                      </a:r>
                    </a:p>
                  </a:txBody>
                  <a:tcPr marL="91440" marR="91440" marT="45720" marB="45720" anchor="ctr">
                    <a:solidFill>
                      <a:srgbClr val="244D3C"/>
                    </a:solidFill>
                  </a:tcPr>
                </a:tc>
              </a:tr>
              <a:tr h="80010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Choices were easy to eliminate</a:t>
                      </a:r>
                    </a:p>
                  </a:txBody>
                  <a:tcPr marL="91440" marR="91440" marT="45720" marB="45720" anchor="ctr">
                    <a:solidFill>
                      <a:srgbClr val="F4F2E9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Reworked distractors, especially Questions 7, 8 and 10.</a:t>
                      </a:r>
                    </a:p>
                  </a:txBody>
                  <a:tcPr marL="91440" marR="91440" marT="45720" marB="45720" anchor="ctr">
                    <a:solidFill>
                      <a:srgbClr val="F4F2E9"/>
                    </a:solidFill>
                  </a:tcPr>
                </a:tc>
              </a:tr>
              <a:tr h="80010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7 tested only a definition</a:t>
                      </a:r>
                    </a:p>
                  </a:txBody>
                  <a:tcPr marL="91440" marR="91440" marT="45720" marB="45720" anchor="ctr">
                    <a:solidFill>
                      <a:srgbClr val="E1E8DB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Added application of the concept alongside the definition.</a:t>
                      </a:r>
                    </a:p>
                  </a:txBody>
                  <a:tcPr marL="91440" marR="91440" marT="45720" marB="45720" anchor="ctr">
                    <a:solidFill>
                      <a:srgbClr val="E1E8DB"/>
                    </a:solidFill>
                  </a:tcPr>
                </a:tc>
              </a:tr>
              <a:tr h="80010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Retry feedback revealed answers</a:t>
                      </a:r>
                    </a:p>
                  </a:txBody>
                  <a:tcPr marL="91440" marR="91440" marT="45720" marB="45720" anchor="ctr">
                    <a:solidFill>
                      <a:srgbClr val="F4F2E9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Made feedback more neutral and referred learners to the lesson task.</a:t>
                      </a:r>
                    </a:p>
                  </a:txBody>
                  <a:tcPr marL="91440" marR="91440" marT="45720" marB="45720" anchor="ctr">
                    <a:solidFill>
                      <a:srgbClr val="F4F2E9"/>
                    </a:solidFill>
                  </a:tcPr>
                </a:tc>
              </a:tr>
              <a:tr h="800100"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Task references were incorrect</a:t>
                      </a:r>
                    </a:p>
                  </a:txBody>
                  <a:tcPr marL="91440" marR="91440" marT="45720" marB="45720" anchor="ctr">
                    <a:solidFill>
                      <a:srgbClr val="E1E8DB"/>
                    </a:solidFill>
                  </a:tcPr>
                </a:tc>
                <a:tc>
                  <a:txBody>
                    <a:bodyPr wrap="square" lIns="152400" tIns="114300" rIns="15240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2B2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references across the assessment.</a:t>
                      </a:r>
                    </a:p>
                  </a:txBody>
                  <a:tcPr marL="91440" marR="91440" marT="45720" marB="45720" anchor="ctr">
                    <a:solidFill>
                      <a:srgbClr val="E1E8DB"/>
                    </a:solidFill>
                  </a:tcPr>
                </a:tc>
              </a:tr>
            </a:tbl>
          </a:graphicData>
        </a:graphic>
      </p:graphicFrame>
      <p:sp>
        <p:nvSpPr>
          <p:cNvPr id="4" name="review-source">
            <a:extLst xmlns:a="http://schemas.openxmlformats.org/drawingml/2006/main">
              <a:ext uri="{FF2B5EF4-FFF2-40B4-BE49-F238E27FC236}">
                <a16:creationId xmlns:a16="http://schemas.microsoft.com/office/drawing/2014/main" id="{76590B1E-DED2-4470-8AD4-7FDD664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Paraphrased original review and instructor-response notes · revisions, not final QA signoff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7340AD-71EA-40DC-AF36-667674E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3556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7CAD04-B0D0-4555-B4AB-279BC35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RECORDED PRACTICE SEQUENCE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2DF3047-D4A9-4AD6-A679-A4B5864B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6000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Review added detail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before accepting it</a:t>
            </a:r>
          </a:p>
        </p:txBody>
      </p:sp>
      <p:sp>
        <p:nvSpPr>
          <p:cNvPr id="3" name="revision-need">
            <a:extLst xmlns:a="http://schemas.openxmlformats.org/drawingml/2006/main">
              <a:ext uri="{FF2B5EF4-FFF2-40B4-BE49-F238E27FC236}">
                <a16:creationId xmlns:a16="http://schemas.microsoft.com/office/drawing/2014/main" id="{FD581E31-6D6B-4B25-9435-7E9D13E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238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lesson made an instruction visible beside the result it changed. That gave learners something concrete to inspect.</a:t>
            </a:r>
          </a:p>
        </p:txBody>
      </p:sp>
      <p:sp>
        <p:nvSpPr>
          <p:cNvPr id="4" name="revision-check">
            <a:extLst xmlns:a="http://schemas.openxmlformats.org/drawingml/2006/main">
              <a:ext uri="{FF2B5EF4-FFF2-40B4-BE49-F238E27FC236}">
                <a16:creationId xmlns:a16="http://schemas.microsoft.com/office/drawing/2014/main" id="{84CDEADF-A1BC-4E44-8B04-2BDAE2AA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238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revised answer added detail. In my retrospective, I would make factual checks and length limits more explicit.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aec916aa24608"/>
          <a:stretch xmlns:a="http://schemas.openxmlformats.org/drawingml/2006/main"/>
        </p:blipFill>
        <p:spPr>
          <a:xfrm xmlns:a="http://schemas.openxmlformats.org/drawingml/2006/main">
            <a:off x="6572250" y="3478584"/>
            <a:ext cx="4991100" cy="681883"/>
          </a:xfrm>
          <a:prstGeom xmlns:a="http://schemas.openxmlformats.org/drawingml/2006/main" prst="rect">
            <a:avLst/>
          </a:prstGeom>
        </p:spPr>
      </p:pic>
      <p:sp>
        <p:nvSpPr>
          <p:cNvPr id="6" name="revision-caption">
            <a:extLst xmlns:a="http://schemas.openxmlformats.org/drawingml/2006/main">
              <a:ext uri="{FF2B5EF4-FFF2-40B4-BE49-F238E27FC236}">
                <a16:creationId xmlns:a16="http://schemas.microsoft.com/office/drawing/2014/main" id="{22029DBD-6755-41FF-A5CB-8249E31F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2024 recording, Task 3 · 03:35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Fictional practice brand · unchanged source excerpt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FE45ED-FACB-4199-ADF9-44A91D01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4723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07B9D8C-58DC-444E-9AE3-67A6AE8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LEARNING INNOVATIONS   /   2024 WORKFLOW PROPOSAL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A5DFB9C-A7EE-4D4A-A918-AD03FC2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Human review before learner-facing tasks</a:t>
            </a:r>
          </a:p>
        </p:txBody>
      </p:sp>
      <p:sp>
        <p:nvSpPr>
          <p:cNvPr id="3" name="asu-context">
            <a:extLst xmlns:a="http://schemas.openxmlformats.org/drawingml/2006/main">
              <a:ext uri="{FF2B5EF4-FFF2-40B4-BE49-F238E27FC236}">
                <a16:creationId xmlns:a16="http://schemas.microsoft.com/office/drawing/2014/main" id="{0DCB94D1-AFE3-4318-9D15-08994AAA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staged prompt workflow for personalized learner tasks.</a:t>
            </a:r>
          </a:p>
        </p:txBody>
      </p:sp>
      <p:sp>
        <p:nvSpPr>
          <p:cNvPr id="4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33E056E9-2A30-4635-8B7B-C04B5F26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node-index-01">
            <a:extLst xmlns:a="http://schemas.openxmlformats.org/drawingml/2006/main">
              <a:ext uri="{FF2B5EF4-FFF2-40B4-BE49-F238E27FC236}">
                <a16:creationId xmlns:a16="http://schemas.microsoft.com/office/drawing/2014/main" id="{C8D11654-E107-4002-A344-D29B9B3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node-label-01">
            <a:extLst xmlns:a="http://schemas.openxmlformats.org/drawingml/2006/main">
              <a:ext uri="{FF2B5EF4-FFF2-40B4-BE49-F238E27FC236}">
                <a16:creationId xmlns:a16="http://schemas.microsoft.com/office/drawing/2014/main" id="{43BE799A-62AD-4B2E-BBE7-C216E86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Condense learner context</a:t>
            </a:r>
          </a:p>
        </p:txBody>
      </p:sp>
      <p:sp>
        <p:nvSpPr>
          <p:cNvPr id="7" name="node-detail-01">
            <a:extLst xmlns:a="http://schemas.openxmlformats.org/drawingml/2006/main">
              <a:ext uri="{FF2B5EF4-FFF2-40B4-BE49-F238E27FC236}">
                <a16:creationId xmlns:a16="http://schemas.microsoft.com/office/drawing/2014/main" id="{DF9EE129-C0F3-403A-9CDB-DE757B2C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Prepare context for review.</a:t>
            </a:r>
          </a:p>
        </p:txBody>
      </p:sp>
      <p:sp>
        <p:nvSpPr>
          <p:cNvPr id="8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1996EE59-0CF0-449B-8383-7B48AE5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DB"/>
          </a:solidFill>
          <a:ln xmlns:a="http://schemas.openxmlformats.org/drawingml/2006/main" w="19050">
            <a:solidFill>
              <a:srgbClr val="244D3C"/>
            </a:solidFill>
          </a:ln>
        </p:spPr>
      </p:sp>
      <p:sp>
        <p:nvSpPr>
          <p:cNvPr id="9" name="node-index-02">
            <a:extLst xmlns:a="http://schemas.openxmlformats.org/drawingml/2006/main">
              <a:ext uri="{FF2B5EF4-FFF2-40B4-BE49-F238E27FC236}">
                <a16:creationId xmlns:a16="http://schemas.microsoft.com/office/drawing/2014/main" id="{BC964BAE-4ADC-49CE-9578-7A3C4E73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node-label-02">
            <a:extLst xmlns:a="http://schemas.openxmlformats.org/drawingml/2006/main">
              <a:ext uri="{FF2B5EF4-FFF2-40B4-BE49-F238E27FC236}">
                <a16:creationId xmlns:a16="http://schemas.microsoft.com/office/drawing/2014/main" id="{E20F2E25-A194-47D1-982A-2EC78657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05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Mentor validates context</a:t>
            </a:r>
          </a:p>
        </p:txBody>
      </p:sp>
      <p:sp>
        <p:nvSpPr>
          <p:cNvPr id="11" name="node-detail-02">
            <a:extLst xmlns:a="http://schemas.openxmlformats.org/drawingml/2006/main">
              <a:ext uri="{FF2B5EF4-FFF2-40B4-BE49-F238E27FC236}">
                <a16:creationId xmlns:a16="http://schemas.microsoft.com/office/drawing/2014/main" id="{299A1959-1111-4984-874F-AC19FBF0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00475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Check the interpretation.</a:t>
            </a:r>
          </a:p>
        </p:txBody>
      </p:sp>
      <p:sp>
        <p:nvSpPr>
          <p:cNvPr id="12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77894AE3-27A1-494E-A952-A9AB3C9F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node-index-03">
            <a:extLst xmlns:a="http://schemas.openxmlformats.org/drawingml/2006/main">
              <a:ext uri="{FF2B5EF4-FFF2-40B4-BE49-F238E27FC236}">
                <a16:creationId xmlns:a16="http://schemas.microsoft.com/office/drawing/2014/main" id="{F8E0FBA2-0903-4CCC-A2DD-2C73240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node-label-03">
            <a:extLst xmlns:a="http://schemas.openxmlformats.org/drawingml/2006/main">
              <a:ext uri="{FF2B5EF4-FFF2-40B4-BE49-F238E27FC236}">
                <a16:creationId xmlns:a16="http://schemas.microsoft.com/office/drawing/2014/main" id="{98F53325-C791-4787-9CE4-080B17AD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05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Personalize task template</a:t>
            </a:r>
          </a:p>
        </p:txBody>
      </p:sp>
      <p:sp>
        <p:nvSpPr>
          <p:cNvPr id="15" name="node-detail-03">
            <a:extLst xmlns:a="http://schemas.openxmlformats.org/drawingml/2006/main">
              <a:ext uri="{FF2B5EF4-FFF2-40B4-BE49-F238E27FC236}">
                <a16:creationId xmlns:a16="http://schemas.microsoft.com/office/drawing/2014/main" id="{2735275D-F756-46FA-A068-966815EA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0475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Use the reviewed context.</a:t>
            </a:r>
          </a:p>
        </p:txBody>
      </p:sp>
      <p:sp>
        <p:nvSpPr>
          <p:cNvPr id="16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310C3C2C-B2E4-4689-94B0-E81516B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57725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node-index-04">
            <a:extLst xmlns:a="http://schemas.openxmlformats.org/drawingml/2006/main">
              <a:ext uri="{FF2B5EF4-FFF2-40B4-BE49-F238E27FC236}">
                <a16:creationId xmlns:a16="http://schemas.microsoft.com/office/drawing/2014/main" id="{29898A09-8BEE-4FA3-B748-CD611BC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91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node-label-04">
            <a:extLst xmlns:a="http://schemas.openxmlformats.org/drawingml/2006/main">
              <a:ext uri="{FF2B5EF4-FFF2-40B4-BE49-F238E27FC236}">
                <a16:creationId xmlns:a16="http://schemas.microsoft.com/office/drawing/2014/main" id="{B48AA020-2AF4-478A-8C58-2E35F9EC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Generate and refine tasks</a:t>
            </a:r>
          </a:p>
        </p:txBody>
      </p:sp>
      <p:sp>
        <p:nvSpPr>
          <p:cNvPr id="19" name="node-detail-04">
            <a:extLst xmlns:a="http://schemas.openxmlformats.org/drawingml/2006/main">
              <a:ext uri="{FF2B5EF4-FFF2-40B4-BE49-F238E27FC236}">
                <a16:creationId xmlns:a16="http://schemas.microsoft.com/office/drawing/2014/main" id="{7F8A7515-090E-4253-A723-610226A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62600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Prepare candidate tasks.</a:t>
            </a:r>
          </a:p>
        </p:txBody>
      </p:sp>
      <p:sp>
        <p:nvSpPr>
          <p:cNvPr id="20" name="workflow-node-05">
            <a:extLst xmlns:a="http://schemas.openxmlformats.org/drawingml/2006/main">
              <a:ext uri="{FF2B5EF4-FFF2-40B4-BE49-F238E27FC236}">
                <a16:creationId xmlns:a16="http://schemas.microsoft.com/office/drawing/2014/main" id="{2CCF3C07-DB5C-4D19-B789-F66C86A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57725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DB"/>
          </a:solidFill>
          <a:ln xmlns:a="http://schemas.openxmlformats.org/drawingml/2006/main" w="19050">
            <a:solidFill>
              <a:srgbClr val="244D3C"/>
            </a:solidFill>
          </a:ln>
        </p:spPr>
      </p:sp>
      <p:sp>
        <p:nvSpPr>
          <p:cNvPr id="21" name="node-index-05">
            <a:extLst xmlns:a="http://schemas.openxmlformats.org/drawingml/2006/main">
              <a:ext uri="{FF2B5EF4-FFF2-40B4-BE49-F238E27FC236}">
                <a16:creationId xmlns:a16="http://schemas.microsoft.com/office/drawing/2014/main" id="{5E2CF132-46BB-428E-9459-40A78B3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91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node-label-05">
            <a:extLst xmlns:a="http://schemas.openxmlformats.org/drawingml/2006/main">
              <a:ext uri="{FF2B5EF4-FFF2-40B4-BE49-F238E27FC236}">
                <a16:creationId xmlns:a16="http://schemas.microsoft.com/office/drawing/2014/main" id="{F21C9863-E8C8-44FB-983A-65C0A76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Mentor confirms tasks</a:t>
            </a:r>
          </a:p>
        </p:txBody>
      </p:sp>
      <p:sp>
        <p:nvSpPr>
          <p:cNvPr id="23" name="node-detail-05">
            <a:extLst xmlns:a="http://schemas.openxmlformats.org/drawingml/2006/main">
              <a:ext uri="{FF2B5EF4-FFF2-40B4-BE49-F238E27FC236}">
                <a16:creationId xmlns:a16="http://schemas.microsoft.com/office/drawing/2014/main" id="{BE287870-7823-4C43-8F7F-9D11749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62600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Approve or revise the tasks.</a:t>
            </a:r>
          </a:p>
        </p:txBody>
      </p:sp>
      <p:sp>
        <p:nvSpPr>
          <p:cNvPr id="24" name="workflow-node-06">
            <a:extLst xmlns:a="http://schemas.openxmlformats.org/drawingml/2006/main">
              <a:ext uri="{FF2B5EF4-FFF2-40B4-BE49-F238E27FC236}">
                <a16:creationId xmlns:a16="http://schemas.microsoft.com/office/drawing/2014/main" id="{BE3FF427-A801-42CB-A193-8829D753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33337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node-index-06">
            <a:extLst xmlns:a="http://schemas.openxmlformats.org/drawingml/2006/main">
              <a:ext uri="{FF2B5EF4-FFF2-40B4-BE49-F238E27FC236}">
                <a16:creationId xmlns:a16="http://schemas.microsoft.com/office/drawing/2014/main" id="{693C2A83-EE0B-4D7F-8926-DBA3A62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node-label-06">
            <a:extLst xmlns:a="http://schemas.openxmlformats.org/drawingml/2006/main">
              <a:ext uri="{FF2B5EF4-FFF2-40B4-BE49-F238E27FC236}">
                <a16:creationId xmlns:a16="http://schemas.microsoft.com/office/drawing/2014/main" id="{78F6ACEF-AD1C-48E4-BD96-E21A4F9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Prepare learner-facing output</a:t>
            </a:r>
          </a:p>
        </p:txBody>
      </p:sp>
      <p:sp>
        <p:nvSpPr>
          <p:cNvPr id="27" name="node-detail-06">
            <a:extLst xmlns:a="http://schemas.openxmlformats.org/drawingml/2006/main">
              <a:ext uri="{FF2B5EF4-FFF2-40B4-BE49-F238E27FC236}">
                <a16:creationId xmlns:a16="http://schemas.microsoft.com/office/drawing/2014/main" id="{9BBB5379-0C27-4ABE-9954-A46801F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990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Structured output and feedback.</a:t>
            </a:r>
          </a:p>
        </p:txBody>
      </p:sp>
      <p:sp>
        <p:nvSpPr>
          <p:cNvPr id="28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B312DD67-3D5B-45EE-AA50-DF2F992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32D10348-FC50-4FA0-921A-E58849B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24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0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ECA767AA-A355-464D-86B6-4B6EB089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576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31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74B5619E-5DFB-4D02-8E54-13315788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86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sp>
        <p:nvSpPr>
          <p:cNvPr id="32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2CD03DD7-4DAE-4E0B-B11B-F280D02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sp>
        <p:nvSpPr>
          <p:cNvPr id="33" name="asu-limit">
            <a:extLst xmlns:a="http://schemas.openxmlformats.org/drawingml/2006/main">
              <a:ext uri="{FF2B5EF4-FFF2-40B4-BE49-F238E27FC236}">
                <a16:creationId xmlns:a16="http://schemas.microsoft.com/office/drawing/2014/main" id="{91D7AA4E-A49E-49A2-B99C-F0D26DE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Simplified reconstruction · Documented proposal; no deployment or measured efficiency claimed.</a:t>
            </a:r>
          </a:p>
        </p:txBody>
      </p:sp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D9767B-69CC-485A-A25D-35DC09B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068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8F907C7-2EDF-44FD-82AF-CCD63F01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  /   INTERRUPTED AND OFFLINE STATES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242557C-F681-4DE2-8918-EB91EC6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4667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3" name="recovery-decision">
            <a:extLst xmlns:a="http://schemas.openxmlformats.org/drawingml/2006/main">
              <a:ext uri="{FF2B5EF4-FFF2-40B4-BE49-F238E27FC236}">
                <a16:creationId xmlns:a16="http://schemas.microsoft.com/office/drawing/2014/main" id="{6F76FC37-86F7-450C-8FD5-349EC672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43529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4" name="recovery-outcome">
            <a:extLst xmlns:a="http://schemas.openxmlformats.org/drawingml/2006/main">
              <a:ext uri="{FF2B5EF4-FFF2-40B4-BE49-F238E27FC236}">
                <a16:creationId xmlns:a16="http://schemas.microsoft.com/office/drawing/2014/main" id="{6F9CB6EE-D636-449A-8F5A-2430988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43529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assembled the flows and their next actions into an annotated handoff for engineering.</a:t>
            </a:r>
          </a:p>
        </p:txBody>
      </p:sp>
      <p:sp>
        <p:nvSpPr>
          <p:cNvPr id="5" name="incomplete-label">
            <a:extLst xmlns:a="http://schemas.openxmlformats.org/drawingml/2006/main">
              <a:ext uri="{FF2B5EF4-FFF2-40B4-BE49-F238E27FC236}">
                <a16:creationId xmlns:a16="http://schemas.microsoft.com/office/drawing/2014/main" id="{524D6786-1284-4BBD-8A5A-D1F1E7CA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19150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6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8F130743-47BD-4C55-A645-955992F9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19150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6add6c7941c4"/>
          <a:stretch xmlns:a="http://schemas.openxmlformats.org/drawingml/2006/main"/>
        </p:blipFill>
        <p:spPr>
          <a:xfrm xmlns:a="http://schemas.openxmlformats.org/drawingml/2006/main">
            <a:off x="5706555" y="1181100"/>
            <a:ext cx="2436239" cy="52197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13acc0834176"/>
          <a:stretch xmlns:a="http://schemas.openxmlformats.org/drawingml/2006/main"/>
        </p:blipFill>
        <p:spPr>
          <a:xfrm xmlns:a="http://schemas.openxmlformats.org/drawingml/2006/main">
            <a:off x="8773605" y="1181100"/>
            <a:ext cx="2436239" cy="5219700"/>
          </a:xfrm>
          <a:prstGeom xmlns:a="http://schemas.openxmlformats.org/drawingml/2006/main" prst="rect">
            <a:avLst/>
          </a:prstGeom>
        </p:spPr>
      </p:pic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E1BC0C-513E-44BA-B7ED-EE9297E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7217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FB9437-2F2D-472B-8F52-70B7186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· FACTORLAB · COURSERA   /   RELATED EXPERIENCE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8638F71-27BA-4B65-9470-5D3747EB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715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Use research to find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learning need</a:t>
            </a:r>
          </a:p>
        </p:txBody>
      </p:sp>
      <p:sp>
        <p:nvSpPr>
          <p:cNvPr id="3" name="learner-context">
            <a:extLst xmlns:a="http://schemas.openxmlformats.org/drawingml/2006/main">
              <a:ext uri="{FF2B5EF4-FFF2-40B4-BE49-F238E27FC236}">
                <a16:creationId xmlns:a16="http://schemas.microsoft.com/office/drawing/2014/main" id="{1696AEA0-3D0C-4C8D-BDE0-37F18CD3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ASU, I developed learning materials and workshops and evaluated voice and chat flows. Product research adds practice clarifying the task before proposing support.</a:t>
            </a:r>
          </a:p>
        </p:txBody>
      </p:sp>
      <p:sp>
        <p:nvSpPr>
          <p:cNvPr id="4" name="learning-limits">
            <a:extLst xmlns:a="http://schemas.openxmlformats.org/drawingml/2006/main">
              <a:ext uri="{FF2B5EF4-FFF2-40B4-BE49-F238E27FC236}">
                <a16:creationId xmlns:a16="http://schemas.microsoft.com/office/drawing/2014/main" id="{EEADBFE4-571A-47F4-A922-962A84FD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5257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My next step would be to test a teaching approach with staff doing real work and measure what changes.</a:t>
            </a:r>
          </a:p>
        </p:txBody>
      </p:sp>
      <p:sp>
        <p:nvSpPr>
          <p:cNvPr id="5" name="status-0">
            <a:extLst xmlns:a="http://schemas.openxmlformats.org/drawingml/2006/main">
              <a:ext uri="{FF2B5EF4-FFF2-40B4-BE49-F238E27FC236}">
                <a16:creationId xmlns:a16="http://schemas.microsoft.com/office/drawing/2014/main" id="{F005036E-4957-440F-8CC0-77171A0D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859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Learning design</a:t>
            </a:r>
          </a:p>
        </p:txBody>
      </p:sp>
      <p:sp>
        <p:nvSpPr>
          <p:cNvPr id="6" name="status-description-0">
            <a:extLst xmlns:a="http://schemas.openxmlformats.org/drawingml/2006/main">
              <a:ext uri="{FF2B5EF4-FFF2-40B4-BE49-F238E27FC236}">
                <a16:creationId xmlns:a16="http://schemas.microsoft.com/office/drawing/2014/main" id="{64DF3F8A-CF49-438D-8E84-113EF5DC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61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Objectives, demonstrations and practice</a:t>
            </a:r>
          </a:p>
        </p:txBody>
      </p:sp>
      <p:sp>
        <p:nvSpPr>
          <p:cNvPr id="7" name="status-1">
            <a:extLst xmlns:a="http://schemas.openxmlformats.org/drawingml/2006/main">
              <a:ext uri="{FF2B5EF4-FFF2-40B4-BE49-F238E27FC236}">
                <a16:creationId xmlns:a16="http://schemas.microsoft.com/office/drawing/2014/main" id="{100068E6-5C6C-48C1-82F8-9673CD9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</p:txBody>
      </p:sp>
      <p:sp>
        <p:nvSpPr>
          <p:cNvPr id="8" name="status-description-1">
            <a:extLst xmlns:a="http://schemas.openxmlformats.org/drawingml/2006/main">
              <a:ext uri="{FF2B5EF4-FFF2-40B4-BE49-F238E27FC236}">
                <a16:creationId xmlns:a16="http://schemas.microsoft.com/office/drawing/2014/main" id="{813F08C1-5467-4870-B8E8-093CCCC0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33725"/>
            <a:ext cx="461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Questions about context and friction</a:t>
            </a:r>
          </a:p>
        </p:txBody>
      </p:sp>
      <p:sp>
        <p:nvSpPr>
          <p:cNvPr id="9" name="status-2">
            <a:extLst xmlns:a="http://schemas.openxmlformats.org/drawingml/2006/main">
              <a:ext uri="{FF2B5EF4-FFF2-40B4-BE49-F238E27FC236}">
                <a16:creationId xmlns:a16="http://schemas.microsoft.com/office/drawing/2014/main" id="{59CB3C0E-72F0-490A-A02F-40BC272F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Workflow design</a:t>
            </a:r>
          </a:p>
        </p:txBody>
      </p:sp>
      <p:sp>
        <p:nvSpPr>
          <p:cNvPr id="10" name="status-description-2">
            <a:extLst xmlns:a="http://schemas.openxmlformats.org/drawingml/2006/main">
              <a:ext uri="{FF2B5EF4-FFF2-40B4-BE49-F238E27FC236}">
                <a16:creationId xmlns:a16="http://schemas.microsoft.com/office/drawing/2014/main" id="{734859BC-C77C-4608-9C56-2B2B625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461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Actions and recovery explained to engineering</a:t>
            </a:r>
          </a:p>
        </p:txBody>
      </p:sp>
      <p:sp>
        <p:nvSpPr>
          <p:cNvPr id="11" name="status-3">
            <a:extLst xmlns:a="http://schemas.openxmlformats.org/drawingml/2006/main">
              <a:ext uri="{FF2B5EF4-FFF2-40B4-BE49-F238E27FC236}">
                <a16:creationId xmlns:a16="http://schemas.microsoft.com/office/drawing/2014/main" id="{52058223-6B02-4C77-BD3A-982C813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435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Evaluation to propose</a:t>
            </a:r>
          </a:p>
        </p:txBody>
      </p:sp>
      <p:sp>
        <p:nvSpPr>
          <p:cNvPr id="12" name="status-description-3">
            <a:extLst xmlns:a="http://schemas.openxmlformats.org/drawingml/2006/main">
              <a:ext uri="{FF2B5EF4-FFF2-40B4-BE49-F238E27FC236}">
                <a16:creationId xmlns:a16="http://schemas.microsoft.com/office/drawing/2014/main" id="{F5082DBE-02F0-4EC3-942D-DE3BA2B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72125"/>
            <a:ext cx="461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Completion, correction and repeat use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08404-DDED-49F5-969F-9783E6C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54713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4B65E42-7E57-4D81-802D-19DD4A8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PROPOSED APPROACH   /   ASG LEARNING PRODUCTS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EFE7E17-2137-4C6A-B3F7-C81C7CF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85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Connect the action to the decision</a:t>
            </a:r>
          </a:p>
        </p:txBody>
      </p:sp>
      <p:sp>
        <p:nvSpPr>
          <p:cNvPr id="3" name="purpose-heading">
            <a:extLst xmlns:a="http://schemas.openxmlformats.org/drawingml/2006/main">
              <a:ext uri="{FF2B5EF4-FFF2-40B4-BE49-F238E27FC236}">
                <a16:creationId xmlns:a16="http://schemas.microsoft.com/office/drawing/2014/main" id="{762C69D9-E0CE-4121-A4AC-9BBCC7ED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Choose one learner task</a:t>
            </a:r>
          </a:p>
        </p:txBody>
      </p:sp>
      <p:sp>
        <p:nvSpPr>
          <p:cNvPr id="4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15AC4105-AB17-43A8-8952-5E93AF9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143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Work with an expert to choose a useful task.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Define what the learner needs to recognize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and which result they should inspect.</a:t>
            </a:r>
          </a:p>
        </p:txBody>
      </p:sp>
      <p:sp>
        <p:nvSpPr>
          <p:cNvPr id="5" name="structure-heading">
            <a:extLst xmlns:a="http://schemas.openxmlformats.org/drawingml/2006/main">
              <a:ext uri="{FF2B5EF4-FFF2-40B4-BE49-F238E27FC236}">
                <a16:creationId xmlns:a16="http://schemas.microsoft.com/office/drawing/2014/main" id="{1711EAAD-5549-49C7-944D-FE499DB0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Build a focused learning path</a:t>
            </a:r>
          </a:p>
        </p:txBody>
      </p:sp>
      <p:sp>
        <p:nvSpPr>
          <p:cNvPr id="6" name="structure-body">
            <a:extLst xmlns:a="http://schemas.openxmlformats.org/drawingml/2006/main">
              <a:ext uri="{FF2B5EF4-FFF2-40B4-BE49-F238E27FC236}">
                <a16:creationId xmlns:a16="http://schemas.microsoft.com/office/drawing/2014/main" id="{99F9E205-441B-41E4-AA5D-DB3FA65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57575"/>
            <a:ext cx="4857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Outline the goal, prerequisites and practice.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Use a short demonstration and a safe example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that the product team has verified.</a:t>
            </a:r>
          </a:p>
        </p:txBody>
      </p:sp>
      <p:sp>
        <p:nvSpPr>
          <p:cNvPr id="7" name="compare-heading">
            <a:extLst xmlns:a="http://schemas.openxmlformats.org/drawingml/2006/main">
              <a:ext uri="{FF2B5EF4-FFF2-40B4-BE49-F238E27FC236}">
                <a16:creationId xmlns:a16="http://schemas.microsoft.com/office/drawing/2014/main" id="{315EFD2D-0D7A-4EDA-A393-715A605E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Review accuracy and usability</a:t>
            </a:r>
          </a:p>
        </p:txBody>
      </p:sp>
      <p:sp>
        <p:nvSpPr>
          <p:cNvPr id="8" name="compare-body">
            <a:extLst xmlns:a="http://schemas.openxmlformats.org/drawingml/2006/main">
              <a:ext uri="{FF2B5EF4-FFF2-40B4-BE49-F238E27FC236}">
                <a16:creationId xmlns:a16="http://schemas.microsoft.com/office/drawing/2014/main" id="{33A53670-472E-44A2-9DD5-207A4BB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Check the content with domain experts.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Watch a learner try the task and note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where the explanation leaves them uncertain.</a:t>
            </a:r>
          </a:p>
        </p:txBody>
      </p:sp>
      <p:sp>
        <p:nvSpPr>
          <p:cNvPr id="9" name="handoff-heading">
            <a:extLst xmlns:a="http://schemas.openxmlformats.org/drawingml/2006/main">
              <a:ext uri="{FF2B5EF4-FFF2-40B4-BE49-F238E27FC236}">
                <a16:creationId xmlns:a16="http://schemas.microsoft.com/office/drawing/2014/main" id="{6A5F6C8C-B964-41C1-A2A6-491DCBF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Publish through the team workflow</a:t>
            </a:r>
          </a:p>
        </p:txBody>
      </p:sp>
      <p:sp>
        <p:nvSpPr>
          <p:cNvPr id="10" name="handoff-body">
            <a:extLst xmlns:a="http://schemas.openxmlformats.org/drawingml/2006/main">
              <a:ext uri="{FF2B5EF4-FFF2-40B4-BE49-F238E27FC236}">
                <a16:creationId xmlns:a16="http://schemas.microsoft.com/office/drawing/2014/main" id="{5953052E-0102-425C-AA46-1936A4F2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 the authoring tools and review process.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Document content and version dependencies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and revisit content when behavior changes.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CD9DDF-848A-4BD6-AD34-1F9ECF3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5678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420B55F-8760-41FD-B6CF-24468D9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ASG · INSTRUCTIONAL DESIGNER (TEMPORARY)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70386A4-7228-46B4-9D0A-4C2355FF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287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Let’s make technical work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easier to learn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2FF2FC11-E694-4C82-9C5E-31C89F8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020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Arizona. Applying for the listed 100% remote U.S. arrangement.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249F3965-72E3-4FFD-ACA7-A030CB3D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ace749a7d104b7b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703F0CD0-7BD0-4FC7-B2FD-B6FE20CC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bfeb30ef5894684"/>
              </a:rPr>
              <a:t>jonathankhobson.github.io/application-portfolios/asg-instructional-designer-temporary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B2B236-A69E-4BAC-B10C-ACA771D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1698817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2026-09-11T16:44:05.8520000Z</dcterms:created>
  <dcterms:modified xsi:type="dcterms:W3CDTF">2026-09-11T16:44:05.8520000Z</dcterms:modified>
</coreProperties>
</file>