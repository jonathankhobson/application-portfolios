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bd7939caf44983" /><Relationship Type="http://schemas.openxmlformats.org/officeDocument/2006/relationships/extended-properties" Target="/docProps/app.xml" Id="R7a38823e34514870" /><Relationship Type="http://schemas.openxmlformats.org/officeDocument/2006/relationships/officeDocument" Target="/ppt/presentation.xml" Id="R8f8ed4a6e87b411c" /></Relationships>
</file>

<file path=ppt/presentation.xml><?xml version="1.0" encoding="utf-8"?>
<p:presentation xmlns:p="http://schemas.openxmlformats.org/presentationml/2006/main">
  <p:sldMasterIdLst>
    <p:sldMasterId xmlns:r="http://schemas.openxmlformats.org/officeDocument/2006/relationships" id="2147483648" r:id="Rad1cf85fa25347c2"/>
  </p:sldMasterIdLst>
  <p:notesMasterIdLst>
    <p:notesMasterId xmlns:r="http://schemas.openxmlformats.org/officeDocument/2006/relationships" r:id="Redfbe7ead9854c2b"/>
  </p:notesMasterIdLst>
  <p:sldIdLst>
    <p:sldId xmlns:r="http://schemas.openxmlformats.org/officeDocument/2006/relationships" id="256" r:id="R98214822c5f2443a"/>
    <p:sldId xmlns:r="http://schemas.openxmlformats.org/officeDocument/2006/relationships" id="257" r:id="R7c365b9d35034b17"/>
    <p:sldId xmlns:r="http://schemas.openxmlformats.org/officeDocument/2006/relationships" id="258" r:id="R765064e8afc54619"/>
    <p:sldId xmlns:r="http://schemas.openxmlformats.org/officeDocument/2006/relationships" id="259" r:id="R510423c6e446447e"/>
    <p:sldId xmlns:r="http://schemas.openxmlformats.org/officeDocument/2006/relationships" id="260" r:id="R51c638e02b8544a9"/>
    <p:sldId xmlns:r="http://schemas.openxmlformats.org/officeDocument/2006/relationships" id="261" r:id="Re4ea353b4c404b1c"/>
    <p:sldId xmlns:r="http://schemas.openxmlformats.org/officeDocument/2006/relationships" id="262" r:id="Rf13c3b5a83c14bdb"/>
    <p:sldId xmlns:r="http://schemas.openxmlformats.org/officeDocument/2006/relationships" id="263" r:id="Rfd54bacd93694f55"/>
    <p:sldId xmlns:r="http://schemas.openxmlformats.org/officeDocument/2006/relationships" id="264" r:id="R1cd914627a024614"/>
    <p:sldId xmlns:r="http://schemas.openxmlformats.org/officeDocument/2006/relationships" id="265" r:id="Rb5b1614d6cd640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dadae7866f41f8" /><Relationship Type="http://schemas.openxmlformats.org/officeDocument/2006/relationships/slideMaster" Target="/ppt/slideMasters/slideMaster1.xml" Id="Rad1cf85fa25347c2" /><Relationship Type="http://schemas.openxmlformats.org/officeDocument/2006/relationships/notesMaster" Target="/ppt/notesMasters/notesMaster1.xml" Id="Redfbe7ead9854c2b" /><Relationship Type="http://schemas.openxmlformats.org/officeDocument/2006/relationships/presProps" Target="/ppt/presProps.xml" Id="Rc4fd8d21fef14b92" /><Relationship Type="http://schemas.openxmlformats.org/officeDocument/2006/relationships/tableStyles" Target="/ppt/tableStyles.xml" Id="R357670acfe1d4b6d" /><Relationship Type="http://schemas.openxmlformats.org/officeDocument/2006/relationships/slide" Target="/ppt/slides/slide1.xml" Id="R98214822c5f2443a" /><Relationship Type="http://schemas.openxmlformats.org/officeDocument/2006/relationships/slide" Target="/ppt/slides/slide2.xml" Id="R7c365b9d35034b17" /><Relationship Type="http://schemas.openxmlformats.org/officeDocument/2006/relationships/slide" Target="/ppt/slides/slide3.xml" Id="R765064e8afc54619" /><Relationship Type="http://schemas.openxmlformats.org/officeDocument/2006/relationships/slide" Target="/ppt/slides/slide4.xml" Id="R510423c6e446447e" /><Relationship Type="http://schemas.openxmlformats.org/officeDocument/2006/relationships/slide" Target="/ppt/slides/slide5.xml" Id="R51c638e02b8544a9" /><Relationship Type="http://schemas.openxmlformats.org/officeDocument/2006/relationships/slide" Target="/ppt/slides/slide6.xml" Id="Re4ea353b4c404b1c" /><Relationship Type="http://schemas.openxmlformats.org/officeDocument/2006/relationships/slide" Target="/ppt/slides/slide7.xml" Id="Rf13c3b5a83c14bdb" /><Relationship Type="http://schemas.openxmlformats.org/officeDocument/2006/relationships/slide" Target="/ppt/slides/slide8.xml" Id="Rfd54bacd93694f55" /><Relationship Type="http://schemas.openxmlformats.org/officeDocument/2006/relationships/slide" Target="/ppt/slides/slide9.xml" Id="R1cd914627a024614" /><Relationship Type="http://schemas.openxmlformats.org/officeDocument/2006/relationships/slide" Target="/ppt/slides/slide10.xml" Id="Rb5b1614d6cd640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cf1507cd4244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ac3fde0f4e4bd4" /><Relationship Type="http://schemas.openxmlformats.org/officeDocument/2006/relationships/notesMaster" Target="/ppt/notesMasters/notesMaster1.xml" Id="Re59842b4d18546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5fafd0e0574ea2" /><Relationship Type="http://schemas.openxmlformats.org/officeDocument/2006/relationships/notesMaster" Target="/ppt/notesMasters/notesMaster1.xml" Id="R20d86427f20f4b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d2a1731f624790" /><Relationship Type="http://schemas.openxmlformats.org/officeDocument/2006/relationships/notesMaster" Target="/ppt/notesMasters/notesMaster1.xml" Id="R8fac66e385f947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13de49076349a0" /><Relationship Type="http://schemas.openxmlformats.org/officeDocument/2006/relationships/notesMaster" Target="/ppt/notesMasters/notesMaster1.xml" Id="R23f9a1791d324e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9cec5e5e3948b8" /><Relationship Type="http://schemas.openxmlformats.org/officeDocument/2006/relationships/notesMaster" Target="/ppt/notesMasters/notesMaster1.xml" Id="R7e6c63f46a0a45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549d4411534833" /><Relationship Type="http://schemas.openxmlformats.org/officeDocument/2006/relationships/notesMaster" Target="/ppt/notesMasters/notesMaster1.xml" Id="R64a8d70a5b8643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990a0a14338479e" /><Relationship Type="http://schemas.openxmlformats.org/officeDocument/2006/relationships/notesMaster" Target="/ppt/notesMasters/notesMaster1.xml" Id="R6d4f0724dd6e4b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95341eb5494657" /><Relationship Type="http://schemas.openxmlformats.org/officeDocument/2006/relationships/notesMaster" Target="/ppt/notesMasters/notesMaster1.xml" Id="R7692ad309e7e45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4e1dcc9ee541b6" /><Relationship Type="http://schemas.openxmlformats.org/officeDocument/2006/relationships/notesMaster" Target="/ppt/notesMasters/notesMaster1.xml" Id="Rc0c99bc2420d44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9e3cf7882649bd" /><Relationship Type="http://schemas.openxmlformats.org/officeDocument/2006/relationships/notesMaster" Target="/ppt/notesMasters/notesMaster1.xml" Id="R6b9b6888ef6d46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work for Eliza Partner AI Deployment Engineer: https://jobs.ashbyhq.com/eliza/c3ebcdb8-eace-4ff1-8db1-04ac8172b123 . Prior work shown includes independent Prompt Compass development, FactorLab interaction design and Coursera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Compass public beta: https://github.com/JonathanKHobson/prompt-compass/releases/tag/v0.1.0-beta.3 . The diagram explains a selected workflow reconstructed from the implementation. The local tool returns structured analysis and routing; the host assistant supplies conversation and final wording. Later local features are distinct from the April 2026 beta. No employee or customer adoption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October 1, 2024 Course Shell Feedback and instructor responses. These four rows summarize actual review concerns and Kyle’s recorded revisions. Completed revision status does not establish separate final QA approval or measured learner improvement. Published course: https://www.coursera.org/projects/chatgpt-beginners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Compass local regression example, May 2026. Exact test instructions appear in an implementation-grounded portfolio rendering. The literal-term checks report missing requirements in the shorter prompt. They do not execute an LLM, parse generated output or validate the confidence threshold. This later local example is separate from the public April beta.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FactorLab Flint incomplete-answer and offline design variants. The March 27, 2026 handoff separates partial response, stopped response and connection loss, with different next actions. Work shown is interaction design and annotated engineering handoff; no deployed adoption result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2024 teaching material for ChatGPT 4o for Beginners: Create Social Media Content. Kyle created and taught this published Guided Project. The displayed Task 3 goals connect drafting, revision, feedback and goal alignment. https://www.coursera.org/projects/chatgpt-beginners . No measured learning gain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Coursera Task 3 teaching recording, 2024, at 03:35. The displayed revision instruction preserves historical wording and typos. Brew Bliss is fictional practice material. The reflection about checking added facts and length is a retrospective recommendation, not a reported assessment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related experience: Oak AI Lead UX Researcher November 2023–2025, end month unknown; ASU IT Specialist October 2020–December 2022; FactorLab contract since October 2025; Coursera Guided Project instructor 2024; Prompt Compass independent creation and public beta 2026. ASU instructional design April 2022–October 2024 and AI Analyst February–October 2024 overlap. These roles are not added to claim extra tenure. Eliza contribution described here is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discussion approach for Eliza Partner AI Deployment Engineer, https://jobs.ashbyhq.com/eliza/c3ebcdb8-eace-4ff1-8db1-04ac8172b123 . The role connects client discovery, AI demonstrations, technical workshops and reusable delivery material. This is not prior Eliza work or a committed program. Client access, data and any deployment would follow the responsible team’s permissions and review practices. No measured adoption or savings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Related work includes released local MCP tooling, product interaction design and technical teaching. Available in Mesa, Arizona with full United States work authorization. No enterprise forward-deployed engineering, OpenAI partner delivery or executive sales ownership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ff96a66bfc490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e496fb871040cc" /><Relationship Type="http://schemas.openxmlformats.org/officeDocument/2006/relationships/slideLayout" Target="/ppt/slideLayouts/slideLayout1.xml" Id="Red75000b014145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75000b014145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736d11a6494534" /><Relationship Type="http://schemas.openxmlformats.org/officeDocument/2006/relationships/image" Target="/ppt/media/image.png" Id="R2e810d38140f49f4" /><Relationship Type="http://schemas.openxmlformats.org/officeDocument/2006/relationships/notesSlide" Target="/ppt/notesSlides/notesSlide1.xml" Id="Rd4ecc10e3d7341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30da1a392d49f6" /><Relationship Type="http://schemas.openxmlformats.org/officeDocument/2006/relationships/image" Target="/ppt/media/image2.png" Id="Rc120283db55d4965" /><Relationship Type="http://schemas.openxmlformats.org/officeDocument/2006/relationships/notesSlide" Target="/ppt/notesSlides/notesSlide2.xml" Id="R856ab64c57d64d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d76fc8cd9d42ac" /><Relationship Type="http://schemas.openxmlformats.org/officeDocument/2006/relationships/notesSlide" Target="/ppt/notesSlides/notesSlide3.xml" Id="R5a37b468e17a4e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982efe83ce47f9" /><Relationship Type="http://schemas.openxmlformats.org/officeDocument/2006/relationships/image" Target="/ppt/media/image3.png" Id="R10da09df17414d65" /><Relationship Type="http://schemas.openxmlformats.org/officeDocument/2006/relationships/notesSlide" Target="/ppt/notesSlides/notesSlide4.xml" Id="Rc0d1f87c6f8348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c372f4ed9f459a" /><Relationship Type="http://schemas.openxmlformats.org/officeDocument/2006/relationships/image" Target="/ppt/media/image4.png" Id="R91430bca4d754897" /><Relationship Type="http://schemas.openxmlformats.org/officeDocument/2006/relationships/image" Target="/ppt/media/image5.png" Id="R5a01e74373994d7f" /><Relationship Type="http://schemas.openxmlformats.org/officeDocument/2006/relationships/notesSlide" Target="/ppt/notesSlides/notesSlide5.xml" Id="Rd78b7bd944004d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bc89c63d564cc4" /><Relationship Type="http://schemas.openxmlformats.org/officeDocument/2006/relationships/image" Target="/ppt/media/image6.png" Id="R6d14d4caf6f14230" /><Relationship Type="http://schemas.openxmlformats.org/officeDocument/2006/relationships/notesSlide" Target="/ppt/notesSlides/notesSlide6.xml" Id="R9b7bec65495140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3e7d1924994a10" /><Relationship Type="http://schemas.openxmlformats.org/officeDocument/2006/relationships/image" Target="/ppt/media/image7.png" Id="R9769d419082948e0" /><Relationship Type="http://schemas.openxmlformats.org/officeDocument/2006/relationships/notesSlide" Target="/ppt/notesSlides/notesSlide7.xml" Id="R5ab97631bd7942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14017bed67046c6" /><Relationship Type="http://schemas.openxmlformats.org/officeDocument/2006/relationships/notesSlide" Target="/ppt/notesSlides/notesSlide8.xml" Id="R2d36dd037c484a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ab84a930d734beb" /><Relationship Type="http://schemas.openxmlformats.org/officeDocument/2006/relationships/notesSlide" Target="/ppt/notesSlides/notesSlide9.xml" Id="Rbef82865c28145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4cbf95012334d50" /><Relationship Type="http://schemas.openxmlformats.org/officeDocument/2006/relationships/hyperlink" Target="mailto:JonathanKyleHobson@gmail.com" TargetMode="External" Id="R8ac78baceac54b37" /><Relationship Type="http://schemas.openxmlformats.org/officeDocument/2006/relationships/hyperlink" Target="https://jonathankhobson.github.io/application-portfolios/eliza-ai-deployment/" TargetMode="External" Id="R868ca00a38114d88" /><Relationship Type="http://schemas.openxmlformats.org/officeDocument/2006/relationships/notesSlide" Target="/ppt/notesSlides/notesSlide10.xml" Id="Rcdcac349baa94720"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e810d38140f49f4"/>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233FC4E1-206D-4949-933E-6A571F87017F}"/>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Eliza · PARTNER AI DEPLOYMENT ENGINEER</a:t>
            </a:r>
          </a:p>
        </p:txBody>
      </p:sp>
      <p:sp>
        <p:nvSpPr>
          <p:cNvPr id="3" name="headline">
            <a:extLst xmlns:a="http://schemas.openxmlformats.org/drawingml/2006/main">
              <a:ext uri="{FF2B5EF4-FFF2-40B4-BE49-F238E27FC236}">
                <a16:creationId xmlns:a16="http://schemas.microsoft.com/office/drawing/2014/main" id="{27E57EA1-0D93-41E1-8460-C86B2E2817DC}"/>
              </a:ext>
            </a:extLst>
          </p:cNvPr>
          <p:cNvSpPr>
            <a:spLocks xmlns:a="http://schemas.openxmlformats.org/drawingml/2006/main" noGrp="1"/>
          </p:cNvSpPr>
          <p:nvPr/>
        </p:nvSpPr>
        <p:spPr>
          <a:xfrm xmlns:a="http://schemas.openxmlformats.org/drawingml/2006/main">
            <a:off x="609600" y="1581150"/>
            <a:ext cx="10572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AI ideas made</a:t>
            </a:r>
          </a:p>
          <a:p xmlns:a="http://schemas.openxmlformats.org/drawingml/2006/main">
            <a:pPr>
              <a:lnSpc>
                <a:spcPct val="110000"/>
              </a:lnSpc>
              <a:buNone/>
              <a:defRPr sz="4350" b="1">
                <a:solidFill>
                  <a:srgbClr val="192B25"/>
                </a:solidFill>
                <a:latin typeface="Helvetica Neue"/>
                <a:ea typeface="Helvetica Neue"/>
                <a:cs typeface="Helvetica Neue"/>
              </a:defRPr>
            </a:pPr>
            <a:r>
              <a:rPr sz="4350" b="1">
                <a:solidFill>
                  <a:srgbClr val="192B25"/>
                </a:solidFill>
                <a:latin typeface="Helvetica Neue"/>
                <a:ea typeface="Helvetica Neue"/>
                <a:cs typeface="Helvetica Neue"/>
              </a:rPr>
              <a:t>inspectable</a:t>
            </a:r>
          </a:p>
        </p:txBody>
      </p:sp>
      <p:sp>
        <p:nvSpPr>
          <p:cNvPr id="4" name="cover-intro">
            <a:extLst xmlns:a="http://schemas.openxmlformats.org/drawingml/2006/main">
              <a:ext uri="{FF2B5EF4-FFF2-40B4-BE49-F238E27FC236}">
                <a16:creationId xmlns:a16="http://schemas.microsoft.com/office/drawing/2014/main" id="{5649DD1E-4C88-4BE5-9EC8-10ACD8F9CE17}"/>
              </a:ext>
            </a:extLst>
          </p:cNvPr>
          <p:cNvSpPr>
            <a:spLocks xmlns:a="http://schemas.openxmlformats.org/drawingml/2006/main" noGrp="1"/>
          </p:cNvSpPr>
          <p:nvPr/>
        </p:nvSpPr>
        <p:spPr>
          <a:xfrm xmlns:a="http://schemas.openxmlformats.org/drawingml/2006/main">
            <a:off x="647700" y="4067175"/>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Local AI tools, client-facing research</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and practical technical teaching.</a:t>
            </a:r>
          </a:p>
        </p:txBody>
      </p:sp>
      <p:sp>
        <p:nvSpPr>
          <p:cNvPr id="5" name="cover-role">
            <a:extLst xmlns:a="http://schemas.openxmlformats.org/drawingml/2006/main">
              <a:ext uri="{FF2B5EF4-FFF2-40B4-BE49-F238E27FC236}">
                <a16:creationId xmlns:a16="http://schemas.microsoft.com/office/drawing/2014/main" id="{66B871E3-5755-4042-B763-B8568666513C}"/>
              </a:ext>
            </a:extLst>
          </p:cNvPr>
          <p:cNvSpPr>
            <a:spLocks xmlns:a="http://schemas.openxmlformats.org/drawingml/2006/main" noGrp="1"/>
          </p:cNvSpPr>
          <p:nvPr/>
        </p:nvSpPr>
        <p:spPr>
          <a:xfrm xmlns:a="http://schemas.openxmlformats.org/drawingml/2006/main">
            <a:off x="647700" y="60198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Partner AI Deployment Engineer application · September 2026</a:t>
            </a:r>
          </a:p>
        </p:txBody>
      </p:sp>
      <p:sp>
        <p:nvSpPr>
          <p:cNvPr id="6" name="slide-number">
            <a:extLst xmlns:a="http://schemas.openxmlformats.org/drawingml/2006/main">
              <a:ext uri="{FF2B5EF4-FFF2-40B4-BE49-F238E27FC236}">
                <a16:creationId xmlns:a16="http://schemas.microsoft.com/office/drawing/2014/main" id="{8F665A03-2BE1-47C6-A6B5-782EEA5DD5B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1907921370"/>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5A8A41A-D1B1-45F0-9AB0-BE983917767B}"/>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RELEASED TOOL AND WORKFLOW DESIGN</a:t>
            </a:r>
          </a:p>
        </p:txBody>
      </p:sp>
      <p:sp>
        <p:nvSpPr>
          <p:cNvPr id="2" name="headline">
            <a:extLst xmlns:a="http://schemas.openxmlformats.org/drawingml/2006/main">
              <a:ext uri="{FF2B5EF4-FFF2-40B4-BE49-F238E27FC236}">
                <a16:creationId xmlns:a16="http://schemas.microsoft.com/office/drawing/2014/main" id="{D84B9EA0-A77B-4789-9A93-FA93F92DB3B4}"/>
              </a:ext>
            </a:extLst>
          </p:cNvPr>
          <p:cNvSpPr>
            <a:spLocks xmlns:a="http://schemas.openxmlformats.org/drawingml/2006/main" noGrp="1"/>
          </p:cNvSpPr>
          <p:nvPr/>
        </p:nvSpPr>
        <p:spPr>
          <a:xfrm xmlns:a="http://schemas.openxmlformats.org/drawingml/2006/main">
            <a:off x="609600" y="1047750"/>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Prompt Compass workflow</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120283db55d4965"/>
          <a:stretch xmlns:a="http://schemas.openxmlformats.org/drawingml/2006/main"/>
        </p:blipFill>
        <p:spPr>
          <a:xfrm xmlns:a="http://schemas.openxmlformats.org/drawingml/2006/main">
            <a:off x="863819" y="2019300"/>
            <a:ext cx="10464362" cy="3371850"/>
          </a:xfrm>
          <a:prstGeom xmlns:a="http://schemas.openxmlformats.org/drawingml/2006/main" prst="rect">
            <a:avLst/>
          </a:prstGeom>
        </p:spPr>
      </p:pic>
      <p:sp>
        <p:nvSpPr>
          <p:cNvPr id="4" name="tool-boundary">
            <a:extLst xmlns:a="http://schemas.openxmlformats.org/drawingml/2006/main">
              <a:ext uri="{FF2B5EF4-FFF2-40B4-BE49-F238E27FC236}">
                <a16:creationId xmlns:a16="http://schemas.microsoft.com/office/drawing/2014/main" id="{D0FBECC7-4E97-4F13-88DA-F818BC8466E2}"/>
              </a:ext>
            </a:extLst>
          </p:cNvPr>
          <p:cNvSpPr>
            <a:spLocks xmlns:a="http://schemas.openxmlformats.org/drawingml/2006/main" noGrp="1"/>
          </p:cNvSpPr>
          <p:nvPr/>
        </p:nvSpPr>
        <p:spPr>
          <a:xfrm xmlns:a="http://schemas.openxmlformats.org/drawingml/2006/main">
            <a:off x="609600" y="56673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local tool returns structured checks and routing.</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The host assistant handles the conversation and final wording.</a:t>
            </a:r>
          </a:p>
        </p:txBody>
      </p:sp>
      <p:sp>
        <p:nvSpPr>
          <p:cNvPr id="5" name="tool-source">
            <a:extLst xmlns:a="http://schemas.openxmlformats.org/drawingml/2006/main">
              <a:ext uri="{FF2B5EF4-FFF2-40B4-BE49-F238E27FC236}">
                <a16:creationId xmlns:a16="http://schemas.microsoft.com/office/drawing/2014/main" id="{B237C5B5-3914-470A-9E7C-75C2AD3E70A5}"/>
              </a:ext>
            </a:extLst>
          </p:cNvPr>
          <p:cNvSpPr>
            <a:spLocks xmlns:a="http://schemas.openxmlformats.org/drawingml/2006/main" noGrp="1"/>
          </p:cNvSpPr>
          <p:nvPr/>
        </p:nvSpPr>
        <p:spPr>
          <a:xfrm xmlns:a="http://schemas.openxmlformats.org/drawingml/2006/main">
            <a:off x="609600" y="64103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Implementation-based portfolio diagram · public beta release, April 2026</a:t>
            </a:r>
          </a:p>
        </p:txBody>
      </p:sp>
      <p:sp>
        <p:nvSpPr>
          <p:cNvPr id="6" name="slide-number">
            <a:extLst xmlns:a="http://schemas.openxmlformats.org/drawingml/2006/main">
              <a:ext uri="{FF2B5EF4-FFF2-40B4-BE49-F238E27FC236}">
                <a16:creationId xmlns:a16="http://schemas.microsoft.com/office/drawing/2014/main" id="{5C581791-0B84-4425-844D-7C9190A4D7D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351121175"/>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3ABA9BB8-4924-4EFA-8B80-5E9F41C4EBA7}"/>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ASSESSMENT REVIEW, OCTOBER 2024</a:t>
            </a:r>
          </a:p>
        </p:txBody>
      </p:sp>
      <p:sp>
        <p:nvSpPr>
          <p:cNvPr id="2" name="headline">
            <a:extLst xmlns:a="http://schemas.openxmlformats.org/drawingml/2006/main">
              <a:ext uri="{FF2B5EF4-FFF2-40B4-BE49-F238E27FC236}">
                <a16:creationId xmlns:a16="http://schemas.microsoft.com/office/drawing/2014/main" id="{891BCEA0-AC49-4F3E-9A99-658BB022EEE2}"/>
              </a:ext>
            </a:extLst>
          </p:cNvPr>
          <p:cNvSpPr>
            <a:spLocks xmlns:a="http://schemas.openxmlformats.org/drawingml/2006/main" noGrp="1"/>
          </p:cNvSpPr>
          <p:nvPr/>
        </p:nvSpPr>
        <p:spPr>
          <a:xfrm xmlns:a="http://schemas.openxmlformats.org/drawingml/2006/main">
            <a:off x="609600" y="10763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375" b="1">
                <a:solidFill>
                  <a:srgbClr val="192B25"/>
                </a:solidFill>
                <a:latin typeface="Helvetica Neue"/>
                <a:ea typeface="Helvetica Neue"/>
                <a:cs typeface="Helvetica Neue"/>
              </a:defRPr>
            </a:pPr>
            <a:r>
              <a:rPr sz="3375" b="1">
                <a:solidFill>
                  <a:srgbClr val="192B25"/>
                </a:solidFill>
                <a:latin typeface="Helvetica Neue"/>
                <a:ea typeface="Helvetica Neue"/>
                <a:cs typeface="Helvetica Neue"/>
              </a:rPr>
              <a:t>Assessment review and revision</a:t>
            </a:r>
          </a:p>
        </p:txBody>
      </p:sp>
      <p:graphicFrame>
        <p:nvGraphicFramePr>
          <p:cNvPr id="8" name=""/>
          <p:cNvGraphicFramePr/>
          <p:nvPr/>
        </p:nvGraphicFramePr>
        <p:xfrm>
          <a:off xmlns:a="http://schemas.openxmlformats.org/drawingml/2006/main" x="609600" y="2219325"/>
          <a:ext xmlns:a="http://schemas.openxmlformats.org/drawingml/2006/main" cx="10972800" cy="3695700"/>
        </p:xfrm>
        <a:graphic xmlns:a="http://schemas.openxmlformats.org/drawingml/2006/main">
          <a:graphicData uri="http://schemas.openxmlformats.org/drawingml/2006/table">
            <a:tbl>
              <a:tblPr/>
              <a:tblGrid>
                <a:gridCol w="3886200"/>
                <a:gridCol w="7086600"/>
              </a:tblGrid>
              <a:tr h="495300">
                <a:tc>
                  <a:txBody>
                    <a:bodyPr wrap="square" lIns="152400" tIns="114300" rIns="152400" bIns="114300">
                      <a:noAutofit/>
                    </a:bodyPr>
                    <a:lstStyle/>
                    <a:p>
                      <a:r>
                        <a:rPr sz="1650" b="1">
                          <a:solidFill>
                            <a:srgbClr val="F4F2E9"/>
                          </a:solidFill>
                          <a:latin typeface="Helvetica Neue"/>
                          <a:ea typeface="Helvetica Neue"/>
                          <a:cs typeface="Helvetica Neue"/>
                        </a:rPr>
                        <a:t>Review finding</a:t>
                      </a:r>
                    </a:p>
                  </a:txBody>
                  <a:tcPr marL="91440" marR="91440" marT="45720" marB="45720" anchor="ctr">
                    <a:solidFill>
                      <a:srgbClr val="244D3C"/>
                    </a:solidFill>
                  </a:tcPr>
                </a:tc>
                <a:tc>
                  <a:txBody>
                    <a:bodyPr wrap="square" lIns="152400" tIns="114300" rIns="152400" bIns="114300">
                      <a:noAutofit/>
                    </a:bodyPr>
                    <a:lstStyle/>
                    <a:p>
                      <a:r>
                        <a:rPr sz="1650" b="1">
                          <a:solidFill>
                            <a:srgbClr val="F4F2E9"/>
                          </a:solidFill>
                          <a:latin typeface="Helvetica Neue"/>
                          <a:ea typeface="Helvetica Neue"/>
                          <a:cs typeface="Helvetica Neue"/>
                        </a:rPr>
                        <a:t>My documented revision</a:t>
                      </a:r>
                    </a:p>
                  </a:txBody>
                  <a:tcPr marL="91440" marR="91440" marT="45720" marB="45720" anchor="ctr">
                    <a:solidFill>
                      <a:srgbClr val="244D3C"/>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Choices were easy to eliminate</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Reworked distractors, especially Questions 7, 8 and 10.</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Question 7 tested only a definition</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Added application of the concept alongside the definition.</a:t>
                      </a:r>
                    </a:p>
                  </a:txBody>
                  <a:tcPr marL="91440" marR="91440" marT="45720" marB="45720" anchor="ctr">
                    <a:solidFill>
                      <a:srgbClr val="E1E8DB"/>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Retry feedback revealed answers</a:t>
                      </a:r>
                    </a:p>
                  </a:txBody>
                  <a:tcPr marL="91440" marR="91440" marT="45720" marB="45720" anchor="ctr">
                    <a:solidFill>
                      <a:srgbClr val="F4F2E9"/>
                    </a:solidFill>
                  </a:tcPr>
                </a:tc>
                <a:tc>
                  <a:txBody>
                    <a:bodyPr wrap="square" lIns="152400" tIns="114300" rIns="152400" bIns="114300">
                      <a:noAutofit/>
                    </a:bodyPr>
                    <a:lstStyle/>
                    <a:p>
                      <a:r>
                        <a:rPr sz="1650" b="0">
                          <a:solidFill>
                            <a:srgbClr val="192B25"/>
                          </a:solidFill>
                          <a:latin typeface="Helvetica Neue"/>
                          <a:ea typeface="Helvetica Neue"/>
                          <a:cs typeface="Helvetica Neue"/>
                        </a:rPr>
                        <a:t>Made feedback more neutral and referred learners to the lesson task.</a:t>
                      </a:r>
                    </a:p>
                  </a:txBody>
                  <a:tcPr marL="91440" marR="91440" marT="45720" marB="45720" anchor="ctr">
                    <a:solidFill>
                      <a:srgbClr val="F4F2E9"/>
                    </a:solidFill>
                  </a:tcPr>
                </a:tc>
              </a:tr>
              <a:tr h="800100">
                <a:tc>
                  <a:txBody>
                    <a:bodyPr wrap="square" lIns="152400" tIns="114300" rIns="152400" bIns="114300">
                      <a:noAutofit/>
                    </a:bodyPr>
                    <a:lstStyle/>
                    <a:p>
                      <a:r>
                        <a:rPr sz="1650" b="0">
                          <a:solidFill>
                            <a:srgbClr val="192B25"/>
                          </a:solidFill>
                          <a:latin typeface="Helvetica Neue"/>
                          <a:ea typeface="Helvetica Neue"/>
                          <a:cs typeface="Helvetica Neue"/>
                        </a:rPr>
                        <a:t>Task references were incorrect</a:t>
                      </a:r>
                    </a:p>
                  </a:txBody>
                  <a:tcPr marL="91440" marR="91440" marT="45720" marB="45720" anchor="ctr">
                    <a:solidFill>
                      <a:srgbClr val="E1E8DB"/>
                    </a:solidFill>
                  </a:tcPr>
                </a:tc>
                <a:tc>
                  <a:txBody>
                    <a:bodyPr wrap="square" lIns="152400" tIns="114300" rIns="152400" bIns="114300">
                      <a:noAutofit/>
                    </a:bodyPr>
                    <a:lstStyle/>
                    <a:p>
                      <a:r>
                        <a:rPr sz="1650" b="0">
                          <a:solidFill>
                            <a:srgbClr val="192B25"/>
                          </a:solidFill>
                          <a:latin typeface="Helvetica Neue"/>
                          <a:ea typeface="Helvetica Neue"/>
                          <a:cs typeface="Helvetica Neue"/>
                        </a:rPr>
                        <a:t>Corrected references across the assessment.</a:t>
                      </a:r>
                    </a:p>
                  </a:txBody>
                  <a:tcPr marL="91440" marR="91440" marT="45720" marB="45720" anchor="ctr">
                    <a:solidFill>
                      <a:srgbClr val="E1E8DB"/>
                    </a:solidFill>
                  </a:tcPr>
                </a:tc>
              </a:tr>
            </a:tbl>
          </a:graphicData>
        </a:graphic>
      </p:graphicFrame>
      <p:sp>
        <p:nvSpPr>
          <p:cNvPr id="4" name="review-source">
            <a:extLst xmlns:a="http://schemas.openxmlformats.org/drawingml/2006/main">
              <a:ext uri="{FF2B5EF4-FFF2-40B4-BE49-F238E27FC236}">
                <a16:creationId xmlns:a16="http://schemas.microsoft.com/office/drawing/2014/main" id="{0EE98010-F079-412B-9C96-64F809B10828}"/>
              </a:ext>
            </a:extLst>
          </p:cNvPr>
          <p:cNvSpPr>
            <a:spLocks xmlns:a="http://schemas.openxmlformats.org/drawingml/2006/main" noGrp="1"/>
          </p:cNvSpPr>
          <p:nvPr/>
        </p:nvSpPr>
        <p:spPr>
          <a:xfrm xmlns:a="http://schemas.openxmlformats.org/drawingml/2006/main">
            <a:off x="609600" y="6257925"/>
            <a:ext cx="1090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Paraphrased original review and instructor-response notes · revisions, not final QA signoff</a:t>
            </a:r>
          </a:p>
        </p:txBody>
      </p:sp>
      <p:sp>
        <p:nvSpPr>
          <p:cNvPr id="5" name="slide-number">
            <a:extLst xmlns:a="http://schemas.openxmlformats.org/drawingml/2006/main">
              <a:ext uri="{FF2B5EF4-FFF2-40B4-BE49-F238E27FC236}">
                <a16:creationId xmlns:a16="http://schemas.microsoft.com/office/drawing/2014/main" id="{7FA244C7-E8CC-4298-9CE7-625588A55D5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87158492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6" name="section-label">
            <a:extLst xmlns:a="http://schemas.openxmlformats.org/drawingml/2006/main">
              <a:ext uri="{FF2B5EF4-FFF2-40B4-BE49-F238E27FC236}">
                <a16:creationId xmlns:a16="http://schemas.microsoft.com/office/drawing/2014/main" id="{DDC3B718-89FA-4BBE-9930-F650999E7AC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PROMPT COMPASS   /   LOCAL REGRESSION EXAMPLE, MAY 2026</a:t>
            </a:r>
          </a:p>
        </p:txBody>
      </p:sp>
      <p:sp>
        <p:nvSpPr>
          <p:cNvPr id="2" name="headline">
            <a:extLst xmlns:a="http://schemas.openxmlformats.org/drawingml/2006/main">
              <a:ext uri="{FF2B5EF4-FFF2-40B4-BE49-F238E27FC236}">
                <a16:creationId xmlns:a16="http://schemas.microsoft.com/office/drawing/2014/main" id="{4794FFC2-F5C8-4CC5-9A31-F72394D9FD73}"/>
              </a:ext>
            </a:extLst>
          </p:cNvPr>
          <p:cNvSpPr>
            <a:spLocks xmlns:a="http://schemas.openxmlformats.org/drawingml/2006/main" noGrp="1"/>
          </p:cNvSpPr>
          <p:nvPr/>
        </p:nvSpPr>
        <p:spPr>
          <a:xfrm xmlns:a="http://schemas.openxmlformats.org/drawingml/2006/main">
            <a:off x="609600" y="103822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Requirements lost in a rewrite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0da09df17414d65"/>
          <a:stretch xmlns:a="http://schemas.openxmlformats.org/drawingml/2006/main"/>
        </p:blipFill>
        <p:spPr>
          <a:xfrm xmlns:a="http://schemas.openxmlformats.org/drawingml/2006/main">
            <a:off x="741293" y="2009775"/>
            <a:ext cx="10709413" cy="4105275"/>
          </a:xfrm>
          <a:prstGeom xmlns:a="http://schemas.openxmlformats.org/drawingml/2006/main" prst="rect">
            <a:avLst/>
          </a:prstGeom>
        </p:spPr>
      </p:pic>
      <p:sp>
        <p:nvSpPr>
          <p:cNvPr id="4" name="prompt-test-purpose">
            <a:extLst xmlns:a="http://schemas.openxmlformats.org/drawingml/2006/main">
              <a:ext uri="{FF2B5EF4-FFF2-40B4-BE49-F238E27FC236}">
                <a16:creationId xmlns:a16="http://schemas.microsoft.com/office/drawing/2014/main" id="{23C139D9-7353-4AD9-8ADD-185125136496}"/>
              </a:ext>
            </a:extLst>
          </p:cNvPr>
          <p:cNvSpPr>
            <a:spLocks xmlns:a="http://schemas.openxmlformats.org/drawingml/2006/main" noGrp="1"/>
          </p:cNvSpPr>
          <p:nvPr/>
        </p:nvSpPr>
        <p:spPr>
          <a:xfrm xmlns:a="http://schemas.openxmlformats.org/drawingml/2006/main">
            <a:off x="609600" y="6238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test inputs, excerpted from the portfolio rendering · expected winner: original prompt</a:t>
            </a:r>
          </a:p>
        </p:txBody>
      </p:sp>
      <p:sp>
        <p:nvSpPr>
          <p:cNvPr id="5" name="slide-number">
            <a:extLst xmlns:a="http://schemas.openxmlformats.org/drawingml/2006/main">
              <a:ext uri="{FF2B5EF4-FFF2-40B4-BE49-F238E27FC236}">
                <a16:creationId xmlns:a16="http://schemas.microsoft.com/office/drawing/2014/main" id="{5FF95766-21BF-4C73-9577-5F26EE16FB1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273731166"/>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B8012DA2-58F0-4527-8BE5-4E6823BE115F}"/>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731E817C-2327-4390-8FD1-29B10B457B2B}"/>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from</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interrupted answers</a:t>
            </a:r>
          </a:p>
        </p:txBody>
      </p:sp>
      <p:sp>
        <p:nvSpPr>
          <p:cNvPr id="3" name="recovery-decision">
            <a:extLst xmlns:a="http://schemas.openxmlformats.org/drawingml/2006/main">
              <a:ext uri="{FF2B5EF4-FFF2-40B4-BE49-F238E27FC236}">
                <a16:creationId xmlns:a16="http://schemas.microsoft.com/office/drawing/2014/main" id="{D31F543A-11D6-4D77-95B3-066C8B3F15EE}"/>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2AD97F2A-3AC6-4DA5-BBD0-AC4873B46FB5}"/>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405FBFCE-5B6F-4160-9604-6F9170E99C10}"/>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8D13E111-73C2-477A-871D-18564C63C789}"/>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1430bca4d754897"/>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a01e74373994d7f"/>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7F967828-9F0E-4AC1-950A-15AD2E8B691D}"/>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352256605"/>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92168037-8DA3-40DF-99A7-1A242D3D446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GUIDED PROJECT   /   ORIGINAL TEACHING, 2024</a:t>
            </a:r>
          </a:p>
        </p:txBody>
      </p:sp>
      <p:sp>
        <p:nvSpPr>
          <p:cNvPr id="2" name="headline">
            <a:extLst xmlns:a="http://schemas.openxmlformats.org/drawingml/2006/main">
              <a:ext uri="{FF2B5EF4-FFF2-40B4-BE49-F238E27FC236}">
                <a16:creationId xmlns:a16="http://schemas.microsoft.com/office/drawing/2014/main" id="{5DAF4838-6A09-4EC7-8D54-5FFCC2AA2E68}"/>
              </a:ext>
            </a:extLst>
          </p:cNvPr>
          <p:cNvSpPr>
            <a:spLocks xmlns:a="http://schemas.openxmlformats.org/drawingml/2006/main" noGrp="1"/>
          </p:cNvSpPr>
          <p:nvPr/>
        </p:nvSpPr>
        <p:spPr>
          <a:xfrm xmlns:a="http://schemas.openxmlformats.org/drawingml/2006/main">
            <a:off x="609600" y="1104900"/>
            <a:ext cx="50006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AI revision as</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guided practice</a:t>
            </a:r>
          </a:p>
        </p:txBody>
      </p:sp>
      <p:sp>
        <p:nvSpPr>
          <p:cNvPr id="3" name="teaching-rationale">
            <a:extLst xmlns:a="http://schemas.openxmlformats.org/drawingml/2006/main">
              <a:ext uri="{FF2B5EF4-FFF2-40B4-BE49-F238E27FC236}">
                <a16:creationId xmlns:a16="http://schemas.microsoft.com/office/drawing/2014/main" id="{16E34695-6187-42A3-9724-68B96541C72F}"/>
              </a:ext>
            </a:extLst>
          </p:cNvPr>
          <p:cNvSpPr>
            <a:spLocks xmlns:a="http://schemas.openxmlformats.org/drawingml/2006/main" noGrp="1"/>
          </p:cNvSpPr>
          <p:nvPr/>
        </p:nvSpPr>
        <p:spPr>
          <a:xfrm xmlns:a="http://schemas.openxmlformats.org/drawingml/2006/main">
            <a:off x="609600" y="3714750"/>
            <a:ext cx="47815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I created a beginner project around drafting, reviewing and refining content against a goal.</a:t>
            </a:r>
          </a:p>
        </p:txBody>
      </p:sp>
      <p:sp>
        <p:nvSpPr>
          <p:cNvPr id="4" name="teaching-boundary">
            <a:extLst xmlns:a="http://schemas.openxmlformats.org/drawingml/2006/main">
              <a:ext uri="{FF2B5EF4-FFF2-40B4-BE49-F238E27FC236}">
                <a16:creationId xmlns:a16="http://schemas.microsoft.com/office/drawing/2014/main" id="{32692CCF-B15C-4CE9-AE7E-FC3AC8BFC370}"/>
              </a:ext>
            </a:extLst>
          </p:cNvPr>
          <p:cNvSpPr>
            <a:spLocks xmlns:a="http://schemas.openxmlformats.org/drawingml/2006/main" noGrp="1"/>
          </p:cNvSpPr>
          <p:nvPr/>
        </p:nvSpPr>
        <p:spPr>
          <a:xfrm xmlns:a="http://schemas.openxmlformats.org/drawingml/2006/main">
            <a:off x="609600" y="5438775"/>
            <a:ext cx="4781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58645D"/>
                </a:solidFill>
                <a:latin typeface="Helvetica Neue"/>
                <a:ea typeface="Helvetica Neue"/>
                <a:cs typeface="Helvetica Neue"/>
              </a:defRPr>
            </a:pPr>
            <a:r>
              <a:rPr sz="1650" b="0">
                <a:solidFill>
                  <a:srgbClr val="58645D"/>
                </a:solidFill>
                <a:latin typeface="Helvetica Neue"/>
                <a:ea typeface="Helvetica Neue"/>
                <a:cs typeface="Helvetica Neue"/>
              </a:rPr>
              <a:t>Published teaching activity. Learner improvement is not measured here.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d14d4caf6f14230"/>
          <a:stretch xmlns:a="http://schemas.openxmlformats.org/drawingml/2006/main"/>
        </p:blipFill>
        <p:spPr>
          <a:xfrm xmlns:a="http://schemas.openxmlformats.org/drawingml/2006/main">
            <a:off x="6068841" y="2466975"/>
            <a:ext cx="5454993" cy="3105150"/>
          </a:xfrm>
          <a:prstGeom xmlns:a="http://schemas.openxmlformats.org/drawingml/2006/main" prst="rect">
            <a:avLst/>
          </a:prstGeom>
        </p:spPr>
      </p:pic>
      <p:sp>
        <p:nvSpPr>
          <p:cNvPr id="6" name="teaching-caption">
            <a:extLst xmlns:a="http://schemas.openxmlformats.org/drawingml/2006/main">
              <a:ext uri="{FF2B5EF4-FFF2-40B4-BE49-F238E27FC236}">
                <a16:creationId xmlns:a16="http://schemas.microsoft.com/office/drawing/2014/main" id="{E6D100D5-270B-4219-9AB2-317123264F6C}"/>
              </a:ext>
            </a:extLst>
          </p:cNvPr>
          <p:cNvSpPr>
            <a:spLocks xmlns:a="http://schemas.openxmlformats.org/drawingml/2006/main" noGrp="1"/>
          </p:cNvSpPr>
          <p:nvPr/>
        </p:nvSpPr>
        <p:spPr>
          <a:xfrm xmlns:a="http://schemas.openxmlformats.org/drawingml/2006/main">
            <a:off x="6067425" y="5953125"/>
            <a:ext cx="54578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0">
                <a:solidFill>
                  <a:srgbClr val="58645D"/>
                </a:solidFill>
                <a:latin typeface="Helvetica Neue"/>
                <a:ea typeface="Helvetica Neue"/>
                <a:cs typeface="Helvetica Neue"/>
              </a:defRPr>
            </a:pPr>
            <a:r>
              <a:rPr sz="1350" b="0">
                <a:solidFill>
                  <a:srgbClr val="58645D"/>
                </a:solidFill>
                <a:latin typeface="Helvetica Neue"/>
                <a:ea typeface="Helvetica Neue"/>
                <a:cs typeface="Helvetica Neue"/>
              </a:rPr>
              <a:t>Original 2024 lesson material · goals excerpt</a:t>
            </a:r>
          </a:p>
        </p:txBody>
      </p:sp>
      <p:sp>
        <p:nvSpPr>
          <p:cNvPr id="7" name="slide-number">
            <a:extLst xmlns:a="http://schemas.openxmlformats.org/drawingml/2006/main">
              <a:ext uri="{FF2B5EF4-FFF2-40B4-BE49-F238E27FC236}">
                <a16:creationId xmlns:a16="http://schemas.microsoft.com/office/drawing/2014/main" id="{930B3578-064A-45F7-AC9B-B0CB1187E692}"/>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897299178"/>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B7BB7055-2D62-4F4D-9139-7042AE197F9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COURSERA   /   RECORDED PRACTICE SEQUENCE</a:t>
            </a:r>
          </a:p>
        </p:txBody>
      </p:sp>
      <p:sp>
        <p:nvSpPr>
          <p:cNvPr id="2" name="headline">
            <a:extLst xmlns:a="http://schemas.openxmlformats.org/drawingml/2006/main">
              <a:ext uri="{FF2B5EF4-FFF2-40B4-BE49-F238E27FC236}">
                <a16:creationId xmlns:a16="http://schemas.microsoft.com/office/drawing/2014/main" id="{0A0BCF16-CFFD-4769-BA12-1D977A1D73ED}"/>
              </a:ext>
            </a:extLst>
          </p:cNvPr>
          <p:cNvSpPr>
            <a:spLocks xmlns:a="http://schemas.openxmlformats.org/drawingml/2006/main" noGrp="1"/>
          </p:cNvSpPr>
          <p:nvPr/>
        </p:nvSpPr>
        <p:spPr>
          <a:xfrm xmlns:a="http://schemas.openxmlformats.org/drawingml/2006/main">
            <a:off x="609600" y="1085850"/>
            <a:ext cx="6000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Original lesson</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revision sequence</a:t>
            </a:r>
          </a:p>
        </p:txBody>
      </p:sp>
      <p:sp>
        <p:nvSpPr>
          <p:cNvPr id="3" name="revision-need">
            <a:extLst xmlns:a="http://schemas.openxmlformats.org/drawingml/2006/main">
              <a:ext uri="{FF2B5EF4-FFF2-40B4-BE49-F238E27FC236}">
                <a16:creationId xmlns:a16="http://schemas.microsoft.com/office/drawing/2014/main" id="{7C66D393-A3FE-4126-A4DE-C937FF58B040}"/>
              </a:ext>
            </a:extLst>
          </p:cNvPr>
          <p:cNvSpPr>
            <a:spLocks xmlns:a="http://schemas.openxmlformats.org/drawingml/2006/main" noGrp="1"/>
          </p:cNvSpPr>
          <p:nvPr/>
        </p:nvSpPr>
        <p:spPr>
          <a:xfrm xmlns:a="http://schemas.openxmlformats.org/drawingml/2006/main">
            <a:off x="609600" y="3019425"/>
            <a:ext cx="5238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The lesson made an instruction visible beside the result it changed. That gave learners something concrete to inspect.</a:t>
            </a:r>
          </a:p>
        </p:txBody>
      </p:sp>
      <p:sp>
        <p:nvSpPr>
          <p:cNvPr id="4" name="revision-check">
            <a:extLst xmlns:a="http://schemas.openxmlformats.org/drawingml/2006/main">
              <a:ext uri="{FF2B5EF4-FFF2-40B4-BE49-F238E27FC236}">
                <a16:creationId xmlns:a16="http://schemas.microsoft.com/office/drawing/2014/main" id="{E8740819-1473-4D0B-AB08-3EAAFBA943C3}"/>
              </a:ext>
            </a:extLst>
          </p:cNvPr>
          <p:cNvSpPr>
            <a:spLocks xmlns:a="http://schemas.openxmlformats.org/drawingml/2006/main" noGrp="1"/>
          </p:cNvSpPr>
          <p:nvPr/>
        </p:nvSpPr>
        <p:spPr>
          <a:xfrm xmlns:a="http://schemas.openxmlformats.org/drawingml/2006/main">
            <a:off x="609600" y="4772025"/>
            <a:ext cx="5238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The revised answer added detail. In my retrospective, I would make factual checks and length limits more explicit.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769d419082948e0"/>
          <a:stretch xmlns:a="http://schemas.openxmlformats.org/drawingml/2006/main"/>
        </p:blipFill>
        <p:spPr>
          <a:xfrm xmlns:a="http://schemas.openxmlformats.org/drawingml/2006/main">
            <a:off x="6572250" y="3478584"/>
            <a:ext cx="4991100" cy="681883"/>
          </a:xfrm>
          <a:prstGeom xmlns:a="http://schemas.openxmlformats.org/drawingml/2006/main" prst="rect">
            <a:avLst/>
          </a:prstGeom>
        </p:spPr>
      </p:pic>
      <p:sp>
        <p:nvSpPr>
          <p:cNvPr id="6" name="revision-caption">
            <a:extLst xmlns:a="http://schemas.openxmlformats.org/drawingml/2006/main">
              <a:ext uri="{FF2B5EF4-FFF2-40B4-BE49-F238E27FC236}">
                <a16:creationId xmlns:a16="http://schemas.microsoft.com/office/drawing/2014/main" id="{527A17B3-8E7B-4391-A2F1-E47C168BB02C}"/>
              </a:ext>
            </a:extLst>
          </p:cNvPr>
          <p:cNvSpPr>
            <a:spLocks xmlns:a="http://schemas.openxmlformats.org/drawingml/2006/main" noGrp="1"/>
          </p:cNvSpPr>
          <p:nvPr/>
        </p:nvSpPr>
        <p:spPr>
          <a:xfrm xmlns:a="http://schemas.openxmlformats.org/drawingml/2006/main">
            <a:off x="6572250" y="6115050"/>
            <a:ext cx="4991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2024 recording, Task 3 · 03:35</a:t>
            </a:r>
          </a:p>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Fictional practice brand · unchanged source excerpt</a:t>
            </a:r>
          </a:p>
        </p:txBody>
      </p:sp>
      <p:sp>
        <p:nvSpPr>
          <p:cNvPr id="7" name="slide-number">
            <a:extLst xmlns:a="http://schemas.openxmlformats.org/drawingml/2006/main">
              <a:ext uri="{FF2B5EF4-FFF2-40B4-BE49-F238E27FC236}">
                <a16:creationId xmlns:a16="http://schemas.microsoft.com/office/drawing/2014/main" id="{3AA09C91-C77D-48A7-B7BB-3EA5A96DCA2F}"/>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722353053"/>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A628EADF-3B7C-445C-BEFB-1C62CD83F102}"/>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RELATED EXPERIENCE</a:t>
            </a:r>
          </a:p>
        </p:txBody>
      </p:sp>
      <p:sp>
        <p:nvSpPr>
          <p:cNvPr id="2" name="headline">
            <a:extLst xmlns:a="http://schemas.openxmlformats.org/drawingml/2006/main">
              <a:ext uri="{FF2B5EF4-FFF2-40B4-BE49-F238E27FC236}">
                <a16:creationId xmlns:a16="http://schemas.microsoft.com/office/drawing/2014/main" id="{741CC8B5-A352-4862-9120-26A77EC42C7C}"/>
              </a:ext>
            </a:extLst>
          </p:cNvPr>
          <p:cNvSpPr>
            <a:spLocks xmlns:a="http://schemas.openxmlformats.org/drawingml/2006/main" noGrp="1"/>
          </p:cNvSpPr>
          <p:nvPr/>
        </p:nvSpPr>
        <p:spPr>
          <a:xfrm xmlns:a="http://schemas.openxmlformats.org/drawingml/2006/main">
            <a:off x="609600" y="1123950"/>
            <a:ext cx="571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Discovery, demonstration</a:t>
            </a:r>
          </a:p>
          <a:p xmlns:a="http://schemas.openxmlformats.org/drawingml/2006/main">
            <a:pPr>
              <a:lnSpc>
                <a:spcPct val="110000"/>
              </a:lnSpc>
              <a:buNone/>
              <a:defRPr sz="3525" b="1">
                <a:solidFill>
                  <a:srgbClr val="192B25"/>
                </a:solidFill>
                <a:latin typeface="Helvetica Neue"/>
                <a:ea typeface="Helvetica Neue"/>
                <a:cs typeface="Helvetica Neue"/>
              </a:defRPr>
            </a:pPr>
            <a:r>
              <a:rPr sz="3525" b="1">
                <a:solidFill>
                  <a:srgbClr val="192B25"/>
                </a:solidFill>
                <a:latin typeface="Helvetica Neue"/>
                <a:ea typeface="Helvetica Neue"/>
                <a:cs typeface="Helvetica Neue"/>
              </a:rPr>
              <a:t>and handoff</a:t>
            </a:r>
          </a:p>
        </p:txBody>
      </p:sp>
      <p:sp>
        <p:nvSpPr>
          <p:cNvPr id="3" name="context">
            <a:extLst xmlns:a="http://schemas.openxmlformats.org/drawingml/2006/main">
              <a:ext uri="{FF2B5EF4-FFF2-40B4-BE49-F238E27FC236}">
                <a16:creationId xmlns:a16="http://schemas.microsoft.com/office/drawing/2014/main" id="{59D33889-FF43-40B6-B984-E40A4EA86DEE}"/>
              </a:ext>
            </a:extLst>
          </p:cNvPr>
          <p:cNvSpPr>
            <a:spLocks xmlns:a="http://schemas.openxmlformats.org/drawingml/2006/main" noGrp="1"/>
          </p:cNvSpPr>
          <p:nvPr/>
        </p:nvSpPr>
        <p:spPr>
          <a:xfrm xmlns:a="http://schemas.openxmlformats.org/drawingml/2006/main">
            <a:off x="609600" y="3209925"/>
            <a:ext cx="52578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My work connects a question from a person or team to a concrete artifact: a tool, interaction decision or learning example that others can examine.</a:t>
            </a:r>
          </a:p>
        </p:txBody>
      </p:sp>
      <p:sp>
        <p:nvSpPr>
          <p:cNvPr id="4" name="next-step">
            <a:extLst xmlns:a="http://schemas.openxmlformats.org/drawingml/2006/main">
              <a:ext uri="{FF2B5EF4-FFF2-40B4-BE49-F238E27FC236}">
                <a16:creationId xmlns:a16="http://schemas.microsoft.com/office/drawing/2014/main" id="{BE8A7362-0C3F-41F5-A22B-BFCDB363CFB6}"/>
              </a:ext>
            </a:extLst>
          </p:cNvPr>
          <p:cNvSpPr>
            <a:spLocks xmlns:a="http://schemas.openxmlformats.org/drawingml/2006/main" noGrp="1"/>
          </p:cNvSpPr>
          <p:nvPr/>
        </p:nvSpPr>
        <p:spPr>
          <a:xfrm xmlns:a="http://schemas.openxmlformats.org/drawingml/2006/main">
            <a:off x="609600" y="5362575"/>
            <a:ext cx="5257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For Eliza, I would use that combination to clarify a client task and make the demonstration useful to both business and technical collaborators.</a:t>
            </a:r>
          </a:p>
        </p:txBody>
      </p:sp>
      <p:sp>
        <p:nvSpPr>
          <p:cNvPr id="5" name="status-0">
            <a:extLst xmlns:a="http://schemas.openxmlformats.org/drawingml/2006/main">
              <a:ext uri="{FF2B5EF4-FFF2-40B4-BE49-F238E27FC236}">
                <a16:creationId xmlns:a16="http://schemas.microsoft.com/office/drawing/2014/main" id="{8E7AC010-8F3E-445D-A608-C9C6C68C21FA}"/>
              </a:ext>
            </a:extLst>
          </p:cNvPr>
          <p:cNvSpPr>
            <a:spLocks xmlns:a="http://schemas.openxmlformats.org/drawingml/2006/main" noGrp="1"/>
          </p:cNvSpPr>
          <p:nvPr/>
        </p:nvSpPr>
        <p:spPr>
          <a:xfrm xmlns:a="http://schemas.openxmlformats.org/drawingml/2006/main">
            <a:off x="6800850" y="14859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Oak AI · 2023–2025</a:t>
            </a:r>
          </a:p>
        </p:txBody>
      </p:sp>
      <p:sp>
        <p:nvSpPr>
          <p:cNvPr id="6" name="status-description-0">
            <a:extLst xmlns:a="http://schemas.openxmlformats.org/drawingml/2006/main">
              <a:ext uri="{FF2B5EF4-FFF2-40B4-BE49-F238E27FC236}">
                <a16:creationId xmlns:a16="http://schemas.microsoft.com/office/drawing/2014/main" id="{574C3C68-3F4E-415E-BEEE-840B3E67365F}"/>
              </a:ext>
            </a:extLst>
          </p:cNvPr>
          <p:cNvSpPr>
            <a:spLocks xmlns:a="http://schemas.openxmlformats.org/drawingml/2006/main" noGrp="1"/>
          </p:cNvSpPr>
          <p:nvPr/>
        </p:nvSpPr>
        <p:spPr>
          <a:xfrm xmlns:a="http://schemas.openxmlformats.org/drawingml/2006/main">
            <a:off x="6800850" y="19145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Research findings and design recommendations</a:t>
            </a:r>
          </a:p>
        </p:txBody>
      </p:sp>
      <p:sp>
        <p:nvSpPr>
          <p:cNvPr id="7" name="status-1">
            <a:extLst xmlns:a="http://schemas.openxmlformats.org/drawingml/2006/main">
              <a:ext uri="{FF2B5EF4-FFF2-40B4-BE49-F238E27FC236}">
                <a16:creationId xmlns:a16="http://schemas.microsoft.com/office/drawing/2014/main" id="{61076A83-A703-4CBB-8F2F-1F8DB6DD32E7}"/>
              </a:ext>
            </a:extLst>
          </p:cNvPr>
          <p:cNvSpPr>
            <a:spLocks xmlns:a="http://schemas.openxmlformats.org/drawingml/2006/main" noGrp="1"/>
          </p:cNvSpPr>
          <p:nvPr/>
        </p:nvSpPr>
        <p:spPr>
          <a:xfrm xmlns:a="http://schemas.openxmlformats.org/drawingml/2006/main">
            <a:off x="6800850" y="27051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FactorLab Flint · 2026</a:t>
            </a:r>
          </a:p>
        </p:txBody>
      </p:sp>
      <p:sp>
        <p:nvSpPr>
          <p:cNvPr id="8" name="status-description-1">
            <a:extLst xmlns:a="http://schemas.openxmlformats.org/drawingml/2006/main">
              <a:ext uri="{FF2B5EF4-FFF2-40B4-BE49-F238E27FC236}">
                <a16:creationId xmlns:a16="http://schemas.microsoft.com/office/drawing/2014/main" id="{7E07D8F4-7096-466F-AE1D-0B32C856649F}"/>
              </a:ext>
            </a:extLst>
          </p:cNvPr>
          <p:cNvSpPr>
            <a:spLocks xmlns:a="http://schemas.openxmlformats.org/drawingml/2006/main" noGrp="1"/>
          </p:cNvSpPr>
          <p:nvPr/>
        </p:nvSpPr>
        <p:spPr>
          <a:xfrm xmlns:a="http://schemas.openxmlformats.org/drawingml/2006/main">
            <a:off x="6800850" y="31337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Failure conditions and recovery actions</a:t>
            </a:r>
          </a:p>
        </p:txBody>
      </p:sp>
      <p:sp>
        <p:nvSpPr>
          <p:cNvPr id="9" name="status-2">
            <a:extLst xmlns:a="http://schemas.openxmlformats.org/drawingml/2006/main">
              <a:ext uri="{FF2B5EF4-FFF2-40B4-BE49-F238E27FC236}">
                <a16:creationId xmlns:a16="http://schemas.microsoft.com/office/drawing/2014/main" id="{2A2AD947-1035-4270-8392-AC554E848A5F}"/>
              </a:ext>
            </a:extLst>
          </p:cNvPr>
          <p:cNvSpPr>
            <a:spLocks xmlns:a="http://schemas.openxmlformats.org/drawingml/2006/main" noGrp="1"/>
          </p:cNvSpPr>
          <p:nvPr/>
        </p:nvSpPr>
        <p:spPr>
          <a:xfrm xmlns:a="http://schemas.openxmlformats.org/drawingml/2006/main">
            <a:off x="6800850" y="39243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Coursera · 2024</a:t>
            </a:r>
          </a:p>
        </p:txBody>
      </p:sp>
      <p:sp>
        <p:nvSpPr>
          <p:cNvPr id="10" name="status-description-2">
            <a:extLst xmlns:a="http://schemas.openxmlformats.org/drawingml/2006/main">
              <a:ext uri="{FF2B5EF4-FFF2-40B4-BE49-F238E27FC236}">
                <a16:creationId xmlns:a16="http://schemas.microsoft.com/office/drawing/2014/main" id="{D7507B72-7227-4BB2-BDF8-97A96D5D3795}"/>
              </a:ext>
            </a:extLst>
          </p:cNvPr>
          <p:cNvSpPr>
            <a:spLocks xmlns:a="http://schemas.openxmlformats.org/drawingml/2006/main" noGrp="1"/>
          </p:cNvSpPr>
          <p:nvPr/>
        </p:nvSpPr>
        <p:spPr>
          <a:xfrm xmlns:a="http://schemas.openxmlformats.org/drawingml/2006/main">
            <a:off x="6800850" y="43529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Guided practice and assessment revision</a:t>
            </a:r>
          </a:p>
        </p:txBody>
      </p:sp>
      <p:sp>
        <p:nvSpPr>
          <p:cNvPr id="11" name="status-3">
            <a:extLst xmlns:a="http://schemas.openxmlformats.org/drawingml/2006/main">
              <a:ext uri="{FF2B5EF4-FFF2-40B4-BE49-F238E27FC236}">
                <a16:creationId xmlns:a16="http://schemas.microsoft.com/office/drawing/2014/main" id="{C96EEF59-0FAB-4B16-AB2D-00663FF58527}"/>
              </a:ext>
            </a:extLst>
          </p:cNvPr>
          <p:cNvSpPr>
            <a:spLocks xmlns:a="http://schemas.openxmlformats.org/drawingml/2006/main" noGrp="1"/>
          </p:cNvSpPr>
          <p:nvPr/>
        </p:nvSpPr>
        <p:spPr>
          <a:xfrm xmlns:a="http://schemas.openxmlformats.org/drawingml/2006/main">
            <a:off x="6800850" y="5143500"/>
            <a:ext cx="461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Prompt Compass · 2026</a:t>
            </a:r>
          </a:p>
        </p:txBody>
      </p:sp>
      <p:sp>
        <p:nvSpPr>
          <p:cNvPr id="12" name="status-description-3">
            <a:extLst xmlns:a="http://schemas.openxmlformats.org/drawingml/2006/main">
              <a:ext uri="{FF2B5EF4-FFF2-40B4-BE49-F238E27FC236}">
                <a16:creationId xmlns:a16="http://schemas.microsoft.com/office/drawing/2014/main" id="{C75C41B2-E217-4560-A978-6DEE08717143}"/>
              </a:ext>
            </a:extLst>
          </p:cNvPr>
          <p:cNvSpPr>
            <a:spLocks xmlns:a="http://schemas.openxmlformats.org/drawingml/2006/main" noGrp="1"/>
          </p:cNvSpPr>
          <p:nvPr/>
        </p:nvSpPr>
        <p:spPr>
          <a:xfrm xmlns:a="http://schemas.openxmlformats.org/drawingml/2006/main">
            <a:off x="6800850" y="5572125"/>
            <a:ext cx="4610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Explicit requirements and local checks</a:t>
            </a:r>
          </a:p>
        </p:txBody>
      </p:sp>
      <p:sp>
        <p:nvSpPr>
          <p:cNvPr id="13" name="slide-number">
            <a:extLst xmlns:a="http://schemas.openxmlformats.org/drawingml/2006/main">
              <a:ext uri="{FF2B5EF4-FFF2-40B4-BE49-F238E27FC236}">
                <a16:creationId xmlns:a16="http://schemas.microsoft.com/office/drawing/2014/main" id="{FFD361EB-576A-4F49-8A52-260F318B2B8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1955059668"/>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ADD039F2-4A8F-4540-8FBB-62EED07D4578}"/>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CONTRIBUTION   /   ELIZA CLIENT WORKSHOPS</a:t>
            </a:r>
          </a:p>
        </p:txBody>
      </p:sp>
      <p:sp>
        <p:nvSpPr>
          <p:cNvPr id="2" name="headline">
            <a:extLst xmlns:a="http://schemas.openxmlformats.org/drawingml/2006/main">
              <a:ext uri="{FF2B5EF4-FFF2-40B4-BE49-F238E27FC236}">
                <a16:creationId xmlns:a16="http://schemas.microsoft.com/office/drawing/2014/main" id="{39950D5B-BE97-4825-8474-D7B85B4FC67E}"/>
              </a:ext>
            </a:extLst>
          </p:cNvPr>
          <p:cNvSpPr>
            <a:spLocks xmlns:a="http://schemas.openxmlformats.org/drawingml/2006/main" noGrp="1"/>
          </p:cNvSpPr>
          <p:nvPr/>
        </p:nvSpPr>
        <p:spPr>
          <a:xfrm xmlns:a="http://schemas.openxmlformats.org/drawingml/2006/main">
            <a:off x="609600" y="1076325"/>
            <a:ext cx="108585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225" b="1">
                <a:solidFill>
                  <a:srgbClr val="192B25"/>
                </a:solidFill>
                <a:latin typeface="Helvetica Neue"/>
                <a:ea typeface="Helvetica Neue"/>
                <a:cs typeface="Helvetica Neue"/>
              </a:defRPr>
            </a:pPr>
            <a:r>
              <a:rPr sz="3225" b="1">
                <a:solidFill>
                  <a:srgbClr val="192B25"/>
                </a:solidFill>
                <a:latin typeface="Helvetica Neue"/>
                <a:ea typeface="Helvetica Neue"/>
                <a:cs typeface="Helvetica Neue"/>
              </a:rPr>
              <a:t>Start with a task the client recognizes</a:t>
            </a:r>
          </a:p>
        </p:txBody>
      </p:sp>
      <p:sp>
        <p:nvSpPr>
          <p:cNvPr id="3" name="observe-heading">
            <a:extLst xmlns:a="http://schemas.openxmlformats.org/drawingml/2006/main">
              <a:ext uri="{FF2B5EF4-FFF2-40B4-BE49-F238E27FC236}">
                <a16:creationId xmlns:a16="http://schemas.microsoft.com/office/drawing/2014/main" id="{48D21003-8BCF-4940-A1C4-C40FC84C50B2}"/>
              </a:ext>
            </a:extLst>
          </p:cNvPr>
          <p:cNvSpPr>
            <a:spLocks xmlns:a="http://schemas.openxmlformats.org/drawingml/2006/main" noGrp="1"/>
          </p:cNvSpPr>
          <p:nvPr/>
        </p:nvSpPr>
        <p:spPr>
          <a:xfrm xmlns:a="http://schemas.openxmlformats.org/drawingml/2006/main">
            <a:off x="609600" y="29146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Understand the client’s task</a:t>
            </a:r>
          </a:p>
        </p:txBody>
      </p:sp>
      <p:sp>
        <p:nvSpPr>
          <p:cNvPr id="4" name="observe-body">
            <a:extLst xmlns:a="http://schemas.openxmlformats.org/drawingml/2006/main">
              <a:ext uri="{FF2B5EF4-FFF2-40B4-BE49-F238E27FC236}">
                <a16:creationId xmlns:a16="http://schemas.microsoft.com/office/drawing/2014/main" id="{3D4D16EF-F957-4171-87CC-189BA4D0487D}"/>
              </a:ext>
            </a:extLst>
          </p:cNvPr>
          <p:cNvSpPr>
            <a:spLocks xmlns:a="http://schemas.openxmlformats.org/drawingml/2006/main" noGrp="1"/>
          </p:cNvSpPr>
          <p:nvPr/>
        </p:nvSpPr>
        <p:spPr>
          <a:xfrm xmlns:a="http://schemas.openxmlformats.org/drawingml/2006/main">
            <a:off x="609600" y="3457575"/>
            <a:ext cx="5143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Trace the current task with its owner.</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Name the input, output and decision.</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Check which constraints the example must keep.</a:t>
            </a:r>
          </a:p>
        </p:txBody>
      </p:sp>
      <p:sp>
        <p:nvSpPr>
          <p:cNvPr id="5" name="diagnose-heading">
            <a:extLst xmlns:a="http://schemas.openxmlformats.org/drawingml/2006/main">
              <a:ext uri="{FF2B5EF4-FFF2-40B4-BE49-F238E27FC236}">
                <a16:creationId xmlns:a16="http://schemas.microsoft.com/office/drawing/2014/main" id="{7C582715-2690-4869-99C8-1B8DE5B27D67}"/>
              </a:ext>
            </a:extLst>
          </p:cNvPr>
          <p:cNvSpPr>
            <a:spLocks xmlns:a="http://schemas.openxmlformats.org/drawingml/2006/main" noGrp="1"/>
          </p:cNvSpPr>
          <p:nvPr/>
        </p:nvSpPr>
        <p:spPr>
          <a:xfrm xmlns:a="http://schemas.openxmlformats.org/drawingml/2006/main">
            <a:off x="6705600" y="29146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Build a bounded demonstration</a:t>
            </a:r>
          </a:p>
        </p:txBody>
      </p:sp>
      <p:sp>
        <p:nvSpPr>
          <p:cNvPr id="6" name="diagnose-body">
            <a:extLst xmlns:a="http://schemas.openxmlformats.org/drawingml/2006/main">
              <a:ext uri="{FF2B5EF4-FFF2-40B4-BE49-F238E27FC236}">
                <a16:creationId xmlns:a16="http://schemas.microsoft.com/office/drawing/2014/main" id="{D47C543E-A7CC-4E7B-B629-82AF54119220}"/>
              </a:ext>
            </a:extLst>
          </p:cNvPr>
          <p:cNvSpPr>
            <a:spLocks xmlns:a="http://schemas.openxmlformats.org/drawingml/2006/main" noGrp="1"/>
          </p:cNvSpPr>
          <p:nvPr/>
        </p:nvSpPr>
        <p:spPr>
          <a:xfrm xmlns:a="http://schemas.openxmlformats.org/drawingml/2006/main">
            <a:off x="6705600" y="3457575"/>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Choose one useful slice with the delivery team.</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Show what works and where it fails.</a:t>
            </a:r>
          </a:p>
          <a:p xmlns:a="http://schemas.openxmlformats.org/drawingml/2006/main">
            <a:pPr>
              <a:lnSpc>
                <a:spcPct val="110000"/>
              </a:lnSpc>
              <a:buNone/>
              <a:defRPr sz="1725" b="0">
                <a:solidFill>
                  <a:srgbClr val="192B25"/>
                </a:solidFill>
                <a:latin typeface="Helvetica Neue"/>
                <a:ea typeface="Helvetica Neue"/>
                <a:cs typeface="Helvetica Neue"/>
              </a:defRPr>
            </a:pPr>
            <a:r>
              <a:rPr sz="1725" b="0">
                <a:solidFill>
                  <a:srgbClr val="192B25"/>
                </a:solidFill>
                <a:latin typeface="Helvetica Neue"/>
                <a:ea typeface="Helvetica Neue"/>
                <a:cs typeface="Helvetica Neue"/>
              </a:rPr>
              <a:t>Keep assumptions visible during discussion.</a:t>
            </a:r>
          </a:p>
        </p:txBody>
      </p:sp>
      <p:sp>
        <p:nvSpPr>
          <p:cNvPr id="7" name="build-heading">
            <a:extLst xmlns:a="http://schemas.openxmlformats.org/drawingml/2006/main">
              <a:ext uri="{FF2B5EF4-FFF2-40B4-BE49-F238E27FC236}">
                <a16:creationId xmlns:a16="http://schemas.microsoft.com/office/drawing/2014/main" id="{5B3F7703-DB2C-4C4E-B5E0-BD2366D29C3F}"/>
              </a:ext>
            </a:extLst>
          </p:cNvPr>
          <p:cNvSpPr>
            <a:spLocks xmlns:a="http://schemas.openxmlformats.org/drawingml/2006/main" noGrp="1"/>
          </p:cNvSpPr>
          <p:nvPr/>
        </p:nvSpPr>
        <p:spPr>
          <a:xfrm xmlns:a="http://schemas.openxmlformats.org/drawingml/2006/main">
            <a:off x="609600" y="4857750"/>
            <a:ext cx="5191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Turn observation into practice</a:t>
            </a:r>
          </a:p>
        </p:txBody>
      </p:sp>
      <p:sp>
        <p:nvSpPr>
          <p:cNvPr id="8" name="build-body">
            <a:extLst xmlns:a="http://schemas.openxmlformats.org/drawingml/2006/main">
              <a:ext uri="{FF2B5EF4-FFF2-40B4-BE49-F238E27FC236}">
                <a16:creationId xmlns:a16="http://schemas.microsoft.com/office/drawing/2014/main" id="{7151CF5C-325C-4444-82B0-3585AA79E85A}"/>
              </a:ext>
            </a:extLst>
          </p:cNvPr>
          <p:cNvSpPr>
            <a:spLocks xmlns:a="http://schemas.openxmlformats.org/drawingml/2006/main" noGrp="1"/>
          </p:cNvSpPr>
          <p:nvPr/>
        </p:nvSpPr>
        <p:spPr>
          <a:xfrm xmlns:a="http://schemas.openxmlformats.org/drawingml/2006/main">
            <a:off x="609600" y="5410200"/>
            <a:ext cx="5191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Let participants try a changed input.</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Ask how they would judge the result.</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Record confusion, missing context and errors.</a:t>
            </a:r>
          </a:p>
        </p:txBody>
      </p:sp>
      <p:sp>
        <p:nvSpPr>
          <p:cNvPr id="9" name="test-heading">
            <a:extLst xmlns:a="http://schemas.openxmlformats.org/drawingml/2006/main">
              <a:ext uri="{FF2B5EF4-FFF2-40B4-BE49-F238E27FC236}">
                <a16:creationId xmlns:a16="http://schemas.microsoft.com/office/drawing/2014/main" id="{CAC119B6-40FF-4FEE-AC3B-6FDF91154DE7}"/>
              </a:ext>
            </a:extLst>
          </p:cNvPr>
          <p:cNvSpPr>
            <a:spLocks xmlns:a="http://schemas.openxmlformats.org/drawingml/2006/main" noGrp="1"/>
          </p:cNvSpPr>
          <p:nvPr/>
        </p:nvSpPr>
        <p:spPr>
          <a:xfrm xmlns:a="http://schemas.openxmlformats.org/drawingml/2006/main">
            <a:off x="6705600" y="485775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1">
                <a:solidFill>
                  <a:srgbClr val="244D3C"/>
                </a:solidFill>
                <a:latin typeface="Helvetica Neue"/>
                <a:ea typeface="Helvetica Neue"/>
                <a:cs typeface="Helvetica Neue"/>
              </a:defRPr>
            </a:pPr>
            <a:r>
              <a:rPr sz="1875" b="1">
                <a:solidFill>
                  <a:srgbClr val="244D3C"/>
                </a:solidFill>
                <a:latin typeface="Helvetica Neue"/>
                <a:ea typeface="Helvetica Neue"/>
                <a:cs typeface="Helvetica Neue"/>
              </a:rPr>
              <a:t>Prepare the next handoff</a:t>
            </a:r>
          </a:p>
        </p:txBody>
      </p:sp>
      <p:sp>
        <p:nvSpPr>
          <p:cNvPr id="10" name="test-body">
            <a:extLst xmlns:a="http://schemas.openxmlformats.org/drawingml/2006/main">
              <a:ext uri="{FF2B5EF4-FFF2-40B4-BE49-F238E27FC236}">
                <a16:creationId xmlns:a16="http://schemas.microsoft.com/office/drawing/2014/main" id="{A3A2CC0A-F3F6-4CDE-A4CF-5968514C3795}"/>
              </a:ext>
            </a:extLst>
          </p:cNvPr>
          <p:cNvSpPr>
            <a:spLocks xmlns:a="http://schemas.openxmlformats.org/drawingml/2006/main" noGrp="1"/>
          </p:cNvSpPr>
          <p:nvPr/>
        </p:nvSpPr>
        <p:spPr>
          <a:xfrm xmlns:a="http://schemas.openxmlformats.org/drawingml/2006/main">
            <a:off x="6705600" y="5410200"/>
            <a:ext cx="4857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Document setup, limits and review needs.</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Keep the example and practice material together.</a:t>
            </a:r>
          </a:p>
          <a:p xmlns:a="http://schemas.openxmlformats.org/drawingml/2006/main">
            <a:pPr>
              <a:lnSpc>
                <a:spcPct val="110000"/>
              </a:lnSpc>
              <a:buNone/>
              <a:defRPr sz="1650" b="0">
                <a:solidFill>
                  <a:srgbClr val="192B25"/>
                </a:solidFill>
                <a:latin typeface="Helvetica Neue"/>
                <a:ea typeface="Helvetica Neue"/>
                <a:cs typeface="Helvetica Neue"/>
              </a:defRPr>
            </a:pPr>
            <a:r>
              <a:rPr sz="1650" b="0">
                <a:solidFill>
                  <a:srgbClr val="192B25"/>
                </a:solidFill>
                <a:latin typeface="Helvetica Neue"/>
                <a:ea typeface="Helvetica Neue"/>
                <a:cs typeface="Helvetica Neue"/>
              </a:rPr>
              <a:t>Confirm what needs engineering work next.</a:t>
            </a:r>
          </a:p>
        </p:txBody>
      </p:sp>
      <p:sp>
        <p:nvSpPr>
          <p:cNvPr id="11" name="slide-number">
            <a:extLst xmlns:a="http://schemas.openxmlformats.org/drawingml/2006/main">
              <a:ext uri="{FF2B5EF4-FFF2-40B4-BE49-F238E27FC236}">
                <a16:creationId xmlns:a16="http://schemas.microsoft.com/office/drawing/2014/main" id="{79A0607D-14D7-44DF-9925-E151B726DCEB}"/>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1982782290"/>
      </p:ext>
    </p:extLst>
  </p:cSld>
</p:sld>
</file>

<file path=ppt/slides/slide10.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0F94B755-0CF6-4416-855C-19BA1988D44A}"/>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Eliza · PARTNER AI DEPLOYMENT ENGINEER</a:t>
            </a:r>
          </a:p>
        </p:txBody>
      </p:sp>
      <p:sp>
        <p:nvSpPr>
          <p:cNvPr id="2" name="headline">
            <a:extLst xmlns:a="http://schemas.openxmlformats.org/drawingml/2006/main">
              <a:ext uri="{FF2B5EF4-FFF2-40B4-BE49-F238E27FC236}">
                <a16:creationId xmlns:a16="http://schemas.microsoft.com/office/drawing/2014/main" id="{48D0972F-9A8B-4218-BFE2-CCDE0FFED46A}"/>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Let’s make the</a:t>
            </a:r>
          </a:p>
          <a:p xmlns:a="http://schemas.openxmlformats.org/drawingml/2006/main">
            <a:pPr>
              <a:lnSpc>
                <a:spcPct val="110000"/>
              </a:lnSpc>
              <a:buNone/>
              <a:defRPr sz="4275" b="1">
                <a:solidFill>
                  <a:srgbClr val="F4F2E9"/>
                </a:solidFill>
                <a:latin typeface="Helvetica Neue"/>
                <a:ea typeface="Helvetica Neue"/>
                <a:cs typeface="Helvetica Neue"/>
              </a:defRPr>
            </a:pPr>
            <a:r>
              <a:rPr sz="4275" b="1">
                <a:solidFill>
                  <a:srgbClr val="F4F2E9"/>
                </a:solidFill>
                <a:latin typeface="Helvetica Neue"/>
                <a:ea typeface="Helvetica Neue"/>
                <a:cs typeface="Helvetica Neue"/>
              </a:rPr>
              <a:t>next idea testable</a:t>
            </a:r>
          </a:p>
        </p:txBody>
      </p:sp>
      <p:sp>
        <p:nvSpPr>
          <p:cNvPr id="3" name="contact-intent">
            <a:extLst xmlns:a="http://schemas.openxmlformats.org/drawingml/2006/main">
              <a:ext uri="{FF2B5EF4-FFF2-40B4-BE49-F238E27FC236}">
                <a16:creationId xmlns:a16="http://schemas.microsoft.com/office/drawing/2014/main" id="{3D510B8F-F26F-4812-952A-AADF68056023}"/>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a:t>
            </a:r>
          </a:p>
        </p:txBody>
      </p:sp>
      <p:sp>
        <p:nvSpPr>
          <p:cNvPr id="4" name="email">
            <a:extLst xmlns:a="http://schemas.openxmlformats.org/drawingml/2006/main">
              <a:ext uri="{FF2B5EF4-FFF2-40B4-BE49-F238E27FC236}">
                <a16:creationId xmlns:a16="http://schemas.microsoft.com/office/drawing/2014/main" id="{73840A4F-93B6-4561-BECA-FEED95E59F61}"/>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8ac78baceac54b37"/>
              </a:rPr>
              <a:t>JonathanKyleHobson@gmail.com</a:t>
            </a:r>
          </a:p>
        </p:txBody>
      </p:sp>
      <p:sp>
        <p:nvSpPr>
          <p:cNvPr id="5" name="portfolio">
            <a:extLst xmlns:a="http://schemas.openxmlformats.org/drawingml/2006/main">
              <a:ext uri="{FF2B5EF4-FFF2-40B4-BE49-F238E27FC236}">
                <a16:creationId xmlns:a16="http://schemas.microsoft.com/office/drawing/2014/main" id="{ED4F31EC-DB01-459A-9CA3-1F7D6D261FC7}"/>
              </a:ext>
            </a:extLst>
          </p:cNvPr>
          <p:cNvSpPr>
            <a:spLocks xmlns:a="http://schemas.openxmlformats.org/drawingml/2006/main" noGrp="1"/>
          </p:cNvSpPr>
          <p:nvPr/>
        </p:nvSpPr>
        <p:spPr>
          <a:xfrm xmlns:a="http://schemas.openxmlformats.org/drawingml/2006/main">
            <a:off x="647700" y="5705475"/>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u="sng">
                <a:solidFill>
                  <a:srgbClr val="DBEB89"/>
                </a:solidFill>
                <a:latin typeface="Helvetica Neue"/>
                <a:ea typeface="Helvetica Neue"/>
                <a:cs typeface="Helvetica Neue"/>
              </a:defRPr>
            </a:pPr>
            <a:r>
              <a:rPr sz="1275" b="0" u="sng">
                <a:solidFill>
                  <a:srgbClr val="DBEB89"/>
                </a:solidFill>
                <a:latin typeface="Helvetica Neue"/>
                <a:ea typeface="Helvetica Neue"/>
                <a:cs typeface="Helvetica Neue"/>
                <a:hlinkClick xmlns:r="http://schemas.openxmlformats.org/officeDocument/2006/relationships" r:id="R868ca00a38114d88"/>
              </a:rPr>
              <a:t>jonathankhobson.github.io/application-portfolios/eliza-ai-deployment</a:t>
            </a:r>
          </a:p>
        </p:txBody>
      </p:sp>
      <p:sp>
        <p:nvSpPr>
          <p:cNvPr id="6" name="slide-number">
            <a:extLst xmlns:a="http://schemas.openxmlformats.org/drawingml/2006/main">
              <a:ext uri="{FF2B5EF4-FFF2-40B4-BE49-F238E27FC236}">
                <a16:creationId xmlns:a16="http://schemas.microsoft.com/office/drawing/2014/main" id="{03154645-98F0-4D62-9D7C-1B6AAD0503B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10</a:t>
            </a:r>
          </a:p>
        </p:txBody>
      </p:sp>
    </p:spTree>
    <p:extLst>
      <p:ext uri="{BB962C8B-B14F-4D97-AF65-F5344CB8AC3E}">
        <p14:creationId xmlns:p14="http://schemas.microsoft.com/office/powerpoint/2010/main" val="205761565"/>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2026-09-09T06:44:09.1310000Z</dcterms:created>
  <dcterms:modified xsi:type="dcterms:W3CDTF">2026-09-09T06:44:09.1320000Z</dcterms:modified>
</coreProperties>
</file>