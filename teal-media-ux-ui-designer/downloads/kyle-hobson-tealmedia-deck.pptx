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b6b4db07414fea" /><Relationship Type="http://schemas.openxmlformats.org/officeDocument/2006/relationships/extended-properties" Target="/docProps/app.xml" Id="Rcb7ba264a6f34ed9" /><Relationship Type="http://schemas.openxmlformats.org/officeDocument/2006/relationships/officeDocument" Target="/ppt/presentation.xml" Id="R0f1448fb850a4739" /></Relationships>
</file>

<file path=ppt/presentation.xml><?xml version="1.0" encoding="utf-8"?>
<p:presentation xmlns:p="http://schemas.openxmlformats.org/presentationml/2006/main">
  <p:sldMasterIdLst>
    <p:sldMasterId xmlns:r="http://schemas.openxmlformats.org/officeDocument/2006/relationships" id="2147483648" r:id="Rcb23472fcf964aff"/>
  </p:sldMasterIdLst>
  <p:notesMasterIdLst>
    <p:notesMasterId xmlns:r="http://schemas.openxmlformats.org/officeDocument/2006/relationships" r:id="R404232b7ad03474a"/>
  </p:notesMasterIdLst>
  <p:sldIdLst>
    <p:sldId xmlns:r="http://schemas.openxmlformats.org/officeDocument/2006/relationships" id="256" r:id="Rb9f584c5a2764387"/>
    <p:sldId xmlns:r="http://schemas.openxmlformats.org/officeDocument/2006/relationships" id="257" r:id="Racd8cdb76c894707"/>
    <p:sldId xmlns:r="http://schemas.openxmlformats.org/officeDocument/2006/relationships" id="258" r:id="R28f79dcf31234fd9"/>
    <p:sldId xmlns:r="http://schemas.openxmlformats.org/officeDocument/2006/relationships" id="259" r:id="R513c25b6df104fab"/>
    <p:sldId xmlns:r="http://schemas.openxmlformats.org/officeDocument/2006/relationships" id="260" r:id="R16209e60ebbb4249"/>
    <p:sldId xmlns:r="http://schemas.openxmlformats.org/officeDocument/2006/relationships" id="261" r:id="R8fcebc18b18c40aa"/>
    <p:sldId xmlns:r="http://schemas.openxmlformats.org/officeDocument/2006/relationships" id="262" r:id="R463f18cfa647401b"/>
    <p:sldId xmlns:r="http://schemas.openxmlformats.org/officeDocument/2006/relationships" id="263" r:id="R1588c96de9ed4e60"/>
    <p:sldId xmlns:r="http://schemas.openxmlformats.org/officeDocument/2006/relationships" id="264" r:id="Re87070dc76dc4f07"/>
    <p:sldId xmlns:r="http://schemas.openxmlformats.org/officeDocument/2006/relationships" id="265" r:id="R89c3b127162e4a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aef2375248438d" /><Relationship Type="http://schemas.openxmlformats.org/officeDocument/2006/relationships/slideMaster" Target="/ppt/slideMasters/slideMaster1.xml" Id="Rcb23472fcf964aff" /><Relationship Type="http://schemas.openxmlformats.org/officeDocument/2006/relationships/notesMaster" Target="/ppt/notesMasters/notesMaster1.xml" Id="R404232b7ad03474a" /><Relationship Type="http://schemas.openxmlformats.org/officeDocument/2006/relationships/presProps" Target="/ppt/presProps.xml" Id="Rd7e395a45c9d45c2" /><Relationship Type="http://schemas.openxmlformats.org/officeDocument/2006/relationships/tableStyles" Target="/ppt/tableStyles.xml" Id="Rfe650966f78341e5" /><Relationship Type="http://schemas.openxmlformats.org/officeDocument/2006/relationships/slide" Target="/ppt/slides/slide1.xml" Id="Rb9f584c5a2764387" /><Relationship Type="http://schemas.openxmlformats.org/officeDocument/2006/relationships/slide" Target="/ppt/slides/slide2.xml" Id="Racd8cdb76c894707" /><Relationship Type="http://schemas.openxmlformats.org/officeDocument/2006/relationships/slide" Target="/ppt/slides/slide3.xml" Id="R28f79dcf31234fd9" /><Relationship Type="http://schemas.openxmlformats.org/officeDocument/2006/relationships/slide" Target="/ppt/slides/slide4.xml" Id="R513c25b6df104fab" /><Relationship Type="http://schemas.openxmlformats.org/officeDocument/2006/relationships/slide" Target="/ppt/slides/slide5.xml" Id="R16209e60ebbb4249" /><Relationship Type="http://schemas.openxmlformats.org/officeDocument/2006/relationships/slide" Target="/ppt/slides/slide6.xml" Id="R8fcebc18b18c40aa" /><Relationship Type="http://schemas.openxmlformats.org/officeDocument/2006/relationships/slide" Target="/ppt/slides/slide7.xml" Id="R463f18cfa647401b" /><Relationship Type="http://schemas.openxmlformats.org/officeDocument/2006/relationships/slide" Target="/ppt/slides/slide8.xml" Id="R1588c96de9ed4e60" /><Relationship Type="http://schemas.openxmlformats.org/officeDocument/2006/relationships/slide" Target="/ppt/slides/slide9.xml" Id="Re87070dc76dc4f07" /><Relationship Type="http://schemas.openxmlformats.org/officeDocument/2006/relationships/slide" Target="/ppt/slides/slide10.xml" Id="R89c3b127162e4a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03cd1c92ee4f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97bbcee0bf4d02" /><Relationship Type="http://schemas.openxmlformats.org/officeDocument/2006/relationships/notesMaster" Target="/ppt/notesMasters/notesMaster1.xml" Id="R39e22dc7635447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2208a4ae2a46d2" /><Relationship Type="http://schemas.openxmlformats.org/officeDocument/2006/relationships/notesMaster" Target="/ppt/notesMasters/notesMaster1.xml" Id="Re76b3e0625604c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c0a38466b747a1" /><Relationship Type="http://schemas.openxmlformats.org/officeDocument/2006/relationships/notesMaster" Target="/ppt/notesMasters/notesMaster1.xml" Id="R09dfbda7bbed4d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d2d45d1fb84689" /><Relationship Type="http://schemas.openxmlformats.org/officeDocument/2006/relationships/notesMaster" Target="/ppt/notesMasters/notesMaster1.xml" Id="R612f272d227e45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038c944afa4955" /><Relationship Type="http://schemas.openxmlformats.org/officeDocument/2006/relationships/notesMaster" Target="/ppt/notesMasters/notesMaster1.xml" Id="R66e74eb3b49e4d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d1c9ed8e7144f8" /><Relationship Type="http://schemas.openxmlformats.org/officeDocument/2006/relationships/notesMaster" Target="/ppt/notesMasters/notesMaster1.xml" Id="R72794647d39d4a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4bca039cab4c08" /><Relationship Type="http://schemas.openxmlformats.org/officeDocument/2006/relationships/notesMaster" Target="/ppt/notesMasters/notesMaster1.xml" Id="R246a9dee116741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5ced0dc5dc48f0" /><Relationship Type="http://schemas.openxmlformats.org/officeDocument/2006/relationships/notesMaster" Target="/ppt/notesMasters/notesMaster1.xml" Id="Re93583bc0c2f40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313f213ec249e2" /><Relationship Type="http://schemas.openxmlformats.org/officeDocument/2006/relationships/notesMaster" Target="/ppt/notesMasters/notesMaster1.xml" Id="R3dda865348044b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484dc7d9594f67" /><Relationship Type="http://schemas.openxmlformats.org/officeDocument/2006/relationships/notesMaster" Target="/ppt/notesMasters/notesMaster1.xml" Id="R4250928813c242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Teal Media Senior UX/UI Designer: Contractor Job Ad, https://job-boards.greenhouse.io/tealmedia/jobs/4271842009, reviewed September 8, 2026. All work examples are Kyle’s reviewed prior artifacts. Teal Media is a prospective employer, not a former client. Decorative cover from the canonical portfolio.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canonical Oak case, original November 22, 2023 evaluation, December contribution log and original screenshot with identity area omitted. Kyle developed two concise sitemap alternatives and contributed to shared header/footer refinement. Card sorting and comparative sitemap testing were future proposals; a validated winning sitemap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canonical design.json.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About Me original Figma design and April–May 2026 walkthroughs, canonical design.json. Kyle developed page directions, content families and visual alternatives. Product lead and engineering clarified data availability, existing capabilities and routes into detail. Team release of web/server changes is confirmed September 2, 2026; the exact pictured layout is unverified. The crop preserves original source pixels.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comparison exploration and May 15, 2026 walkthrough. Displayed chart contains sample values, not measured project outcomes. Neutral framing was Kyle’s design position; adoption as final product policy and user interpretation are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suggested-question state and project walkthroughs in canonical design.json. Selecting a suggestion was intended to populate the input for review or editing. Design variant and engineering handoff; release of each variant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for discussion based on Teal’s current role description, https://tealmedia.com/career/senior-ux-ui-designer/ . Not a prior Teal engagement or implemented CMS model. Kyle has user-confirmed CMS-driven experience, but specific WordPress custom-field/post-type implementation expertise is unverified. Teal’s exact practices and stack would be learned with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tailored portfolio contains selected case studies and all six application materials. Teal lists $75–$85/hour, a six-month contract and 30–40 hours/week for U.S. residents. Core-hour overlap and engagement terms remain for discussion; no availability or contract acceptance is made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eaf4c03ed846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b93512eceb4ec2" /><Relationship Type="http://schemas.openxmlformats.org/officeDocument/2006/relationships/slideLayout" Target="/ppt/slideLayouts/slideLayout1.xml" Id="R32b9fb8f808740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b9fb8f808740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4fb0de64504cde" /><Relationship Type="http://schemas.openxmlformats.org/officeDocument/2006/relationships/image" Target="/ppt/media/image.png" Id="R1c3ba7f11cc24e7d" /><Relationship Type="http://schemas.openxmlformats.org/officeDocument/2006/relationships/notesSlide" Target="/ppt/notesSlides/notesSlide1.xml" Id="R41dc6387d84b46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6aef38b1e54ecc" /><Relationship Type="http://schemas.openxmlformats.org/officeDocument/2006/relationships/image" Target="/ppt/media/image2.png" Id="R7b9a4b977ee9412b" /><Relationship Type="http://schemas.openxmlformats.org/officeDocument/2006/relationships/notesSlide" Target="/ppt/notesSlides/notesSlide2.xml" Id="Re43eef45b7e347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f9205425ee4e03" /><Relationship Type="http://schemas.openxmlformats.org/officeDocument/2006/relationships/image" Target="/ppt/media/image3.png" Id="Rb752a6abb6164b1a" /><Relationship Type="http://schemas.openxmlformats.org/officeDocument/2006/relationships/image" Target="/ppt/media/image4.png" Id="Re081c15130a84251" /><Relationship Type="http://schemas.openxmlformats.org/officeDocument/2006/relationships/image" Target="/ppt/media/image5.png" Id="R916c07f697914d22" /><Relationship Type="http://schemas.openxmlformats.org/officeDocument/2006/relationships/notesSlide" Target="/ppt/notesSlides/notesSlide3.xml" Id="R44425461b4344f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db1b9db9904247" /><Relationship Type="http://schemas.openxmlformats.org/officeDocument/2006/relationships/image" Target="/ppt/media/image6.png" Id="Rd56331235dfd4927" /><Relationship Type="http://schemas.openxmlformats.org/officeDocument/2006/relationships/notesSlide" Target="/ppt/notesSlides/notesSlide4.xml" Id="R47124dd27bed43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97ab99c3264e4e" /><Relationship Type="http://schemas.openxmlformats.org/officeDocument/2006/relationships/image" Target="/ppt/media/image7.png" Id="R222eff67dc1a4bdc" /><Relationship Type="http://schemas.openxmlformats.org/officeDocument/2006/relationships/notesSlide" Target="/ppt/notesSlides/notesSlide5.xml" Id="R75cfbd5298664b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ce94344c754410" /><Relationship Type="http://schemas.openxmlformats.org/officeDocument/2006/relationships/image" Target="/ppt/media/image8.png" Id="Rec6885fd6e754bd3" /><Relationship Type="http://schemas.openxmlformats.org/officeDocument/2006/relationships/notesSlide" Target="/ppt/notesSlides/notesSlide6.xml" Id="R1eb98cfbae1041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0b81abc95743f3" /><Relationship Type="http://schemas.openxmlformats.org/officeDocument/2006/relationships/image" Target="/ppt/media/image9.png" Id="Ra9462849edb14bd2" /><Relationship Type="http://schemas.openxmlformats.org/officeDocument/2006/relationships/notesSlide" Target="/ppt/notesSlides/notesSlide7.xml" Id="R36998341d76e46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ab290b50dd4068" /><Relationship Type="http://schemas.openxmlformats.org/officeDocument/2006/relationships/image" Target="/ppt/media/image10.png" Id="Rf127f405b9bb4416" /><Relationship Type="http://schemas.openxmlformats.org/officeDocument/2006/relationships/image" Target="/ppt/media/image11.png" Id="R7eb7258acdcd4ffb" /><Relationship Type="http://schemas.openxmlformats.org/officeDocument/2006/relationships/notesSlide" Target="/ppt/notesSlides/notesSlide8.xml" Id="R2f7fa25cbb264d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f3dafa039c4849" /><Relationship Type="http://schemas.openxmlformats.org/officeDocument/2006/relationships/notesSlide" Target="/ppt/notesSlides/notesSlide9.xml" Id="R2aa7cdc5f47b4c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596c3374c54204" /><Relationship Type="http://schemas.openxmlformats.org/officeDocument/2006/relationships/hyperlink" Target="mailto:JonathanKyleHobson@gmail.com" TargetMode="External" Id="R28959f68aa6c439c" /><Relationship Type="http://schemas.openxmlformats.org/officeDocument/2006/relationships/hyperlink" Target="https://jonathankhobson.github.io/application-portfolios/teal-media-ux-ui-designer/" TargetMode="External" Id="Rf953e2c7aaeb442c" /><Relationship Type="http://schemas.openxmlformats.org/officeDocument/2006/relationships/notesSlide" Target="/ppt/notesSlides/notesSlide10.xml" Id="Rb3d0c57b1f4a4f7b"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c3ba7f11cc24e7d"/>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521F3B1B-67F0-40D0-8492-8FC6A266849A}"/>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TEAL MEDIA · UX/UI DESIGN</a:t>
            </a:r>
          </a:p>
        </p:txBody>
      </p:sp>
      <p:sp>
        <p:nvSpPr>
          <p:cNvPr id="3" name="headline">
            <a:extLst xmlns:a="http://schemas.openxmlformats.org/drawingml/2006/main">
              <a:ext uri="{FF2B5EF4-FFF2-40B4-BE49-F238E27FC236}">
                <a16:creationId xmlns:a16="http://schemas.microsoft.com/office/drawing/2014/main" id="{820DEF8D-E766-4A57-9C23-1EA758B9A585}"/>
              </a:ext>
            </a:extLst>
          </p:cNvPr>
          <p:cNvSpPr>
            <a:spLocks xmlns:a="http://schemas.openxmlformats.org/drawingml/2006/main" noGrp="1"/>
          </p:cNvSpPr>
          <p:nvPr/>
        </p:nvSpPr>
        <p:spPr>
          <a:xfrm xmlns:a="http://schemas.openxmlformats.org/drawingml/2006/main">
            <a:off x="609600" y="15811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650" b="1">
                <a:solidFill>
                  <a:srgbClr val="192B25"/>
                </a:solidFill>
                <a:latin typeface="Helvetica Neue"/>
                <a:ea typeface="Helvetica Neue"/>
                <a:cs typeface="Helvetica Neue"/>
              </a:defRPr>
            </a:pPr>
            <a:r>
              <a:rPr sz="4650" b="1">
                <a:solidFill>
                  <a:srgbClr val="192B25"/>
                </a:solidFill>
                <a:latin typeface="Helvetica Neue"/>
                <a:ea typeface="Helvetica Neue"/>
                <a:cs typeface="Helvetica Neue"/>
              </a:rPr>
              <a:t>Complex information.</a:t>
            </a:r>
          </a:p>
          <a:p xmlns:a="http://schemas.openxmlformats.org/drawingml/2006/main">
            <a:pPr>
              <a:lnSpc>
                <a:spcPct val="110000"/>
              </a:lnSpc>
              <a:buNone/>
              <a:defRPr sz="4650" b="1">
                <a:solidFill>
                  <a:srgbClr val="192B25"/>
                </a:solidFill>
                <a:latin typeface="Helvetica Neue"/>
                <a:ea typeface="Helvetica Neue"/>
                <a:cs typeface="Helvetica Neue"/>
              </a:defRPr>
            </a:pPr>
            <a:r>
              <a:rPr sz="4650" b="1">
                <a:solidFill>
                  <a:srgbClr val="192B25"/>
                </a:solidFill>
                <a:latin typeface="Helvetica Neue"/>
                <a:ea typeface="Helvetica Neue"/>
                <a:cs typeface="Helvetica Neue"/>
              </a:rPr>
              <a:t>Clear next steps.</a:t>
            </a:r>
          </a:p>
        </p:txBody>
      </p:sp>
      <p:sp>
        <p:nvSpPr>
          <p:cNvPr id="4" name="cover-intro">
            <a:extLst xmlns:a="http://schemas.openxmlformats.org/drawingml/2006/main">
              <a:ext uri="{FF2B5EF4-FFF2-40B4-BE49-F238E27FC236}">
                <a16:creationId xmlns:a16="http://schemas.microsoft.com/office/drawing/2014/main" id="{9B7A968C-2B24-4963-89CD-7FD1E0244588}"/>
              </a:ext>
            </a:extLst>
          </p:cNvPr>
          <p:cNvSpPr>
            <a:spLocks xmlns:a="http://schemas.openxmlformats.org/drawingml/2006/main" noGrp="1"/>
          </p:cNvSpPr>
          <p:nvPr/>
        </p:nvSpPr>
        <p:spPr>
          <a:xfrm xmlns:a="http://schemas.openxmlformats.org/drawingml/2006/main">
            <a:off x="647700" y="4067175"/>
            <a:ext cx="962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Selected work in content structure,</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visual design and interaction behavior.</a:t>
            </a:r>
          </a:p>
        </p:txBody>
      </p:sp>
      <p:sp>
        <p:nvSpPr>
          <p:cNvPr id="5" name="cover-role">
            <a:extLst xmlns:a="http://schemas.openxmlformats.org/drawingml/2006/main">
              <a:ext uri="{FF2B5EF4-FFF2-40B4-BE49-F238E27FC236}">
                <a16:creationId xmlns:a16="http://schemas.microsoft.com/office/drawing/2014/main" id="{E78BD1EE-3378-47B8-90BD-56298FFABE27}"/>
              </a:ext>
            </a:extLst>
          </p:cNvPr>
          <p:cNvSpPr>
            <a:spLocks xmlns:a="http://schemas.openxmlformats.org/drawingml/2006/main" noGrp="1"/>
          </p:cNvSpPr>
          <p:nvPr/>
        </p:nvSpPr>
        <p:spPr>
          <a:xfrm xmlns:a="http://schemas.openxmlformats.org/drawingml/2006/main">
            <a:off x="647700" y="60198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Senior UX/UI Designer · Contract application · September 2026</a:t>
            </a:r>
          </a:p>
        </p:txBody>
      </p:sp>
      <p:sp>
        <p:nvSpPr>
          <p:cNvPr id="6" name="slide-number">
            <a:extLst xmlns:a="http://schemas.openxmlformats.org/drawingml/2006/main">
              <a:ext uri="{FF2B5EF4-FFF2-40B4-BE49-F238E27FC236}">
                <a16:creationId xmlns:a16="http://schemas.microsoft.com/office/drawing/2014/main" id="{FA40B499-413E-480A-8FB4-2DAF5B9646C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799074665"/>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60845AC2-14DD-4C33-B040-F62B666C471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2" name="headline">
            <a:extLst xmlns:a="http://schemas.openxmlformats.org/drawingml/2006/main">
              <a:ext uri="{FF2B5EF4-FFF2-40B4-BE49-F238E27FC236}">
                <a16:creationId xmlns:a16="http://schemas.microsoft.com/office/drawing/2014/main" id="{F9A8C859-92BC-4286-91C4-230B5345CE0D}"/>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Make the starting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choices clear</a:t>
            </a:r>
          </a:p>
        </p:txBody>
      </p:sp>
      <p:sp>
        <p:nvSpPr>
          <p:cNvPr id="3" name="oak-observation">
            <a:extLst xmlns:a="http://schemas.openxmlformats.org/drawingml/2006/main">
              <a:ext uri="{FF2B5EF4-FFF2-40B4-BE49-F238E27FC236}">
                <a16:creationId xmlns:a16="http://schemas.microsoft.com/office/drawing/2014/main" id="{7E53BA80-2717-4DB4-9863-BDC424F1EE1C}"/>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4" name="oak-rationale">
            <a:extLst xmlns:a="http://schemas.openxmlformats.org/drawingml/2006/main">
              <a:ext uri="{FF2B5EF4-FFF2-40B4-BE49-F238E27FC236}">
                <a16:creationId xmlns:a16="http://schemas.microsoft.com/office/drawing/2014/main" id="{044DA96C-E68E-4A0D-B9ED-D61DB740022F}"/>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compared labels and sitemap alternatives, then collaborated on shared navigation with the lead designer.</a:t>
            </a:r>
          </a:p>
        </p:txBody>
      </p:sp>
      <p:sp>
        <p:nvSpPr>
          <p:cNvPr id="5" name="oak-stage">
            <a:extLst xmlns:a="http://schemas.openxmlformats.org/drawingml/2006/main">
              <a:ext uri="{FF2B5EF4-FFF2-40B4-BE49-F238E27FC236}">
                <a16:creationId xmlns:a16="http://schemas.microsoft.com/office/drawing/2014/main" id="{7C562DD0-B00E-4F11-A81A-B9030EE06F42}"/>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Expert evaluation and design recommendations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b9a4b977ee9412b"/>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77122B29-FEA2-4AE9-AA56-182EC154CCD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824643435"/>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F8909302-727C-4148-BEA0-AC2C15F8FC9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B34ADC1D-252B-41EE-A96C-0FC5FF00AB2C}"/>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BCD9AAE9-BDFC-4D1C-8A7A-82340D54641D}"/>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420A1F30-37B2-4F5B-AD1E-E4B955602A40}"/>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4B8AF24B-68F4-4D93-B6CC-88D97AD0AC78}"/>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A7FEFC17-FB64-4667-9EEC-07B3B79AF348}"/>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752a6abb6164b1a"/>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081c15130a84251"/>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A2DA77B2-6BBE-44C3-8CD2-93767FF2304A}"/>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16c07f697914d22"/>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DAA3449A-B1C5-4FB4-99F5-E0142499E8BF}"/>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F8734232-FBFC-4BC3-B0C7-E4E72D02011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81421768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09F6C55-F28D-4F97-B4C8-8043E818FD7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37E58113-DA4D-4B28-AEA6-15D19EC9E57B}"/>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Give color</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defined job</a:t>
            </a:r>
          </a:p>
        </p:txBody>
      </p:sp>
      <p:sp>
        <p:nvSpPr>
          <p:cNvPr id="3" name="color-purpose">
            <a:extLst xmlns:a="http://schemas.openxmlformats.org/drawingml/2006/main">
              <a:ext uri="{FF2B5EF4-FFF2-40B4-BE49-F238E27FC236}">
                <a16:creationId xmlns:a16="http://schemas.microsoft.com/office/drawing/2014/main" id="{0638ED35-54AF-4724-82FE-F4F26513E722}"/>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52A23970-94D1-4AFE-AC66-595D7F87E69B}"/>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56331235dfd4927"/>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BC3327E1-E915-40D6-895D-E735F437732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76460066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77AF2769-C320-4291-BC01-B010409BCCE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INFORMATION ARCHITECTURE, 2026</a:t>
            </a:r>
          </a:p>
        </p:txBody>
      </p:sp>
      <p:sp>
        <p:nvSpPr>
          <p:cNvPr id="2" name="headline">
            <a:extLst xmlns:a="http://schemas.openxmlformats.org/drawingml/2006/main">
              <a:ext uri="{FF2B5EF4-FFF2-40B4-BE49-F238E27FC236}">
                <a16:creationId xmlns:a16="http://schemas.microsoft.com/office/drawing/2014/main" id="{7935F90E-2B4C-4978-B376-038C3100EA45}"/>
              </a:ext>
            </a:extLst>
          </p:cNvPr>
          <p:cNvSpPr>
            <a:spLocks xmlns:a="http://schemas.openxmlformats.org/drawingml/2006/main" noGrp="1"/>
          </p:cNvSpPr>
          <p:nvPr/>
        </p:nvSpPr>
        <p:spPr>
          <a:xfrm xmlns:a="http://schemas.openxmlformats.org/drawingml/2006/main">
            <a:off x="609600" y="1104900"/>
            <a:ext cx="619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Organize content by</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question it answers</a:t>
            </a:r>
          </a:p>
        </p:txBody>
      </p:sp>
      <p:sp>
        <p:nvSpPr>
          <p:cNvPr id="3" name="families">
            <a:extLst xmlns:a="http://schemas.openxmlformats.org/drawingml/2006/main">
              <a:ext uri="{FF2B5EF4-FFF2-40B4-BE49-F238E27FC236}">
                <a16:creationId xmlns:a16="http://schemas.microsoft.com/office/drawing/2014/main" id="{765FDD17-C245-4EFB-A5C4-6D75988D0F97}"/>
              </a:ext>
            </a:extLst>
          </p:cNvPr>
          <p:cNvSpPr>
            <a:spLocks xmlns:a="http://schemas.openxmlformats.org/drawingml/2006/main" noGrp="1"/>
          </p:cNvSpPr>
          <p:nvPr/>
        </p:nvSpPr>
        <p:spPr>
          <a:xfrm xmlns:a="http://schemas.openxmlformats.org/drawingml/2006/main">
            <a:off x="609600" y="31527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Summaries. Recommendations. Simple 7. Comparisons. Accomplishments.</a:t>
            </a:r>
          </a:p>
        </p:txBody>
      </p:sp>
      <p:sp>
        <p:nvSpPr>
          <p:cNvPr id="4" name="families-rationale">
            <a:extLst xmlns:a="http://schemas.openxmlformats.org/drawingml/2006/main">
              <a:ext uri="{FF2B5EF4-FFF2-40B4-BE49-F238E27FC236}">
                <a16:creationId xmlns:a16="http://schemas.microsoft.com/office/drawing/2014/main" id="{C67D5E6D-0E2A-457D-93A1-52EAD696D483}"/>
              </a:ext>
            </a:extLst>
          </p:cNvPr>
          <p:cNvSpPr>
            <a:spLocks xmlns:a="http://schemas.openxmlformats.org/drawingml/2006/main" noGrp="1"/>
          </p:cNvSpPr>
          <p:nvPr/>
        </p:nvSpPr>
        <p:spPr>
          <a:xfrm xmlns:a="http://schemas.openxmlformats.org/drawingml/2006/main">
            <a:off x="609600" y="4610100"/>
            <a:ext cx="5381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explored content density and reusable widget structures, then worked with engineers on what each action opened.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22eff67dc1a4bdc"/>
          <a:stretch xmlns:a="http://schemas.openxmlformats.org/drawingml/2006/main"/>
        </p:blipFill>
        <p:spPr>
          <a:xfrm xmlns:a="http://schemas.openxmlformats.org/drawingml/2006/main">
            <a:off x="6896100" y="2241046"/>
            <a:ext cx="4648200" cy="2280659"/>
          </a:xfrm>
          <a:prstGeom xmlns:a="http://schemas.openxmlformats.org/drawingml/2006/main" prst="rect">
            <a:avLst/>
          </a:prstGeom>
        </p:spPr>
      </p:pic>
      <p:sp>
        <p:nvSpPr>
          <p:cNvPr id="6" name="families-caption">
            <a:extLst xmlns:a="http://schemas.openxmlformats.org/drawingml/2006/main">
              <a:ext uri="{FF2B5EF4-FFF2-40B4-BE49-F238E27FC236}">
                <a16:creationId xmlns:a16="http://schemas.microsoft.com/office/drawing/2014/main" id="{DF3F96B6-BBBA-4D72-BF5C-CBB9C0B4B496}"/>
              </a:ext>
            </a:extLst>
          </p:cNvPr>
          <p:cNvSpPr>
            <a:spLocks xmlns:a="http://schemas.openxmlformats.org/drawingml/2006/main" noGrp="1"/>
          </p:cNvSpPr>
          <p:nvPr/>
        </p:nvSpPr>
        <p:spPr>
          <a:xfrm xmlns:a="http://schemas.openxmlformats.org/drawingml/2006/main">
            <a:off x="6896100" y="4991100"/>
            <a:ext cx="4667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design detail · sample content</a:t>
            </a:r>
          </a:p>
        </p:txBody>
      </p:sp>
      <p:sp>
        <p:nvSpPr>
          <p:cNvPr id="7" name="slide-number">
            <a:extLst xmlns:a="http://schemas.openxmlformats.org/drawingml/2006/main">
              <a:ext uri="{FF2B5EF4-FFF2-40B4-BE49-F238E27FC236}">
                <a16:creationId xmlns:a16="http://schemas.microsoft.com/office/drawing/2014/main" id="{36DBFECE-217A-4F10-ABD4-03DF8262C8A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86971517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8C1C8D0B-8CFE-41C4-B051-4ACB4EEA163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CONTENT AND VISUAL FRAMING</a:t>
            </a:r>
          </a:p>
        </p:txBody>
      </p:sp>
      <p:sp>
        <p:nvSpPr>
          <p:cNvPr id="2" name="headline">
            <a:extLst xmlns:a="http://schemas.openxmlformats.org/drawingml/2006/main">
              <a:ext uri="{FF2B5EF4-FFF2-40B4-BE49-F238E27FC236}">
                <a16:creationId xmlns:a16="http://schemas.microsoft.com/office/drawing/2014/main" id="{6E005622-97DC-4BAA-B704-C1DD48C41B58}"/>
              </a:ext>
            </a:extLst>
          </p:cNvPr>
          <p:cNvSpPr>
            <a:spLocks xmlns:a="http://schemas.openxmlformats.org/drawingml/2006/main" noGrp="1"/>
          </p:cNvSpPr>
          <p:nvPr/>
        </p:nvSpPr>
        <p:spPr>
          <a:xfrm xmlns:a="http://schemas.openxmlformats.org/drawingml/2006/main">
            <a:off x="609600" y="1104900"/>
            <a:ext cx="10668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comparison needs</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its reference point</a:t>
            </a:r>
          </a:p>
        </p:txBody>
      </p:sp>
      <p:sp>
        <p:nvSpPr>
          <p:cNvPr id="3" name="comparison-question">
            <a:extLst xmlns:a="http://schemas.openxmlformats.org/drawingml/2006/main">
              <a:ext uri="{FF2B5EF4-FFF2-40B4-BE49-F238E27FC236}">
                <a16:creationId xmlns:a16="http://schemas.microsoft.com/office/drawing/2014/main" id="{5ED16A45-519C-4F97-95EE-08B3D3C5F266}"/>
              </a:ext>
            </a:extLst>
          </p:cNvPr>
          <p:cNvSpPr>
            <a:spLocks xmlns:a="http://schemas.openxmlformats.org/drawingml/2006/main" noGrp="1"/>
          </p:cNvSpPr>
          <p:nvPr/>
        </p:nvSpPr>
        <p:spPr>
          <a:xfrm xmlns:a="http://schemas.openxmlformats.org/drawingml/2006/main">
            <a:off x="609600" y="3152775"/>
            <a:ext cx="48387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Compared with whom, over what period, and what should this help me decide?</a:t>
            </a:r>
          </a:p>
        </p:txBody>
      </p:sp>
      <p:sp>
        <p:nvSpPr>
          <p:cNvPr id="4" name="comparison-decision">
            <a:extLst xmlns:a="http://schemas.openxmlformats.org/drawingml/2006/main">
              <a:ext uri="{FF2B5EF4-FFF2-40B4-BE49-F238E27FC236}">
                <a16:creationId xmlns:a16="http://schemas.microsoft.com/office/drawing/2014/main" id="{50222B49-4A84-4931-A396-A403939C6BDB}"/>
              </a:ext>
            </a:extLst>
          </p:cNvPr>
          <p:cNvSpPr>
            <a:spLocks xmlns:a="http://schemas.openxmlformats.org/drawingml/2006/main" noGrp="1"/>
          </p:cNvSpPr>
          <p:nvPr/>
        </p:nvSpPr>
        <p:spPr>
          <a:xfrm xmlns:a="http://schemas.openxmlformats.org/drawingml/2006/main">
            <a:off x="609600" y="4895850"/>
            <a:ext cx="48387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questioned percentile framing and explored neutral descriptions that leave room for context.</a:t>
            </a:r>
          </a:p>
        </p:txBody>
      </p:sp>
      <p:sp>
        <p:nvSpPr>
          <p:cNvPr id="5" name="comparison-caption">
            <a:extLst xmlns:a="http://schemas.openxmlformats.org/drawingml/2006/main">
              <a:ext uri="{FF2B5EF4-FFF2-40B4-BE49-F238E27FC236}">
                <a16:creationId xmlns:a16="http://schemas.microsoft.com/office/drawing/2014/main" id="{FE7AA7B4-2FCB-40BC-A566-9116B128657B}"/>
              </a:ext>
            </a:extLst>
          </p:cNvPr>
          <p:cNvSpPr>
            <a:spLocks xmlns:a="http://schemas.openxmlformats.org/drawingml/2006/main" noGrp="1"/>
          </p:cNvSpPr>
          <p:nvPr/>
        </p:nvSpPr>
        <p:spPr>
          <a:xfrm xmlns:a="http://schemas.openxmlformats.org/drawingml/2006/main">
            <a:off x="6219825" y="2667000"/>
            <a:ext cx="5276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widget · sample values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c6885fd6e754bd3"/>
          <a:stretch xmlns:a="http://schemas.openxmlformats.org/drawingml/2006/main"/>
        </p:blipFill>
        <p:spPr>
          <a:xfrm xmlns:a="http://schemas.openxmlformats.org/drawingml/2006/main">
            <a:off x="6220944" y="3038475"/>
            <a:ext cx="5274613" cy="3495675"/>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A5F0CDC4-B6A7-43ED-BE33-3CDC089C4D3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978943085"/>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6CE9C1E-72F5-4889-B05C-4BBB5AE9CD4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INTERACTION DESIGN, 2025–2026</a:t>
            </a:r>
          </a:p>
        </p:txBody>
      </p:sp>
      <p:sp>
        <p:nvSpPr>
          <p:cNvPr id="2" name="headline">
            <a:extLst xmlns:a="http://schemas.openxmlformats.org/drawingml/2006/main">
              <a:ext uri="{FF2B5EF4-FFF2-40B4-BE49-F238E27FC236}">
                <a16:creationId xmlns:a16="http://schemas.microsoft.com/office/drawing/2014/main" id="{1A0B82F0-BED6-4FEA-B54D-889A929606B1}"/>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first question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easier to ask</a:t>
            </a:r>
          </a:p>
        </p:txBody>
      </p:sp>
      <p:sp>
        <p:nvSpPr>
          <p:cNvPr id="3" name="entry-decision">
            <a:extLst xmlns:a="http://schemas.openxmlformats.org/drawingml/2006/main">
              <a:ext uri="{FF2B5EF4-FFF2-40B4-BE49-F238E27FC236}">
                <a16:creationId xmlns:a16="http://schemas.microsoft.com/office/drawing/2014/main" id="{3DE22716-72BF-4C44-9723-2F49653CFDBB}"/>
              </a:ext>
            </a:extLst>
          </p:cNvPr>
          <p:cNvSpPr>
            <a:spLocks xmlns:a="http://schemas.openxmlformats.org/drawingml/2006/main" noGrp="1"/>
          </p:cNvSpPr>
          <p:nvPr/>
        </p:nvSpPr>
        <p:spPr>
          <a:xfrm xmlns:a="http://schemas.openxmlformats.org/drawingml/2006/main">
            <a:off x="609600" y="3152775"/>
            <a:ext cx="5905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Suggested questions offered a starting point while leaving the person free to edit or ask something else.</a:t>
            </a:r>
          </a:p>
        </p:txBody>
      </p:sp>
      <p:sp>
        <p:nvSpPr>
          <p:cNvPr id="4" name="entry-scope">
            <a:extLst xmlns:a="http://schemas.openxmlformats.org/drawingml/2006/main">
              <a:ext uri="{FF2B5EF4-FFF2-40B4-BE49-F238E27FC236}">
                <a16:creationId xmlns:a16="http://schemas.microsoft.com/office/drawing/2014/main" id="{1941F5A8-61FC-4B8C-8A88-B8FC240CA490}"/>
              </a:ext>
            </a:extLst>
          </p:cNvPr>
          <p:cNvSpPr>
            <a:spLocks xmlns:a="http://schemas.openxmlformats.org/drawingml/2006/main" noGrp="1"/>
          </p:cNvSpPr>
          <p:nvPr/>
        </p:nvSpPr>
        <p:spPr>
          <a:xfrm xmlns:a="http://schemas.openxmlformats.org/drawingml/2006/main">
            <a:off x="609600" y="4991100"/>
            <a:ext cx="590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worked within the existing product, keeping the answer layout and agreed phase scope in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9462849edb14bd2"/>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855D36F7-2813-4AC3-8A22-D913D17082B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268832788"/>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B23F876B-5B35-4068-AAFA-8B1510BAEAC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30A3C0F1-8E0F-454A-9AA2-85EC47084A35}"/>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A7D33680-8A4F-40E1-A205-BEE486881DC4}"/>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016B981C-CDBB-473C-85C2-E480A3751739}"/>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D661FB15-406C-4A4E-B106-FC2215164713}"/>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536C2CF6-CD9D-4F9E-BB44-FE70A8DFEF03}"/>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127f405b9bb4416"/>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eb7258acdcd4ffb"/>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55A40711-3BDE-45FF-958D-E55F3C65A49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487092345"/>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F1EBBE67-9AF1-41AD-A7E0-AD12383B1F4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A TEAL CLIENT PROJECT</a:t>
            </a:r>
          </a:p>
        </p:txBody>
      </p:sp>
      <p:sp>
        <p:nvSpPr>
          <p:cNvPr id="2" name="headline">
            <a:extLst xmlns:a="http://schemas.openxmlformats.org/drawingml/2006/main">
              <a:ext uri="{FF2B5EF4-FFF2-40B4-BE49-F238E27FC236}">
                <a16:creationId xmlns:a16="http://schemas.microsoft.com/office/drawing/2014/main" id="{4EA2491B-B97A-4A1D-A064-81582B403A80}"/>
              </a:ext>
            </a:extLst>
          </p:cNvPr>
          <p:cNvSpPr>
            <a:spLocks xmlns:a="http://schemas.openxmlformats.org/drawingml/2006/main" noGrp="1"/>
          </p:cNvSpPr>
          <p:nvPr/>
        </p:nvSpPr>
        <p:spPr>
          <a:xfrm xmlns:a="http://schemas.openxmlformats.org/drawingml/2006/main">
            <a:off x="609600" y="1076325"/>
            <a:ext cx="10668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Bring the content model</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into the first review</a:t>
            </a:r>
          </a:p>
        </p:txBody>
      </p:sp>
      <p:sp>
        <p:nvSpPr>
          <p:cNvPr id="3" name="purpose-heading">
            <a:extLst xmlns:a="http://schemas.openxmlformats.org/drawingml/2006/main">
              <a:ext uri="{FF2B5EF4-FFF2-40B4-BE49-F238E27FC236}">
                <a16:creationId xmlns:a16="http://schemas.microsoft.com/office/drawing/2014/main" id="{15723E86-A363-4ECA-BD4E-281256F1C7A1}"/>
              </a:ext>
            </a:extLst>
          </p:cNvPr>
          <p:cNvSpPr>
            <a:spLocks xmlns:a="http://schemas.openxmlformats.org/drawingml/2006/main" noGrp="1"/>
          </p:cNvSpPr>
          <p:nvPr/>
        </p:nvSpPr>
        <p:spPr>
          <a:xfrm xmlns:a="http://schemas.openxmlformats.org/drawingml/2006/main">
            <a:off x="609600" y="30384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Start with a real task</a:t>
            </a:r>
          </a:p>
        </p:txBody>
      </p:sp>
      <p:sp>
        <p:nvSpPr>
          <p:cNvPr id="4" name="purpose-body">
            <a:extLst xmlns:a="http://schemas.openxmlformats.org/drawingml/2006/main">
              <a:ext uri="{FF2B5EF4-FFF2-40B4-BE49-F238E27FC236}">
                <a16:creationId xmlns:a16="http://schemas.microsoft.com/office/drawing/2014/main" id="{77E61829-7FBC-474B-BF8F-ACF23E9538F0}"/>
              </a:ext>
            </a:extLst>
          </p:cNvPr>
          <p:cNvSpPr>
            <a:spLocks xmlns:a="http://schemas.openxmlformats.org/drawingml/2006/main" noGrp="1"/>
          </p:cNvSpPr>
          <p:nvPr/>
        </p:nvSpPr>
        <p:spPr>
          <a:xfrm xmlns:a="http://schemas.openxmlformats.org/drawingml/2006/main">
            <a:off x="609600" y="3609975"/>
            <a:ext cx="4857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Identify the audience, the information they need and the next action the page should support.</a:t>
            </a:r>
          </a:p>
        </p:txBody>
      </p:sp>
      <p:sp>
        <p:nvSpPr>
          <p:cNvPr id="5" name="structure-heading">
            <a:extLst xmlns:a="http://schemas.openxmlformats.org/drawingml/2006/main">
              <a:ext uri="{FF2B5EF4-FFF2-40B4-BE49-F238E27FC236}">
                <a16:creationId xmlns:a16="http://schemas.microsoft.com/office/drawing/2014/main" id="{F3FE6204-155A-40DB-93A4-790A4AC04516}"/>
              </a:ext>
            </a:extLst>
          </p:cNvPr>
          <p:cNvSpPr>
            <a:spLocks xmlns:a="http://schemas.openxmlformats.org/drawingml/2006/main" noGrp="1"/>
          </p:cNvSpPr>
          <p:nvPr/>
        </p:nvSpPr>
        <p:spPr>
          <a:xfrm xmlns:a="http://schemas.openxmlformats.org/drawingml/2006/main">
            <a:off x="6705600" y="30384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Map the content</a:t>
            </a:r>
          </a:p>
        </p:txBody>
      </p:sp>
      <p:sp>
        <p:nvSpPr>
          <p:cNvPr id="6" name="structure-body">
            <a:extLst xmlns:a="http://schemas.openxmlformats.org/drawingml/2006/main">
              <a:ext uri="{FF2B5EF4-FFF2-40B4-BE49-F238E27FC236}">
                <a16:creationId xmlns:a16="http://schemas.microsoft.com/office/drawing/2014/main" id="{75FB7D0E-5E9E-496C-953E-996AEEE83782}"/>
              </a:ext>
            </a:extLst>
          </p:cNvPr>
          <p:cNvSpPr>
            <a:spLocks xmlns:a="http://schemas.openxmlformats.org/drawingml/2006/main" noGrp="1"/>
          </p:cNvSpPr>
          <p:nvPr/>
        </p:nvSpPr>
        <p:spPr>
          <a:xfrm xmlns:a="http://schemas.openxmlformats.org/drawingml/2006/main">
            <a:off x="6705600" y="3609975"/>
            <a:ext cx="4857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Review page types, relationships and reusable fields with the strategist and developer.</a:t>
            </a:r>
          </a:p>
        </p:txBody>
      </p:sp>
      <p:sp>
        <p:nvSpPr>
          <p:cNvPr id="7" name="compare-heading">
            <a:extLst xmlns:a="http://schemas.openxmlformats.org/drawingml/2006/main">
              <a:ext uri="{FF2B5EF4-FFF2-40B4-BE49-F238E27FC236}">
                <a16:creationId xmlns:a16="http://schemas.microsoft.com/office/drawing/2014/main" id="{502E0207-69D4-4456-9CA1-6278664B4A91}"/>
              </a:ext>
            </a:extLst>
          </p:cNvPr>
          <p:cNvSpPr>
            <a:spLocks xmlns:a="http://schemas.openxmlformats.org/drawingml/2006/main" noGrp="1"/>
          </p:cNvSpPr>
          <p:nvPr/>
        </p:nvSpPr>
        <p:spPr>
          <a:xfrm xmlns:a="http://schemas.openxmlformats.org/drawingml/2006/main">
            <a:off x="609600" y="49244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Make alternatives visible</a:t>
            </a:r>
          </a:p>
        </p:txBody>
      </p:sp>
      <p:sp>
        <p:nvSpPr>
          <p:cNvPr id="8" name="compare-body">
            <a:extLst xmlns:a="http://schemas.openxmlformats.org/drawingml/2006/main">
              <a:ext uri="{FF2B5EF4-FFF2-40B4-BE49-F238E27FC236}">
                <a16:creationId xmlns:a16="http://schemas.microsoft.com/office/drawing/2014/main" id="{A0EE2C24-B000-4800-8AD7-819CC2EEC02E}"/>
              </a:ext>
            </a:extLst>
          </p:cNvPr>
          <p:cNvSpPr>
            <a:spLocks xmlns:a="http://schemas.openxmlformats.org/drawingml/2006/main" noGrp="1"/>
          </p:cNvSpPr>
          <p:nvPr/>
        </p:nvSpPr>
        <p:spPr>
          <a:xfrm xmlns:a="http://schemas.openxmlformats.org/drawingml/2006/main">
            <a:off x="609600" y="54959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Compare wireframes and visual directions against the content and technical constraints.</a:t>
            </a:r>
          </a:p>
        </p:txBody>
      </p:sp>
      <p:sp>
        <p:nvSpPr>
          <p:cNvPr id="9" name="handoff-heading">
            <a:extLst xmlns:a="http://schemas.openxmlformats.org/drawingml/2006/main">
              <a:ext uri="{FF2B5EF4-FFF2-40B4-BE49-F238E27FC236}">
                <a16:creationId xmlns:a16="http://schemas.microsoft.com/office/drawing/2014/main" id="{5BF56DE2-D6F1-4F9D-A91A-E4AF7FD6543E}"/>
              </a:ext>
            </a:extLst>
          </p:cNvPr>
          <p:cNvSpPr>
            <a:spLocks xmlns:a="http://schemas.openxmlformats.org/drawingml/2006/main" noGrp="1"/>
          </p:cNvSpPr>
          <p:nvPr/>
        </p:nvSpPr>
        <p:spPr>
          <a:xfrm xmlns:a="http://schemas.openxmlformats.org/drawingml/2006/main">
            <a:off x="6705600" y="4924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Document the decision</a:t>
            </a:r>
          </a:p>
        </p:txBody>
      </p:sp>
      <p:sp>
        <p:nvSpPr>
          <p:cNvPr id="10" name="handoff-body">
            <a:extLst xmlns:a="http://schemas.openxmlformats.org/drawingml/2006/main">
              <a:ext uri="{FF2B5EF4-FFF2-40B4-BE49-F238E27FC236}">
                <a16:creationId xmlns:a16="http://schemas.microsoft.com/office/drawing/2014/main" id="{B3117251-D87A-4BE0-A47A-301C67CB9AF4}"/>
              </a:ext>
            </a:extLst>
          </p:cNvPr>
          <p:cNvSpPr>
            <a:spLocks xmlns:a="http://schemas.openxmlformats.org/drawingml/2006/main" noGrp="1"/>
          </p:cNvSpPr>
          <p:nvPr/>
        </p:nvSpPr>
        <p:spPr>
          <a:xfrm xmlns:a="http://schemas.openxmlformats.org/drawingml/2006/main">
            <a:off x="6705600" y="54959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Record the chosen behavior, open questions and next check before moving into production.</a:t>
            </a:r>
          </a:p>
        </p:txBody>
      </p:sp>
      <p:sp>
        <p:nvSpPr>
          <p:cNvPr id="11" name="slide-number">
            <a:extLst xmlns:a="http://schemas.openxmlformats.org/drawingml/2006/main">
              <a:ext uri="{FF2B5EF4-FFF2-40B4-BE49-F238E27FC236}">
                <a16:creationId xmlns:a16="http://schemas.microsoft.com/office/drawing/2014/main" id="{53155EBA-2B22-441A-9342-6A5553BDE32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95432858"/>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C3B8CB4-A848-49B1-9034-7BADA98CF6F6}"/>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TEAL MEDIA · UX/UI DESIGN</a:t>
            </a:r>
          </a:p>
        </p:txBody>
      </p:sp>
      <p:sp>
        <p:nvSpPr>
          <p:cNvPr id="2" name="headline">
            <a:extLst xmlns:a="http://schemas.openxmlformats.org/drawingml/2006/main">
              <a:ext uri="{FF2B5EF4-FFF2-40B4-BE49-F238E27FC236}">
                <a16:creationId xmlns:a16="http://schemas.microsoft.com/office/drawing/2014/main" id="{839F000A-19B8-4B9C-8FC0-0AA932E6DA08}"/>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75" b="1">
                <a:solidFill>
                  <a:srgbClr val="F4F2E9"/>
                </a:solidFill>
                <a:latin typeface="Helvetica Neue"/>
                <a:ea typeface="Helvetica Neue"/>
                <a:cs typeface="Helvetica Neue"/>
              </a:defRPr>
            </a:pPr>
            <a:r>
              <a:rPr sz="4575" b="1">
                <a:solidFill>
                  <a:srgbClr val="F4F2E9"/>
                </a:solidFill>
                <a:latin typeface="Helvetica Neue"/>
                <a:ea typeface="Helvetica Neue"/>
                <a:cs typeface="Helvetica Neue"/>
              </a:rPr>
              <a:t>Let’s make complex</a:t>
            </a:r>
          </a:p>
          <a:p xmlns:a="http://schemas.openxmlformats.org/drawingml/2006/main">
            <a:pPr>
              <a:lnSpc>
                <a:spcPct val="110000"/>
              </a:lnSpc>
              <a:buNone/>
              <a:defRPr sz="4575" b="1">
                <a:solidFill>
                  <a:srgbClr val="F4F2E9"/>
                </a:solidFill>
                <a:latin typeface="Helvetica Neue"/>
                <a:ea typeface="Helvetica Neue"/>
                <a:cs typeface="Helvetica Neue"/>
              </a:defRPr>
            </a:pPr>
            <a:r>
              <a:rPr sz="4575" b="1">
                <a:solidFill>
                  <a:srgbClr val="F4F2E9"/>
                </a:solidFill>
                <a:latin typeface="Helvetica Neue"/>
                <a:ea typeface="Helvetica Neue"/>
                <a:cs typeface="Helvetica Neue"/>
              </a:rPr>
              <a:t>information useful</a:t>
            </a:r>
          </a:p>
        </p:txBody>
      </p:sp>
      <p:sp>
        <p:nvSpPr>
          <p:cNvPr id="3" name="contact-intent">
            <a:extLst xmlns:a="http://schemas.openxmlformats.org/drawingml/2006/main">
              <a:ext uri="{FF2B5EF4-FFF2-40B4-BE49-F238E27FC236}">
                <a16:creationId xmlns:a16="http://schemas.microsoft.com/office/drawing/2014/main" id="{020F1ACB-921A-484C-8A98-B0C4F3ADDDB6}"/>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7687BBFA-D12E-4260-B787-6CCF4504FB57}"/>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28959f68aa6c439c"/>
              </a:rPr>
              <a:t>JonathanKyleHobson@gmail.com</a:t>
            </a:r>
          </a:p>
        </p:txBody>
      </p:sp>
      <p:sp>
        <p:nvSpPr>
          <p:cNvPr id="5" name="portfolio">
            <a:extLst xmlns:a="http://schemas.openxmlformats.org/drawingml/2006/main">
              <a:ext uri="{FF2B5EF4-FFF2-40B4-BE49-F238E27FC236}">
                <a16:creationId xmlns:a16="http://schemas.microsoft.com/office/drawing/2014/main" id="{87647C44-2DE0-409E-8DB9-FA28FA06D129}"/>
              </a:ext>
            </a:extLst>
          </p:cNvPr>
          <p:cNvSpPr>
            <a:spLocks xmlns:a="http://schemas.openxmlformats.org/drawingml/2006/main" noGrp="1"/>
          </p:cNvSpPr>
          <p:nvPr/>
        </p:nvSpPr>
        <p:spPr>
          <a:xfrm xmlns:a="http://schemas.openxmlformats.org/drawingml/2006/main">
            <a:off x="647700" y="5705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f953e2c7aaeb442c"/>
              </a:rPr>
              <a:t>jonathankhobson.github.io/application-portfolios/teal-media-ux-ui-designer</a:t>
            </a:r>
          </a:p>
        </p:txBody>
      </p:sp>
      <p:sp>
        <p:nvSpPr>
          <p:cNvPr id="6" name="slide-number">
            <a:extLst xmlns:a="http://schemas.openxmlformats.org/drawingml/2006/main">
              <a:ext uri="{FF2B5EF4-FFF2-40B4-BE49-F238E27FC236}">
                <a16:creationId xmlns:a16="http://schemas.microsoft.com/office/drawing/2014/main" id="{D447231A-333C-4F70-BA1B-A201E713686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218041898"/>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2026-09-09T01:12:19.5990000Z</dcterms:created>
  <dcterms:modified xsi:type="dcterms:W3CDTF">2026-09-09T01:12:19.5990000Z</dcterms:modified>
</coreProperties>
</file>