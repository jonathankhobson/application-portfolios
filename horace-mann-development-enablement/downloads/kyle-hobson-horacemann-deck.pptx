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a993f4e4ba44e6d" /><Relationship Type="http://schemas.openxmlformats.org/officeDocument/2006/relationships/extended-properties" Target="/docProps/app.xml" Id="Ree053035e30f4991" /><Relationship Type="http://schemas.openxmlformats.org/officeDocument/2006/relationships/officeDocument" Target="/ppt/presentation.xml" Id="R0380b93ed567476f" /></Relationships>
</file>

<file path=ppt/presentation.xml><?xml version="1.0" encoding="utf-8"?>
<p:presentation xmlns:p="http://schemas.openxmlformats.org/presentationml/2006/main">
  <p:sldMasterIdLst>
    <p:sldMasterId xmlns:r="http://schemas.openxmlformats.org/officeDocument/2006/relationships" id="2147483648" r:id="R0d311389d94b4a5c"/>
  </p:sldMasterIdLst>
  <p:notesMasterIdLst>
    <p:notesMasterId xmlns:r="http://schemas.openxmlformats.org/officeDocument/2006/relationships" r:id="R597d9e0b313648bc"/>
  </p:notesMasterIdLst>
  <p:sldIdLst>
    <p:sldId xmlns:r="http://schemas.openxmlformats.org/officeDocument/2006/relationships" id="256" r:id="R7fc2034e49754136"/>
    <p:sldId xmlns:r="http://schemas.openxmlformats.org/officeDocument/2006/relationships" id="257" r:id="R19c07fc09d4a4167"/>
    <p:sldId xmlns:r="http://schemas.openxmlformats.org/officeDocument/2006/relationships" id="258" r:id="Rc4b1ee6451f24b7b"/>
    <p:sldId xmlns:r="http://schemas.openxmlformats.org/officeDocument/2006/relationships" id="259" r:id="R6f0372e5e4404c27"/>
    <p:sldId xmlns:r="http://schemas.openxmlformats.org/officeDocument/2006/relationships" id="260" r:id="R966d2a3aae294f21"/>
    <p:sldId xmlns:r="http://schemas.openxmlformats.org/officeDocument/2006/relationships" id="261" r:id="R0b57cafa5fc3427d"/>
    <p:sldId xmlns:r="http://schemas.openxmlformats.org/officeDocument/2006/relationships" id="262" r:id="R93770b3e230b4330"/>
    <p:sldId xmlns:r="http://schemas.openxmlformats.org/officeDocument/2006/relationships" id="263" r:id="Rcda47855e97144ee"/>
    <p:sldId xmlns:r="http://schemas.openxmlformats.org/officeDocument/2006/relationships" id="264" r:id="Ree2e615b76ce423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0304fabd30e4484" /><Relationship Type="http://schemas.openxmlformats.org/officeDocument/2006/relationships/slideMaster" Target="/ppt/slideMasters/slideMaster1.xml" Id="R0d311389d94b4a5c" /><Relationship Type="http://schemas.openxmlformats.org/officeDocument/2006/relationships/notesMaster" Target="/ppt/notesMasters/notesMaster1.xml" Id="R597d9e0b313648bc" /><Relationship Type="http://schemas.openxmlformats.org/officeDocument/2006/relationships/presProps" Target="/ppt/presProps.xml" Id="R22c0b988bdac4ba4" /><Relationship Type="http://schemas.openxmlformats.org/officeDocument/2006/relationships/tableStyles" Target="/ppt/tableStyles.xml" Id="R6ce9816ce3cc47eb" /><Relationship Type="http://schemas.openxmlformats.org/officeDocument/2006/relationships/slide" Target="/ppt/slides/slide1.xml" Id="R7fc2034e49754136" /><Relationship Type="http://schemas.openxmlformats.org/officeDocument/2006/relationships/slide" Target="/ppt/slides/slide2.xml" Id="R19c07fc09d4a4167" /><Relationship Type="http://schemas.openxmlformats.org/officeDocument/2006/relationships/slide" Target="/ppt/slides/slide3.xml" Id="Rc4b1ee6451f24b7b" /><Relationship Type="http://schemas.openxmlformats.org/officeDocument/2006/relationships/slide" Target="/ppt/slides/slide4.xml" Id="R6f0372e5e4404c27" /><Relationship Type="http://schemas.openxmlformats.org/officeDocument/2006/relationships/slide" Target="/ppt/slides/slide5.xml" Id="R966d2a3aae294f21" /><Relationship Type="http://schemas.openxmlformats.org/officeDocument/2006/relationships/slide" Target="/ppt/slides/slide6.xml" Id="R0b57cafa5fc3427d" /><Relationship Type="http://schemas.openxmlformats.org/officeDocument/2006/relationships/slide" Target="/ppt/slides/slide7.xml" Id="R93770b3e230b4330" /><Relationship Type="http://schemas.openxmlformats.org/officeDocument/2006/relationships/slide" Target="/ppt/slides/slide8.xml" Id="Rcda47855e97144ee" /><Relationship Type="http://schemas.openxmlformats.org/officeDocument/2006/relationships/slide" Target="/ppt/slides/slide9.xml" Id="Ree2e615b76ce423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389a1d51629496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0c528ca1c134b6a" /><Relationship Type="http://schemas.openxmlformats.org/officeDocument/2006/relationships/notesMaster" Target="/ppt/notesMasters/notesMaster1.xml" Id="Rf1b9206c8a3f44be" /></Relationships>
</file>

<file path=ppt/notesSlides/_rels/notesSlide2.xml.rels>&#65279;<?xml version="1.0" encoding="utf-8"?><Relationships xmlns="http://schemas.openxmlformats.org/package/2006/relationships"><Relationship Type="http://schemas.openxmlformats.org/officeDocument/2006/relationships/slide" Target="/ppt/slides/slide2.xml" Id="R7cd5f4b282dc4c6e" /><Relationship Type="http://schemas.openxmlformats.org/officeDocument/2006/relationships/notesMaster" Target="/ppt/notesMasters/notesMaster1.xml" Id="Rc590995280ba47a5" /></Relationships>
</file>

<file path=ppt/notesSlides/_rels/notesSlide3.xml.rels>&#65279;<?xml version="1.0" encoding="utf-8"?><Relationships xmlns="http://schemas.openxmlformats.org/package/2006/relationships"><Relationship Type="http://schemas.openxmlformats.org/officeDocument/2006/relationships/slide" Target="/ppt/slides/slide3.xml" Id="R3346538fd4104830" /><Relationship Type="http://schemas.openxmlformats.org/officeDocument/2006/relationships/notesMaster" Target="/ppt/notesMasters/notesMaster1.xml" Id="Rf940edbaef6c4863" /></Relationships>
</file>

<file path=ppt/notesSlides/_rels/notesSlide4.xml.rels>&#65279;<?xml version="1.0" encoding="utf-8"?><Relationships xmlns="http://schemas.openxmlformats.org/package/2006/relationships"><Relationship Type="http://schemas.openxmlformats.org/officeDocument/2006/relationships/slide" Target="/ppt/slides/slide4.xml" Id="Ra0e8e771028b4f44" /><Relationship Type="http://schemas.openxmlformats.org/officeDocument/2006/relationships/notesMaster" Target="/ppt/notesMasters/notesMaster1.xml" Id="R4ac9e7b24acb4242" /></Relationships>
</file>

<file path=ppt/notesSlides/_rels/notesSlide5.xml.rels>&#65279;<?xml version="1.0" encoding="utf-8"?><Relationships xmlns="http://schemas.openxmlformats.org/package/2006/relationships"><Relationship Type="http://schemas.openxmlformats.org/officeDocument/2006/relationships/slide" Target="/ppt/slides/slide5.xml" Id="Rf5022182bbb847ae" /><Relationship Type="http://schemas.openxmlformats.org/officeDocument/2006/relationships/notesMaster" Target="/ppt/notesMasters/notesMaster1.xml" Id="R2cb6ece33cbf4a69" /></Relationships>
</file>

<file path=ppt/notesSlides/_rels/notesSlide6.xml.rels>&#65279;<?xml version="1.0" encoding="utf-8"?><Relationships xmlns="http://schemas.openxmlformats.org/package/2006/relationships"><Relationship Type="http://schemas.openxmlformats.org/officeDocument/2006/relationships/slide" Target="/ppt/slides/slide6.xml" Id="Rbe9c955174d3487d" /><Relationship Type="http://schemas.openxmlformats.org/officeDocument/2006/relationships/notesMaster" Target="/ppt/notesMasters/notesMaster1.xml" Id="Rcbba3db0dda44f32" /></Relationships>
</file>

<file path=ppt/notesSlides/_rels/notesSlide7.xml.rels>&#65279;<?xml version="1.0" encoding="utf-8"?><Relationships xmlns="http://schemas.openxmlformats.org/package/2006/relationships"><Relationship Type="http://schemas.openxmlformats.org/officeDocument/2006/relationships/slide" Target="/ppt/slides/slide7.xml" Id="R161cb6d2b9744492" /><Relationship Type="http://schemas.openxmlformats.org/officeDocument/2006/relationships/notesMaster" Target="/ppt/notesMasters/notesMaster1.xml" Id="R223520692d0a4ac1" /></Relationships>
</file>

<file path=ppt/notesSlides/_rels/notesSlide8.xml.rels>&#65279;<?xml version="1.0" encoding="utf-8"?><Relationships xmlns="http://schemas.openxmlformats.org/package/2006/relationships"><Relationship Type="http://schemas.openxmlformats.org/officeDocument/2006/relationships/slide" Target="/ppt/slides/slide8.xml" Id="R3634b23853f24fd8" /><Relationship Type="http://schemas.openxmlformats.org/officeDocument/2006/relationships/notesMaster" Target="/ppt/notesMasters/notesMaster1.xml" Id="R18ca14f5ef2b4258" /></Relationships>
</file>

<file path=ppt/notesSlides/_rels/notesSlide9.xml.rels>&#65279;<?xml version="1.0" encoding="utf-8"?><Relationships xmlns="http://schemas.openxmlformats.org/package/2006/relationships"><Relationship Type="http://schemas.openxmlformats.org/officeDocument/2006/relationships/slide" Target="/ppt/slides/slide9.xml" Id="R19a4928777374af4" /><Relationship Type="http://schemas.openxmlformats.org/officeDocument/2006/relationships/notesMaster" Target="/ppt/notesMasters/notesMaster1.xml" Id="R08fda581dd96418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Prepared for Horace Mann Development Enablement Specialist, https://job-boards.greenhouse.io/horacemannservicecorporation/jobs/6183213004 . Displayed work belongs to prior ASU, Coursera, FactorLab and independent tool projects. Decorative cover is existing canonical art, not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canonical ai.json teaching-ai case, original 2024 lesson material and https://www.coursera.org/projects/chatgpt-beginners . Kyle created and taught the published project ChatGPT 4o for Beginners: Create Social Media Content. The crop preserves all original Task 3 goal text without changing source pixels: ai-course-goals.png x80 y85 w650 h370. Learning sequence and teaching materials are direct evidence; enrollment is not a learning-gain measure.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October 1,2024 Course Shell Feedback rows16,19,20,22 and instructor-response notes. Four rows summarize actual concerns and recorded revisions. Completed appears in instructor-response status; separate QA ID Approval remains false. No final row-level signoff or measured learner gain claimed. Native editable two-column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Canonical ai.json prompt-compass case. Original developer-authored regression fixture, reformatted for the portfolio. May2026 local work is separate from the April27 public beta. Deterministic literal-term checks report missing fields in the rewrite; they do not execute an LLM, parse its output or establish model accuracy. The low-confidence threshold is a test instruction, not a deployed enterprise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reviewed 2024 ASU Learning Innovations proposal and accompanying source brief. Kyle proposed a prompt workflow that condensed learner context, included mentor validation of context, personalized a task template, generated and refined tasks, included mentor confirmation or revision, and prepared structured learner-facing output and feedback. This editable reconstruction groups the original steps into six stages while retaining both mentor review gates. It is a proposal, not a deployed clinical system or a measured efficiency or learning outcome. The human review pattern is adjacent evidence for discussing learning workflows at Horace Mann; no prior Horace Mann engagement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selected original Flint interrupted-response and offline design variants, including the March 27, 2026 error-state handoff. Distinct recovery actions follow the state: Ask again or Continue for a partial response, and retry after connection loss with the question preserved. Deliverable: connected flows, interaction states and engineering annotations.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canonical prompt-compass case and public beta3 release. Kyle built and released the tool with installable packages and source downloads. Diagram is reconstructed from implementation, not an original product screenshot. Public beta and local work do not establish enterprise adoption or security-domain expertise.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approach for Horace Mann Development Enablement Specialist, https://job-boards.greenhouse.io/horacemannservicecorporation/jobs/6183213004 . Not prior Horace Mann delivery, a diagnosed product issue, a security investigation or a measured learner outcome. Horace Mann development tooling and governance processes require onboarding and owner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Tailored Development Enablement Specialist packet. Related experience spans ASU learning design, Coursera teaching and assessment revisions, the ASU workflow proposal and product research. Course-authoring and product-documentation evidence are distinct from LMS administration or independent publishing-control ownership. Enterprise CI/CD operations, Azure DevOps administration and compliance ownership are not claimed. Mesa is disclosed.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8f249971b4a48e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3f8b64175bc4717" /><Relationship Type="http://schemas.openxmlformats.org/officeDocument/2006/relationships/slideLayout" Target="/ppt/slideLayouts/slideLayout1.xml" Id="R8c16a2324cb2434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c16a2324cb2434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d04a587d6954cba" /><Relationship Type="http://schemas.openxmlformats.org/officeDocument/2006/relationships/image" Target="/ppt/media/image.png" Id="Rdbd5d21af3c74939" /><Relationship Type="http://schemas.openxmlformats.org/officeDocument/2006/relationships/notesSlide" Target="/ppt/notesSlides/notesSlide1.xml" Id="Rfad49d57060f495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549cf69e5c14a84" /><Relationship Type="http://schemas.openxmlformats.org/officeDocument/2006/relationships/image" Target="/ppt/media/image2.png" Id="Rf626fd211a8b4687" /><Relationship Type="http://schemas.openxmlformats.org/officeDocument/2006/relationships/notesSlide" Target="/ppt/notesSlides/notesSlide2.xml" Id="R12ef4733fece4e9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e189d2a1a214c72" /><Relationship Type="http://schemas.openxmlformats.org/officeDocument/2006/relationships/notesSlide" Target="/ppt/notesSlides/notesSlide3.xml" Id="Raa0907977059458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b71b8fcdacc4493" /><Relationship Type="http://schemas.openxmlformats.org/officeDocument/2006/relationships/image" Target="/ppt/media/image3.png" Id="R2f80af724b2446cf" /><Relationship Type="http://schemas.openxmlformats.org/officeDocument/2006/relationships/notesSlide" Target="/ppt/notesSlides/notesSlide4.xml" Id="R0d78f5369c894a9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73c48b9cbf7424e" /><Relationship Type="http://schemas.openxmlformats.org/officeDocument/2006/relationships/notesSlide" Target="/ppt/notesSlides/notesSlide5.xml" Id="R5653559c2ccd481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9819672c2e14dda" /><Relationship Type="http://schemas.openxmlformats.org/officeDocument/2006/relationships/image" Target="/ppt/media/image4.png" Id="R42aa14a826974c36" /><Relationship Type="http://schemas.openxmlformats.org/officeDocument/2006/relationships/image" Target="/ppt/media/image5.png" Id="R11832e0739f94965" /><Relationship Type="http://schemas.openxmlformats.org/officeDocument/2006/relationships/notesSlide" Target="/ppt/notesSlides/notesSlide6.xml" Id="Reb716adf433d474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19d1e333d9f475a" /><Relationship Type="http://schemas.openxmlformats.org/officeDocument/2006/relationships/image" Target="/ppt/media/image6.png" Id="Ref36da83a045487a" /><Relationship Type="http://schemas.openxmlformats.org/officeDocument/2006/relationships/notesSlide" Target="/ppt/notesSlides/notesSlide7.xml" Id="Rd2b577b9b480410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6c57cc6b4674135" /><Relationship Type="http://schemas.openxmlformats.org/officeDocument/2006/relationships/notesSlide" Target="/ppt/notesSlides/notesSlide8.xml" Id="R7c075d8d24224f9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f1439bb8a324f1e" /><Relationship Type="http://schemas.openxmlformats.org/officeDocument/2006/relationships/hyperlink" Target="mailto:JonathanKyleHobson@gmail.com" TargetMode="External" Id="Re0328f8332ff42c8" /><Relationship Type="http://schemas.openxmlformats.org/officeDocument/2006/relationships/hyperlink" Target="https://jonathankhobson.github.io/application-portfolios/horace-mann-development-enablement/" TargetMode="External" Id="Reece65b8b66e4589" /><Relationship Type="http://schemas.openxmlformats.org/officeDocument/2006/relationships/notesSlide" Target="/ppt/notesSlides/notesSlide9.xml" Id="R3a48d44992ae4e03" /></Relationships>
</file>

<file path=ppt/slides/slide1.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bd5d21af3c74939"/>
          <a:srcRect xmlns:a="http://schemas.openxmlformats.org/drawingml/2006/main" l="0" t="7813" r="0" b="78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ection-label">
            <a:extLst xmlns:a="http://schemas.openxmlformats.org/drawingml/2006/main">
              <a:ext uri="{FF2B5EF4-FFF2-40B4-BE49-F238E27FC236}">
                <a16:creationId xmlns:a16="http://schemas.microsoft.com/office/drawing/2014/main" id="{C237EA8D-F431-4E76-8563-16C2A8D0C3C9}"/>
              </a:ext>
            </a:extLst>
          </p:cNvPr>
          <p:cNvSpPr>
            <a:spLocks xmlns:a="http://schemas.openxmlformats.org/drawingml/2006/main" noGrp="1"/>
          </p:cNvSpPr>
          <p:nvPr/>
        </p:nvSpPr>
        <p:spPr>
          <a:xfrm xmlns:a="http://schemas.openxmlformats.org/drawingml/2006/main">
            <a:off x="609600" y="51435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KYLE HOBSON   /   Horace Mann · DEVELOPMENT ENABLEMENT SPECIALIST</a:t>
            </a:r>
          </a:p>
        </p:txBody>
      </p:sp>
      <p:sp>
        <p:nvSpPr>
          <p:cNvPr id="3" name="headline">
            <a:extLst xmlns:a="http://schemas.openxmlformats.org/drawingml/2006/main">
              <a:ext uri="{FF2B5EF4-FFF2-40B4-BE49-F238E27FC236}">
                <a16:creationId xmlns:a16="http://schemas.microsoft.com/office/drawing/2014/main" id="{B02F9EA7-77BA-4763-81E8-9696BD0B85C0}"/>
              </a:ext>
            </a:extLst>
          </p:cNvPr>
          <p:cNvSpPr>
            <a:spLocks xmlns:a="http://schemas.openxmlformats.org/drawingml/2006/main" noGrp="1"/>
          </p:cNvSpPr>
          <p:nvPr/>
        </p:nvSpPr>
        <p:spPr>
          <a:xfrm xmlns:a="http://schemas.openxmlformats.org/drawingml/2006/main">
            <a:off x="609600" y="1581150"/>
            <a:ext cx="10572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350" b="1">
                <a:solidFill>
                  <a:srgbClr val="192B25"/>
                </a:solidFill>
                <a:latin typeface="Helvetica Neue"/>
                <a:ea typeface="Helvetica Neue"/>
                <a:cs typeface="Helvetica Neue"/>
              </a:defRPr>
            </a:pPr>
            <a:r>
              <a:rPr sz="4350" b="1">
                <a:solidFill>
                  <a:srgbClr val="192B25"/>
                </a:solidFill>
                <a:latin typeface="Helvetica Neue"/>
                <a:ea typeface="Helvetica Neue"/>
                <a:cs typeface="Helvetica Neue"/>
              </a:rPr>
              <a:t>Explain the tool.</a:t>
            </a:r>
          </a:p>
          <a:p xmlns:a="http://schemas.openxmlformats.org/drawingml/2006/main">
            <a:pPr>
              <a:lnSpc>
                <a:spcPct val="110000"/>
              </a:lnSpc>
              <a:buNone/>
              <a:defRPr sz="4350" b="1">
                <a:solidFill>
                  <a:srgbClr val="192B25"/>
                </a:solidFill>
                <a:latin typeface="Helvetica Neue"/>
                <a:ea typeface="Helvetica Neue"/>
                <a:cs typeface="Helvetica Neue"/>
              </a:defRPr>
            </a:pPr>
            <a:r>
              <a:rPr sz="4350" b="1">
                <a:solidFill>
                  <a:srgbClr val="192B25"/>
                </a:solidFill>
                <a:latin typeface="Helvetica Neue"/>
                <a:ea typeface="Helvetica Neue"/>
                <a:cs typeface="Helvetica Neue"/>
              </a:rPr>
              <a:t>Keep the task intact.</a:t>
            </a:r>
          </a:p>
        </p:txBody>
      </p:sp>
      <p:sp>
        <p:nvSpPr>
          <p:cNvPr id="4" name="cover-intro">
            <a:extLst xmlns:a="http://schemas.openxmlformats.org/drawingml/2006/main">
              <a:ext uri="{FF2B5EF4-FFF2-40B4-BE49-F238E27FC236}">
                <a16:creationId xmlns:a16="http://schemas.microsoft.com/office/drawing/2014/main" id="{284FF851-C61F-45DD-8C81-4D1BC50D5909}"/>
              </a:ext>
            </a:extLst>
          </p:cNvPr>
          <p:cNvSpPr>
            <a:spLocks xmlns:a="http://schemas.openxmlformats.org/drawingml/2006/main" noGrp="1"/>
          </p:cNvSpPr>
          <p:nvPr/>
        </p:nvSpPr>
        <p:spPr>
          <a:xfrm xmlns:a="http://schemas.openxmlformats.org/drawingml/2006/main">
            <a:off x="647700" y="4067175"/>
            <a:ext cx="1009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Original teaching, local prompt evaluation</a:t>
            </a:r>
          </a:p>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and workflows documented for engineering.</a:t>
            </a:r>
          </a:p>
        </p:txBody>
      </p:sp>
      <p:sp>
        <p:nvSpPr>
          <p:cNvPr id="5" name="cover-role">
            <a:extLst xmlns:a="http://schemas.openxmlformats.org/drawingml/2006/main">
              <a:ext uri="{FF2B5EF4-FFF2-40B4-BE49-F238E27FC236}">
                <a16:creationId xmlns:a16="http://schemas.microsoft.com/office/drawing/2014/main" id="{575350FD-645B-4B4F-A729-BB5DAFF0EBFA}"/>
              </a:ext>
            </a:extLst>
          </p:cNvPr>
          <p:cNvSpPr>
            <a:spLocks xmlns:a="http://schemas.openxmlformats.org/drawingml/2006/main" noGrp="1"/>
          </p:cNvSpPr>
          <p:nvPr/>
        </p:nvSpPr>
        <p:spPr>
          <a:xfrm xmlns:a="http://schemas.openxmlformats.org/drawingml/2006/main">
            <a:off x="647700" y="601980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0">
                <a:solidFill>
                  <a:srgbClr val="192B25"/>
                </a:solidFill>
                <a:latin typeface="Helvetica Neue"/>
                <a:ea typeface="Helvetica Neue"/>
                <a:cs typeface="Helvetica Neue"/>
              </a:defRPr>
            </a:pPr>
            <a:r>
              <a:rPr sz="1500" b="0">
                <a:solidFill>
                  <a:srgbClr val="192B25"/>
                </a:solidFill>
                <a:latin typeface="Helvetica Neue"/>
                <a:ea typeface="Helvetica Neue"/>
                <a:cs typeface="Helvetica Neue"/>
              </a:rPr>
              <a:t>Development Enablement Specialist application · September 2026</a:t>
            </a:r>
          </a:p>
        </p:txBody>
      </p:sp>
      <p:sp>
        <p:nvSpPr>
          <p:cNvPr id="6" name="slide-number">
            <a:extLst xmlns:a="http://schemas.openxmlformats.org/drawingml/2006/main">
              <a:ext uri="{FF2B5EF4-FFF2-40B4-BE49-F238E27FC236}">
                <a16:creationId xmlns:a16="http://schemas.microsoft.com/office/drawing/2014/main" id="{DE3F3A3E-D2C8-4105-ADB1-99FF066C4F41}"/>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01</a:t>
            </a:r>
          </a:p>
        </p:txBody>
      </p:sp>
    </p:spTree>
    <p:extLst>
      <p:ext uri="{BB962C8B-B14F-4D97-AF65-F5344CB8AC3E}">
        <p14:creationId xmlns:p14="http://schemas.microsoft.com/office/powerpoint/2010/main" val="1225217936"/>
      </p:ext>
    </p:extLst>
  </p:cSld>
</p:sld>
</file>

<file path=ppt/slides/slide2.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80F76284-2AAD-4836-8B15-17596C1FB57E}"/>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COURSERA · GUIDED PROJECT   /   ORIGINAL TEACHING, 2024</a:t>
            </a:r>
          </a:p>
        </p:txBody>
      </p:sp>
      <p:sp>
        <p:nvSpPr>
          <p:cNvPr id="2" name="headline">
            <a:extLst xmlns:a="http://schemas.openxmlformats.org/drawingml/2006/main">
              <a:ext uri="{FF2B5EF4-FFF2-40B4-BE49-F238E27FC236}">
                <a16:creationId xmlns:a16="http://schemas.microsoft.com/office/drawing/2014/main" id="{B6F0A9FD-5535-40EB-88B7-19141A1C60BE}"/>
              </a:ext>
            </a:extLst>
          </p:cNvPr>
          <p:cNvSpPr>
            <a:spLocks xmlns:a="http://schemas.openxmlformats.org/drawingml/2006/main" noGrp="1"/>
          </p:cNvSpPr>
          <p:nvPr/>
        </p:nvSpPr>
        <p:spPr>
          <a:xfrm xmlns:a="http://schemas.openxmlformats.org/drawingml/2006/main">
            <a:off x="609600" y="1104900"/>
            <a:ext cx="5000625"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Make revision</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something the</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learner can see</a:t>
            </a:r>
          </a:p>
        </p:txBody>
      </p:sp>
      <p:sp>
        <p:nvSpPr>
          <p:cNvPr id="3" name="teaching-rationale">
            <a:extLst xmlns:a="http://schemas.openxmlformats.org/drawingml/2006/main">
              <a:ext uri="{FF2B5EF4-FFF2-40B4-BE49-F238E27FC236}">
                <a16:creationId xmlns:a16="http://schemas.microsoft.com/office/drawing/2014/main" id="{C4EBF5AE-8259-40C9-9AEF-DC1839E3A724}"/>
              </a:ext>
            </a:extLst>
          </p:cNvPr>
          <p:cNvSpPr>
            <a:spLocks xmlns:a="http://schemas.openxmlformats.org/drawingml/2006/main" noGrp="1"/>
          </p:cNvSpPr>
          <p:nvPr/>
        </p:nvSpPr>
        <p:spPr>
          <a:xfrm xmlns:a="http://schemas.openxmlformats.org/drawingml/2006/main">
            <a:off x="609600" y="3714750"/>
            <a:ext cx="47815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I created a beginner project around drafting, reviewing and refining content against a goal.</a:t>
            </a:r>
          </a:p>
        </p:txBody>
      </p:sp>
      <p:sp>
        <p:nvSpPr>
          <p:cNvPr id="4" name="teaching-boundary">
            <a:extLst xmlns:a="http://schemas.openxmlformats.org/drawingml/2006/main">
              <a:ext uri="{FF2B5EF4-FFF2-40B4-BE49-F238E27FC236}">
                <a16:creationId xmlns:a16="http://schemas.microsoft.com/office/drawing/2014/main" id="{E1045F37-71FE-4AB7-9889-A319894A2F18}"/>
              </a:ext>
            </a:extLst>
          </p:cNvPr>
          <p:cNvSpPr>
            <a:spLocks xmlns:a="http://schemas.openxmlformats.org/drawingml/2006/main" noGrp="1"/>
          </p:cNvSpPr>
          <p:nvPr/>
        </p:nvSpPr>
        <p:spPr>
          <a:xfrm xmlns:a="http://schemas.openxmlformats.org/drawingml/2006/main">
            <a:off x="609600" y="5438775"/>
            <a:ext cx="47815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58645D"/>
                </a:solidFill>
                <a:latin typeface="Helvetica Neue"/>
                <a:ea typeface="Helvetica Neue"/>
                <a:cs typeface="Helvetica Neue"/>
              </a:defRPr>
            </a:pPr>
            <a:r>
              <a:rPr sz="1650" b="0">
                <a:solidFill>
                  <a:srgbClr val="58645D"/>
                </a:solidFill>
                <a:latin typeface="Helvetica Neue"/>
                <a:ea typeface="Helvetica Neue"/>
                <a:cs typeface="Helvetica Neue"/>
              </a:rPr>
              <a:t>Published teaching activity. Learner improvement is not measured here.</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f626fd211a8b4687"/>
          <a:stretch xmlns:a="http://schemas.openxmlformats.org/drawingml/2006/main"/>
        </p:blipFill>
        <p:spPr>
          <a:xfrm xmlns:a="http://schemas.openxmlformats.org/drawingml/2006/main">
            <a:off x="6068841" y="2466975"/>
            <a:ext cx="5454993" cy="3105150"/>
          </a:xfrm>
          <a:prstGeom xmlns:a="http://schemas.openxmlformats.org/drawingml/2006/main" prst="rect">
            <a:avLst/>
          </a:prstGeom>
        </p:spPr>
      </p:pic>
      <p:sp>
        <p:nvSpPr>
          <p:cNvPr id="6" name="teaching-caption">
            <a:extLst xmlns:a="http://schemas.openxmlformats.org/drawingml/2006/main">
              <a:ext uri="{FF2B5EF4-FFF2-40B4-BE49-F238E27FC236}">
                <a16:creationId xmlns:a16="http://schemas.microsoft.com/office/drawing/2014/main" id="{861EE535-713E-4F2E-914B-EE77C763C600}"/>
              </a:ext>
            </a:extLst>
          </p:cNvPr>
          <p:cNvSpPr>
            <a:spLocks xmlns:a="http://schemas.openxmlformats.org/drawingml/2006/main" noGrp="1"/>
          </p:cNvSpPr>
          <p:nvPr/>
        </p:nvSpPr>
        <p:spPr>
          <a:xfrm xmlns:a="http://schemas.openxmlformats.org/drawingml/2006/main">
            <a:off x="6067425" y="5953125"/>
            <a:ext cx="54578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Original 2024 lesson material · goals excerpt</a:t>
            </a:r>
          </a:p>
        </p:txBody>
      </p:sp>
      <p:sp>
        <p:nvSpPr>
          <p:cNvPr id="7" name="slide-number">
            <a:extLst xmlns:a="http://schemas.openxmlformats.org/drawingml/2006/main">
              <a:ext uri="{FF2B5EF4-FFF2-40B4-BE49-F238E27FC236}">
                <a16:creationId xmlns:a16="http://schemas.microsoft.com/office/drawing/2014/main" id="{BE76EF68-97A4-42DF-88EB-2D3C21CC5F0D}"/>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02</a:t>
            </a:r>
          </a:p>
        </p:txBody>
      </p:sp>
    </p:spTree>
    <p:extLst>
      <p:ext uri="{BB962C8B-B14F-4D97-AF65-F5344CB8AC3E}">
        <p14:creationId xmlns:p14="http://schemas.microsoft.com/office/powerpoint/2010/main" val="1277429692"/>
      </p:ext>
    </p:extLst>
  </p:cSld>
</p:sld>
</file>

<file path=ppt/slides/slide3.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6" name="section-label">
            <a:extLst xmlns:a="http://schemas.openxmlformats.org/drawingml/2006/main">
              <a:ext uri="{FF2B5EF4-FFF2-40B4-BE49-F238E27FC236}">
                <a16:creationId xmlns:a16="http://schemas.microsoft.com/office/drawing/2014/main" id="{24C9D231-FEEF-401B-945C-6B4B90828597}"/>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COURSERA   /   ASSESSMENT REVIEW, OCTOBER 2024</a:t>
            </a:r>
          </a:p>
        </p:txBody>
      </p:sp>
      <p:sp>
        <p:nvSpPr>
          <p:cNvPr id="2" name="headline">
            <a:extLst xmlns:a="http://schemas.openxmlformats.org/drawingml/2006/main">
              <a:ext uri="{FF2B5EF4-FFF2-40B4-BE49-F238E27FC236}">
                <a16:creationId xmlns:a16="http://schemas.microsoft.com/office/drawing/2014/main" id="{CB00EF50-3575-4E30-85F8-1A714B516C28}"/>
              </a:ext>
            </a:extLst>
          </p:cNvPr>
          <p:cNvSpPr>
            <a:spLocks xmlns:a="http://schemas.openxmlformats.org/drawingml/2006/main" noGrp="1"/>
          </p:cNvSpPr>
          <p:nvPr/>
        </p:nvSpPr>
        <p:spPr>
          <a:xfrm xmlns:a="http://schemas.openxmlformats.org/drawingml/2006/main">
            <a:off x="609600" y="107632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375" b="1">
                <a:solidFill>
                  <a:srgbClr val="192B25"/>
                </a:solidFill>
                <a:latin typeface="Helvetica Neue"/>
                <a:ea typeface="Helvetica Neue"/>
                <a:cs typeface="Helvetica Neue"/>
              </a:defRPr>
            </a:pPr>
            <a:r>
              <a:rPr sz="3375" b="1">
                <a:solidFill>
                  <a:srgbClr val="192B25"/>
                </a:solidFill>
                <a:latin typeface="Helvetica Neue"/>
                <a:ea typeface="Helvetica Neue"/>
                <a:cs typeface="Helvetica Neue"/>
              </a:rPr>
              <a:t>Make the review change the material</a:t>
            </a:r>
          </a:p>
        </p:txBody>
      </p:sp>
      <p:graphicFrame>
        <p:nvGraphicFramePr>
          <p:cNvPr id="8" name=""/>
          <p:cNvGraphicFramePr/>
          <p:nvPr/>
        </p:nvGraphicFramePr>
        <p:xfrm>
          <a:off xmlns:a="http://schemas.openxmlformats.org/drawingml/2006/main" x="609600" y="2219325"/>
          <a:ext xmlns:a="http://schemas.openxmlformats.org/drawingml/2006/main" cx="10972800" cy="3695700"/>
        </p:xfrm>
        <a:graphic xmlns:a="http://schemas.openxmlformats.org/drawingml/2006/main">
          <a:graphicData uri="http://schemas.openxmlformats.org/drawingml/2006/table">
            <a:tbl>
              <a:tblPr/>
              <a:tblGrid>
                <a:gridCol w="3886200"/>
                <a:gridCol w="7086600"/>
              </a:tblGrid>
              <a:tr h="495300">
                <a:tc>
                  <a:txBody>
                    <a:bodyPr wrap="square" lIns="152400" tIns="114300" rIns="152400" bIns="114300">
                      <a:noAutofit/>
                    </a:bodyPr>
                    <a:lstStyle/>
                    <a:p>
                      <a:r>
                        <a:rPr sz="1650" b="1">
                          <a:solidFill>
                            <a:srgbClr val="F4F2E9"/>
                          </a:solidFill>
                          <a:latin typeface="Helvetica Neue"/>
                          <a:ea typeface="Helvetica Neue"/>
                          <a:cs typeface="Helvetica Neue"/>
                        </a:rPr>
                        <a:t>Review finding</a:t>
                      </a:r>
                    </a:p>
                  </a:txBody>
                  <a:tcPr marL="91440" marR="91440" marT="45720" marB="45720" anchor="ctr">
                    <a:solidFill>
                      <a:srgbClr val="244D3C"/>
                    </a:solidFill>
                  </a:tcPr>
                </a:tc>
                <a:tc>
                  <a:txBody>
                    <a:bodyPr wrap="square" lIns="152400" tIns="114300" rIns="152400" bIns="114300">
                      <a:noAutofit/>
                    </a:bodyPr>
                    <a:lstStyle/>
                    <a:p>
                      <a:r>
                        <a:rPr sz="1650" b="1">
                          <a:solidFill>
                            <a:srgbClr val="F4F2E9"/>
                          </a:solidFill>
                          <a:latin typeface="Helvetica Neue"/>
                          <a:ea typeface="Helvetica Neue"/>
                          <a:cs typeface="Helvetica Neue"/>
                        </a:rPr>
                        <a:t>My documented revision</a:t>
                      </a:r>
                    </a:p>
                  </a:txBody>
                  <a:tcPr marL="91440" marR="91440" marT="45720" marB="45720" anchor="ctr">
                    <a:solidFill>
                      <a:srgbClr val="244D3C"/>
                    </a:solidFill>
                  </a:tcPr>
                </a:tc>
              </a:tr>
              <a:tr h="800100">
                <a:tc>
                  <a:txBody>
                    <a:bodyPr wrap="square" lIns="152400" tIns="114300" rIns="152400" bIns="114300">
                      <a:noAutofit/>
                    </a:bodyPr>
                    <a:lstStyle/>
                    <a:p>
                      <a:r>
                        <a:rPr sz="1650" b="0">
                          <a:solidFill>
                            <a:srgbClr val="192B25"/>
                          </a:solidFill>
                          <a:latin typeface="Helvetica Neue"/>
                          <a:ea typeface="Helvetica Neue"/>
                          <a:cs typeface="Helvetica Neue"/>
                        </a:rPr>
                        <a:t>Choices were easy to eliminate</a:t>
                      </a:r>
                    </a:p>
                  </a:txBody>
                  <a:tcPr marL="91440" marR="91440" marT="45720" marB="45720" anchor="ctr">
                    <a:solidFill>
                      <a:srgbClr val="F4F2E9"/>
                    </a:solidFill>
                  </a:tcPr>
                </a:tc>
                <a:tc>
                  <a:txBody>
                    <a:bodyPr wrap="square" lIns="152400" tIns="114300" rIns="152400" bIns="114300">
                      <a:noAutofit/>
                    </a:bodyPr>
                    <a:lstStyle/>
                    <a:p>
                      <a:r>
                        <a:rPr sz="1650" b="0">
                          <a:solidFill>
                            <a:srgbClr val="192B25"/>
                          </a:solidFill>
                          <a:latin typeface="Helvetica Neue"/>
                          <a:ea typeface="Helvetica Neue"/>
                          <a:cs typeface="Helvetica Neue"/>
                        </a:rPr>
                        <a:t>Reworked distractors, especially Questions 7, 8 and 10.</a:t>
                      </a:r>
                    </a:p>
                  </a:txBody>
                  <a:tcPr marL="91440" marR="91440" marT="45720" marB="45720" anchor="ctr">
                    <a:solidFill>
                      <a:srgbClr val="F4F2E9"/>
                    </a:solidFill>
                  </a:tcPr>
                </a:tc>
              </a:tr>
              <a:tr h="800100">
                <a:tc>
                  <a:txBody>
                    <a:bodyPr wrap="square" lIns="152400" tIns="114300" rIns="152400" bIns="114300">
                      <a:noAutofit/>
                    </a:bodyPr>
                    <a:lstStyle/>
                    <a:p>
                      <a:r>
                        <a:rPr sz="1650" b="0">
                          <a:solidFill>
                            <a:srgbClr val="192B25"/>
                          </a:solidFill>
                          <a:latin typeface="Helvetica Neue"/>
                          <a:ea typeface="Helvetica Neue"/>
                          <a:cs typeface="Helvetica Neue"/>
                        </a:rPr>
                        <a:t>Question 7 tested only a definition</a:t>
                      </a:r>
                    </a:p>
                  </a:txBody>
                  <a:tcPr marL="91440" marR="91440" marT="45720" marB="45720" anchor="ctr">
                    <a:solidFill>
                      <a:srgbClr val="E1E8DB"/>
                    </a:solidFill>
                  </a:tcPr>
                </a:tc>
                <a:tc>
                  <a:txBody>
                    <a:bodyPr wrap="square" lIns="152400" tIns="114300" rIns="152400" bIns="114300">
                      <a:noAutofit/>
                    </a:bodyPr>
                    <a:lstStyle/>
                    <a:p>
                      <a:r>
                        <a:rPr sz="1650" b="0">
                          <a:solidFill>
                            <a:srgbClr val="192B25"/>
                          </a:solidFill>
                          <a:latin typeface="Helvetica Neue"/>
                          <a:ea typeface="Helvetica Neue"/>
                          <a:cs typeface="Helvetica Neue"/>
                        </a:rPr>
                        <a:t>Added application of the concept alongside the definition.</a:t>
                      </a:r>
                    </a:p>
                  </a:txBody>
                  <a:tcPr marL="91440" marR="91440" marT="45720" marB="45720" anchor="ctr">
                    <a:solidFill>
                      <a:srgbClr val="E1E8DB"/>
                    </a:solidFill>
                  </a:tcPr>
                </a:tc>
              </a:tr>
              <a:tr h="800100">
                <a:tc>
                  <a:txBody>
                    <a:bodyPr wrap="square" lIns="152400" tIns="114300" rIns="152400" bIns="114300">
                      <a:noAutofit/>
                    </a:bodyPr>
                    <a:lstStyle/>
                    <a:p>
                      <a:r>
                        <a:rPr sz="1650" b="0">
                          <a:solidFill>
                            <a:srgbClr val="192B25"/>
                          </a:solidFill>
                          <a:latin typeface="Helvetica Neue"/>
                          <a:ea typeface="Helvetica Neue"/>
                          <a:cs typeface="Helvetica Neue"/>
                        </a:rPr>
                        <a:t>Retry feedback revealed answers</a:t>
                      </a:r>
                    </a:p>
                  </a:txBody>
                  <a:tcPr marL="91440" marR="91440" marT="45720" marB="45720" anchor="ctr">
                    <a:solidFill>
                      <a:srgbClr val="F4F2E9"/>
                    </a:solidFill>
                  </a:tcPr>
                </a:tc>
                <a:tc>
                  <a:txBody>
                    <a:bodyPr wrap="square" lIns="152400" tIns="114300" rIns="152400" bIns="114300">
                      <a:noAutofit/>
                    </a:bodyPr>
                    <a:lstStyle/>
                    <a:p>
                      <a:r>
                        <a:rPr sz="1650" b="0">
                          <a:solidFill>
                            <a:srgbClr val="192B25"/>
                          </a:solidFill>
                          <a:latin typeface="Helvetica Neue"/>
                          <a:ea typeface="Helvetica Neue"/>
                          <a:cs typeface="Helvetica Neue"/>
                        </a:rPr>
                        <a:t>Made feedback more neutral and referred learners to the lesson task.</a:t>
                      </a:r>
                    </a:p>
                  </a:txBody>
                  <a:tcPr marL="91440" marR="91440" marT="45720" marB="45720" anchor="ctr">
                    <a:solidFill>
                      <a:srgbClr val="F4F2E9"/>
                    </a:solidFill>
                  </a:tcPr>
                </a:tc>
              </a:tr>
              <a:tr h="800100">
                <a:tc>
                  <a:txBody>
                    <a:bodyPr wrap="square" lIns="152400" tIns="114300" rIns="152400" bIns="114300">
                      <a:noAutofit/>
                    </a:bodyPr>
                    <a:lstStyle/>
                    <a:p>
                      <a:r>
                        <a:rPr sz="1650" b="0">
                          <a:solidFill>
                            <a:srgbClr val="192B25"/>
                          </a:solidFill>
                          <a:latin typeface="Helvetica Neue"/>
                          <a:ea typeface="Helvetica Neue"/>
                          <a:cs typeface="Helvetica Neue"/>
                        </a:rPr>
                        <a:t>Task references were incorrect</a:t>
                      </a:r>
                    </a:p>
                  </a:txBody>
                  <a:tcPr marL="91440" marR="91440" marT="45720" marB="45720" anchor="ctr">
                    <a:solidFill>
                      <a:srgbClr val="E1E8DB"/>
                    </a:solidFill>
                  </a:tcPr>
                </a:tc>
                <a:tc>
                  <a:txBody>
                    <a:bodyPr wrap="square" lIns="152400" tIns="114300" rIns="152400" bIns="114300">
                      <a:noAutofit/>
                    </a:bodyPr>
                    <a:lstStyle/>
                    <a:p>
                      <a:r>
                        <a:rPr sz="1650" b="0">
                          <a:solidFill>
                            <a:srgbClr val="192B25"/>
                          </a:solidFill>
                          <a:latin typeface="Helvetica Neue"/>
                          <a:ea typeface="Helvetica Neue"/>
                          <a:cs typeface="Helvetica Neue"/>
                        </a:rPr>
                        <a:t>Corrected references across the assessment.</a:t>
                      </a:r>
                    </a:p>
                  </a:txBody>
                  <a:tcPr marL="91440" marR="91440" marT="45720" marB="45720" anchor="ctr">
                    <a:solidFill>
                      <a:srgbClr val="E1E8DB"/>
                    </a:solidFill>
                  </a:tcPr>
                </a:tc>
              </a:tr>
            </a:tbl>
          </a:graphicData>
        </a:graphic>
      </p:graphicFrame>
      <p:sp>
        <p:nvSpPr>
          <p:cNvPr id="4" name="review-source">
            <a:extLst xmlns:a="http://schemas.openxmlformats.org/drawingml/2006/main">
              <a:ext uri="{FF2B5EF4-FFF2-40B4-BE49-F238E27FC236}">
                <a16:creationId xmlns:a16="http://schemas.microsoft.com/office/drawing/2014/main" id="{66AA522B-C6D8-4F93-9F52-F397FED0F1A5}"/>
              </a:ext>
            </a:extLst>
          </p:cNvPr>
          <p:cNvSpPr>
            <a:spLocks xmlns:a="http://schemas.openxmlformats.org/drawingml/2006/main" noGrp="1"/>
          </p:cNvSpPr>
          <p:nvPr/>
        </p:nvSpPr>
        <p:spPr>
          <a:xfrm xmlns:a="http://schemas.openxmlformats.org/drawingml/2006/main">
            <a:off x="609600" y="6257925"/>
            <a:ext cx="10906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Paraphrased original review and instructor-response notes · revisions, not final QA signoff</a:t>
            </a:r>
          </a:p>
        </p:txBody>
      </p:sp>
      <p:sp>
        <p:nvSpPr>
          <p:cNvPr id="5" name="slide-number">
            <a:extLst xmlns:a="http://schemas.openxmlformats.org/drawingml/2006/main">
              <a:ext uri="{FF2B5EF4-FFF2-40B4-BE49-F238E27FC236}">
                <a16:creationId xmlns:a16="http://schemas.microsoft.com/office/drawing/2014/main" id="{993D73F0-DCD7-4D73-8DD6-C6AEA4E35718}"/>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03</a:t>
            </a:r>
          </a:p>
        </p:txBody>
      </p:sp>
    </p:spTree>
    <p:extLst>
      <p:ext uri="{BB962C8B-B14F-4D97-AF65-F5344CB8AC3E}">
        <p14:creationId xmlns:p14="http://schemas.microsoft.com/office/powerpoint/2010/main" val="86489599"/>
      </p:ext>
    </p:extLst>
  </p:cSld>
</p:sld>
</file>

<file path=ppt/slides/slide4.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6" name="section-label">
            <a:extLst xmlns:a="http://schemas.openxmlformats.org/drawingml/2006/main">
              <a:ext uri="{FF2B5EF4-FFF2-40B4-BE49-F238E27FC236}">
                <a16:creationId xmlns:a16="http://schemas.microsoft.com/office/drawing/2014/main" id="{E45DD1C4-F028-4845-B46A-593C3BE1A2C3}"/>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PROMPT COMPASS   /   LOCAL REGRESSION EXAMPLE, MAY 2026</a:t>
            </a:r>
          </a:p>
        </p:txBody>
      </p:sp>
      <p:sp>
        <p:nvSpPr>
          <p:cNvPr id="2" name="headline">
            <a:extLst xmlns:a="http://schemas.openxmlformats.org/drawingml/2006/main">
              <a:ext uri="{FF2B5EF4-FFF2-40B4-BE49-F238E27FC236}">
                <a16:creationId xmlns:a16="http://schemas.microsoft.com/office/drawing/2014/main" id="{BAF01040-BE74-4DCC-AF8B-99235F46FA3F}"/>
              </a:ext>
            </a:extLst>
          </p:cNvPr>
          <p:cNvSpPr>
            <a:spLocks xmlns:a="http://schemas.openxmlformats.org/drawingml/2006/main" noGrp="1"/>
          </p:cNvSpPr>
          <p:nvPr/>
        </p:nvSpPr>
        <p:spPr>
          <a:xfrm xmlns:a="http://schemas.openxmlformats.org/drawingml/2006/main">
            <a:off x="609600" y="1038225"/>
            <a:ext cx="10810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A cleaner rewrite can lose the task</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2f80af724b2446cf"/>
          <a:stretch xmlns:a="http://schemas.openxmlformats.org/drawingml/2006/main"/>
        </p:blipFill>
        <p:spPr>
          <a:xfrm xmlns:a="http://schemas.openxmlformats.org/drawingml/2006/main">
            <a:off x="741293" y="2009775"/>
            <a:ext cx="10709413" cy="4105275"/>
          </a:xfrm>
          <a:prstGeom xmlns:a="http://schemas.openxmlformats.org/drawingml/2006/main" prst="rect">
            <a:avLst/>
          </a:prstGeom>
        </p:spPr>
      </p:pic>
      <p:sp>
        <p:nvSpPr>
          <p:cNvPr id="4" name="prompt-test-purpose">
            <a:extLst xmlns:a="http://schemas.openxmlformats.org/drawingml/2006/main">
              <a:ext uri="{FF2B5EF4-FFF2-40B4-BE49-F238E27FC236}">
                <a16:creationId xmlns:a16="http://schemas.microsoft.com/office/drawing/2014/main" id="{29C7051B-81E0-4ECF-8420-335AE3159D08}"/>
              </a:ext>
            </a:extLst>
          </p:cNvPr>
          <p:cNvSpPr>
            <a:spLocks xmlns:a="http://schemas.openxmlformats.org/drawingml/2006/main" noGrp="1"/>
          </p:cNvSpPr>
          <p:nvPr/>
        </p:nvSpPr>
        <p:spPr>
          <a:xfrm xmlns:a="http://schemas.openxmlformats.org/drawingml/2006/main">
            <a:off x="609600" y="6238875"/>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Original test inputs, excerpted from the portfolio rendering · expected winner: original prompt</a:t>
            </a:r>
          </a:p>
        </p:txBody>
      </p:sp>
      <p:sp>
        <p:nvSpPr>
          <p:cNvPr id="5" name="slide-number">
            <a:extLst xmlns:a="http://schemas.openxmlformats.org/drawingml/2006/main">
              <a:ext uri="{FF2B5EF4-FFF2-40B4-BE49-F238E27FC236}">
                <a16:creationId xmlns:a16="http://schemas.microsoft.com/office/drawing/2014/main" id="{018C797D-4707-4A0B-B4EB-1A86A0A5C64D}"/>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04</a:t>
            </a:r>
          </a:p>
        </p:txBody>
      </p:sp>
    </p:spTree>
    <p:extLst>
      <p:ext uri="{BB962C8B-B14F-4D97-AF65-F5344CB8AC3E}">
        <p14:creationId xmlns:p14="http://schemas.microsoft.com/office/powerpoint/2010/main" val="187468164"/>
      </p:ext>
    </p:extLst>
  </p:cSld>
</p:sld>
</file>

<file path=ppt/slides/slide5.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35" name="section-label">
            <a:extLst xmlns:a="http://schemas.openxmlformats.org/drawingml/2006/main">
              <a:ext uri="{FF2B5EF4-FFF2-40B4-BE49-F238E27FC236}">
                <a16:creationId xmlns:a16="http://schemas.microsoft.com/office/drawing/2014/main" id="{5262D531-5BA2-4B26-A1C3-07308C0CF51E}"/>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ASU LEARNING INNOVATIONS   /   2024 WORKFLOW PROPOSAL</a:t>
            </a:r>
          </a:p>
        </p:txBody>
      </p:sp>
      <p:sp>
        <p:nvSpPr>
          <p:cNvPr id="2" name="headline">
            <a:extLst xmlns:a="http://schemas.openxmlformats.org/drawingml/2006/main">
              <a:ext uri="{FF2B5EF4-FFF2-40B4-BE49-F238E27FC236}">
                <a16:creationId xmlns:a16="http://schemas.microsoft.com/office/drawing/2014/main" id="{9ABA5888-4182-44DE-A33E-003C7A511A5D}"/>
              </a:ext>
            </a:extLst>
          </p:cNvPr>
          <p:cNvSpPr>
            <a:spLocks xmlns:a="http://schemas.openxmlformats.org/drawingml/2006/main" noGrp="1"/>
          </p:cNvSpPr>
          <p:nvPr/>
        </p:nvSpPr>
        <p:spPr>
          <a:xfrm xmlns:a="http://schemas.openxmlformats.org/drawingml/2006/main">
            <a:off x="609600" y="109537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300" b="1">
                <a:solidFill>
                  <a:srgbClr val="192B25"/>
                </a:solidFill>
                <a:latin typeface="Helvetica Neue"/>
                <a:ea typeface="Helvetica Neue"/>
                <a:cs typeface="Helvetica Neue"/>
              </a:defRPr>
            </a:pPr>
            <a:r>
              <a:rPr sz="3300" b="1">
                <a:solidFill>
                  <a:srgbClr val="192B25"/>
                </a:solidFill>
                <a:latin typeface="Helvetica Neue"/>
                <a:ea typeface="Helvetica Neue"/>
                <a:cs typeface="Helvetica Neue"/>
              </a:rPr>
              <a:t>Human review before learner-facing tasks</a:t>
            </a:r>
          </a:p>
        </p:txBody>
      </p:sp>
      <p:sp>
        <p:nvSpPr>
          <p:cNvPr id="3" name="asu-context">
            <a:extLst xmlns:a="http://schemas.openxmlformats.org/drawingml/2006/main">
              <a:ext uri="{FF2B5EF4-FFF2-40B4-BE49-F238E27FC236}">
                <a16:creationId xmlns:a16="http://schemas.microsoft.com/office/drawing/2014/main" id="{7FA35E1A-1CCC-4791-BFAC-AF76D77C8360}"/>
              </a:ext>
            </a:extLst>
          </p:cNvPr>
          <p:cNvSpPr>
            <a:spLocks xmlns:a="http://schemas.openxmlformats.org/drawingml/2006/main" noGrp="1"/>
          </p:cNvSpPr>
          <p:nvPr/>
        </p:nvSpPr>
        <p:spPr>
          <a:xfrm xmlns:a="http://schemas.openxmlformats.org/drawingml/2006/main">
            <a:off x="609600" y="20478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A staged prompt workflow for personalized learner tasks.</a:t>
            </a:r>
          </a:p>
        </p:txBody>
      </p:sp>
      <p:sp>
        <p:nvSpPr>
          <p:cNvPr id="4" name="workflow-node-01">
            <a:extLst xmlns:a="http://schemas.openxmlformats.org/drawingml/2006/main">
              <a:ext uri="{FF2B5EF4-FFF2-40B4-BE49-F238E27FC236}">
                <a16:creationId xmlns:a16="http://schemas.microsoft.com/office/drawing/2014/main" id="{A13F08C5-A0DE-4024-8EC2-D603C5302898}"/>
              </a:ext>
            </a:extLst>
          </p:cNvPr>
          <p:cNvSpPr>
            <a:spLocks xmlns:a="http://schemas.openxmlformats.org/drawingml/2006/main" noGrp="1"/>
          </p:cNvSpPr>
          <p:nvPr/>
        </p:nvSpPr>
        <p:spPr>
          <a:xfrm xmlns:a="http://schemas.openxmlformats.org/drawingml/2006/main">
            <a:off x="609600" y="2895600"/>
            <a:ext cx="3333750" cy="12477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5" name="node-index-01">
            <a:extLst xmlns:a="http://schemas.openxmlformats.org/drawingml/2006/main">
              <a:ext uri="{FF2B5EF4-FFF2-40B4-BE49-F238E27FC236}">
                <a16:creationId xmlns:a16="http://schemas.microsoft.com/office/drawing/2014/main" id="{09931AB8-0794-46B7-BCDE-403690839FFB}"/>
              </a:ext>
            </a:extLst>
          </p:cNvPr>
          <p:cNvSpPr>
            <a:spLocks xmlns:a="http://schemas.openxmlformats.org/drawingml/2006/main" noGrp="1"/>
          </p:cNvSpPr>
          <p:nvPr/>
        </p:nvSpPr>
        <p:spPr>
          <a:xfrm xmlns:a="http://schemas.openxmlformats.org/drawingml/2006/main">
            <a:off x="781050" y="3028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01</a:t>
            </a:r>
          </a:p>
        </p:txBody>
      </p:sp>
      <p:sp>
        <p:nvSpPr>
          <p:cNvPr id="6" name="node-label-01">
            <a:extLst xmlns:a="http://schemas.openxmlformats.org/drawingml/2006/main">
              <a:ext uri="{FF2B5EF4-FFF2-40B4-BE49-F238E27FC236}">
                <a16:creationId xmlns:a16="http://schemas.microsoft.com/office/drawing/2014/main" id="{9543FB06-FE8A-4059-8790-E7CF3EE8793F}"/>
              </a:ext>
            </a:extLst>
          </p:cNvPr>
          <p:cNvSpPr>
            <a:spLocks xmlns:a="http://schemas.openxmlformats.org/drawingml/2006/main" noGrp="1"/>
          </p:cNvSpPr>
          <p:nvPr/>
        </p:nvSpPr>
        <p:spPr>
          <a:xfrm xmlns:a="http://schemas.openxmlformats.org/drawingml/2006/main">
            <a:off x="781050" y="3305175"/>
            <a:ext cx="2990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92B25"/>
                </a:solidFill>
                <a:latin typeface="Helvetica Neue"/>
                <a:ea typeface="Helvetica Neue"/>
                <a:cs typeface="Helvetica Neue"/>
              </a:defRPr>
            </a:pPr>
            <a:r>
              <a:rPr sz="1650" b="1">
                <a:solidFill>
                  <a:srgbClr val="192B25"/>
                </a:solidFill>
                <a:latin typeface="Helvetica Neue"/>
                <a:ea typeface="Helvetica Neue"/>
                <a:cs typeface="Helvetica Neue"/>
              </a:rPr>
              <a:t>Condense learner context</a:t>
            </a:r>
          </a:p>
        </p:txBody>
      </p:sp>
      <p:sp>
        <p:nvSpPr>
          <p:cNvPr id="7" name="node-detail-01">
            <a:extLst xmlns:a="http://schemas.openxmlformats.org/drawingml/2006/main">
              <a:ext uri="{FF2B5EF4-FFF2-40B4-BE49-F238E27FC236}">
                <a16:creationId xmlns:a16="http://schemas.microsoft.com/office/drawing/2014/main" id="{200506B7-39A8-4741-956E-4564EE5AEF01}"/>
              </a:ext>
            </a:extLst>
          </p:cNvPr>
          <p:cNvSpPr>
            <a:spLocks xmlns:a="http://schemas.openxmlformats.org/drawingml/2006/main" noGrp="1"/>
          </p:cNvSpPr>
          <p:nvPr/>
        </p:nvSpPr>
        <p:spPr>
          <a:xfrm xmlns:a="http://schemas.openxmlformats.org/drawingml/2006/main">
            <a:off x="781050" y="3800475"/>
            <a:ext cx="2990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Prepare context for review.</a:t>
            </a:r>
          </a:p>
        </p:txBody>
      </p:sp>
      <p:sp>
        <p:nvSpPr>
          <p:cNvPr id="8" name="workflow-node-02">
            <a:extLst xmlns:a="http://schemas.openxmlformats.org/drawingml/2006/main">
              <a:ext uri="{FF2B5EF4-FFF2-40B4-BE49-F238E27FC236}">
                <a16:creationId xmlns:a16="http://schemas.microsoft.com/office/drawing/2014/main" id="{375C623A-B787-4116-A981-DDC7EB5C725B}"/>
              </a:ext>
            </a:extLst>
          </p:cNvPr>
          <p:cNvSpPr>
            <a:spLocks xmlns:a="http://schemas.openxmlformats.org/drawingml/2006/main" noGrp="1"/>
          </p:cNvSpPr>
          <p:nvPr/>
        </p:nvSpPr>
        <p:spPr>
          <a:xfrm xmlns:a="http://schemas.openxmlformats.org/drawingml/2006/main">
            <a:off x="4324350" y="2895600"/>
            <a:ext cx="3333750" cy="1247775"/>
          </a:xfrm>
          <a:prstGeom xmlns:a="http://schemas.openxmlformats.org/drawingml/2006/main" prst="rect">
            <a:avLst/>
          </a:prstGeom>
          <a:solidFill xmlns:a="http://schemas.openxmlformats.org/drawingml/2006/main">
            <a:srgbClr val="E1E8DB"/>
          </a:solidFill>
          <a:ln xmlns:a="http://schemas.openxmlformats.org/drawingml/2006/main" w="19050">
            <a:solidFill>
              <a:srgbClr val="244D3C"/>
            </a:solidFill>
          </a:ln>
        </p:spPr>
      </p:sp>
      <p:sp>
        <p:nvSpPr>
          <p:cNvPr id="9" name="node-index-02">
            <a:extLst xmlns:a="http://schemas.openxmlformats.org/drawingml/2006/main">
              <a:ext uri="{FF2B5EF4-FFF2-40B4-BE49-F238E27FC236}">
                <a16:creationId xmlns:a16="http://schemas.microsoft.com/office/drawing/2014/main" id="{45C53543-2B54-4A93-8BCB-9FB2D312F234}"/>
              </a:ext>
            </a:extLst>
          </p:cNvPr>
          <p:cNvSpPr>
            <a:spLocks xmlns:a="http://schemas.openxmlformats.org/drawingml/2006/main" noGrp="1"/>
          </p:cNvSpPr>
          <p:nvPr/>
        </p:nvSpPr>
        <p:spPr>
          <a:xfrm xmlns:a="http://schemas.openxmlformats.org/drawingml/2006/main">
            <a:off x="4495800" y="3028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02</a:t>
            </a:r>
          </a:p>
        </p:txBody>
      </p:sp>
      <p:sp>
        <p:nvSpPr>
          <p:cNvPr id="10" name="node-label-02">
            <a:extLst xmlns:a="http://schemas.openxmlformats.org/drawingml/2006/main">
              <a:ext uri="{FF2B5EF4-FFF2-40B4-BE49-F238E27FC236}">
                <a16:creationId xmlns:a16="http://schemas.microsoft.com/office/drawing/2014/main" id="{385E24DA-5217-400F-B7B3-E5154FD4E7F5}"/>
              </a:ext>
            </a:extLst>
          </p:cNvPr>
          <p:cNvSpPr>
            <a:spLocks xmlns:a="http://schemas.openxmlformats.org/drawingml/2006/main" noGrp="1"/>
          </p:cNvSpPr>
          <p:nvPr/>
        </p:nvSpPr>
        <p:spPr>
          <a:xfrm xmlns:a="http://schemas.openxmlformats.org/drawingml/2006/main">
            <a:off x="4495800" y="3305175"/>
            <a:ext cx="2990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92B25"/>
                </a:solidFill>
                <a:latin typeface="Helvetica Neue"/>
                <a:ea typeface="Helvetica Neue"/>
                <a:cs typeface="Helvetica Neue"/>
              </a:defRPr>
            </a:pPr>
            <a:r>
              <a:rPr sz="1650" b="1">
                <a:solidFill>
                  <a:srgbClr val="192B25"/>
                </a:solidFill>
                <a:latin typeface="Helvetica Neue"/>
                <a:ea typeface="Helvetica Neue"/>
                <a:cs typeface="Helvetica Neue"/>
              </a:rPr>
              <a:t>Mentor validates context</a:t>
            </a:r>
          </a:p>
        </p:txBody>
      </p:sp>
      <p:sp>
        <p:nvSpPr>
          <p:cNvPr id="11" name="node-detail-02">
            <a:extLst xmlns:a="http://schemas.openxmlformats.org/drawingml/2006/main">
              <a:ext uri="{FF2B5EF4-FFF2-40B4-BE49-F238E27FC236}">
                <a16:creationId xmlns:a16="http://schemas.microsoft.com/office/drawing/2014/main" id="{028F590D-969B-493F-9620-5C38151C1EA9}"/>
              </a:ext>
            </a:extLst>
          </p:cNvPr>
          <p:cNvSpPr>
            <a:spLocks xmlns:a="http://schemas.openxmlformats.org/drawingml/2006/main" noGrp="1"/>
          </p:cNvSpPr>
          <p:nvPr/>
        </p:nvSpPr>
        <p:spPr>
          <a:xfrm xmlns:a="http://schemas.openxmlformats.org/drawingml/2006/main">
            <a:off x="4495800" y="3800475"/>
            <a:ext cx="2990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Check the interpretation.</a:t>
            </a:r>
          </a:p>
        </p:txBody>
      </p:sp>
      <p:sp>
        <p:nvSpPr>
          <p:cNvPr id="12" name="workflow-node-03">
            <a:extLst xmlns:a="http://schemas.openxmlformats.org/drawingml/2006/main">
              <a:ext uri="{FF2B5EF4-FFF2-40B4-BE49-F238E27FC236}">
                <a16:creationId xmlns:a16="http://schemas.microsoft.com/office/drawing/2014/main" id="{43DD80C2-EB46-4982-AF60-714054D9342A}"/>
              </a:ext>
            </a:extLst>
          </p:cNvPr>
          <p:cNvSpPr>
            <a:spLocks xmlns:a="http://schemas.openxmlformats.org/drawingml/2006/main" noGrp="1"/>
          </p:cNvSpPr>
          <p:nvPr/>
        </p:nvSpPr>
        <p:spPr>
          <a:xfrm xmlns:a="http://schemas.openxmlformats.org/drawingml/2006/main">
            <a:off x="8039100" y="2895600"/>
            <a:ext cx="3333750" cy="12477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3" name="node-index-03">
            <a:extLst xmlns:a="http://schemas.openxmlformats.org/drawingml/2006/main">
              <a:ext uri="{FF2B5EF4-FFF2-40B4-BE49-F238E27FC236}">
                <a16:creationId xmlns:a16="http://schemas.microsoft.com/office/drawing/2014/main" id="{C29BB9C7-E684-444A-AA91-8F10210596A8}"/>
              </a:ext>
            </a:extLst>
          </p:cNvPr>
          <p:cNvSpPr>
            <a:spLocks xmlns:a="http://schemas.openxmlformats.org/drawingml/2006/main" noGrp="1"/>
          </p:cNvSpPr>
          <p:nvPr/>
        </p:nvSpPr>
        <p:spPr>
          <a:xfrm xmlns:a="http://schemas.openxmlformats.org/drawingml/2006/main">
            <a:off x="8210550" y="30289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03</a:t>
            </a:r>
          </a:p>
        </p:txBody>
      </p:sp>
      <p:sp>
        <p:nvSpPr>
          <p:cNvPr id="14" name="node-label-03">
            <a:extLst xmlns:a="http://schemas.openxmlformats.org/drawingml/2006/main">
              <a:ext uri="{FF2B5EF4-FFF2-40B4-BE49-F238E27FC236}">
                <a16:creationId xmlns:a16="http://schemas.microsoft.com/office/drawing/2014/main" id="{54C030E8-FD5C-47F6-8B5E-695E61F47094}"/>
              </a:ext>
            </a:extLst>
          </p:cNvPr>
          <p:cNvSpPr>
            <a:spLocks xmlns:a="http://schemas.openxmlformats.org/drawingml/2006/main" noGrp="1"/>
          </p:cNvSpPr>
          <p:nvPr/>
        </p:nvSpPr>
        <p:spPr>
          <a:xfrm xmlns:a="http://schemas.openxmlformats.org/drawingml/2006/main">
            <a:off x="8210550" y="3305175"/>
            <a:ext cx="2990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92B25"/>
                </a:solidFill>
                <a:latin typeface="Helvetica Neue"/>
                <a:ea typeface="Helvetica Neue"/>
                <a:cs typeface="Helvetica Neue"/>
              </a:defRPr>
            </a:pPr>
            <a:r>
              <a:rPr sz="1650" b="1">
                <a:solidFill>
                  <a:srgbClr val="192B25"/>
                </a:solidFill>
                <a:latin typeface="Helvetica Neue"/>
                <a:ea typeface="Helvetica Neue"/>
                <a:cs typeface="Helvetica Neue"/>
              </a:rPr>
              <a:t>Personalize task template</a:t>
            </a:r>
          </a:p>
        </p:txBody>
      </p:sp>
      <p:sp>
        <p:nvSpPr>
          <p:cNvPr id="15" name="node-detail-03">
            <a:extLst xmlns:a="http://schemas.openxmlformats.org/drawingml/2006/main">
              <a:ext uri="{FF2B5EF4-FFF2-40B4-BE49-F238E27FC236}">
                <a16:creationId xmlns:a16="http://schemas.microsoft.com/office/drawing/2014/main" id="{7A824EE0-412B-4143-B37A-3BB2F7051AD8}"/>
              </a:ext>
            </a:extLst>
          </p:cNvPr>
          <p:cNvSpPr>
            <a:spLocks xmlns:a="http://schemas.openxmlformats.org/drawingml/2006/main" noGrp="1"/>
          </p:cNvSpPr>
          <p:nvPr/>
        </p:nvSpPr>
        <p:spPr>
          <a:xfrm xmlns:a="http://schemas.openxmlformats.org/drawingml/2006/main">
            <a:off x="8210550" y="3800475"/>
            <a:ext cx="2990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Use the reviewed context.</a:t>
            </a:r>
          </a:p>
        </p:txBody>
      </p:sp>
      <p:sp>
        <p:nvSpPr>
          <p:cNvPr id="16" name="workflow-node-04">
            <a:extLst xmlns:a="http://schemas.openxmlformats.org/drawingml/2006/main">
              <a:ext uri="{FF2B5EF4-FFF2-40B4-BE49-F238E27FC236}">
                <a16:creationId xmlns:a16="http://schemas.microsoft.com/office/drawing/2014/main" id="{B23009E3-1F39-4B95-924F-E6E14C3AC9F8}"/>
              </a:ext>
            </a:extLst>
          </p:cNvPr>
          <p:cNvSpPr>
            <a:spLocks xmlns:a="http://schemas.openxmlformats.org/drawingml/2006/main" noGrp="1"/>
          </p:cNvSpPr>
          <p:nvPr/>
        </p:nvSpPr>
        <p:spPr>
          <a:xfrm xmlns:a="http://schemas.openxmlformats.org/drawingml/2006/main">
            <a:off x="8039100" y="4657725"/>
            <a:ext cx="3333750" cy="12477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7" name="node-index-04">
            <a:extLst xmlns:a="http://schemas.openxmlformats.org/drawingml/2006/main">
              <a:ext uri="{FF2B5EF4-FFF2-40B4-BE49-F238E27FC236}">
                <a16:creationId xmlns:a16="http://schemas.microsoft.com/office/drawing/2014/main" id="{0336FB27-4727-4D90-AD9C-E157C8841E9E}"/>
              </a:ext>
            </a:extLst>
          </p:cNvPr>
          <p:cNvSpPr>
            <a:spLocks xmlns:a="http://schemas.openxmlformats.org/drawingml/2006/main" noGrp="1"/>
          </p:cNvSpPr>
          <p:nvPr/>
        </p:nvSpPr>
        <p:spPr>
          <a:xfrm xmlns:a="http://schemas.openxmlformats.org/drawingml/2006/main">
            <a:off x="8210550" y="4791075"/>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04</a:t>
            </a:r>
          </a:p>
        </p:txBody>
      </p:sp>
      <p:sp>
        <p:nvSpPr>
          <p:cNvPr id="18" name="node-label-04">
            <a:extLst xmlns:a="http://schemas.openxmlformats.org/drawingml/2006/main">
              <a:ext uri="{FF2B5EF4-FFF2-40B4-BE49-F238E27FC236}">
                <a16:creationId xmlns:a16="http://schemas.microsoft.com/office/drawing/2014/main" id="{5B157B5B-8B40-4986-8F05-645862FEFF0F}"/>
              </a:ext>
            </a:extLst>
          </p:cNvPr>
          <p:cNvSpPr>
            <a:spLocks xmlns:a="http://schemas.openxmlformats.org/drawingml/2006/main" noGrp="1"/>
          </p:cNvSpPr>
          <p:nvPr/>
        </p:nvSpPr>
        <p:spPr>
          <a:xfrm xmlns:a="http://schemas.openxmlformats.org/drawingml/2006/main">
            <a:off x="8210550" y="5067300"/>
            <a:ext cx="2990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92B25"/>
                </a:solidFill>
                <a:latin typeface="Helvetica Neue"/>
                <a:ea typeface="Helvetica Neue"/>
                <a:cs typeface="Helvetica Neue"/>
              </a:defRPr>
            </a:pPr>
            <a:r>
              <a:rPr sz="1650" b="1">
                <a:solidFill>
                  <a:srgbClr val="192B25"/>
                </a:solidFill>
                <a:latin typeface="Helvetica Neue"/>
                <a:ea typeface="Helvetica Neue"/>
                <a:cs typeface="Helvetica Neue"/>
              </a:rPr>
              <a:t>Generate and refine tasks</a:t>
            </a:r>
          </a:p>
        </p:txBody>
      </p:sp>
      <p:sp>
        <p:nvSpPr>
          <p:cNvPr id="19" name="node-detail-04">
            <a:extLst xmlns:a="http://schemas.openxmlformats.org/drawingml/2006/main">
              <a:ext uri="{FF2B5EF4-FFF2-40B4-BE49-F238E27FC236}">
                <a16:creationId xmlns:a16="http://schemas.microsoft.com/office/drawing/2014/main" id="{A470D706-EF2C-4AE3-836F-4F21EB5CD152}"/>
              </a:ext>
            </a:extLst>
          </p:cNvPr>
          <p:cNvSpPr>
            <a:spLocks xmlns:a="http://schemas.openxmlformats.org/drawingml/2006/main" noGrp="1"/>
          </p:cNvSpPr>
          <p:nvPr/>
        </p:nvSpPr>
        <p:spPr>
          <a:xfrm xmlns:a="http://schemas.openxmlformats.org/drawingml/2006/main">
            <a:off x="8210550" y="5562600"/>
            <a:ext cx="2990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Prepare candidate tasks.</a:t>
            </a:r>
          </a:p>
        </p:txBody>
      </p:sp>
      <p:sp>
        <p:nvSpPr>
          <p:cNvPr id="20" name="workflow-node-05">
            <a:extLst xmlns:a="http://schemas.openxmlformats.org/drawingml/2006/main">
              <a:ext uri="{FF2B5EF4-FFF2-40B4-BE49-F238E27FC236}">
                <a16:creationId xmlns:a16="http://schemas.microsoft.com/office/drawing/2014/main" id="{71D38357-5C84-40FE-AD28-5C91CCEBC9EF}"/>
              </a:ext>
            </a:extLst>
          </p:cNvPr>
          <p:cNvSpPr>
            <a:spLocks xmlns:a="http://schemas.openxmlformats.org/drawingml/2006/main" noGrp="1"/>
          </p:cNvSpPr>
          <p:nvPr/>
        </p:nvSpPr>
        <p:spPr>
          <a:xfrm xmlns:a="http://schemas.openxmlformats.org/drawingml/2006/main">
            <a:off x="4324350" y="4657725"/>
            <a:ext cx="3333750" cy="1247775"/>
          </a:xfrm>
          <a:prstGeom xmlns:a="http://schemas.openxmlformats.org/drawingml/2006/main" prst="rect">
            <a:avLst/>
          </a:prstGeom>
          <a:solidFill xmlns:a="http://schemas.openxmlformats.org/drawingml/2006/main">
            <a:srgbClr val="E1E8DB"/>
          </a:solidFill>
          <a:ln xmlns:a="http://schemas.openxmlformats.org/drawingml/2006/main" w="19050">
            <a:solidFill>
              <a:srgbClr val="244D3C"/>
            </a:solidFill>
          </a:ln>
        </p:spPr>
      </p:sp>
      <p:sp>
        <p:nvSpPr>
          <p:cNvPr id="21" name="node-index-05">
            <a:extLst xmlns:a="http://schemas.openxmlformats.org/drawingml/2006/main">
              <a:ext uri="{FF2B5EF4-FFF2-40B4-BE49-F238E27FC236}">
                <a16:creationId xmlns:a16="http://schemas.microsoft.com/office/drawing/2014/main" id="{767BE461-17C2-43F3-9052-10677A917259}"/>
              </a:ext>
            </a:extLst>
          </p:cNvPr>
          <p:cNvSpPr>
            <a:spLocks xmlns:a="http://schemas.openxmlformats.org/drawingml/2006/main" noGrp="1"/>
          </p:cNvSpPr>
          <p:nvPr/>
        </p:nvSpPr>
        <p:spPr>
          <a:xfrm xmlns:a="http://schemas.openxmlformats.org/drawingml/2006/main">
            <a:off x="4495800" y="4791075"/>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05</a:t>
            </a:r>
          </a:p>
        </p:txBody>
      </p:sp>
      <p:sp>
        <p:nvSpPr>
          <p:cNvPr id="22" name="node-label-05">
            <a:extLst xmlns:a="http://schemas.openxmlformats.org/drawingml/2006/main">
              <a:ext uri="{FF2B5EF4-FFF2-40B4-BE49-F238E27FC236}">
                <a16:creationId xmlns:a16="http://schemas.microsoft.com/office/drawing/2014/main" id="{C7EEDA5B-0D06-4A8A-8D16-5EBDC2E39B6A}"/>
              </a:ext>
            </a:extLst>
          </p:cNvPr>
          <p:cNvSpPr>
            <a:spLocks xmlns:a="http://schemas.openxmlformats.org/drawingml/2006/main" noGrp="1"/>
          </p:cNvSpPr>
          <p:nvPr/>
        </p:nvSpPr>
        <p:spPr>
          <a:xfrm xmlns:a="http://schemas.openxmlformats.org/drawingml/2006/main">
            <a:off x="4495800" y="5067300"/>
            <a:ext cx="2990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92B25"/>
                </a:solidFill>
                <a:latin typeface="Helvetica Neue"/>
                <a:ea typeface="Helvetica Neue"/>
                <a:cs typeface="Helvetica Neue"/>
              </a:defRPr>
            </a:pPr>
            <a:r>
              <a:rPr sz="1650" b="1">
                <a:solidFill>
                  <a:srgbClr val="192B25"/>
                </a:solidFill>
                <a:latin typeface="Helvetica Neue"/>
                <a:ea typeface="Helvetica Neue"/>
                <a:cs typeface="Helvetica Neue"/>
              </a:rPr>
              <a:t>Mentor confirms tasks</a:t>
            </a:r>
          </a:p>
        </p:txBody>
      </p:sp>
      <p:sp>
        <p:nvSpPr>
          <p:cNvPr id="23" name="node-detail-05">
            <a:extLst xmlns:a="http://schemas.openxmlformats.org/drawingml/2006/main">
              <a:ext uri="{FF2B5EF4-FFF2-40B4-BE49-F238E27FC236}">
                <a16:creationId xmlns:a16="http://schemas.microsoft.com/office/drawing/2014/main" id="{577AC96B-69B4-4909-A57B-3CE9CA8EC826}"/>
              </a:ext>
            </a:extLst>
          </p:cNvPr>
          <p:cNvSpPr>
            <a:spLocks xmlns:a="http://schemas.openxmlformats.org/drawingml/2006/main" noGrp="1"/>
          </p:cNvSpPr>
          <p:nvPr/>
        </p:nvSpPr>
        <p:spPr>
          <a:xfrm xmlns:a="http://schemas.openxmlformats.org/drawingml/2006/main">
            <a:off x="4495800" y="5562600"/>
            <a:ext cx="2990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Approve or revise the tasks.</a:t>
            </a:r>
          </a:p>
        </p:txBody>
      </p:sp>
      <p:sp>
        <p:nvSpPr>
          <p:cNvPr id="24" name="workflow-node-06">
            <a:extLst xmlns:a="http://schemas.openxmlformats.org/drawingml/2006/main">
              <a:ext uri="{FF2B5EF4-FFF2-40B4-BE49-F238E27FC236}">
                <a16:creationId xmlns:a16="http://schemas.microsoft.com/office/drawing/2014/main" id="{9B6248D1-128C-4064-819B-185214113A72}"/>
              </a:ext>
            </a:extLst>
          </p:cNvPr>
          <p:cNvSpPr>
            <a:spLocks xmlns:a="http://schemas.openxmlformats.org/drawingml/2006/main" noGrp="1"/>
          </p:cNvSpPr>
          <p:nvPr/>
        </p:nvSpPr>
        <p:spPr>
          <a:xfrm xmlns:a="http://schemas.openxmlformats.org/drawingml/2006/main">
            <a:off x="609600" y="4657725"/>
            <a:ext cx="3333750" cy="12477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5" name="node-index-06">
            <a:extLst xmlns:a="http://schemas.openxmlformats.org/drawingml/2006/main">
              <a:ext uri="{FF2B5EF4-FFF2-40B4-BE49-F238E27FC236}">
                <a16:creationId xmlns:a16="http://schemas.microsoft.com/office/drawing/2014/main" id="{8B340760-343C-4E84-8FD1-BC789EE6663E}"/>
              </a:ext>
            </a:extLst>
          </p:cNvPr>
          <p:cNvSpPr>
            <a:spLocks xmlns:a="http://schemas.openxmlformats.org/drawingml/2006/main" noGrp="1"/>
          </p:cNvSpPr>
          <p:nvPr/>
        </p:nvSpPr>
        <p:spPr>
          <a:xfrm xmlns:a="http://schemas.openxmlformats.org/drawingml/2006/main">
            <a:off x="781050" y="4791075"/>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06</a:t>
            </a:r>
          </a:p>
        </p:txBody>
      </p:sp>
      <p:sp>
        <p:nvSpPr>
          <p:cNvPr id="26" name="node-label-06">
            <a:extLst xmlns:a="http://schemas.openxmlformats.org/drawingml/2006/main">
              <a:ext uri="{FF2B5EF4-FFF2-40B4-BE49-F238E27FC236}">
                <a16:creationId xmlns:a16="http://schemas.microsoft.com/office/drawing/2014/main" id="{9A9922CE-3FB0-43BD-8C09-0A5DFCD0C03F}"/>
              </a:ext>
            </a:extLst>
          </p:cNvPr>
          <p:cNvSpPr>
            <a:spLocks xmlns:a="http://schemas.openxmlformats.org/drawingml/2006/main" noGrp="1"/>
          </p:cNvSpPr>
          <p:nvPr/>
        </p:nvSpPr>
        <p:spPr>
          <a:xfrm xmlns:a="http://schemas.openxmlformats.org/drawingml/2006/main">
            <a:off x="781050" y="5067300"/>
            <a:ext cx="2990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1">
                <a:solidFill>
                  <a:srgbClr val="192B25"/>
                </a:solidFill>
                <a:latin typeface="Helvetica Neue"/>
                <a:ea typeface="Helvetica Neue"/>
                <a:cs typeface="Helvetica Neue"/>
              </a:defRPr>
            </a:pPr>
            <a:r>
              <a:rPr sz="1650" b="1">
                <a:solidFill>
                  <a:srgbClr val="192B25"/>
                </a:solidFill>
                <a:latin typeface="Helvetica Neue"/>
                <a:ea typeface="Helvetica Neue"/>
                <a:cs typeface="Helvetica Neue"/>
              </a:rPr>
              <a:t>Prepare learner-facing output</a:t>
            </a:r>
          </a:p>
        </p:txBody>
      </p:sp>
      <p:sp>
        <p:nvSpPr>
          <p:cNvPr id="27" name="node-detail-06">
            <a:extLst xmlns:a="http://schemas.openxmlformats.org/drawingml/2006/main">
              <a:ext uri="{FF2B5EF4-FFF2-40B4-BE49-F238E27FC236}">
                <a16:creationId xmlns:a16="http://schemas.microsoft.com/office/drawing/2014/main" id="{ADC289F8-5C23-428B-8145-C8ADB6BB0904}"/>
              </a:ext>
            </a:extLst>
          </p:cNvPr>
          <p:cNvSpPr>
            <a:spLocks xmlns:a="http://schemas.openxmlformats.org/drawingml/2006/main" noGrp="1"/>
          </p:cNvSpPr>
          <p:nvPr/>
        </p:nvSpPr>
        <p:spPr>
          <a:xfrm xmlns:a="http://schemas.openxmlformats.org/drawingml/2006/main">
            <a:off x="781050" y="5562600"/>
            <a:ext cx="2990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Structured output and feedback.</a:t>
            </a:r>
          </a:p>
        </p:txBody>
      </p:sp>
      <p:sp>
        <p:nvSpPr>
          <p:cNvPr id="28" name="workflow-arrow-0">
            <a:extLst xmlns:a="http://schemas.openxmlformats.org/drawingml/2006/main">
              <a:ext uri="{FF2B5EF4-FFF2-40B4-BE49-F238E27FC236}">
                <a16:creationId xmlns:a16="http://schemas.microsoft.com/office/drawing/2014/main" id="{99EBA796-195C-49D7-8CFE-2306B51C499B}"/>
              </a:ext>
            </a:extLst>
          </p:cNvPr>
          <p:cNvSpPr>
            <a:spLocks xmlns:a="http://schemas.openxmlformats.org/drawingml/2006/main" noGrp="1"/>
          </p:cNvSpPr>
          <p:nvPr/>
        </p:nvSpPr>
        <p:spPr>
          <a:xfrm xmlns:a="http://schemas.openxmlformats.org/drawingml/2006/main">
            <a:off x="4000500" y="3324225"/>
            <a:ext cx="28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a:t>
            </a:r>
          </a:p>
        </p:txBody>
      </p:sp>
      <p:sp>
        <p:nvSpPr>
          <p:cNvPr id="29" name="workflow-arrow-1">
            <a:extLst xmlns:a="http://schemas.openxmlformats.org/drawingml/2006/main">
              <a:ext uri="{FF2B5EF4-FFF2-40B4-BE49-F238E27FC236}">
                <a16:creationId xmlns:a16="http://schemas.microsoft.com/office/drawing/2014/main" id="{5B182751-430D-4D21-955C-BDBFB78A7D21}"/>
              </a:ext>
            </a:extLst>
          </p:cNvPr>
          <p:cNvSpPr>
            <a:spLocks xmlns:a="http://schemas.openxmlformats.org/drawingml/2006/main" noGrp="1"/>
          </p:cNvSpPr>
          <p:nvPr/>
        </p:nvSpPr>
        <p:spPr>
          <a:xfrm xmlns:a="http://schemas.openxmlformats.org/drawingml/2006/main">
            <a:off x="7715250" y="3324225"/>
            <a:ext cx="28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a:t>
            </a:r>
          </a:p>
        </p:txBody>
      </p:sp>
      <p:sp>
        <p:nvSpPr>
          <p:cNvPr id="30" name="workflow-arrow-2">
            <a:extLst xmlns:a="http://schemas.openxmlformats.org/drawingml/2006/main">
              <a:ext uri="{FF2B5EF4-FFF2-40B4-BE49-F238E27FC236}">
                <a16:creationId xmlns:a16="http://schemas.microsoft.com/office/drawing/2014/main" id="{AB8FB5E3-DC05-4041-9811-D2FDED4F7DBF}"/>
              </a:ext>
            </a:extLst>
          </p:cNvPr>
          <p:cNvSpPr>
            <a:spLocks xmlns:a="http://schemas.openxmlformats.org/drawingml/2006/main" noGrp="1"/>
          </p:cNvSpPr>
          <p:nvPr/>
        </p:nvSpPr>
        <p:spPr>
          <a:xfrm xmlns:a="http://schemas.openxmlformats.org/drawingml/2006/main">
            <a:off x="9525000" y="4257675"/>
            <a:ext cx="28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a:t>
            </a:r>
          </a:p>
        </p:txBody>
      </p:sp>
      <p:sp>
        <p:nvSpPr>
          <p:cNvPr id="31" name="workflow-arrow-3">
            <a:extLst xmlns:a="http://schemas.openxmlformats.org/drawingml/2006/main">
              <a:ext uri="{FF2B5EF4-FFF2-40B4-BE49-F238E27FC236}">
                <a16:creationId xmlns:a16="http://schemas.microsoft.com/office/drawing/2014/main" id="{82AF1970-818C-4342-ADE2-AE46E3666C00}"/>
              </a:ext>
            </a:extLst>
          </p:cNvPr>
          <p:cNvSpPr>
            <a:spLocks xmlns:a="http://schemas.openxmlformats.org/drawingml/2006/main" noGrp="1"/>
          </p:cNvSpPr>
          <p:nvPr/>
        </p:nvSpPr>
        <p:spPr>
          <a:xfrm xmlns:a="http://schemas.openxmlformats.org/drawingml/2006/main">
            <a:off x="7715250" y="5086350"/>
            <a:ext cx="28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a:t>
            </a:r>
          </a:p>
        </p:txBody>
      </p:sp>
      <p:sp>
        <p:nvSpPr>
          <p:cNvPr id="32" name="workflow-arrow-4">
            <a:extLst xmlns:a="http://schemas.openxmlformats.org/drawingml/2006/main">
              <a:ext uri="{FF2B5EF4-FFF2-40B4-BE49-F238E27FC236}">
                <a16:creationId xmlns:a16="http://schemas.microsoft.com/office/drawing/2014/main" id="{749441F3-5A72-43F4-8A88-FD7F7C725E59}"/>
              </a:ext>
            </a:extLst>
          </p:cNvPr>
          <p:cNvSpPr>
            <a:spLocks xmlns:a="http://schemas.openxmlformats.org/drawingml/2006/main" noGrp="1"/>
          </p:cNvSpPr>
          <p:nvPr/>
        </p:nvSpPr>
        <p:spPr>
          <a:xfrm xmlns:a="http://schemas.openxmlformats.org/drawingml/2006/main">
            <a:off x="4000500" y="5086350"/>
            <a:ext cx="28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a:t>
            </a:r>
          </a:p>
        </p:txBody>
      </p:sp>
      <p:sp>
        <p:nvSpPr>
          <p:cNvPr id="33" name="asu-limit">
            <a:extLst xmlns:a="http://schemas.openxmlformats.org/drawingml/2006/main">
              <a:ext uri="{FF2B5EF4-FFF2-40B4-BE49-F238E27FC236}">
                <a16:creationId xmlns:a16="http://schemas.microsoft.com/office/drawing/2014/main" id="{7D13CB95-8212-4A7C-A0EC-C21322FDE64E}"/>
              </a:ext>
            </a:extLst>
          </p:cNvPr>
          <p:cNvSpPr>
            <a:spLocks xmlns:a="http://schemas.openxmlformats.org/drawingml/2006/main" noGrp="1"/>
          </p:cNvSpPr>
          <p:nvPr/>
        </p:nvSpPr>
        <p:spPr>
          <a:xfrm xmlns:a="http://schemas.openxmlformats.org/drawingml/2006/main">
            <a:off x="609600" y="6191250"/>
            <a:ext cx="10934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58645D"/>
                </a:solidFill>
                <a:latin typeface="Helvetica Neue"/>
                <a:ea typeface="Helvetica Neue"/>
                <a:cs typeface="Helvetica Neue"/>
              </a:defRPr>
            </a:pPr>
            <a:r>
              <a:rPr sz="1425" b="0">
                <a:solidFill>
                  <a:srgbClr val="58645D"/>
                </a:solidFill>
                <a:latin typeface="Helvetica Neue"/>
                <a:ea typeface="Helvetica Neue"/>
                <a:cs typeface="Helvetica Neue"/>
              </a:rPr>
              <a:t>Simplified reconstruction · Documented proposal; no deployment or measured efficiency claimed.</a:t>
            </a:r>
          </a:p>
        </p:txBody>
      </p:sp>
      <p:sp>
        <p:nvSpPr>
          <p:cNvPr id="34" name="slide-number">
            <a:extLst xmlns:a="http://schemas.openxmlformats.org/drawingml/2006/main">
              <a:ext uri="{FF2B5EF4-FFF2-40B4-BE49-F238E27FC236}">
                <a16:creationId xmlns:a16="http://schemas.microsoft.com/office/drawing/2014/main" id="{C22C9DF1-E309-44EE-A8EA-3DC483D97DE0}"/>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05</a:t>
            </a:r>
          </a:p>
        </p:txBody>
      </p:sp>
    </p:spTree>
    <p:extLst>
      <p:ext uri="{BB962C8B-B14F-4D97-AF65-F5344CB8AC3E}">
        <p14:creationId xmlns:p14="http://schemas.microsoft.com/office/powerpoint/2010/main" val="1014300004"/>
      </p:ext>
    </p:extLst>
  </p:cSld>
</p:sld>
</file>

<file path=ppt/slides/slide6.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0" name="section-label">
            <a:extLst xmlns:a="http://schemas.openxmlformats.org/drawingml/2006/main">
              <a:ext uri="{FF2B5EF4-FFF2-40B4-BE49-F238E27FC236}">
                <a16:creationId xmlns:a16="http://schemas.microsoft.com/office/drawing/2014/main" id="{A029F952-1BE1-4729-B10A-CAEB2D4411D4}"/>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FLINT   /   INTERRUPTED AND OFFLINE STATES</a:t>
            </a:r>
          </a:p>
        </p:txBody>
      </p:sp>
      <p:sp>
        <p:nvSpPr>
          <p:cNvPr id="2" name="headline">
            <a:extLst xmlns:a="http://schemas.openxmlformats.org/drawingml/2006/main">
              <a:ext uri="{FF2B5EF4-FFF2-40B4-BE49-F238E27FC236}">
                <a16:creationId xmlns:a16="http://schemas.microsoft.com/office/drawing/2014/main" id="{CC2799E2-3D9E-4B6B-AF37-C2D259C0A4B6}"/>
              </a:ext>
            </a:extLst>
          </p:cNvPr>
          <p:cNvSpPr>
            <a:spLocks xmlns:a="http://schemas.openxmlformats.org/drawingml/2006/main" noGrp="1"/>
          </p:cNvSpPr>
          <p:nvPr/>
        </p:nvSpPr>
        <p:spPr>
          <a:xfrm xmlns:a="http://schemas.openxmlformats.org/drawingml/2006/main">
            <a:off x="609600" y="1133475"/>
            <a:ext cx="46672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Recovery follows</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the failure</a:t>
            </a:r>
          </a:p>
        </p:txBody>
      </p:sp>
      <p:sp>
        <p:nvSpPr>
          <p:cNvPr id="3" name="recovery-decision">
            <a:extLst xmlns:a="http://schemas.openxmlformats.org/drawingml/2006/main">
              <a:ext uri="{FF2B5EF4-FFF2-40B4-BE49-F238E27FC236}">
                <a16:creationId xmlns:a16="http://schemas.microsoft.com/office/drawing/2014/main" id="{EA8E4A64-33FA-4A35-9008-6765B49729F9}"/>
              </a:ext>
            </a:extLst>
          </p:cNvPr>
          <p:cNvSpPr>
            <a:spLocks xmlns:a="http://schemas.openxmlformats.org/drawingml/2006/main" noGrp="1"/>
          </p:cNvSpPr>
          <p:nvPr/>
        </p:nvSpPr>
        <p:spPr>
          <a:xfrm xmlns:a="http://schemas.openxmlformats.org/drawingml/2006/main">
            <a:off x="609600" y="3209925"/>
            <a:ext cx="43529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An incomplete answer and a lost connection need different next actions.</a:t>
            </a:r>
          </a:p>
        </p:txBody>
      </p:sp>
      <p:sp>
        <p:nvSpPr>
          <p:cNvPr id="4" name="recovery-outcome">
            <a:extLst xmlns:a="http://schemas.openxmlformats.org/drawingml/2006/main">
              <a:ext uri="{FF2B5EF4-FFF2-40B4-BE49-F238E27FC236}">
                <a16:creationId xmlns:a16="http://schemas.microsoft.com/office/drawing/2014/main" id="{B1205BD4-E165-4B99-9AD5-5D8157AD3ED0}"/>
              </a:ext>
            </a:extLst>
          </p:cNvPr>
          <p:cNvSpPr>
            <a:spLocks xmlns:a="http://schemas.openxmlformats.org/drawingml/2006/main" noGrp="1"/>
          </p:cNvSpPr>
          <p:nvPr/>
        </p:nvSpPr>
        <p:spPr>
          <a:xfrm xmlns:a="http://schemas.openxmlformats.org/drawingml/2006/main">
            <a:off x="609600" y="4772025"/>
            <a:ext cx="435292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I assembled the flows and their next actions into an annotated handoff for engineering.</a:t>
            </a:r>
          </a:p>
        </p:txBody>
      </p:sp>
      <p:sp>
        <p:nvSpPr>
          <p:cNvPr id="5" name="incomplete-label">
            <a:extLst xmlns:a="http://schemas.openxmlformats.org/drawingml/2006/main">
              <a:ext uri="{FF2B5EF4-FFF2-40B4-BE49-F238E27FC236}">
                <a16:creationId xmlns:a16="http://schemas.microsoft.com/office/drawing/2014/main" id="{F2ADE9AD-6955-4E7F-AC87-F265075E111F}"/>
              </a:ext>
            </a:extLst>
          </p:cNvPr>
          <p:cNvSpPr>
            <a:spLocks xmlns:a="http://schemas.openxmlformats.org/drawingml/2006/main" noGrp="1"/>
          </p:cNvSpPr>
          <p:nvPr/>
        </p:nvSpPr>
        <p:spPr>
          <a:xfrm xmlns:a="http://schemas.openxmlformats.org/drawingml/2006/main">
            <a:off x="5638800" y="819150"/>
            <a:ext cx="2495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Incomplete answer</a:t>
            </a:r>
          </a:p>
        </p:txBody>
      </p:sp>
      <p:sp>
        <p:nvSpPr>
          <p:cNvPr id="6" name="offline-label">
            <a:extLst xmlns:a="http://schemas.openxmlformats.org/drawingml/2006/main">
              <a:ext uri="{FF2B5EF4-FFF2-40B4-BE49-F238E27FC236}">
                <a16:creationId xmlns:a16="http://schemas.microsoft.com/office/drawing/2014/main" id="{C0D60740-88FC-433D-8CBD-9262843E5821}"/>
              </a:ext>
            </a:extLst>
          </p:cNvPr>
          <p:cNvSpPr>
            <a:spLocks xmlns:a="http://schemas.openxmlformats.org/drawingml/2006/main" noGrp="1"/>
          </p:cNvSpPr>
          <p:nvPr/>
        </p:nvSpPr>
        <p:spPr>
          <a:xfrm xmlns:a="http://schemas.openxmlformats.org/drawingml/2006/main">
            <a:off x="8705850" y="819150"/>
            <a:ext cx="2495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Connection lost</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42aa14a826974c36"/>
          <a:stretch xmlns:a="http://schemas.openxmlformats.org/drawingml/2006/main"/>
        </p:blipFill>
        <p:spPr>
          <a:xfrm xmlns:a="http://schemas.openxmlformats.org/drawingml/2006/main">
            <a:off x="5706555" y="1181100"/>
            <a:ext cx="2436239" cy="52197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11832e0739f94965"/>
          <a:stretch xmlns:a="http://schemas.openxmlformats.org/drawingml/2006/main"/>
        </p:blipFill>
        <p:spPr>
          <a:xfrm xmlns:a="http://schemas.openxmlformats.org/drawingml/2006/main">
            <a:off x="8773605" y="1181100"/>
            <a:ext cx="2436239" cy="5219700"/>
          </a:xfrm>
          <a:prstGeom xmlns:a="http://schemas.openxmlformats.org/drawingml/2006/main" prst="rect">
            <a:avLst/>
          </a:prstGeom>
        </p:spPr>
      </p:pic>
      <p:sp>
        <p:nvSpPr>
          <p:cNvPr id="9" name="slide-number">
            <a:extLst xmlns:a="http://schemas.openxmlformats.org/drawingml/2006/main">
              <a:ext uri="{FF2B5EF4-FFF2-40B4-BE49-F238E27FC236}">
                <a16:creationId xmlns:a16="http://schemas.microsoft.com/office/drawing/2014/main" id="{7F1C107C-D591-45B1-B043-A180632F2848}"/>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06</a:t>
            </a:r>
          </a:p>
        </p:txBody>
      </p:sp>
    </p:spTree>
    <p:extLst>
      <p:ext uri="{BB962C8B-B14F-4D97-AF65-F5344CB8AC3E}">
        <p14:creationId xmlns:p14="http://schemas.microsoft.com/office/powerpoint/2010/main" val="509311313"/>
      </p:ext>
    </p:extLst>
  </p:cSld>
</p:sld>
</file>

<file path=ppt/slides/slide7.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670E201D-92E2-415E-86C4-AC36FFAA14FE}"/>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PROMPT COMPASS   /   RELEASED TOOL AND WORKFLOW DESIGN</a:t>
            </a:r>
          </a:p>
        </p:txBody>
      </p:sp>
      <p:sp>
        <p:nvSpPr>
          <p:cNvPr id="2" name="headline">
            <a:extLst xmlns:a="http://schemas.openxmlformats.org/drawingml/2006/main">
              <a:ext uri="{FF2B5EF4-FFF2-40B4-BE49-F238E27FC236}">
                <a16:creationId xmlns:a16="http://schemas.microsoft.com/office/drawing/2014/main" id="{BE3790CB-A899-47C3-A16C-E6BFD5205A65}"/>
              </a:ext>
            </a:extLst>
          </p:cNvPr>
          <p:cNvSpPr>
            <a:spLocks xmlns:a="http://schemas.openxmlformats.org/drawingml/2006/main" noGrp="1"/>
          </p:cNvSpPr>
          <p:nvPr/>
        </p:nvSpPr>
        <p:spPr>
          <a:xfrm xmlns:a="http://schemas.openxmlformats.org/drawingml/2006/main">
            <a:off x="609600" y="1047750"/>
            <a:ext cx="10763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Give the tool a clear role</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ef36da83a045487a"/>
          <a:stretch xmlns:a="http://schemas.openxmlformats.org/drawingml/2006/main"/>
        </p:blipFill>
        <p:spPr>
          <a:xfrm xmlns:a="http://schemas.openxmlformats.org/drawingml/2006/main">
            <a:off x="863819" y="2019300"/>
            <a:ext cx="10464362" cy="3371850"/>
          </a:xfrm>
          <a:prstGeom xmlns:a="http://schemas.openxmlformats.org/drawingml/2006/main" prst="rect">
            <a:avLst/>
          </a:prstGeom>
        </p:spPr>
      </p:pic>
      <p:sp>
        <p:nvSpPr>
          <p:cNvPr id="4" name="tool-boundary">
            <a:extLst xmlns:a="http://schemas.openxmlformats.org/drawingml/2006/main">
              <a:ext uri="{FF2B5EF4-FFF2-40B4-BE49-F238E27FC236}">
                <a16:creationId xmlns:a16="http://schemas.microsoft.com/office/drawing/2014/main" id="{0BB2E796-80DB-44D5-AA26-AF0C4C4F104E}"/>
              </a:ext>
            </a:extLst>
          </p:cNvPr>
          <p:cNvSpPr>
            <a:spLocks xmlns:a="http://schemas.openxmlformats.org/drawingml/2006/main" noGrp="1"/>
          </p:cNvSpPr>
          <p:nvPr/>
        </p:nvSpPr>
        <p:spPr>
          <a:xfrm xmlns:a="http://schemas.openxmlformats.org/drawingml/2006/main">
            <a:off x="609600" y="566737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192B25"/>
                </a:solidFill>
                <a:latin typeface="Helvetica Neue"/>
                <a:ea typeface="Helvetica Neue"/>
                <a:cs typeface="Helvetica Neue"/>
              </a:defRPr>
            </a:pPr>
            <a:r>
              <a:rPr sz="1650" b="0">
                <a:solidFill>
                  <a:srgbClr val="192B25"/>
                </a:solidFill>
                <a:latin typeface="Helvetica Neue"/>
                <a:ea typeface="Helvetica Neue"/>
                <a:cs typeface="Helvetica Neue"/>
              </a:rPr>
              <a:t>The local tool returns structured checks and routing.</a:t>
            </a:r>
          </a:p>
          <a:p xmlns:a="http://schemas.openxmlformats.org/drawingml/2006/main">
            <a:pPr>
              <a:lnSpc>
                <a:spcPct val="110000"/>
              </a:lnSpc>
              <a:buNone/>
              <a:defRPr sz="1650" b="0">
                <a:solidFill>
                  <a:srgbClr val="192B25"/>
                </a:solidFill>
                <a:latin typeface="Helvetica Neue"/>
                <a:ea typeface="Helvetica Neue"/>
                <a:cs typeface="Helvetica Neue"/>
              </a:defRPr>
            </a:pPr>
            <a:r>
              <a:rPr sz="1650" b="0">
                <a:solidFill>
                  <a:srgbClr val="192B25"/>
                </a:solidFill>
                <a:latin typeface="Helvetica Neue"/>
                <a:ea typeface="Helvetica Neue"/>
                <a:cs typeface="Helvetica Neue"/>
              </a:rPr>
              <a:t>The host assistant handles the conversation and final wording.</a:t>
            </a:r>
          </a:p>
        </p:txBody>
      </p:sp>
      <p:sp>
        <p:nvSpPr>
          <p:cNvPr id="5" name="tool-source">
            <a:extLst xmlns:a="http://schemas.openxmlformats.org/drawingml/2006/main">
              <a:ext uri="{FF2B5EF4-FFF2-40B4-BE49-F238E27FC236}">
                <a16:creationId xmlns:a16="http://schemas.microsoft.com/office/drawing/2014/main" id="{994D0D17-BF05-466D-8ED1-864E688472DB}"/>
              </a:ext>
            </a:extLst>
          </p:cNvPr>
          <p:cNvSpPr>
            <a:spLocks xmlns:a="http://schemas.openxmlformats.org/drawingml/2006/main" noGrp="1"/>
          </p:cNvSpPr>
          <p:nvPr/>
        </p:nvSpPr>
        <p:spPr>
          <a:xfrm xmlns:a="http://schemas.openxmlformats.org/drawingml/2006/main">
            <a:off x="609600" y="6410325"/>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58645D"/>
                </a:solidFill>
                <a:latin typeface="Helvetica Neue"/>
                <a:ea typeface="Helvetica Neue"/>
                <a:cs typeface="Helvetica Neue"/>
              </a:defRPr>
            </a:pPr>
            <a:r>
              <a:rPr sz="1200" b="0">
                <a:solidFill>
                  <a:srgbClr val="58645D"/>
                </a:solidFill>
                <a:latin typeface="Helvetica Neue"/>
                <a:ea typeface="Helvetica Neue"/>
                <a:cs typeface="Helvetica Neue"/>
              </a:rPr>
              <a:t>Implementation-based portfolio diagram · public beta release, April 2026</a:t>
            </a:r>
          </a:p>
        </p:txBody>
      </p:sp>
      <p:sp>
        <p:nvSpPr>
          <p:cNvPr id="6" name="slide-number">
            <a:extLst xmlns:a="http://schemas.openxmlformats.org/drawingml/2006/main">
              <a:ext uri="{FF2B5EF4-FFF2-40B4-BE49-F238E27FC236}">
                <a16:creationId xmlns:a16="http://schemas.microsoft.com/office/drawing/2014/main" id="{27EB159D-9641-42E7-AB16-3CD3814034CB}"/>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07</a:t>
            </a:r>
          </a:p>
        </p:txBody>
      </p:sp>
    </p:spTree>
    <p:extLst>
      <p:ext uri="{BB962C8B-B14F-4D97-AF65-F5344CB8AC3E}">
        <p14:creationId xmlns:p14="http://schemas.microsoft.com/office/powerpoint/2010/main" val="198790227"/>
      </p:ext>
    </p:extLst>
  </p:cSld>
</p:sld>
</file>

<file path=ppt/slides/slide8.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2" name="section-label">
            <a:extLst xmlns:a="http://schemas.openxmlformats.org/drawingml/2006/main">
              <a:ext uri="{FF2B5EF4-FFF2-40B4-BE49-F238E27FC236}">
                <a16:creationId xmlns:a16="http://schemas.microsoft.com/office/drawing/2014/main" id="{BBA3D060-1E07-461C-868D-5610C3B202CA}"/>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PROPOSED APPROACH   /   HORACE MANN DEVELOPER ENABLEMENT</a:t>
            </a:r>
          </a:p>
        </p:txBody>
      </p:sp>
      <p:sp>
        <p:nvSpPr>
          <p:cNvPr id="2" name="headline">
            <a:extLst xmlns:a="http://schemas.openxmlformats.org/drawingml/2006/main">
              <a:ext uri="{FF2B5EF4-FFF2-40B4-BE49-F238E27FC236}">
                <a16:creationId xmlns:a16="http://schemas.microsoft.com/office/drawing/2014/main" id="{D3B324F7-7EDD-43C7-B2EF-57F630BDB33A}"/>
              </a:ext>
            </a:extLst>
          </p:cNvPr>
          <p:cNvSpPr>
            <a:spLocks xmlns:a="http://schemas.openxmlformats.org/drawingml/2006/main" noGrp="1"/>
          </p:cNvSpPr>
          <p:nvPr/>
        </p:nvSpPr>
        <p:spPr>
          <a:xfrm xmlns:a="http://schemas.openxmlformats.org/drawingml/2006/main">
            <a:off x="609600" y="1076325"/>
            <a:ext cx="108585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375" b="1">
                <a:solidFill>
                  <a:srgbClr val="192B25"/>
                </a:solidFill>
                <a:latin typeface="Helvetica Neue"/>
                <a:ea typeface="Helvetica Neue"/>
                <a:cs typeface="Helvetica Neue"/>
              </a:defRPr>
            </a:pPr>
            <a:r>
              <a:rPr sz="3375" b="1">
                <a:solidFill>
                  <a:srgbClr val="192B25"/>
                </a:solidFill>
                <a:latin typeface="Helvetica Neue"/>
                <a:ea typeface="Helvetica Neue"/>
                <a:cs typeface="Helvetica Neue"/>
              </a:rPr>
              <a:t>Connect the action to the decision</a:t>
            </a:r>
          </a:p>
        </p:txBody>
      </p:sp>
      <p:sp>
        <p:nvSpPr>
          <p:cNvPr id="3" name="purpose-heading">
            <a:extLst xmlns:a="http://schemas.openxmlformats.org/drawingml/2006/main">
              <a:ext uri="{FF2B5EF4-FFF2-40B4-BE49-F238E27FC236}">
                <a16:creationId xmlns:a16="http://schemas.microsoft.com/office/drawing/2014/main" id="{0C68B70C-056E-410B-B4F5-67C09CD40FF6}"/>
              </a:ext>
            </a:extLst>
          </p:cNvPr>
          <p:cNvSpPr>
            <a:spLocks xmlns:a="http://schemas.openxmlformats.org/drawingml/2006/main" noGrp="1"/>
          </p:cNvSpPr>
          <p:nvPr/>
        </p:nvSpPr>
        <p:spPr>
          <a:xfrm xmlns:a="http://schemas.openxmlformats.org/drawingml/2006/main">
            <a:off x="609600" y="2914650"/>
            <a:ext cx="5095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Start with one builder tier</a:t>
            </a:r>
          </a:p>
        </p:txBody>
      </p:sp>
      <p:sp>
        <p:nvSpPr>
          <p:cNvPr id="4" name="purpose-body">
            <a:extLst xmlns:a="http://schemas.openxmlformats.org/drawingml/2006/main">
              <a:ext uri="{FF2B5EF4-FFF2-40B4-BE49-F238E27FC236}">
                <a16:creationId xmlns:a16="http://schemas.microsoft.com/office/drawing/2014/main" id="{92048106-637A-44EC-9126-2D705804D487}"/>
              </a:ext>
            </a:extLst>
          </p:cNvPr>
          <p:cNvSpPr>
            <a:spLocks xmlns:a="http://schemas.openxmlformats.org/drawingml/2006/main" noGrp="1"/>
          </p:cNvSpPr>
          <p:nvPr/>
        </p:nvSpPr>
        <p:spPr>
          <a:xfrm xmlns:a="http://schemas.openxmlformats.org/drawingml/2006/main">
            <a:off x="609600" y="3457575"/>
            <a:ext cx="51435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Choose a common task with the owning team.</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Identify the tools, access and review points</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a builder needs before beginning.</a:t>
            </a:r>
          </a:p>
        </p:txBody>
      </p:sp>
      <p:sp>
        <p:nvSpPr>
          <p:cNvPr id="5" name="structure-heading">
            <a:extLst xmlns:a="http://schemas.openxmlformats.org/drawingml/2006/main">
              <a:ext uri="{FF2B5EF4-FFF2-40B4-BE49-F238E27FC236}">
                <a16:creationId xmlns:a16="http://schemas.microsoft.com/office/drawing/2014/main" id="{4054912B-9528-4F2E-B68D-6639C66D9601}"/>
              </a:ext>
            </a:extLst>
          </p:cNvPr>
          <p:cNvSpPr>
            <a:spLocks xmlns:a="http://schemas.openxmlformats.org/drawingml/2006/main" noGrp="1"/>
          </p:cNvSpPr>
          <p:nvPr/>
        </p:nvSpPr>
        <p:spPr>
          <a:xfrm xmlns:a="http://schemas.openxmlformats.org/drawingml/2006/main">
            <a:off x="6705600" y="2914650"/>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Write a usable first guide</a:t>
            </a:r>
          </a:p>
        </p:txBody>
      </p:sp>
      <p:sp>
        <p:nvSpPr>
          <p:cNvPr id="6" name="structure-body">
            <a:extLst xmlns:a="http://schemas.openxmlformats.org/drawingml/2006/main">
              <a:ext uri="{FF2B5EF4-FFF2-40B4-BE49-F238E27FC236}">
                <a16:creationId xmlns:a16="http://schemas.microsoft.com/office/drawing/2014/main" id="{3B0DE715-D18C-43BE-AD18-6C5DD7A7FA56}"/>
              </a:ext>
            </a:extLst>
          </p:cNvPr>
          <p:cNvSpPr>
            <a:spLocks xmlns:a="http://schemas.openxmlformats.org/drawingml/2006/main" noGrp="1"/>
          </p:cNvSpPr>
          <p:nvPr/>
        </p:nvSpPr>
        <p:spPr>
          <a:xfrm xmlns:a="http://schemas.openxmlformats.org/drawingml/2006/main">
            <a:off x="6705600" y="3457575"/>
            <a:ext cx="4857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Show prerequisites and a worked example.</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Pair the steps with a small practice task</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and explicit criteria for checking the result.</a:t>
            </a:r>
          </a:p>
        </p:txBody>
      </p:sp>
      <p:sp>
        <p:nvSpPr>
          <p:cNvPr id="7" name="compare-heading">
            <a:extLst xmlns:a="http://schemas.openxmlformats.org/drawingml/2006/main">
              <a:ext uri="{FF2B5EF4-FFF2-40B4-BE49-F238E27FC236}">
                <a16:creationId xmlns:a16="http://schemas.microsoft.com/office/drawing/2014/main" id="{1AF3DC74-1796-4920-ACFF-4F16EDA7E6CF}"/>
              </a:ext>
            </a:extLst>
          </p:cNvPr>
          <p:cNvSpPr>
            <a:spLocks xmlns:a="http://schemas.openxmlformats.org/drawingml/2006/main" noGrp="1"/>
          </p:cNvSpPr>
          <p:nvPr/>
        </p:nvSpPr>
        <p:spPr>
          <a:xfrm xmlns:a="http://schemas.openxmlformats.org/drawingml/2006/main">
            <a:off x="609600" y="4857750"/>
            <a:ext cx="5095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Test the instructions in context</a:t>
            </a:r>
          </a:p>
        </p:txBody>
      </p:sp>
      <p:sp>
        <p:nvSpPr>
          <p:cNvPr id="8" name="compare-body">
            <a:extLst xmlns:a="http://schemas.openxmlformats.org/drawingml/2006/main">
              <a:ext uri="{FF2B5EF4-FFF2-40B4-BE49-F238E27FC236}">
                <a16:creationId xmlns:a16="http://schemas.microsoft.com/office/drawing/2014/main" id="{3BB44930-B63E-4493-94DB-8EA5796B47AD}"/>
              </a:ext>
            </a:extLst>
          </p:cNvPr>
          <p:cNvSpPr>
            <a:spLocks xmlns:a="http://schemas.openxmlformats.org/drawingml/2006/main" noGrp="1"/>
          </p:cNvSpPr>
          <p:nvPr/>
        </p:nvSpPr>
        <p:spPr>
          <a:xfrm xmlns:a="http://schemas.openxmlformats.org/drawingml/2006/main">
            <a:off x="609600" y="5410200"/>
            <a:ext cx="5143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Review the guidance with technical owners.</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Watch a builder try it and record questions</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that belong in the guide or support queue.</a:t>
            </a:r>
          </a:p>
        </p:txBody>
      </p:sp>
      <p:sp>
        <p:nvSpPr>
          <p:cNvPr id="9" name="handoff-heading">
            <a:extLst xmlns:a="http://schemas.openxmlformats.org/drawingml/2006/main">
              <a:ext uri="{FF2B5EF4-FFF2-40B4-BE49-F238E27FC236}">
                <a16:creationId xmlns:a16="http://schemas.microsoft.com/office/drawing/2014/main" id="{0359B4CF-0F67-493C-9841-BFF807650389}"/>
              </a:ext>
            </a:extLst>
          </p:cNvPr>
          <p:cNvSpPr>
            <a:spLocks xmlns:a="http://schemas.openxmlformats.org/drawingml/2006/main" noGrp="1"/>
          </p:cNvSpPr>
          <p:nvPr/>
        </p:nvSpPr>
        <p:spPr>
          <a:xfrm xmlns:a="http://schemas.openxmlformats.org/drawingml/2006/main">
            <a:off x="6705600" y="4857750"/>
            <a:ext cx="504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1">
                <a:solidFill>
                  <a:srgbClr val="244D3C"/>
                </a:solidFill>
                <a:latin typeface="Helvetica Neue"/>
                <a:ea typeface="Helvetica Neue"/>
                <a:cs typeface="Helvetica Neue"/>
              </a:defRPr>
            </a:pPr>
            <a:r>
              <a:rPr sz="1800" b="1">
                <a:solidFill>
                  <a:srgbClr val="244D3C"/>
                </a:solidFill>
                <a:latin typeface="Helvetica Neue"/>
                <a:ea typeface="Helvetica Neue"/>
                <a:cs typeface="Helvetica Neue"/>
              </a:rPr>
              <a:t>Keep the guidance current</a:t>
            </a:r>
          </a:p>
        </p:txBody>
      </p:sp>
      <p:sp>
        <p:nvSpPr>
          <p:cNvPr id="10" name="handoff-body">
            <a:extLst xmlns:a="http://schemas.openxmlformats.org/drawingml/2006/main">
              <a:ext uri="{FF2B5EF4-FFF2-40B4-BE49-F238E27FC236}">
                <a16:creationId xmlns:a16="http://schemas.microsoft.com/office/drawing/2014/main" id="{8EB18BE9-8273-4090-B0EC-B200F14971A9}"/>
              </a:ext>
            </a:extLst>
          </p:cNvPr>
          <p:cNvSpPr>
            <a:spLocks xmlns:a="http://schemas.openxmlformats.org/drawingml/2006/main" noGrp="1"/>
          </p:cNvSpPr>
          <p:nvPr/>
        </p:nvSpPr>
        <p:spPr>
          <a:xfrm xmlns:a="http://schemas.openxmlformats.org/drawingml/2006/main">
            <a:off x="6705600" y="5410200"/>
            <a:ext cx="4857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Learn the team’s release and access practices.</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Record owners, dependencies and review dates.</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Use recurring support issues to guide updates.</a:t>
            </a:r>
          </a:p>
        </p:txBody>
      </p:sp>
      <p:sp>
        <p:nvSpPr>
          <p:cNvPr id="11" name="slide-number">
            <a:extLst xmlns:a="http://schemas.openxmlformats.org/drawingml/2006/main">
              <a:ext uri="{FF2B5EF4-FFF2-40B4-BE49-F238E27FC236}">
                <a16:creationId xmlns:a16="http://schemas.microsoft.com/office/drawing/2014/main" id="{719E7F9E-DC83-48F4-B780-62CE62CC3405}"/>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08</a:t>
            </a:r>
          </a:p>
        </p:txBody>
      </p:sp>
    </p:spTree>
    <p:extLst>
      <p:ext uri="{BB962C8B-B14F-4D97-AF65-F5344CB8AC3E}">
        <p14:creationId xmlns:p14="http://schemas.microsoft.com/office/powerpoint/2010/main" val="1134217643"/>
      </p:ext>
    </p:extLst>
  </p:cSld>
</p:sld>
</file>

<file path=ppt/slides/slide9.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18BB5D9D-D446-485F-A1C0-0604C584536E}"/>
              </a:ext>
            </a:extLst>
          </p:cNvPr>
          <p:cNvSpPr>
            <a:spLocks xmlns:a="http://schemas.openxmlformats.org/drawingml/2006/main" noGrp="1"/>
          </p:cNvSpPr>
          <p:nvPr/>
        </p:nvSpPr>
        <p:spPr>
          <a:xfrm xmlns:a="http://schemas.openxmlformats.org/drawingml/2006/main">
            <a:off x="609600" y="5238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KYLE HOBSON   /   Horace Mann · DEVELOPMENT ENABLEMENT SPECIALIST</a:t>
            </a:r>
          </a:p>
        </p:txBody>
      </p:sp>
      <p:sp>
        <p:nvSpPr>
          <p:cNvPr id="2" name="headline">
            <a:extLst xmlns:a="http://schemas.openxmlformats.org/drawingml/2006/main">
              <a:ext uri="{FF2B5EF4-FFF2-40B4-BE49-F238E27FC236}">
                <a16:creationId xmlns:a16="http://schemas.microsoft.com/office/drawing/2014/main" id="{297D1C3B-B6A8-4D12-A66E-D3F47732362E}"/>
              </a:ext>
            </a:extLst>
          </p:cNvPr>
          <p:cNvSpPr>
            <a:spLocks xmlns:a="http://schemas.openxmlformats.org/drawingml/2006/main" noGrp="1"/>
          </p:cNvSpPr>
          <p:nvPr/>
        </p:nvSpPr>
        <p:spPr>
          <a:xfrm xmlns:a="http://schemas.openxmlformats.org/drawingml/2006/main">
            <a:off x="609600" y="1647825"/>
            <a:ext cx="102870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275" b="1">
                <a:solidFill>
                  <a:srgbClr val="F4F2E9"/>
                </a:solidFill>
                <a:latin typeface="Helvetica Neue"/>
                <a:ea typeface="Helvetica Neue"/>
                <a:cs typeface="Helvetica Neue"/>
              </a:defRPr>
            </a:pPr>
            <a:r>
              <a:rPr sz="4275" b="1">
                <a:solidFill>
                  <a:srgbClr val="F4F2E9"/>
                </a:solidFill>
                <a:latin typeface="Helvetica Neue"/>
                <a:ea typeface="Helvetica Neue"/>
                <a:cs typeface="Helvetica Neue"/>
              </a:rPr>
              <a:t>Let’s make technical work</a:t>
            </a:r>
          </a:p>
          <a:p xmlns:a="http://schemas.openxmlformats.org/drawingml/2006/main">
            <a:pPr>
              <a:lnSpc>
                <a:spcPct val="110000"/>
              </a:lnSpc>
              <a:buNone/>
              <a:defRPr sz="4275" b="1">
                <a:solidFill>
                  <a:srgbClr val="F4F2E9"/>
                </a:solidFill>
                <a:latin typeface="Helvetica Neue"/>
                <a:ea typeface="Helvetica Neue"/>
                <a:cs typeface="Helvetica Neue"/>
              </a:defRPr>
            </a:pPr>
            <a:r>
              <a:rPr sz="4275" b="1">
                <a:solidFill>
                  <a:srgbClr val="F4F2E9"/>
                </a:solidFill>
                <a:latin typeface="Helvetica Neue"/>
                <a:ea typeface="Helvetica Neue"/>
                <a:cs typeface="Helvetica Neue"/>
              </a:rPr>
              <a:t>easier to learn</a:t>
            </a:r>
          </a:p>
        </p:txBody>
      </p:sp>
      <p:sp>
        <p:nvSpPr>
          <p:cNvPr id="3" name="contact-intent">
            <a:extLst xmlns:a="http://schemas.openxmlformats.org/drawingml/2006/main">
              <a:ext uri="{FF2B5EF4-FFF2-40B4-BE49-F238E27FC236}">
                <a16:creationId xmlns:a16="http://schemas.microsoft.com/office/drawing/2014/main" id="{B8E02FBF-76C4-41C2-A743-D25C1551CE05}"/>
              </a:ext>
            </a:extLst>
          </p:cNvPr>
          <p:cNvSpPr>
            <a:spLocks xmlns:a="http://schemas.openxmlformats.org/drawingml/2006/main" noGrp="1"/>
          </p:cNvSpPr>
          <p:nvPr/>
        </p:nvSpPr>
        <p:spPr>
          <a:xfrm xmlns:a="http://schemas.openxmlformats.org/drawingml/2006/main">
            <a:off x="647700" y="3943350"/>
            <a:ext cx="100203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F4F2E9"/>
                </a:solidFill>
                <a:latin typeface="Helvetica Neue"/>
                <a:ea typeface="Helvetica Neue"/>
                <a:cs typeface="Helvetica Neue"/>
              </a:defRPr>
            </a:pPr>
            <a:r>
              <a:rPr sz="2025" b="0">
                <a:solidFill>
                  <a:srgbClr val="F4F2E9"/>
                </a:solidFill>
                <a:latin typeface="Helvetica Neue"/>
                <a:ea typeface="Helvetica Neue"/>
                <a:cs typeface="Helvetica Neue"/>
              </a:rPr>
              <a:t>Mesa, Arizona. Available for remote work in the United States.</a:t>
            </a:r>
          </a:p>
        </p:txBody>
      </p:sp>
      <p:sp>
        <p:nvSpPr>
          <p:cNvPr id="4" name="email">
            <a:extLst xmlns:a="http://schemas.openxmlformats.org/drawingml/2006/main">
              <a:ext uri="{FF2B5EF4-FFF2-40B4-BE49-F238E27FC236}">
                <a16:creationId xmlns:a16="http://schemas.microsoft.com/office/drawing/2014/main" id="{94E115EA-D31D-4759-A030-6166578E7246}"/>
              </a:ext>
            </a:extLst>
          </p:cNvPr>
          <p:cNvSpPr>
            <a:spLocks xmlns:a="http://schemas.openxmlformats.org/drawingml/2006/main" noGrp="1"/>
          </p:cNvSpPr>
          <p:nvPr/>
        </p:nvSpPr>
        <p:spPr>
          <a:xfrm xmlns:a="http://schemas.openxmlformats.org/drawingml/2006/main">
            <a:off x="647700" y="5057775"/>
            <a:ext cx="1019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u="sng">
                <a:solidFill>
                  <a:srgbClr val="DBEB89"/>
                </a:solidFill>
                <a:latin typeface="Helvetica Neue"/>
                <a:ea typeface="Helvetica Neue"/>
                <a:cs typeface="Helvetica Neue"/>
              </a:defRPr>
            </a:pPr>
            <a:r>
              <a:rPr sz="1875" b="0" u="sng">
                <a:solidFill>
                  <a:srgbClr val="DBEB89"/>
                </a:solidFill>
                <a:latin typeface="Helvetica Neue"/>
                <a:ea typeface="Helvetica Neue"/>
                <a:cs typeface="Helvetica Neue"/>
                <a:hlinkClick xmlns:r="http://schemas.openxmlformats.org/officeDocument/2006/relationships" r:id="Re0328f8332ff42c8"/>
              </a:rPr>
              <a:t>JonathanKyleHobson@gmail.com</a:t>
            </a:r>
          </a:p>
        </p:txBody>
      </p:sp>
      <p:sp>
        <p:nvSpPr>
          <p:cNvPr id="5" name="portfolio">
            <a:extLst xmlns:a="http://schemas.openxmlformats.org/drawingml/2006/main">
              <a:ext uri="{FF2B5EF4-FFF2-40B4-BE49-F238E27FC236}">
                <a16:creationId xmlns:a16="http://schemas.microsoft.com/office/drawing/2014/main" id="{547AA972-4996-496C-A9A8-B8D8695E8370}"/>
              </a:ext>
            </a:extLst>
          </p:cNvPr>
          <p:cNvSpPr>
            <a:spLocks xmlns:a="http://schemas.openxmlformats.org/drawingml/2006/main" noGrp="1"/>
          </p:cNvSpPr>
          <p:nvPr/>
        </p:nvSpPr>
        <p:spPr>
          <a:xfrm xmlns:a="http://schemas.openxmlformats.org/drawingml/2006/main">
            <a:off x="647700" y="5705475"/>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u="sng">
                <a:solidFill>
                  <a:srgbClr val="DBEB89"/>
                </a:solidFill>
                <a:latin typeface="Helvetica Neue"/>
                <a:ea typeface="Helvetica Neue"/>
                <a:cs typeface="Helvetica Neue"/>
              </a:defRPr>
            </a:pPr>
            <a:r>
              <a:rPr sz="1275" b="0" u="sng">
                <a:solidFill>
                  <a:srgbClr val="DBEB89"/>
                </a:solidFill>
                <a:latin typeface="Helvetica Neue"/>
                <a:ea typeface="Helvetica Neue"/>
                <a:cs typeface="Helvetica Neue"/>
                <a:hlinkClick xmlns:r="http://schemas.openxmlformats.org/officeDocument/2006/relationships" r:id="Reece65b8b66e4589"/>
              </a:rPr>
              <a:t>jonathankhobson.github.io/application-portfolios/horace-mann-development-enablement</a:t>
            </a:r>
          </a:p>
        </p:txBody>
      </p:sp>
      <p:sp>
        <p:nvSpPr>
          <p:cNvPr id="6" name="slide-number">
            <a:extLst xmlns:a="http://schemas.openxmlformats.org/drawingml/2006/main">
              <a:ext uri="{FF2B5EF4-FFF2-40B4-BE49-F238E27FC236}">
                <a16:creationId xmlns:a16="http://schemas.microsoft.com/office/drawing/2014/main" id="{ECA47AED-4062-4A55-AF01-807286788F90}"/>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09</a:t>
            </a:r>
          </a:p>
        </p:txBody>
      </p:sp>
    </p:spTree>
    <p:extLst>
      <p:ext uri="{BB962C8B-B14F-4D97-AF65-F5344CB8AC3E}">
        <p14:creationId xmlns:p14="http://schemas.microsoft.com/office/powerpoint/2010/main" val="1695089753"/>
      </p:ext>
    </p:extLst>
  </p:cSld>
</p:sld>
</file>

<file path=ppt/theme/theme1.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2026-09-11T16:52:15.4480000Z</dcterms:created>
  <dcterms:modified xsi:type="dcterms:W3CDTF">2026-09-11T16:52:15.4480000Z</dcterms:modified>
</coreProperties>
</file>