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7ab515fbce4dfe" /><Relationship Type="http://schemas.openxmlformats.org/officeDocument/2006/relationships/extended-properties" Target="/docProps/app.xml" Id="R1964e8925c5242b0" /><Relationship Type="http://schemas.openxmlformats.org/officeDocument/2006/relationships/officeDocument" Target="/ppt/presentation.xml" Id="Rc4d79b54576d4a2a" /></Relationships>
</file>

<file path=ppt/presentation.xml><?xml version="1.0" encoding="utf-8"?>
<p:presentation xmlns:p="http://schemas.openxmlformats.org/presentationml/2006/main">
  <p:sldMasterIdLst>
    <p:sldMasterId xmlns:r="http://schemas.openxmlformats.org/officeDocument/2006/relationships" id="2147483648" r:id="R59d7922db8884d34"/>
  </p:sldMasterIdLst>
  <p:notesMasterIdLst>
    <p:notesMasterId xmlns:r="http://schemas.openxmlformats.org/officeDocument/2006/relationships" r:id="R8a6854133cd0446c"/>
  </p:notesMasterIdLst>
  <p:sldIdLst>
    <p:sldId xmlns:r="http://schemas.openxmlformats.org/officeDocument/2006/relationships" id="256" r:id="R4d6ab88d37a543d3"/>
    <p:sldId xmlns:r="http://schemas.openxmlformats.org/officeDocument/2006/relationships" id="257" r:id="R238c48ba57ba488b"/>
    <p:sldId xmlns:r="http://schemas.openxmlformats.org/officeDocument/2006/relationships" id="258" r:id="R4525dfb0e4de46fe"/>
    <p:sldId xmlns:r="http://schemas.openxmlformats.org/officeDocument/2006/relationships" id="259" r:id="Rb2cd25506c0641c0"/>
    <p:sldId xmlns:r="http://schemas.openxmlformats.org/officeDocument/2006/relationships" id="260" r:id="Rfde7bbe92e694ca5"/>
    <p:sldId xmlns:r="http://schemas.openxmlformats.org/officeDocument/2006/relationships" id="261" r:id="R147f211b7dad4fe7"/>
    <p:sldId xmlns:r="http://schemas.openxmlformats.org/officeDocument/2006/relationships" id="262" r:id="R2487aa3fb2d74c58"/>
    <p:sldId xmlns:r="http://schemas.openxmlformats.org/officeDocument/2006/relationships" id="263" r:id="R219627a24a8c43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a8d91338414ff7" /><Relationship Type="http://schemas.openxmlformats.org/officeDocument/2006/relationships/slideMaster" Target="/ppt/slideMasters/slideMaster1.xml" Id="R59d7922db8884d34" /><Relationship Type="http://schemas.openxmlformats.org/officeDocument/2006/relationships/notesMaster" Target="/ppt/notesMasters/notesMaster1.xml" Id="R8a6854133cd0446c" /><Relationship Type="http://schemas.openxmlformats.org/officeDocument/2006/relationships/presProps" Target="/ppt/presProps.xml" Id="R41a0d2e2867a4981" /><Relationship Type="http://schemas.openxmlformats.org/officeDocument/2006/relationships/tableStyles" Target="/ppt/tableStyles.xml" Id="Re86a486eeb354be7" /><Relationship Type="http://schemas.openxmlformats.org/officeDocument/2006/relationships/slide" Target="/ppt/slides/slide1.xml" Id="R4d6ab88d37a543d3" /><Relationship Type="http://schemas.openxmlformats.org/officeDocument/2006/relationships/slide" Target="/ppt/slides/slide2.xml" Id="R238c48ba57ba488b" /><Relationship Type="http://schemas.openxmlformats.org/officeDocument/2006/relationships/slide" Target="/ppt/slides/slide3.xml" Id="R4525dfb0e4de46fe" /><Relationship Type="http://schemas.openxmlformats.org/officeDocument/2006/relationships/slide" Target="/ppt/slides/slide4.xml" Id="Rb2cd25506c0641c0" /><Relationship Type="http://schemas.openxmlformats.org/officeDocument/2006/relationships/slide" Target="/ppt/slides/slide5.xml" Id="Rfde7bbe92e694ca5" /><Relationship Type="http://schemas.openxmlformats.org/officeDocument/2006/relationships/slide" Target="/ppt/slides/slide6.xml" Id="R147f211b7dad4fe7" /><Relationship Type="http://schemas.openxmlformats.org/officeDocument/2006/relationships/slide" Target="/ppt/slides/slide7.xml" Id="R2487aa3fb2d74c58" /><Relationship Type="http://schemas.openxmlformats.org/officeDocument/2006/relationships/slide" Target="/ppt/slides/slide8.xml" Id="R219627a24a8c43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149c141aff46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4730d63b844268" /><Relationship Type="http://schemas.openxmlformats.org/officeDocument/2006/relationships/notesMaster" Target="/ppt/notesMasters/notesMaster1.xml" Id="Ra3ff3395c1d246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90d5ed385a4cab" /><Relationship Type="http://schemas.openxmlformats.org/officeDocument/2006/relationships/notesMaster" Target="/ppt/notesMasters/notesMaster1.xml" Id="R79f1dcf4498944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595f61aae14602" /><Relationship Type="http://schemas.openxmlformats.org/officeDocument/2006/relationships/notesMaster" Target="/ppt/notesMasters/notesMaster1.xml" Id="R9148bd43b23343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e125fbb791416f" /><Relationship Type="http://schemas.openxmlformats.org/officeDocument/2006/relationships/notesMaster" Target="/ppt/notesMasters/notesMaster1.xml" Id="R5ce8ace878aa49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f0d531fcac4782" /><Relationship Type="http://schemas.openxmlformats.org/officeDocument/2006/relationships/notesMaster" Target="/ppt/notesMasters/notesMaster1.xml" Id="Rb89810fd65b048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7b7454c9164be8" /><Relationship Type="http://schemas.openxmlformats.org/officeDocument/2006/relationships/notesMaster" Target="/ppt/notesMasters/notesMaster1.xml" Id="R8404970ce0f24d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1199c82b33442a" /><Relationship Type="http://schemas.openxmlformats.org/officeDocument/2006/relationships/notesMaster" Target="/ppt/notesMasters/notesMaster1.xml" Id="R78756003d1b846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e2526ff76c4e17" /><Relationship Type="http://schemas.openxmlformats.org/officeDocument/2006/relationships/notesMaster" Target="/ppt/notesMasters/notesMaster1.xml" Id="R4449f51ad4c740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Hydrus - Session Director — English (US), Welo Data / Welo Global. Job: https://jobs.lever.co/weloglobal/a0d8ec0f-0912-4c77-a726-03510ba76b8a . The approved paper-path illustration is decorative, not project evidence. Kyle does not claim professional recording-session direction or audio-engineering tenure.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profile: ASU Knowledge Enterprise Instructional Designer, April 2022–October 2024; Coursera Guided Project Instructor, 2024. GM evidence: Pro GM/resume_build/src/content.js and candidate clarification of approximately five professional years, with longer personal experience. No public tenure estimate is needed here. A GM table is adjacent facilitation experience, not a professional recording-session credit. Public GM portfolio: https://jonathankhobson.github.io/shareables/s/gamemasterkyle-professional-game-master-portfolio/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lesson materials and official Coursera page https://www.coursera.org/projects/chatgpt-beginners . Kyle created the course demonstrations and revised quiz content. The image is an original course slide. No measured learning gain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2024 Task 3 recording excerpt, initial fictional Brew Bliss draft. Subsequent lesson steps add a more specific instruction and inspect the resulting draft. This supports clear demonstration and revision, not proof of recording-session direction or measured learner proficiency. Official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UX Designer &amp; Researcher (Contract), October 2025–Present. Original Kyle-authored Figma designs and engineering annotations. Design/handoff evidence; exact pictured state is not claimed to be shipped. Relevance to recording-session troubleshooting is adjacent, not direct audio-production experience. Public case: https://jonathankhobson.github.io/portfolio/design/case/flint/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ASU for Life collaborative prompt architecture attributes the proposed approach to Kyle. The approved source reconstruction makes mentor checkpoints visible without claiming deployment, model training or savings. Reviewed AI portfolio: https://jonathankhobson.github.io/portfolio/ai/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not a completed Hydrus engagement or claim of audio-engineering expertise. Employer specifications and calibration are needed before independent work. Native US English, recording-session experience and real-time technical monitoring appear in the role requirements. Source: https://jobs.lever.co/weloglobal/a0d8ec0f-0912-4c77-a726-03510ba76b8a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confirmed Mesa location, U.S. work authorization without sponsorship and ASAP start. BS Electronic Media, Northern Arizona University, May 2014. Portfolio link targets the separately prepared Hydrus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78e3807acc4d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05265f683e4feb" /><Relationship Type="http://schemas.openxmlformats.org/officeDocument/2006/relationships/slideLayout" Target="/ppt/slideLayouts/slideLayout1.xml" Id="R6362c1300b2d44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62c1300b2d44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36b27480fb45a7" /><Relationship Type="http://schemas.openxmlformats.org/officeDocument/2006/relationships/image" Target="/ppt/media/image.png" Id="R18cdd82b1e134d8b" /><Relationship Type="http://schemas.openxmlformats.org/officeDocument/2006/relationships/notesSlide" Target="/ppt/notesSlides/notesSlide1.xml" Id="R1ef13b3b98724b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04c99b38b64300" /><Relationship Type="http://schemas.openxmlformats.org/officeDocument/2006/relationships/image" Target="/ppt/media/image.jpeg" Id="R5c3e7f3dba9147cc" /><Relationship Type="http://schemas.openxmlformats.org/officeDocument/2006/relationships/notesSlide" Target="/ppt/notesSlides/notesSlide2.xml" Id="R715b11f1fe794a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0f31d3e3494d17" /><Relationship Type="http://schemas.openxmlformats.org/officeDocument/2006/relationships/image" Target="/ppt/media/image2.png" Id="R436c1ec35ecf4951" /><Relationship Type="http://schemas.openxmlformats.org/officeDocument/2006/relationships/notesSlide" Target="/ppt/notesSlides/notesSlide3.xml" Id="Recd6b145e07b4a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7793421d374e1e" /><Relationship Type="http://schemas.openxmlformats.org/officeDocument/2006/relationships/image" Target="/ppt/media/image3.png" Id="R6da8b5b0e59740b4" /><Relationship Type="http://schemas.openxmlformats.org/officeDocument/2006/relationships/notesSlide" Target="/ppt/notesSlides/notesSlide4.xml" Id="R98c60cc24d4a4c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1862457fe140ca" /><Relationship Type="http://schemas.openxmlformats.org/officeDocument/2006/relationships/image" Target="/ppt/media/image4.png" Id="Rc36ef19654044fda" /><Relationship Type="http://schemas.openxmlformats.org/officeDocument/2006/relationships/image" Target="/ppt/media/image5.png" Id="R0ea0fded7cef479e" /><Relationship Type="http://schemas.openxmlformats.org/officeDocument/2006/relationships/notesSlide" Target="/ppt/notesSlides/notesSlide5.xml" Id="R87907f04e4e64c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1dda7b890544f0" /><Relationship Type="http://schemas.openxmlformats.org/officeDocument/2006/relationships/image" Target="/ppt/media/image6.png" Id="Ra9afa28c9c394e6d" /><Relationship Type="http://schemas.openxmlformats.org/officeDocument/2006/relationships/notesSlide" Target="/ppt/notesSlides/notesSlide6.xml" Id="Rd5365939067942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8af673f1f143ca" /><Relationship Type="http://schemas.openxmlformats.org/officeDocument/2006/relationships/notesSlide" Target="/ppt/notesSlides/notesSlide7.xml" Id="Rffab59ac24454f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bba640fd014e11" /><Relationship Type="http://schemas.openxmlformats.org/officeDocument/2006/relationships/hyperlink" Target="mailto:JonathanKyleHobson@gmail.com" TargetMode="External" Id="Rfc769ed0d5c34a8a" /><Relationship Type="http://schemas.openxmlformats.org/officeDocument/2006/relationships/hyperlink" Target="https://jonathankhobson.github.io/application-portfolios/welo-hydrus-session-director/" TargetMode="External" Id="R9ce0d472e38f4b5b" /><Relationship Type="http://schemas.openxmlformats.org/officeDocument/2006/relationships/notesSlide" Target="/ppt/notesSlides/notesSlide8.xml" Id="R8cadf65601374a65"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8cdd82b1e134d8b"/>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97305708-5228-423B-BE0F-420D9A110CE3}"/>
              </a:ext>
            </a:extLst>
          </p:cNvPr>
          <p:cNvSpPr>
            <a:spLocks xmlns:a="http://schemas.openxmlformats.org/drawingml/2006/main" noGrp="1"/>
          </p:cNvSpPr>
          <p:nvPr/>
        </p:nvSpPr>
        <p:spPr>
          <a:xfrm xmlns:a="http://schemas.openxmlformats.org/drawingml/2006/main">
            <a:off x="609600" y="5143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WELO DATA</a:t>
            </a:r>
          </a:p>
        </p:txBody>
      </p:sp>
      <p:sp>
        <p:nvSpPr>
          <p:cNvPr id="3" name="headline">
            <a:extLst xmlns:a="http://schemas.openxmlformats.org/drawingml/2006/main">
              <a:ext uri="{FF2B5EF4-FFF2-40B4-BE49-F238E27FC236}">
                <a16:creationId xmlns:a16="http://schemas.microsoft.com/office/drawing/2014/main" id="{A1C21F36-9B2A-4B12-9C90-8C7B22BF255F}"/>
              </a:ext>
            </a:extLst>
          </p:cNvPr>
          <p:cNvSpPr>
            <a:spLocks xmlns:a="http://schemas.openxmlformats.org/drawingml/2006/main" noGrp="1"/>
          </p:cNvSpPr>
          <p:nvPr/>
        </p:nvSpPr>
        <p:spPr>
          <a:xfrm xmlns:a="http://schemas.openxmlformats.org/drawingml/2006/main">
            <a:off x="609600" y="1485900"/>
            <a:ext cx="9906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Clear instructions.</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Attentive facilitation.</a:t>
            </a:r>
          </a:p>
        </p:txBody>
      </p:sp>
      <p:sp>
        <p:nvSpPr>
          <p:cNvPr id="4" name="cover-intro">
            <a:extLst xmlns:a="http://schemas.openxmlformats.org/drawingml/2006/main">
              <a:ext uri="{FF2B5EF4-FFF2-40B4-BE49-F238E27FC236}">
                <a16:creationId xmlns:a16="http://schemas.microsoft.com/office/drawing/2014/main" id="{ED819482-C769-4B94-A282-F784AC3C55DD}"/>
              </a:ext>
            </a:extLst>
          </p:cNvPr>
          <p:cNvSpPr>
            <a:spLocks xmlns:a="http://schemas.openxmlformats.org/drawingml/2006/main" noGrp="1"/>
          </p:cNvSpPr>
          <p:nvPr/>
        </p:nvSpPr>
        <p:spPr>
          <a:xfrm xmlns:a="http://schemas.openxmlformats.org/drawingml/2006/main">
            <a:off x="647700" y="44481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Teaching, conversational AI</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live group experience</a:t>
            </a:r>
          </a:p>
        </p:txBody>
      </p:sp>
      <p:sp>
        <p:nvSpPr>
          <p:cNvPr id="5" name="cover-role">
            <a:extLst xmlns:a="http://schemas.openxmlformats.org/drawingml/2006/main">
              <a:ext uri="{FF2B5EF4-FFF2-40B4-BE49-F238E27FC236}">
                <a16:creationId xmlns:a16="http://schemas.microsoft.com/office/drawing/2014/main" id="{203E2E7E-028D-4C7C-A041-214E40046A92}"/>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Hydrus - Session Director — English (US) · U.S. remote</a:t>
            </a:r>
          </a:p>
        </p:txBody>
      </p:sp>
      <p:sp>
        <p:nvSpPr>
          <p:cNvPr id="6" name="slide-number">
            <a:extLst xmlns:a="http://schemas.openxmlformats.org/drawingml/2006/main">
              <a:ext uri="{FF2B5EF4-FFF2-40B4-BE49-F238E27FC236}">
                <a16:creationId xmlns:a16="http://schemas.microsoft.com/office/drawing/2014/main" id="{2F21881A-A9F8-4331-A4A1-FD742DF6FBD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775027874"/>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7F6969D-3CA0-43EF-AE2D-BB67754FEC5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RELEVANT BACKGROUND</a:t>
            </a:r>
          </a:p>
        </p:txBody>
      </p:sp>
      <p:sp>
        <p:nvSpPr>
          <p:cNvPr id="2" name="headline">
            <a:extLst xmlns:a="http://schemas.openxmlformats.org/drawingml/2006/main">
              <a:ext uri="{FF2B5EF4-FFF2-40B4-BE49-F238E27FC236}">
                <a16:creationId xmlns:a16="http://schemas.microsoft.com/office/drawing/2014/main" id="{C31F2A23-4485-490D-BA9F-40B2BE23E41E}"/>
              </a:ext>
            </a:extLst>
          </p:cNvPr>
          <p:cNvSpPr>
            <a:spLocks xmlns:a="http://schemas.openxmlformats.org/drawingml/2006/main" noGrp="1"/>
          </p:cNvSpPr>
          <p:nvPr/>
        </p:nvSpPr>
        <p:spPr>
          <a:xfrm xmlns:a="http://schemas.openxmlformats.org/drawingml/2006/main">
            <a:off x="609600" y="1285875"/>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Teaching and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live facilitation</a:t>
            </a:r>
          </a:p>
        </p:txBody>
      </p:sp>
      <p:sp>
        <p:nvSpPr>
          <p:cNvPr id="3" name="direct-evidence">
            <a:extLst xmlns:a="http://schemas.openxmlformats.org/drawingml/2006/main">
              <a:ext uri="{FF2B5EF4-FFF2-40B4-BE49-F238E27FC236}">
                <a16:creationId xmlns:a16="http://schemas.microsoft.com/office/drawing/2014/main" id="{C65F6D12-2A6C-4986-A365-CD71D3A7E74B}"/>
              </a:ext>
            </a:extLst>
          </p:cNvPr>
          <p:cNvSpPr>
            <a:spLocks xmlns:a="http://schemas.openxmlformats.org/drawingml/2006/main" noGrp="1"/>
          </p:cNvSpPr>
          <p:nvPr/>
        </p:nvSpPr>
        <p:spPr>
          <a:xfrm xmlns:a="http://schemas.openxmlformats.org/drawingml/2006/main">
            <a:off x="609600" y="3095625"/>
            <a:ext cx="595312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At ASU, I developed learning materials and workshops. For Coursera, I created original recorded demonstrations for a beginner AI project.</a:t>
            </a:r>
          </a:p>
        </p:txBody>
      </p:sp>
      <p:sp>
        <p:nvSpPr>
          <p:cNvPr id="4" name="live-evidence">
            <a:extLst xmlns:a="http://schemas.openxmlformats.org/drawingml/2006/main">
              <a:ext uri="{FF2B5EF4-FFF2-40B4-BE49-F238E27FC236}">
                <a16:creationId xmlns:a16="http://schemas.microsoft.com/office/drawing/2014/main" id="{4C16F18C-812A-4130-B5CC-CD33A53B0232}"/>
              </a:ext>
            </a:extLst>
          </p:cNvPr>
          <p:cNvSpPr>
            <a:spLocks xmlns:a="http://schemas.openxmlformats.org/drawingml/2006/main" noGrp="1"/>
          </p:cNvSpPr>
          <p:nvPr/>
        </p:nvSpPr>
        <p:spPr>
          <a:xfrm xmlns:a="http://schemas.openxmlformats.org/drawingml/2006/main">
            <a:off x="609600" y="4876800"/>
            <a:ext cx="595312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I also prepare and run 3–4-hour tabletop role-playing sessions for mixed-experience groups, online and in person.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c3e7f3dba9147cc"/>
          <a:stretch xmlns:a="http://schemas.openxmlformats.org/drawingml/2006/main"/>
        </p:blipFill>
        <p:spPr>
          <a:xfrm xmlns:a="http://schemas.openxmlformats.org/drawingml/2006/main">
            <a:off x="7305675" y="1543050"/>
            <a:ext cx="4191000" cy="4191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B233A832-1CB4-465B-A978-C1E142E1DC4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2064082678"/>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46342CC-8AAF-4353-88FC-0DBB93FF05C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4E566E60-9FFC-45FD-8154-A62AF531FE22}"/>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practice sequence people can follow</a:t>
            </a:r>
          </a:p>
        </p:txBody>
      </p:sp>
      <p:sp>
        <p:nvSpPr>
          <p:cNvPr id="3" name="course-title">
            <a:extLst xmlns:a="http://schemas.openxmlformats.org/drawingml/2006/main">
              <a:ext uri="{FF2B5EF4-FFF2-40B4-BE49-F238E27FC236}">
                <a16:creationId xmlns:a16="http://schemas.microsoft.com/office/drawing/2014/main" id="{1DF49209-04BD-4752-BC2D-22E7B150E7AE}"/>
              </a:ext>
            </a:extLst>
          </p:cNvPr>
          <p:cNvSpPr>
            <a:spLocks xmlns:a="http://schemas.openxmlformats.org/drawingml/2006/main" noGrp="1"/>
          </p:cNvSpPr>
          <p:nvPr/>
        </p:nvSpPr>
        <p:spPr>
          <a:xfrm xmlns:a="http://schemas.openxmlformats.org/drawingml/2006/main">
            <a:off x="609600" y="21145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36c1ec35ecf4951"/>
          <a:stretch xmlns:a="http://schemas.openxmlformats.org/drawingml/2006/main"/>
        </p:blipFill>
        <p:spPr>
          <a:xfrm xmlns:a="http://schemas.openxmlformats.org/drawingml/2006/main">
            <a:off x="1303734" y="2762250"/>
            <a:ext cx="9508331" cy="3457575"/>
          </a:xfrm>
          <a:prstGeom xmlns:a="http://schemas.openxmlformats.org/drawingml/2006/main" prst="rect">
            <a:avLst/>
          </a:prstGeom>
        </p:spPr>
      </p:pic>
      <p:sp>
        <p:nvSpPr>
          <p:cNvPr id="5" name="course-source">
            <a:extLst xmlns:a="http://schemas.openxmlformats.org/drawingml/2006/main">
              <a:ext uri="{FF2B5EF4-FFF2-40B4-BE49-F238E27FC236}">
                <a16:creationId xmlns:a16="http://schemas.microsoft.com/office/drawing/2014/main" id="{6DA4BA0C-4E3D-4F90-A756-C6772AC323B8}"/>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lesson material · Published Coursera Guided Project, 2024</a:t>
            </a:r>
          </a:p>
        </p:txBody>
      </p:sp>
      <p:sp>
        <p:nvSpPr>
          <p:cNvPr id="6" name="slide-number">
            <a:extLst xmlns:a="http://schemas.openxmlformats.org/drawingml/2006/main">
              <a:ext uri="{FF2B5EF4-FFF2-40B4-BE49-F238E27FC236}">
                <a16:creationId xmlns:a16="http://schemas.microsoft.com/office/drawing/2014/main" id="{E8F8E4FB-2362-4DB1-B3F6-ADFACE974CA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533799570"/>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FF8E7E31-DCBD-421D-80C6-EFB76C83ED9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DEMONSTRATION</a:t>
            </a:r>
          </a:p>
        </p:txBody>
      </p:sp>
      <p:sp>
        <p:nvSpPr>
          <p:cNvPr id="2" name="headline">
            <a:extLst xmlns:a="http://schemas.openxmlformats.org/drawingml/2006/main">
              <a:ext uri="{FF2B5EF4-FFF2-40B4-BE49-F238E27FC236}">
                <a16:creationId xmlns:a16="http://schemas.microsoft.com/office/drawing/2014/main" id="{945F6FE6-84E6-4D58-BB27-DEA8FED438BE}"/>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Feedback tied to a specific task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da8b5b0e59740b4"/>
          <a:stretch xmlns:a="http://schemas.openxmlformats.org/drawingml/2006/main"/>
        </p:blipFill>
        <p:spPr>
          <a:xfrm xmlns:a="http://schemas.openxmlformats.org/drawingml/2006/main">
            <a:off x="609600" y="2419879"/>
            <a:ext cx="9525000" cy="3704167"/>
          </a:xfrm>
          <a:prstGeom xmlns:a="http://schemas.openxmlformats.org/drawingml/2006/main" prst="rect">
            <a:avLst/>
          </a:prstGeom>
        </p:spPr>
      </p:pic>
      <p:sp>
        <p:nvSpPr>
          <p:cNvPr id="4" name="practice-purpose">
            <a:extLst xmlns:a="http://schemas.openxmlformats.org/drawingml/2006/main">
              <a:ext uri="{FF2B5EF4-FFF2-40B4-BE49-F238E27FC236}">
                <a16:creationId xmlns:a16="http://schemas.microsoft.com/office/drawing/2014/main" id="{9E163C89-5B23-4F84-8242-21DB8A485202}"/>
              </a:ext>
            </a:extLst>
          </p:cNvPr>
          <p:cNvSpPr>
            <a:spLocks xmlns:a="http://schemas.openxmlformats.org/drawingml/2006/main" noGrp="1"/>
          </p:cNvSpPr>
          <p:nvPr/>
        </p:nvSpPr>
        <p:spPr>
          <a:xfrm xmlns:a="http://schemas.openxmlformats.org/drawingml/2006/main">
            <a:off x="609600" y="6334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learner makes the request more specific, then compares the resulting draft.</a:t>
            </a:r>
          </a:p>
        </p:txBody>
      </p:sp>
      <p:sp>
        <p:nvSpPr>
          <p:cNvPr id="5" name="slide-number">
            <a:extLst xmlns:a="http://schemas.openxmlformats.org/drawingml/2006/main">
              <a:ext uri="{FF2B5EF4-FFF2-40B4-BE49-F238E27FC236}">
                <a16:creationId xmlns:a16="http://schemas.microsoft.com/office/drawing/2014/main" id="{D4385E45-45B9-48BC-B4BC-57CFD445A5A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360707177"/>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53355BE0-AA84-4F9F-A2C5-CAA71BF8B5E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SMARTTAGIT FLINT DESIGN</a:t>
            </a:r>
          </a:p>
        </p:txBody>
      </p:sp>
      <p:sp>
        <p:nvSpPr>
          <p:cNvPr id="2" name="headline">
            <a:extLst xmlns:a="http://schemas.openxmlformats.org/drawingml/2006/main">
              <a:ext uri="{FF2B5EF4-FFF2-40B4-BE49-F238E27FC236}">
                <a16:creationId xmlns:a16="http://schemas.microsoft.com/office/drawing/2014/main" id="{BEB7C363-55C4-4F23-B54B-F629E250E056}"/>
              </a:ext>
            </a:extLst>
          </p:cNvPr>
          <p:cNvSpPr>
            <a:spLocks xmlns:a="http://schemas.openxmlformats.org/drawingml/2006/main" noGrp="1"/>
          </p:cNvSpPr>
          <p:nvPr/>
        </p:nvSpPr>
        <p:spPr>
          <a:xfrm xmlns:a="http://schemas.openxmlformats.org/drawingml/2006/main">
            <a:off x="609600" y="1219200"/>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Different failures</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need different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instructions</a:t>
            </a:r>
          </a:p>
        </p:txBody>
      </p:sp>
      <p:sp>
        <p:nvSpPr>
          <p:cNvPr id="3" name="flint-specific">
            <a:extLst xmlns:a="http://schemas.openxmlformats.org/drawingml/2006/main">
              <a:ext uri="{FF2B5EF4-FFF2-40B4-BE49-F238E27FC236}">
                <a16:creationId xmlns:a16="http://schemas.microsoft.com/office/drawing/2014/main" id="{B4132914-F9C3-4863-9914-8A34CCADDDB5}"/>
              </a:ext>
            </a:extLst>
          </p:cNvPr>
          <p:cNvSpPr>
            <a:spLocks xmlns:a="http://schemas.openxmlformats.org/drawingml/2006/main" noGrp="1"/>
          </p:cNvSpPr>
          <p:nvPr/>
        </p:nvSpPr>
        <p:spPr>
          <a:xfrm xmlns:a="http://schemas.openxmlformats.org/drawingml/2006/main">
            <a:off x="609600" y="3609975"/>
            <a:ext cx="5476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An interrupted answer and a lost connection needed different messages and actions. I organized those states in Figma and annotated the behavior for engineering.</a:t>
            </a:r>
          </a:p>
        </p:txBody>
      </p:sp>
      <p:sp>
        <p:nvSpPr>
          <p:cNvPr id="4" name="flint-adjacent">
            <a:extLst xmlns:a="http://schemas.openxmlformats.org/drawingml/2006/main">
              <a:ext uri="{FF2B5EF4-FFF2-40B4-BE49-F238E27FC236}">
                <a16:creationId xmlns:a16="http://schemas.microsoft.com/office/drawing/2014/main" id="{711AC854-6257-4B4F-BB73-3FDB36A1A927}"/>
              </a:ext>
            </a:extLst>
          </p:cNvPr>
          <p:cNvSpPr>
            <a:spLocks xmlns:a="http://schemas.openxmlformats.org/drawingml/2006/main" noGrp="1"/>
          </p:cNvSpPr>
          <p:nvPr/>
        </p:nvSpPr>
        <p:spPr>
          <a:xfrm xmlns:a="http://schemas.openxmlformats.org/drawingml/2006/main">
            <a:off x="609600" y="5400675"/>
            <a:ext cx="5476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For a live session, the connection is practical: identify the issue before asking someone to repeat a task.</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36ef19654044fda"/>
          <a:stretch xmlns:a="http://schemas.openxmlformats.org/drawingml/2006/main"/>
        </p:blipFill>
        <p:spPr>
          <a:xfrm xmlns:a="http://schemas.openxmlformats.org/drawingml/2006/main">
            <a:off x="6629400" y="1326390"/>
            <a:ext cx="2238375" cy="479577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ea0fded7cef479e"/>
          <a:stretch xmlns:a="http://schemas.openxmlformats.org/drawingml/2006/main"/>
        </p:blipFill>
        <p:spPr>
          <a:xfrm xmlns:a="http://schemas.openxmlformats.org/drawingml/2006/main">
            <a:off x="9210675" y="1326390"/>
            <a:ext cx="2238375" cy="4795771"/>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195B72DE-8FCB-4D3B-A6D7-77C65E124D0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211459055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5B1CC59-FCD2-4DC2-8C19-EE2AD2017B7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6E44DF63-2EE9-4E65-8A8C-0D9FEB7C0A62}"/>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Human review in</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proposed AI workflow</a:t>
            </a:r>
          </a:p>
        </p:txBody>
      </p:sp>
      <p:sp>
        <p:nvSpPr>
          <p:cNvPr id="3" name="asu-purpose">
            <a:extLst xmlns:a="http://schemas.openxmlformats.org/drawingml/2006/main">
              <a:ext uri="{FF2B5EF4-FFF2-40B4-BE49-F238E27FC236}">
                <a16:creationId xmlns:a16="http://schemas.microsoft.com/office/drawing/2014/main" id="{318E6D62-CB4C-4846-A1D8-B5508DD7C349}"/>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9afa28c9c394e6d"/>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A95A66C5-77AE-4D04-B496-C12E1A86AED1}"/>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Simplified reconstruction of my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732FA60B-28BB-4173-8950-86195320B8E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2029926694"/>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A0BA2DD-AAF7-4552-A181-CCCDF20ECF7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WELO DATA   /   PROPOSED SESSION APPROACH</a:t>
            </a:r>
          </a:p>
        </p:txBody>
      </p:sp>
      <p:sp>
        <p:nvSpPr>
          <p:cNvPr id="2" name="headline">
            <a:extLst xmlns:a="http://schemas.openxmlformats.org/drawingml/2006/main">
              <a:ext uri="{FF2B5EF4-FFF2-40B4-BE49-F238E27FC236}">
                <a16:creationId xmlns:a16="http://schemas.microsoft.com/office/drawing/2014/main" id="{DD253DBC-6E88-49AC-AB1E-8314A73040E7}"/>
              </a:ext>
            </a:extLst>
          </p:cNvPr>
          <p:cNvSpPr>
            <a:spLocks xmlns:a="http://schemas.openxmlformats.org/drawingml/2006/main" noGrp="1"/>
          </p:cNvSpPr>
          <p:nvPr/>
        </p:nvSpPr>
        <p:spPr>
          <a:xfrm xmlns:a="http://schemas.openxmlformats.org/drawingml/2006/main">
            <a:off x="609600" y="10668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 clear brief and focused feedback</a:t>
            </a:r>
          </a:p>
        </p:txBody>
      </p:sp>
      <p:sp>
        <p:nvSpPr>
          <p:cNvPr id="3" name="proposal-intro">
            <a:extLst xmlns:a="http://schemas.openxmlformats.org/drawingml/2006/main">
              <a:ext uri="{FF2B5EF4-FFF2-40B4-BE49-F238E27FC236}">
                <a16:creationId xmlns:a16="http://schemas.microsoft.com/office/drawing/2014/main" id="{938389A2-C284-477A-8CFE-8C89E39EFDF9}"/>
              </a:ext>
            </a:extLst>
          </p:cNvPr>
          <p:cNvSpPr>
            <a:spLocks xmlns:a="http://schemas.openxmlformats.org/drawingml/2006/main" noGrp="1"/>
          </p:cNvSpPr>
          <p:nvPr/>
        </p:nvSpPr>
        <p:spPr>
          <a:xfrm xmlns:a="http://schemas.openxmlformats.org/drawingml/2006/main">
            <a:off x="609600" y="224790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I would begin with your calibration process and approved recording requirements.</a:t>
            </a:r>
          </a:p>
        </p:txBody>
      </p:sp>
      <p:sp>
        <p:nvSpPr>
          <p:cNvPr id="4" name="proposal-steps">
            <a:extLst xmlns:a="http://schemas.openxmlformats.org/drawingml/2006/main">
              <a:ext uri="{FF2B5EF4-FFF2-40B4-BE49-F238E27FC236}">
                <a16:creationId xmlns:a16="http://schemas.microsoft.com/office/drawing/2014/main" id="{E6E0A2BF-1C7A-469A-84AD-201E4C8E7546}"/>
              </a:ext>
            </a:extLst>
          </p:cNvPr>
          <p:cNvSpPr>
            <a:spLocks xmlns:a="http://schemas.openxmlformats.org/drawingml/2006/main" noGrp="1"/>
          </p:cNvSpPr>
          <p:nvPr/>
        </p:nvSpPr>
        <p:spPr>
          <a:xfrm xmlns:a="http://schemas.openxmlformats.org/drawingml/2006/main">
            <a:off x="609600" y="3362325"/>
            <a:ext cx="10477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Brief the participant and confirm the task is understood.</a:t>
            </a:r>
          </a:p>
          <a:p xmlns:a="http://schemas.openxmlformats.org/drawingml/2006/main">
            <a:r>
              <a:t/>
            </a:r>
          </a:p>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Coach one specific adjustment while preserving natural delivery.</a:t>
            </a:r>
          </a:p>
          <a:p xmlns:a="http://schemas.openxmlformats.org/drawingml/2006/main">
            <a:r>
              <a:t/>
            </a:r>
          </a:p>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Pause to check a technical issue against the project requirements.</a:t>
            </a:r>
          </a:p>
          <a:p xmlns:a="http://schemas.openxmlformats.org/drawingml/2006/main">
            <a:r>
              <a:t/>
            </a:r>
          </a:p>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Log the issue, repeat decision and any question for the lead.</a:t>
            </a:r>
          </a:p>
        </p:txBody>
      </p:sp>
      <p:sp>
        <p:nvSpPr>
          <p:cNvPr id="5" name="proposal-boundary">
            <a:extLst xmlns:a="http://schemas.openxmlformats.org/drawingml/2006/main">
              <a:ext uri="{FF2B5EF4-FFF2-40B4-BE49-F238E27FC236}">
                <a16:creationId xmlns:a16="http://schemas.microsoft.com/office/drawing/2014/main" id="{BE257089-8C59-4F2D-A074-D86F690BB341}"/>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approach; Welo’s calibration, equipment and procedures would guide the work.</a:t>
            </a:r>
          </a:p>
        </p:txBody>
      </p:sp>
      <p:sp>
        <p:nvSpPr>
          <p:cNvPr id="6" name="slide-number">
            <a:extLst xmlns:a="http://schemas.openxmlformats.org/drawingml/2006/main">
              <a:ext uri="{FF2B5EF4-FFF2-40B4-BE49-F238E27FC236}">
                <a16:creationId xmlns:a16="http://schemas.microsoft.com/office/drawing/2014/main" id="{EA90DD22-5B76-42F0-B4F5-D37E2B10DD9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785292248"/>
      </p:ext>
    </p:extLst>
  </p:cSld>
</p:sld>
</file>

<file path=ppt/slides/slide8.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2031E5F-7608-499D-B566-5D9815C1D70C}"/>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WELO DATA APPLICATION</a:t>
            </a:r>
          </a:p>
        </p:txBody>
      </p:sp>
      <p:sp>
        <p:nvSpPr>
          <p:cNvPr id="2" name="headline">
            <a:extLst xmlns:a="http://schemas.openxmlformats.org/drawingml/2006/main">
              <a:ext uri="{FF2B5EF4-FFF2-40B4-BE49-F238E27FC236}">
                <a16:creationId xmlns:a16="http://schemas.microsoft.com/office/drawing/2014/main" id="{3CBAB42B-57B3-4881-938E-819289F2B441}"/>
              </a:ext>
            </a:extLst>
          </p:cNvPr>
          <p:cNvSpPr>
            <a:spLocks xmlns:a="http://schemas.openxmlformats.org/drawingml/2006/main" noGrp="1"/>
          </p:cNvSpPr>
          <p:nvPr/>
        </p:nvSpPr>
        <p:spPr>
          <a:xfrm xmlns:a="http://schemas.openxmlformats.org/drawingml/2006/main">
            <a:off x="609600" y="1457325"/>
            <a:ext cx="1076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F4F2E9"/>
                </a:solidFill>
                <a:latin typeface="Helvetica Neue"/>
                <a:ea typeface="Helvetica Neue"/>
                <a:cs typeface="Helvetica Neue"/>
              </a:defRPr>
            </a:pPr>
            <a:r>
              <a:rPr sz="4500" b="1">
                <a:solidFill>
                  <a:srgbClr val="F4F2E9"/>
                </a:solidFill>
                <a:latin typeface="Helvetica Neue"/>
                <a:ea typeface="Helvetica Neue"/>
                <a:cs typeface="Helvetica Neue"/>
              </a:rPr>
              <a:t>Hydrus</a:t>
            </a:r>
          </a:p>
          <a:p xmlns:a="http://schemas.openxmlformats.org/drawingml/2006/main">
            <a:pPr>
              <a:lnSpc>
                <a:spcPct val="110000"/>
              </a:lnSpc>
              <a:buNone/>
              <a:defRPr sz="4500" b="1">
                <a:solidFill>
                  <a:srgbClr val="F4F2E9"/>
                </a:solidFill>
                <a:latin typeface="Helvetica Neue"/>
                <a:ea typeface="Helvetica Neue"/>
                <a:cs typeface="Helvetica Neue"/>
              </a:defRPr>
            </a:pPr>
            <a:r>
              <a:rPr sz="4500" b="1">
                <a:solidFill>
                  <a:srgbClr val="F4F2E9"/>
                </a:solidFill>
                <a:latin typeface="Helvetica Neue"/>
                <a:ea typeface="Helvetica Neue"/>
                <a:cs typeface="Helvetica Neue"/>
              </a:rPr>
              <a:t>Session Director</a:t>
            </a:r>
          </a:p>
        </p:txBody>
      </p:sp>
      <p:sp>
        <p:nvSpPr>
          <p:cNvPr id="3" name="contact-intent">
            <a:extLst xmlns:a="http://schemas.openxmlformats.org/drawingml/2006/main">
              <a:ext uri="{FF2B5EF4-FFF2-40B4-BE49-F238E27FC236}">
                <a16:creationId xmlns:a16="http://schemas.microsoft.com/office/drawing/2014/main" id="{BBE21BE6-6F7C-432E-A947-A82F8EFE39D9}"/>
              </a:ext>
            </a:extLst>
          </p:cNvPr>
          <p:cNvSpPr>
            <a:spLocks xmlns:a="http://schemas.openxmlformats.org/drawingml/2006/main" noGrp="1"/>
          </p:cNvSpPr>
          <p:nvPr/>
        </p:nvSpPr>
        <p:spPr>
          <a:xfrm xmlns:a="http://schemas.openxmlformats.org/drawingml/2006/main">
            <a:off x="647700" y="3714750"/>
            <a:ext cx="1057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F4F2E9"/>
                </a:solidFill>
                <a:latin typeface="Helvetica Neue"/>
                <a:ea typeface="Helvetica Neue"/>
                <a:cs typeface="Helvetica Neue"/>
              </a:defRPr>
            </a:pPr>
            <a:r>
              <a:rPr sz="1950" b="0">
                <a:solidFill>
                  <a:srgbClr val="F4F2E9"/>
                </a:solidFill>
                <a:latin typeface="Helvetica Neue"/>
                <a:ea typeface="Helvetica Neue"/>
                <a:cs typeface="Helvetica Neue"/>
              </a:rPr>
              <a:t>Mesa, Arizona · Available for U.S. remote work</a:t>
            </a:r>
          </a:p>
          <a:p xmlns:a="http://schemas.openxmlformats.org/drawingml/2006/main">
            <a:pPr>
              <a:lnSpc>
                <a:spcPct val="110000"/>
              </a:lnSpc>
              <a:buNone/>
              <a:defRPr sz="1950" b="0">
                <a:solidFill>
                  <a:srgbClr val="F4F2E9"/>
                </a:solidFill>
                <a:latin typeface="Helvetica Neue"/>
                <a:ea typeface="Helvetica Neue"/>
                <a:cs typeface="Helvetica Neue"/>
              </a:defRPr>
            </a:pPr>
            <a:r>
              <a:rPr sz="1950" b="0">
                <a:solidFill>
                  <a:srgbClr val="F4F2E9"/>
                </a:solidFill>
                <a:latin typeface="Helvetica Neue"/>
                <a:ea typeface="Helvetica Neue"/>
                <a:cs typeface="Helvetica Neue"/>
              </a:rPr>
              <a:t>BS Electronic Media · ASU learning and conversational AI work</a:t>
            </a:r>
          </a:p>
        </p:txBody>
      </p:sp>
      <p:sp>
        <p:nvSpPr>
          <p:cNvPr id="4" name="email">
            <a:extLst xmlns:a="http://schemas.openxmlformats.org/drawingml/2006/main">
              <a:ext uri="{FF2B5EF4-FFF2-40B4-BE49-F238E27FC236}">
                <a16:creationId xmlns:a16="http://schemas.microsoft.com/office/drawing/2014/main" id="{5008128F-89CC-409F-ADA6-CB39C5A6248A}"/>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fc769ed0d5c34a8a"/>
              </a:rPr>
              <a:t>JonathanKyleHobson@gmail.com</a:t>
            </a:r>
          </a:p>
        </p:txBody>
      </p:sp>
      <p:sp>
        <p:nvSpPr>
          <p:cNvPr id="5" name="portfolio">
            <a:extLst xmlns:a="http://schemas.openxmlformats.org/drawingml/2006/main">
              <a:ext uri="{FF2B5EF4-FFF2-40B4-BE49-F238E27FC236}">
                <a16:creationId xmlns:a16="http://schemas.microsoft.com/office/drawing/2014/main" id="{17F11569-13F1-44FA-9988-71DC6C7ACB5A}"/>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9ce0d472e38f4b5b"/>
              </a:rPr>
              <a:t>View the tailored Hydrus portfolio</a:t>
            </a:r>
          </a:p>
        </p:txBody>
      </p:sp>
      <p:sp>
        <p:nvSpPr>
          <p:cNvPr id="6" name="slide-number">
            <a:extLst xmlns:a="http://schemas.openxmlformats.org/drawingml/2006/main">
              <a:ext uri="{FF2B5EF4-FFF2-40B4-BE49-F238E27FC236}">
                <a16:creationId xmlns:a16="http://schemas.microsoft.com/office/drawing/2014/main" id="{64374959-945C-4D7F-B4EB-3E415E34715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08</a:t>
            </a:r>
          </a:p>
        </p:txBody>
      </p:sp>
    </p:spTree>
    <p:extLst>
      <p:ext uri="{BB962C8B-B14F-4D97-AF65-F5344CB8AC3E}">
        <p14:creationId xmlns:p14="http://schemas.microsoft.com/office/powerpoint/2010/main" val="1109153184"/>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2026-09-08T23:51:42.7610000Z</dcterms:created>
  <dcterms:modified xsi:type="dcterms:W3CDTF">2026-09-08T23:51:42.7610000Z</dcterms:modified>
</coreProperties>
</file>