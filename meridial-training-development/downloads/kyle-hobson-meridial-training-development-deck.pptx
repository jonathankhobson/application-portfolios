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2f76b065c44f6e" /><Relationship Type="http://schemas.openxmlformats.org/officeDocument/2006/relationships/extended-properties" Target="/docProps/app.xml" Id="Rf214e248e47f45c9" /><Relationship Type="http://schemas.openxmlformats.org/officeDocument/2006/relationships/officeDocument" Target="/ppt/presentation.xml" Id="Ra5722e4eee4f4248" /></Relationships>
</file>

<file path=ppt/presentation.xml><?xml version="1.0" encoding="utf-8"?>
<p:presentation xmlns:p="http://schemas.openxmlformats.org/presentationml/2006/main">
  <p:sldMasterIdLst>
    <p:sldMasterId xmlns:r="http://schemas.openxmlformats.org/officeDocument/2006/relationships" id="2147483648" r:id="R0a116e26a1b34efd"/>
  </p:sldMasterIdLst>
  <p:notesMasterIdLst>
    <p:notesMasterId xmlns:r="http://schemas.openxmlformats.org/officeDocument/2006/relationships" r:id="R896c7b805e294a28"/>
  </p:notesMasterIdLst>
  <p:sldIdLst>
    <p:sldId xmlns:r="http://schemas.openxmlformats.org/officeDocument/2006/relationships" id="256" r:id="Rdfcfc3b2fbd244a4"/>
    <p:sldId xmlns:r="http://schemas.openxmlformats.org/officeDocument/2006/relationships" id="257" r:id="R891d27fd5e414bef"/>
    <p:sldId xmlns:r="http://schemas.openxmlformats.org/officeDocument/2006/relationships" id="258" r:id="R6e41ad57b6fe46a5"/>
    <p:sldId xmlns:r="http://schemas.openxmlformats.org/officeDocument/2006/relationships" id="259" r:id="Rd4c5be33e61d4854"/>
    <p:sldId xmlns:r="http://schemas.openxmlformats.org/officeDocument/2006/relationships" id="260" r:id="R60723b7b31af4660"/>
    <p:sldId xmlns:r="http://schemas.openxmlformats.org/officeDocument/2006/relationships" id="261" r:id="R069bd64dda6848dd"/>
    <p:sldId xmlns:r="http://schemas.openxmlformats.org/officeDocument/2006/relationships" id="262" r:id="R40dd430926a6439f"/>
    <p:sldId xmlns:r="http://schemas.openxmlformats.org/officeDocument/2006/relationships" id="263" r:id="R2a34033a07314be9"/>
    <p:sldId xmlns:r="http://schemas.openxmlformats.org/officeDocument/2006/relationships" id="264" r:id="R8bd856b420a84b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32ff4343f74dd4" /><Relationship Type="http://schemas.openxmlformats.org/officeDocument/2006/relationships/slideMaster" Target="/ppt/slideMasters/slideMaster1.xml" Id="R0a116e26a1b34efd" /><Relationship Type="http://schemas.openxmlformats.org/officeDocument/2006/relationships/notesMaster" Target="/ppt/notesMasters/notesMaster1.xml" Id="R896c7b805e294a28" /><Relationship Type="http://schemas.openxmlformats.org/officeDocument/2006/relationships/presProps" Target="/ppt/presProps.xml" Id="Reb1de9cb90654f18" /><Relationship Type="http://schemas.openxmlformats.org/officeDocument/2006/relationships/tableStyles" Target="/ppt/tableStyles.xml" Id="Rc0b24ef5d91a4f47" /><Relationship Type="http://schemas.openxmlformats.org/officeDocument/2006/relationships/slide" Target="/ppt/slides/slide1.xml" Id="Rdfcfc3b2fbd244a4" /><Relationship Type="http://schemas.openxmlformats.org/officeDocument/2006/relationships/slide" Target="/ppt/slides/slide2.xml" Id="R891d27fd5e414bef" /><Relationship Type="http://schemas.openxmlformats.org/officeDocument/2006/relationships/slide" Target="/ppt/slides/slide3.xml" Id="R6e41ad57b6fe46a5" /><Relationship Type="http://schemas.openxmlformats.org/officeDocument/2006/relationships/slide" Target="/ppt/slides/slide4.xml" Id="Rd4c5be33e61d4854" /><Relationship Type="http://schemas.openxmlformats.org/officeDocument/2006/relationships/slide" Target="/ppt/slides/slide5.xml" Id="R60723b7b31af4660" /><Relationship Type="http://schemas.openxmlformats.org/officeDocument/2006/relationships/slide" Target="/ppt/slides/slide6.xml" Id="R069bd64dda6848dd" /><Relationship Type="http://schemas.openxmlformats.org/officeDocument/2006/relationships/slide" Target="/ppt/slides/slide7.xml" Id="R40dd430926a6439f" /><Relationship Type="http://schemas.openxmlformats.org/officeDocument/2006/relationships/slide" Target="/ppt/slides/slide8.xml" Id="R2a34033a07314be9" /><Relationship Type="http://schemas.openxmlformats.org/officeDocument/2006/relationships/slide" Target="/ppt/slides/slide9.xml" Id="R8bd856b420a84b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e0bf080b9c48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ac37f9d9ea4447" /><Relationship Type="http://schemas.openxmlformats.org/officeDocument/2006/relationships/notesMaster" Target="/ppt/notesMasters/notesMaster1.xml" Id="Rcf903f8fa8e04c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8fdf48fb4949eb" /><Relationship Type="http://schemas.openxmlformats.org/officeDocument/2006/relationships/notesMaster" Target="/ppt/notesMasters/notesMaster1.xml" Id="R92304aedd5ff45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5579bbb9a14e48" /><Relationship Type="http://schemas.openxmlformats.org/officeDocument/2006/relationships/notesMaster" Target="/ppt/notesMasters/notesMaster1.xml" Id="Ra81a31eeedd449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e596fb250b433a" /><Relationship Type="http://schemas.openxmlformats.org/officeDocument/2006/relationships/notesMaster" Target="/ppt/notesMasters/notesMaster1.xml" Id="Rb88935ad46014d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1b751dc6654ebc" /><Relationship Type="http://schemas.openxmlformats.org/officeDocument/2006/relationships/notesMaster" Target="/ppt/notesMasters/notesMaster1.xml" Id="R3df38a5a409b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eb8fb7d2564e25" /><Relationship Type="http://schemas.openxmlformats.org/officeDocument/2006/relationships/notesMaster" Target="/ppt/notesMasters/notesMaster1.xml" Id="R954e9152d46741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060fac14b740b4" /><Relationship Type="http://schemas.openxmlformats.org/officeDocument/2006/relationships/notesMaster" Target="/ppt/notesMasters/notesMaster1.xml" Id="R36aeb68886da4a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c0b2b054334394" /><Relationship Type="http://schemas.openxmlformats.org/officeDocument/2006/relationships/notesMaster" Target="/ppt/notesMasters/notesMaster1.xml" Id="Re93693675c4c46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72cc5fee254244" /><Relationship Type="http://schemas.openxmlformats.org/officeDocument/2006/relationships/notesMaster" Target="/ppt/notesMasters/notesMaster1.xml" Id="Rc23abc9e807642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Meridial Training and Development Specialist – Freelance AI Trainer Project, U.S. remote contract job 4605461101. The role evaluates AI reasoning in training and development. Job source: https://job-boards.eu.greenhouse.io/agency/jobs/4605461101 . The approved paper-path illustration is decorative, not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developer-authored Prompt Compass local regression fixture, May 2026. Both prompts are exact fixture values. This is a designed evaluation example, not a client incident, production-model benchmark, or measured ROI. The public beta release is https://github.com/JonathanKHobson/prompt-compass/releases/tag/v0.1.0-beta.3 . I built and released Prompt Compass for diagnosing, improving, comparing and reusing prompts. This designed local regression case is one inspectable example from that work; it does not establish enterprise adoption, production guardrail deployment or measured model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evidence: ASU Knowledge Enterprise, Instructional Designer, April 2022–October 2024. MS User Experience with UX Research concentration, ASU, May 2024; BS Technical Communication with UX concentration, ASU, May 2023. The concise role scope is reviewed evidence; this slide does not claim specific SCORM/LMS production tools or measured learning gains. Public profile: https://www.linkedin.com/in/jonathankylehobson/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lesson materials and the official Coursera page https://www.coursera.org/projects/chatgpt-beginners . The image is an original course slide. Enrollments describe reach, not course completion or measured skill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Task 3 recording at 02:30. This initial fictional Brew Bliss cafe draft gives learners material to inspect and revise. Later lesson steps demonstrate a more specific instruction and its resulting draft. It is not a client campaign or evidence of measured learner proficiency. Official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UX Designer &amp; Researcher (Contract), October 2025–Present. Original Kyle-authored Figma designs and engineering annotations, reviewed in the September 2026 portfolio. Design and handoff evidence; exact pictured state is not claimed to be shipped. Its relevance to end-user documentation is adjacent: Kyle is explaining product behavior, showing product-design evidence with adjacent application to learning materials. Public case: https://jonathankhobson.github.io/portfolio/design/case/flint/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ASU for Life collaborative prompt architecture attributes the displayed proposed approach to Kyle. The reconstruction shows the mentor review steps without claiming production deployment, model training, or measurable savings. Reviewed AI case: https://jonathankhobson.github.io/portfolio/ai/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evaluation approach for training and development content. Kyle has not claimed prior Meridial delivery, professional RLHF employment, large-scale model training, or measured model quality improvements. Domain-specific calibration and client-approved reference standards would be required. Primary source: https://job-boards.eu.greenhouse.io/agency/jobs/4605461101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and work-authorization statements are candidate-confirmed for this application. Portfolio link targets the separately prepared Meridial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50a291cfaa4b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820652f3f34c1d" /><Relationship Type="http://schemas.openxmlformats.org/officeDocument/2006/relationships/slideLayout" Target="/ppt/slideLayouts/slideLayout1.xml" Id="Rd2ca1c3b085348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ca1c3b085348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9ac15bc55643b2" /><Relationship Type="http://schemas.openxmlformats.org/officeDocument/2006/relationships/image" Target="/ppt/media/image.png" Id="R6c124ea1149b4c18" /><Relationship Type="http://schemas.openxmlformats.org/officeDocument/2006/relationships/notesSlide" Target="/ppt/notesSlides/notesSlide1.xml" Id="R2fe22993845042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21dcc108bc4dfd" /><Relationship Type="http://schemas.openxmlformats.org/officeDocument/2006/relationships/notesSlide" Target="/ppt/notesSlides/notesSlide2.xml" Id="R65569db4341148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eae571335e4630" /><Relationship Type="http://schemas.openxmlformats.org/officeDocument/2006/relationships/image" Target="/ppt/media/image.jpeg" Id="R1a1a749a6a3b46da" /><Relationship Type="http://schemas.openxmlformats.org/officeDocument/2006/relationships/notesSlide" Target="/ppt/notesSlides/notesSlide3.xml" Id="Rfbbaeaa2edfa41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76d49f361a4f95" /><Relationship Type="http://schemas.openxmlformats.org/officeDocument/2006/relationships/image" Target="/ppt/media/image2.png" Id="R434c82a313314810" /><Relationship Type="http://schemas.openxmlformats.org/officeDocument/2006/relationships/notesSlide" Target="/ppt/notesSlides/notesSlide4.xml" Id="R88d3fa8c15014d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76e42ab8ca4dc9" /><Relationship Type="http://schemas.openxmlformats.org/officeDocument/2006/relationships/image" Target="/ppt/media/image3.png" Id="Rf436092b207e4901" /><Relationship Type="http://schemas.openxmlformats.org/officeDocument/2006/relationships/notesSlide" Target="/ppt/notesSlides/notesSlide5.xml" Id="R24561507278443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b329f25509486f" /><Relationship Type="http://schemas.openxmlformats.org/officeDocument/2006/relationships/image" Target="/ppt/media/image4.png" Id="R928b7cd8b1d54a2d" /><Relationship Type="http://schemas.openxmlformats.org/officeDocument/2006/relationships/image" Target="/ppt/media/image5.png" Id="R12a3760dab1e4c05" /><Relationship Type="http://schemas.openxmlformats.org/officeDocument/2006/relationships/notesSlide" Target="/ppt/notesSlides/notesSlide6.xml" Id="R3ef7ee30c6e846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c7dfea6cf541e7" /><Relationship Type="http://schemas.openxmlformats.org/officeDocument/2006/relationships/image" Target="/ppt/media/image6.png" Id="R1a6f27ae5c7947a9" /><Relationship Type="http://schemas.openxmlformats.org/officeDocument/2006/relationships/notesSlide" Target="/ppt/notesSlides/notesSlide7.xml" Id="R557bbdf6a09744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fc665cf4a44a1d" /><Relationship Type="http://schemas.openxmlformats.org/officeDocument/2006/relationships/notesSlide" Target="/ppt/notesSlides/notesSlide8.xml" Id="R8c27460c291446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4b53235f9d4204" /><Relationship Type="http://schemas.openxmlformats.org/officeDocument/2006/relationships/hyperlink" Target="mailto:JonathanKyleHobson@gmail.com" TargetMode="External" Id="R67538a9443d148e5" /><Relationship Type="http://schemas.openxmlformats.org/officeDocument/2006/relationships/hyperlink" Target="https://jonathankhobson.github.io/application-portfolios/meridial-training-development/" TargetMode="External" Id="R45a77e70be814dd3" /><Relationship Type="http://schemas.openxmlformats.org/officeDocument/2006/relationships/notesSlide" Target="/ppt/notesSlides/notesSlide9.xml" Id="R0b52a19f709a4d88"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c124ea1149b4c18"/>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F7661CE2-790C-4A6E-8383-D6BACB1D6B07}"/>
              </a:ext>
            </a:extLst>
          </p:cNvPr>
          <p:cNvSpPr>
            <a:spLocks xmlns:a="http://schemas.openxmlformats.org/drawingml/2006/main" noGrp="1"/>
          </p:cNvSpPr>
          <p:nvPr/>
        </p:nvSpPr>
        <p:spPr>
          <a:xfrm xmlns:a="http://schemas.openxmlformats.org/drawingml/2006/main">
            <a:off x="609600" y="5143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MERIDIAL</a:t>
            </a:r>
          </a:p>
        </p:txBody>
      </p:sp>
      <p:sp>
        <p:nvSpPr>
          <p:cNvPr id="3" name="headline">
            <a:extLst xmlns:a="http://schemas.openxmlformats.org/drawingml/2006/main">
              <a:ext uri="{FF2B5EF4-FFF2-40B4-BE49-F238E27FC236}">
                <a16:creationId xmlns:a16="http://schemas.microsoft.com/office/drawing/2014/main" id="{8C90884B-0A0C-4C1A-A8F0-B7F67EBAEF1F}"/>
              </a:ext>
            </a:extLst>
          </p:cNvPr>
          <p:cNvSpPr>
            <a:spLocks xmlns:a="http://schemas.openxmlformats.org/drawingml/2006/main" noGrp="1"/>
          </p:cNvSpPr>
          <p:nvPr/>
        </p:nvSpPr>
        <p:spPr>
          <a:xfrm xmlns:a="http://schemas.openxmlformats.org/drawingml/2006/main">
            <a:off x="609600" y="1485900"/>
            <a:ext cx="8382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Teaching evidence.</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Careful AI review.</a:t>
            </a:r>
          </a:p>
        </p:txBody>
      </p:sp>
      <p:sp>
        <p:nvSpPr>
          <p:cNvPr id="4" name="cover-intro">
            <a:extLst xmlns:a="http://schemas.openxmlformats.org/drawingml/2006/main">
              <a:ext uri="{FF2B5EF4-FFF2-40B4-BE49-F238E27FC236}">
                <a16:creationId xmlns:a16="http://schemas.microsoft.com/office/drawing/2014/main" id="{E5E8D38C-607B-4AED-B8AC-E5297BF37940}"/>
              </a:ext>
            </a:extLst>
          </p:cNvPr>
          <p:cNvSpPr>
            <a:spLocks xmlns:a="http://schemas.openxmlformats.org/drawingml/2006/main" noGrp="1"/>
          </p:cNvSpPr>
          <p:nvPr/>
        </p:nvSpPr>
        <p:spPr>
          <a:xfrm xmlns:a="http://schemas.openxmlformats.org/drawingml/2006/main">
            <a:off x="647700" y="44481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Original lessons, prompt comparisons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explicit review conditions</a:t>
            </a:r>
          </a:p>
        </p:txBody>
      </p:sp>
      <p:sp>
        <p:nvSpPr>
          <p:cNvPr id="5" name="cover-role">
            <a:extLst xmlns:a="http://schemas.openxmlformats.org/drawingml/2006/main">
              <a:ext uri="{FF2B5EF4-FFF2-40B4-BE49-F238E27FC236}">
                <a16:creationId xmlns:a16="http://schemas.microsoft.com/office/drawing/2014/main" id="{714E13D4-378D-47DC-A016-C1802102279E}"/>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Training &amp; Development Specialist – AI Trainer · U.S. remote</a:t>
            </a:r>
          </a:p>
        </p:txBody>
      </p:sp>
      <p:sp>
        <p:nvSpPr>
          <p:cNvPr id="6" name="slide-number">
            <a:extLst xmlns:a="http://schemas.openxmlformats.org/drawingml/2006/main">
              <a:ext uri="{FF2B5EF4-FFF2-40B4-BE49-F238E27FC236}">
                <a16:creationId xmlns:a16="http://schemas.microsoft.com/office/drawing/2014/main" id="{D288E404-224A-4AD4-9468-D3BF2F2CA47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441615198"/>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AA31B0BE-CD28-406F-8FB2-E2FCB79A16A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MY INDEPENDENT BUILD, PUBLIC BETA</a:t>
            </a:r>
          </a:p>
        </p:txBody>
      </p:sp>
      <p:sp>
        <p:nvSpPr>
          <p:cNvPr id="2" name="headline">
            <a:extLst xmlns:a="http://schemas.openxmlformats.org/drawingml/2006/main">
              <a:ext uri="{FF2B5EF4-FFF2-40B4-BE49-F238E27FC236}">
                <a16:creationId xmlns:a16="http://schemas.microsoft.com/office/drawing/2014/main" id="{73176260-E78D-4AB7-ABCA-FA7E21C9158C}"/>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prompt rewrite can lose requirements</a:t>
            </a:r>
          </a:p>
        </p:txBody>
      </p:sp>
      <p:sp>
        <p:nvSpPr>
          <p:cNvPr id="3" name="before-label">
            <a:extLst xmlns:a="http://schemas.openxmlformats.org/drawingml/2006/main">
              <a:ext uri="{FF2B5EF4-FFF2-40B4-BE49-F238E27FC236}">
                <a16:creationId xmlns:a16="http://schemas.microsoft.com/office/drawing/2014/main" id="{2D3C7F11-2426-41EB-8984-4141464DC514}"/>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8807A201-D94F-403D-941F-E4978A54B75C}"/>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19744A8A-9829-45DB-9426-413B45F5B0D3}"/>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70A9B0FF-0E4A-47FF-B0D5-BCC97C39AE66}"/>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6E47BF20-AEDE-4C95-B619-722D44F79EB8}"/>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7436B1CB-94F3-480E-91DD-748DD880BA91}"/>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review condition.</a:t>
            </a:r>
          </a:p>
        </p:txBody>
      </p:sp>
      <p:sp>
        <p:nvSpPr>
          <p:cNvPr id="9" name="slide-number">
            <a:extLst xmlns:a="http://schemas.openxmlformats.org/drawingml/2006/main">
              <a:ext uri="{FF2B5EF4-FFF2-40B4-BE49-F238E27FC236}">
                <a16:creationId xmlns:a16="http://schemas.microsoft.com/office/drawing/2014/main" id="{D965742C-E913-41DB-9460-09DCD8E1A07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988416173"/>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2158826-6CA1-4A7D-9B1E-4975015D2F7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ARIZONA STATE UNIVERSITY   /   INSTRUCTIONAL DESIGNER</a:t>
            </a:r>
          </a:p>
        </p:txBody>
      </p:sp>
      <p:sp>
        <p:nvSpPr>
          <p:cNvPr id="2" name="headline">
            <a:extLst xmlns:a="http://schemas.openxmlformats.org/drawingml/2006/main">
              <a:ext uri="{FF2B5EF4-FFF2-40B4-BE49-F238E27FC236}">
                <a16:creationId xmlns:a16="http://schemas.microsoft.com/office/drawing/2014/main" id="{52A22571-96C7-4BDE-BC56-E73817ACE74D}"/>
              </a:ext>
            </a:extLst>
          </p:cNvPr>
          <p:cNvSpPr>
            <a:spLocks xmlns:a="http://schemas.openxmlformats.org/drawingml/2006/main" noGrp="1"/>
          </p:cNvSpPr>
          <p:nvPr/>
        </p:nvSpPr>
        <p:spPr>
          <a:xfrm xmlns:a="http://schemas.openxmlformats.org/drawingml/2006/main">
            <a:off x="609600" y="1285875"/>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Learning materials</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and workshops</a:t>
            </a:r>
          </a:p>
        </p:txBody>
      </p:sp>
      <p:sp>
        <p:nvSpPr>
          <p:cNvPr id="3" name="asu-direct">
            <a:extLst xmlns:a="http://schemas.openxmlformats.org/drawingml/2006/main">
              <a:ext uri="{FF2B5EF4-FFF2-40B4-BE49-F238E27FC236}">
                <a16:creationId xmlns:a16="http://schemas.microsoft.com/office/drawing/2014/main" id="{73A45F25-CE1D-4357-B1A2-2F98A4231275}"/>
              </a:ext>
            </a:extLst>
          </p:cNvPr>
          <p:cNvSpPr>
            <a:spLocks xmlns:a="http://schemas.openxmlformats.org/drawingml/2006/main" noGrp="1"/>
          </p:cNvSpPr>
          <p:nvPr/>
        </p:nvSpPr>
        <p:spPr>
          <a:xfrm xmlns:a="http://schemas.openxmlformats.org/drawingml/2006/main">
            <a:off x="609600" y="320040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At ASU Knowledge Enterprise, I developed digital learning materials and workshops with accessibility improvements and AI-supported content workflows.</a:t>
            </a:r>
          </a:p>
        </p:txBody>
      </p:sp>
      <p:sp>
        <p:nvSpPr>
          <p:cNvPr id="4" name="background">
            <a:extLst xmlns:a="http://schemas.openxmlformats.org/drawingml/2006/main">
              <a:ext uri="{FF2B5EF4-FFF2-40B4-BE49-F238E27FC236}">
                <a16:creationId xmlns:a16="http://schemas.microsoft.com/office/drawing/2014/main" id="{0CB9071E-03F8-46BA-8B8E-EDDD8F7B8B68}"/>
              </a:ext>
            </a:extLst>
          </p:cNvPr>
          <p:cNvSpPr>
            <a:spLocks xmlns:a="http://schemas.openxmlformats.org/drawingml/2006/main" noGrp="1"/>
          </p:cNvSpPr>
          <p:nvPr/>
        </p:nvSpPr>
        <p:spPr>
          <a:xfrm xmlns:a="http://schemas.openxmlformats.org/drawingml/2006/main">
            <a:off x="609600" y="5133975"/>
            <a:ext cx="5905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April 2022–October 2024</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MS in User Experience · BS in Technical Communication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a1a749a6a3b46da"/>
          <a:stretch xmlns:a="http://schemas.openxmlformats.org/drawingml/2006/main"/>
        </p:blipFill>
        <p:spPr>
          <a:xfrm xmlns:a="http://schemas.openxmlformats.org/drawingml/2006/main">
            <a:off x="7305675" y="1543050"/>
            <a:ext cx="4191000" cy="4191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99B9854A-38DB-40D7-B2C6-BD6D2A223C4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961833386"/>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03D200A-C094-4083-B6F4-3C570B62E0C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DC276F61-DCCD-4DDD-9805-AA5AD20D2B47}"/>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practice sequence people can follow</a:t>
            </a:r>
          </a:p>
        </p:txBody>
      </p:sp>
      <p:sp>
        <p:nvSpPr>
          <p:cNvPr id="3" name="course-title">
            <a:extLst xmlns:a="http://schemas.openxmlformats.org/drawingml/2006/main">
              <a:ext uri="{FF2B5EF4-FFF2-40B4-BE49-F238E27FC236}">
                <a16:creationId xmlns:a16="http://schemas.microsoft.com/office/drawing/2014/main" id="{52B207E1-03EC-470E-B3F3-ECE5F3424CB5}"/>
              </a:ext>
            </a:extLst>
          </p:cNvPr>
          <p:cNvSpPr>
            <a:spLocks xmlns:a="http://schemas.openxmlformats.org/drawingml/2006/main" noGrp="1"/>
          </p:cNvSpPr>
          <p:nvPr/>
        </p:nvSpPr>
        <p:spPr>
          <a:xfrm xmlns:a="http://schemas.openxmlformats.org/drawingml/2006/main">
            <a:off x="609600" y="21145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34c82a313314810"/>
          <a:stretch xmlns:a="http://schemas.openxmlformats.org/drawingml/2006/main"/>
        </p:blipFill>
        <p:spPr>
          <a:xfrm xmlns:a="http://schemas.openxmlformats.org/drawingml/2006/main">
            <a:off x="1303734" y="2762250"/>
            <a:ext cx="9508331" cy="3457575"/>
          </a:xfrm>
          <a:prstGeom xmlns:a="http://schemas.openxmlformats.org/drawingml/2006/main" prst="rect">
            <a:avLst/>
          </a:prstGeom>
        </p:spPr>
      </p:pic>
      <p:sp>
        <p:nvSpPr>
          <p:cNvPr id="5" name="course-reach">
            <a:extLst xmlns:a="http://schemas.openxmlformats.org/drawingml/2006/main">
              <a:ext uri="{FF2B5EF4-FFF2-40B4-BE49-F238E27FC236}">
                <a16:creationId xmlns:a16="http://schemas.microsoft.com/office/drawing/2014/main" id="{7FE0EA23-7F24-47AA-A030-AB2DD17208BC}"/>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Published in 2024 · 4,700+ enrollments as of September 2026</a:t>
            </a:r>
          </a:p>
        </p:txBody>
      </p:sp>
      <p:sp>
        <p:nvSpPr>
          <p:cNvPr id="6" name="slide-number">
            <a:extLst xmlns:a="http://schemas.openxmlformats.org/drawingml/2006/main">
              <a:ext uri="{FF2B5EF4-FFF2-40B4-BE49-F238E27FC236}">
                <a16:creationId xmlns:a16="http://schemas.microsoft.com/office/drawing/2014/main" id="{83674848-4011-40D6-9210-9ED5E236065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93454578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EFA5733A-9A59-479C-AAC1-E810D968896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DEMONSTRATION</a:t>
            </a:r>
          </a:p>
        </p:txBody>
      </p:sp>
      <p:sp>
        <p:nvSpPr>
          <p:cNvPr id="2" name="headline">
            <a:extLst xmlns:a="http://schemas.openxmlformats.org/drawingml/2006/main">
              <a:ext uri="{FF2B5EF4-FFF2-40B4-BE49-F238E27FC236}">
                <a16:creationId xmlns:a16="http://schemas.microsoft.com/office/drawing/2014/main" id="{653D4563-DB2E-4063-A599-3C53E0D5B732}"/>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visible change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in a beginner lesson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436092b207e4901"/>
          <a:stretch xmlns:a="http://schemas.openxmlformats.org/drawingml/2006/main"/>
        </p:blipFill>
        <p:spPr>
          <a:xfrm xmlns:a="http://schemas.openxmlformats.org/drawingml/2006/main">
            <a:off x="609600" y="2477029"/>
            <a:ext cx="9525000" cy="3704167"/>
          </a:xfrm>
          <a:prstGeom xmlns:a="http://schemas.openxmlformats.org/drawingml/2006/main" prst="rect">
            <a:avLst/>
          </a:prstGeom>
        </p:spPr>
      </p:pic>
      <p:sp>
        <p:nvSpPr>
          <p:cNvPr id="4" name="practice-purpose">
            <a:extLst xmlns:a="http://schemas.openxmlformats.org/drawingml/2006/main">
              <a:ext uri="{FF2B5EF4-FFF2-40B4-BE49-F238E27FC236}">
                <a16:creationId xmlns:a16="http://schemas.microsoft.com/office/drawing/2014/main" id="{A42D6F1C-4E49-4CF8-B4FB-CCDAF4A0A3DD}"/>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next step is to make the request more specific and compare the result.</a:t>
            </a:r>
          </a:p>
        </p:txBody>
      </p:sp>
      <p:sp>
        <p:nvSpPr>
          <p:cNvPr id="5" name="slide-number">
            <a:extLst xmlns:a="http://schemas.openxmlformats.org/drawingml/2006/main">
              <a:ext uri="{FF2B5EF4-FFF2-40B4-BE49-F238E27FC236}">
                <a16:creationId xmlns:a16="http://schemas.microsoft.com/office/drawing/2014/main" id="{4DFD727D-32D1-4D58-98B3-FB338256719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861525234"/>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42ADAD56-8860-4363-9DB3-F0560DE33B1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SMARTTAGIT FLINT DESIGN</a:t>
            </a:r>
          </a:p>
        </p:txBody>
      </p:sp>
      <p:sp>
        <p:nvSpPr>
          <p:cNvPr id="2" name="headline">
            <a:extLst xmlns:a="http://schemas.openxmlformats.org/drawingml/2006/main">
              <a:ext uri="{FF2B5EF4-FFF2-40B4-BE49-F238E27FC236}">
                <a16:creationId xmlns:a16="http://schemas.microsoft.com/office/drawing/2014/main" id="{A73C617B-B45D-4F3E-8100-34AE58C07561}"/>
              </a:ext>
            </a:extLst>
          </p:cNvPr>
          <p:cNvSpPr>
            <a:spLocks xmlns:a="http://schemas.openxmlformats.org/drawingml/2006/main" noGrp="1"/>
          </p:cNvSpPr>
          <p:nvPr/>
        </p:nvSpPr>
        <p:spPr>
          <a:xfrm xmlns:a="http://schemas.openxmlformats.org/drawingml/2006/main">
            <a:off x="609600" y="1219200"/>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Recovery guidance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has to describe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the real state</a:t>
            </a:r>
          </a:p>
        </p:txBody>
      </p:sp>
      <p:sp>
        <p:nvSpPr>
          <p:cNvPr id="3" name="flint-specific">
            <a:extLst xmlns:a="http://schemas.openxmlformats.org/drawingml/2006/main">
              <a:ext uri="{FF2B5EF4-FFF2-40B4-BE49-F238E27FC236}">
                <a16:creationId xmlns:a16="http://schemas.microsoft.com/office/drawing/2014/main" id="{832DC422-054E-40F5-B6B5-8E0174C32D51}"/>
              </a:ext>
            </a:extLst>
          </p:cNvPr>
          <p:cNvSpPr>
            <a:spLocks xmlns:a="http://schemas.openxmlformats.org/drawingml/2006/main" noGrp="1"/>
          </p:cNvSpPr>
          <p:nvPr/>
        </p:nvSpPr>
        <p:spPr>
          <a:xfrm xmlns:a="http://schemas.openxmlformats.org/drawingml/2006/main">
            <a:off x="609600" y="3609975"/>
            <a:ext cx="5476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An interrupted answer and a lost connection needed different messages and actions. I organized those states in Figma and annotated the behavior for engineering.</a:t>
            </a:r>
          </a:p>
        </p:txBody>
      </p:sp>
      <p:sp>
        <p:nvSpPr>
          <p:cNvPr id="4" name="flint-adjacent">
            <a:extLst xmlns:a="http://schemas.openxmlformats.org/drawingml/2006/main">
              <a:ext uri="{FF2B5EF4-FFF2-40B4-BE49-F238E27FC236}">
                <a16:creationId xmlns:a16="http://schemas.microsoft.com/office/drawing/2014/main" id="{D83C04BA-15AF-4DD7-A74E-E63E33911DB8}"/>
              </a:ext>
            </a:extLst>
          </p:cNvPr>
          <p:cNvSpPr>
            <a:spLocks xmlns:a="http://schemas.openxmlformats.org/drawingml/2006/main" noGrp="1"/>
          </p:cNvSpPr>
          <p:nvPr/>
        </p:nvSpPr>
        <p:spPr>
          <a:xfrm xmlns:a="http://schemas.openxmlformats.org/drawingml/2006/main">
            <a:off x="609600" y="5467350"/>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For AI evaluation: identify the actual failure before proposing a correction.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28b7cd8b1d54a2d"/>
          <a:stretch xmlns:a="http://schemas.openxmlformats.org/drawingml/2006/main"/>
        </p:blipFill>
        <p:spPr>
          <a:xfrm xmlns:a="http://schemas.openxmlformats.org/drawingml/2006/main">
            <a:off x="6629400" y="1326390"/>
            <a:ext cx="2238375" cy="479577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2a3760dab1e4c05"/>
          <a:stretch xmlns:a="http://schemas.openxmlformats.org/drawingml/2006/main"/>
        </p:blipFill>
        <p:spPr>
          <a:xfrm xmlns:a="http://schemas.openxmlformats.org/drawingml/2006/main">
            <a:off x="9210675" y="1326390"/>
            <a:ext cx="2238375" cy="4795771"/>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B9A5B866-577D-41AB-B46B-1C4028CF9B4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53648006"/>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126C434-217A-43DE-A598-5B20E07D2DD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0290D396-432A-4476-BFDF-73E9BAFC3F21}"/>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Mentor review in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workflow</a:t>
            </a:r>
          </a:p>
        </p:txBody>
      </p:sp>
      <p:sp>
        <p:nvSpPr>
          <p:cNvPr id="3" name="asu-purpose">
            <a:extLst xmlns:a="http://schemas.openxmlformats.org/drawingml/2006/main">
              <a:ext uri="{FF2B5EF4-FFF2-40B4-BE49-F238E27FC236}">
                <a16:creationId xmlns:a16="http://schemas.microsoft.com/office/drawing/2014/main" id="{EE9D18E9-8F66-438D-AEC1-1ED7F7249543}"/>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a6f27ae5c7947a9"/>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8C22135F-22AC-4934-A57B-BC73AA0D0336}"/>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Simplified reconstruction of my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2F3146EE-B5CD-49EC-8A3A-9C7F5E8A3FD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274514752"/>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8B1D0C8-344D-475D-A79C-3417957C5E6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MERIDIAL   /   PROPOSED FIRST CONTRIBUTION</a:t>
            </a:r>
          </a:p>
        </p:txBody>
      </p:sp>
      <p:sp>
        <p:nvSpPr>
          <p:cNvPr id="2" name="headline">
            <a:extLst xmlns:a="http://schemas.openxmlformats.org/drawingml/2006/main">
              <a:ext uri="{FF2B5EF4-FFF2-40B4-BE49-F238E27FC236}">
                <a16:creationId xmlns:a16="http://schemas.microsoft.com/office/drawing/2014/main" id="{B3714F5E-B393-4703-9F71-3422463DB736}"/>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review trace others</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can reproduce</a:t>
            </a:r>
          </a:p>
        </p:txBody>
      </p:sp>
      <p:sp>
        <p:nvSpPr>
          <p:cNvPr id="3" name="proposal-intro">
            <a:extLst xmlns:a="http://schemas.openxmlformats.org/drawingml/2006/main">
              <a:ext uri="{FF2B5EF4-FFF2-40B4-BE49-F238E27FC236}">
                <a16:creationId xmlns:a16="http://schemas.microsoft.com/office/drawing/2014/main" id="{ACA3C923-2F6B-48EA-A606-75CA58E6AFE1}"/>
              </a:ext>
            </a:extLst>
          </p:cNvPr>
          <p:cNvSpPr>
            <a:spLocks xmlns:a="http://schemas.openxmlformats.org/drawingml/2006/main" noGrp="1"/>
          </p:cNvSpPr>
          <p:nvPr/>
        </p:nvSpPr>
        <p:spPr>
          <a:xfrm xmlns:a="http://schemas.openxmlformats.org/drawingml/2006/main">
            <a:off x="609600" y="24574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a Meridial training scenario, I would check the answer against the learning goal, approved sources and assigned review criteria.</a:t>
            </a:r>
          </a:p>
        </p:txBody>
      </p:sp>
      <p:sp>
        <p:nvSpPr>
          <p:cNvPr id="4" name="proposal-steps">
            <a:extLst xmlns:a="http://schemas.openxmlformats.org/drawingml/2006/main">
              <a:ext uri="{FF2B5EF4-FFF2-40B4-BE49-F238E27FC236}">
                <a16:creationId xmlns:a16="http://schemas.microsoft.com/office/drawing/2014/main" id="{A03EE20C-DAE7-4992-9F36-00D9D331E377}"/>
              </a:ext>
            </a:extLst>
          </p:cNvPr>
          <p:cNvSpPr>
            <a:spLocks xmlns:a="http://schemas.openxmlformats.org/drawingml/2006/main" noGrp="1"/>
          </p:cNvSpPr>
          <p:nvPr/>
        </p:nvSpPr>
        <p:spPr>
          <a:xfrm xmlns:a="http://schemas.openxmlformats.org/drawingml/2006/main">
            <a:off x="609600" y="3486150"/>
            <a:ext cx="103346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Record the scenario, prompt and model response.</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Check factual claims, instruction sequence and assessment alignment.</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Explain the missing condition and propose a reasoned correction.</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Raise uncertain judgments for calibration with the review team.</a:t>
            </a:r>
          </a:p>
        </p:txBody>
      </p:sp>
      <p:sp>
        <p:nvSpPr>
          <p:cNvPr id="5" name="proposal-boundary">
            <a:extLst xmlns:a="http://schemas.openxmlformats.org/drawingml/2006/main">
              <a:ext uri="{FF2B5EF4-FFF2-40B4-BE49-F238E27FC236}">
                <a16:creationId xmlns:a16="http://schemas.microsoft.com/office/drawing/2014/main" id="{AED24B13-0CA0-4350-96DD-4CD18945C880}"/>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evaluation approach; no Meridial project delivery is claimed.</a:t>
            </a:r>
          </a:p>
        </p:txBody>
      </p:sp>
      <p:sp>
        <p:nvSpPr>
          <p:cNvPr id="6" name="slide-number">
            <a:extLst xmlns:a="http://schemas.openxmlformats.org/drawingml/2006/main">
              <a:ext uri="{FF2B5EF4-FFF2-40B4-BE49-F238E27FC236}">
                <a16:creationId xmlns:a16="http://schemas.microsoft.com/office/drawing/2014/main" id="{A2D30E21-F96C-4209-A47B-FB9E0820981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993434960"/>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57F6BA7-35C7-4F9E-88AB-072DEDFB0928}"/>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MERIDIAL APPLICATION</a:t>
            </a:r>
          </a:p>
        </p:txBody>
      </p:sp>
      <p:sp>
        <p:nvSpPr>
          <p:cNvPr id="2" name="headline">
            <a:extLst xmlns:a="http://schemas.openxmlformats.org/drawingml/2006/main">
              <a:ext uri="{FF2B5EF4-FFF2-40B4-BE49-F238E27FC236}">
                <a16:creationId xmlns:a16="http://schemas.microsoft.com/office/drawing/2014/main" id="{B1E6B09F-1D77-4F19-BCB9-3D35A552944B}"/>
              </a:ext>
            </a:extLst>
          </p:cNvPr>
          <p:cNvSpPr>
            <a:spLocks xmlns:a="http://schemas.openxmlformats.org/drawingml/2006/main" noGrp="1"/>
          </p:cNvSpPr>
          <p:nvPr/>
        </p:nvSpPr>
        <p:spPr>
          <a:xfrm xmlns:a="http://schemas.openxmlformats.org/drawingml/2006/main">
            <a:off x="609600" y="1457325"/>
            <a:ext cx="1076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Training &amp; Development</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AI Trainer</a:t>
            </a:r>
          </a:p>
        </p:txBody>
      </p:sp>
      <p:sp>
        <p:nvSpPr>
          <p:cNvPr id="3" name="contact-intent">
            <a:extLst xmlns:a="http://schemas.openxmlformats.org/drawingml/2006/main">
              <a:ext uri="{FF2B5EF4-FFF2-40B4-BE49-F238E27FC236}">
                <a16:creationId xmlns:a16="http://schemas.microsoft.com/office/drawing/2014/main" id="{2E4D0F86-8346-4992-BE78-76F36976BA14}"/>
              </a:ext>
            </a:extLst>
          </p:cNvPr>
          <p:cNvSpPr>
            <a:spLocks xmlns:a="http://schemas.openxmlformats.org/drawingml/2006/main" noGrp="1"/>
          </p:cNvSpPr>
          <p:nvPr/>
        </p:nvSpPr>
        <p:spPr>
          <a:xfrm xmlns:a="http://schemas.openxmlformats.org/drawingml/2006/main">
            <a:off x="647700" y="3714750"/>
            <a:ext cx="100203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U.S. remote projects.</a:t>
            </a:r>
          </a:p>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Authorized to work without sponsorship. Available ASAP.</a:t>
            </a:r>
          </a:p>
        </p:txBody>
      </p:sp>
      <p:sp>
        <p:nvSpPr>
          <p:cNvPr id="4" name="email">
            <a:extLst xmlns:a="http://schemas.openxmlformats.org/drawingml/2006/main">
              <a:ext uri="{FF2B5EF4-FFF2-40B4-BE49-F238E27FC236}">
                <a16:creationId xmlns:a16="http://schemas.microsoft.com/office/drawing/2014/main" id="{CDE885BF-6941-4477-B91D-AFBDFA207BE7}"/>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67538a9443d148e5"/>
              </a:rPr>
              <a:t>JonathanKyleHobson@gmail.com</a:t>
            </a:r>
          </a:p>
        </p:txBody>
      </p:sp>
      <p:sp>
        <p:nvSpPr>
          <p:cNvPr id="5" name="portfolio">
            <a:extLst xmlns:a="http://schemas.openxmlformats.org/drawingml/2006/main">
              <a:ext uri="{FF2B5EF4-FFF2-40B4-BE49-F238E27FC236}">
                <a16:creationId xmlns:a16="http://schemas.microsoft.com/office/drawing/2014/main" id="{FE6AD210-6FE3-40EB-8B97-15C62C9E990A}"/>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45a77e70be814dd3"/>
              </a:rPr>
              <a:t>View the tailored Meridial portfolio</a:t>
            </a:r>
          </a:p>
        </p:txBody>
      </p:sp>
      <p:sp>
        <p:nvSpPr>
          <p:cNvPr id="6" name="slide-number">
            <a:extLst xmlns:a="http://schemas.openxmlformats.org/drawingml/2006/main">
              <a:ext uri="{FF2B5EF4-FFF2-40B4-BE49-F238E27FC236}">
                <a16:creationId xmlns:a16="http://schemas.microsoft.com/office/drawing/2014/main" id="{FE84AA44-70D2-4FEB-AF5B-0ACFE415004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1595255528"/>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2026-09-08T22:27:54.7520000Z</dcterms:created>
  <dcterms:modified xsi:type="dcterms:W3CDTF">2026-09-08T22:27:54.7520000Z</dcterms:modified>
</coreProperties>
</file>