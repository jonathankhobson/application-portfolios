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f0bc05f5f34b87" /><Relationship Type="http://schemas.openxmlformats.org/officeDocument/2006/relationships/extended-properties" Target="/docProps/app.xml" Id="Rdfe11f760ef042c5" /><Relationship Type="http://schemas.openxmlformats.org/officeDocument/2006/relationships/officeDocument" Target="/ppt/presentation.xml" Id="Rc6db816a7a324d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d89c911f774047"/>
  </p:sldMasterIdLst>
  <p:notesMasterIdLst>
    <p:notesMasterId xmlns:r="http://schemas.openxmlformats.org/officeDocument/2006/relationships" r:id="R3ebd915fb2d64ba0"/>
  </p:notesMasterIdLst>
  <p:sldIdLst>
    <p:sldId xmlns:r="http://schemas.openxmlformats.org/officeDocument/2006/relationships" id="256" r:id="Re0c93c83e3394d43"/>
    <p:sldId xmlns:r="http://schemas.openxmlformats.org/officeDocument/2006/relationships" id="257" r:id="R34c63f8ca00d46dd"/>
    <p:sldId xmlns:r="http://schemas.openxmlformats.org/officeDocument/2006/relationships" id="258" r:id="R690f86f1bb614f65"/>
    <p:sldId xmlns:r="http://schemas.openxmlformats.org/officeDocument/2006/relationships" id="259" r:id="Rdec7e07763da44b7"/>
    <p:sldId xmlns:r="http://schemas.openxmlformats.org/officeDocument/2006/relationships" id="260" r:id="Rf3acd13cfbd444c5"/>
    <p:sldId xmlns:r="http://schemas.openxmlformats.org/officeDocument/2006/relationships" id="261" r:id="Rd6c85ea6e61e4dbd"/>
    <p:sldId xmlns:r="http://schemas.openxmlformats.org/officeDocument/2006/relationships" id="262" r:id="R49b3720602304d40"/>
    <p:sldId xmlns:r="http://schemas.openxmlformats.org/officeDocument/2006/relationships" id="263" r:id="Ra259e984055f4f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f68005aee840b4" /><Relationship Type="http://schemas.openxmlformats.org/officeDocument/2006/relationships/slideMaster" Target="/ppt/slideMasters/slideMaster1.xml" Id="R0dd89c911f774047" /><Relationship Type="http://schemas.openxmlformats.org/officeDocument/2006/relationships/notesMaster" Target="/ppt/notesMasters/notesMaster1.xml" Id="R3ebd915fb2d64ba0" /><Relationship Type="http://schemas.openxmlformats.org/officeDocument/2006/relationships/presProps" Target="/ppt/presProps.xml" Id="R156546b7d3414892" /><Relationship Type="http://schemas.openxmlformats.org/officeDocument/2006/relationships/tableStyles" Target="/ppt/tableStyles.xml" Id="R1896b2da14b04407" /><Relationship Type="http://schemas.openxmlformats.org/officeDocument/2006/relationships/slide" Target="/ppt/slides/slide1.xml" Id="Re0c93c83e3394d43" /><Relationship Type="http://schemas.openxmlformats.org/officeDocument/2006/relationships/slide" Target="/ppt/slides/slide2.xml" Id="R34c63f8ca00d46dd" /><Relationship Type="http://schemas.openxmlformats.org/officeDocument/2006/relationships/slide" Target="/ppt/slides/slide3.xml" Id="R690f86f1bb614f65" /><Relationship Type="http://schemas.openxmlformats.org/officeDocument/2006/relationships/slide" Target="/ppt/slides/slide4.xml" Id="Rdec7e07763da44b7" /><Relationship Type="http://schemas.openxmlformats.org/officeDocument/2006/relationships/slide" Target="/ppt/slides/slide5.xml" Id="Rf3acd13cfbd444c5" /><Relationship Type="http://schemas.openxmlformats.org/officeDocument/2006/relationships/slide" Target="/ppt/slides/slide6.xml" Id="Rd6c85ea6e61e4dbd" /><Relationship Type="http://schemas.openxmlformats.org/officeDocument/2006/relationships/slide" Target="/ppt/slides/slide7.xml" Id="R49b3720602304d40" /><Relationship Type="http://schemas.openxmlformats.org/officeDocument/2006/relationships/slide" Target="/ppt/slides/slide8.xml" Id="Ra259e984055f4f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bfd467e9e148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9971a40c594269" /><Relationship Type="http://schemas.openxmlformats.org/officeDocument/2006/relationships/notesMaster" Target="/ppt/notesMasters/notesMaster1.xml" Id="Rf103a8586aa343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80d40f11f64223" /><Relationship Type="http://schemas.openxmlformats.org/officeDocument/2006/relationships/notesMaster" Target="/ppt/notesMasters/notesMaster1.xml" Id="Rea2a7d18dea442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6ff8876965460c" /><Relationship Type="http://schemas.openxmlformats.org/officeDocument/2006/relationships/notesMaster" Target="/ppt/notesMasters/notesMaster1.xml" Id="Rac2e29a8142f46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b5638273094e97" /><Relationship Type="http://schemas.openxmlformats.org/officeDocument/2006/relationships/notesMaster" Target="/ppt/notesMasters/notesMaster1.xml" Id="Rb8b52282375247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b71d0fc4f84318" /><Relationship Type="http://schemas.openxmlformats.org/officeDocument/2006/relationships/notesMaster" Target="/ppt/notesMasters/notesMaster1.xml" Id="R1e0328cc22af40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f3a3ae3a8a43f1" /><Relationship Type="http://schemas.openxmlformats.org/officeDocument/2006/relationships/notesMaster" Target="/ppt/notesMasters/notesMaster1.xml" Id="R72077775852442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7d5a47ec3443ab" /><Relationship Type="http://schemas.openxmlformats.org/officeDocument/2006/relationships/notesMaster" Target="/ppt/notesMasters/notesMaster1.xml" Id="R8c736e751cde4d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08b90bee7e4124" /><Relationship Type="http://schemas.openxmlformats.org/officeDocument/2006/relationships/notesMaster" Target="/ppt/notesMasters/notesMaster1.xml" Id="R9a942a97e16044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portfolio for Wikimedia Foundation Lead Learning Experience Designer, requisition 1139, job 8136610. Current role verified September 8, 2026 via https://boards-api.greenhouse.io/v1/boards/wikimedia/jobs/8136610. Candidate sources: portfolio-suite/evidence/career/claim-map.md and evidence/ai/source-ledger.md. Portrait is user-supplied identity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Coursera lesson goals and published project: https://www.coursera.org/projects/chatgpt-beginners. Kyle created and taught ChatGPT 4o for Beginners: Create Social Media Content in 2024. Official September 2026 page reports over 4,700 enrollments. Enrollment is not completion or demonstrated learning improvement. Source: portfolio-suite/content/ai.json teaching-ai and evidence/ai/source-ledger.md.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Task 3 recording at 03:35 and 04:00; unchanged historical pixels. The revision requests sensory details, engaging language, and a friendly tone. Later output adds coffee descriptions not established by the brief. This is a teaching demonstration, not a client campaign, controlled experiment, or learner outcome measurement. Source: portfolio-suite/content/ai.json teaching-ai and its original-recording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Retrospective proposal from the reviewed teaching-ai case reflection and transfer assessment, portfolio-suite/content/ai.json. This slide does not claim these exact questions were used in the original Coursera course, or that transfer was measured. It connects a limitation visible in the actual recorded teaching example to a concrete next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ASU Learning Innovations AI Analyst, February–October 2024. The original collaborative architecture source explicitly labels Kyle’s proposed section. The displayed diagram is a reviewed simplified portfolio reconstruction. Deployment, learner outcomes, and time savings are not established. Source: portfolio-suite/evidence/career/claim-map.md C14/S18 and public/assets/ai-asu-workflow.png.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Oppia volunteer since September 2025; current signature establishes UX Research Lead in September 2026, not the exact lead appointment date. Lesson-player review source: portfolio-suite/evidence/career/claim-map.md C13/S13. Internal tool source: C21/S26, evidence/ai/source-ledger.md, content/ai.json research-compass. Diagram is a public-safe implementation reconstruction with no private corpus records. Tool availability and packaging are not team adoption or improved learner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approach informed by the current Wikimedia job description, which covers contributor needs, WikiLearn, multimedia, embedded learning, prototyping, and evaluation. Primary source: https://job-boards.greenhouse.io/wikimedia/jobs/8136610, verified September 8, 2026. Kyle does not claim prior Wikimedia employment, community membership, or WikiLearn administration.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education and public identity from portfolio-suite/evidence/career/claim-map.md. Current availability confirmed by candidate September 8, 2026. Contact links are clickable. The portfolio URL is the intended application destination; publication is a separate action controlled by the campaign owner.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12e86695e43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5664347d014a38" /><Relationship Type="http://schemas.openxmlformats.org/officeDocument/2006/relationships/slideLayout" Target="/ppt/slideLayouts/slideLayout1.xml" Id="R37ca42ad3a8143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ca42ad3a8143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ecd43e8754c6a" /><Relationship Type="http://schemas.openxmlformats.org/officeDocument/2006/relationships/image" Target="/ppt/media/image.jpeg" Id="Rb4fca3bdd2f04e51" /><Relationship Type="http://schemas.openxmlformats.org/officeDocument/2006/relationships/notesSlide" Target="/ppt/notesSlides/notesSlide1.xml" Id="R715c093eaa3044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d4a80163049ba" /><Relationship Type="http://schemas.openxmlformats.org/officeDocument/2006/relationships/image" Target="/ppt/media/image.png" Id="R287bbc504ab64fcd" /><Relationship Type="http://schemas.openxmlformats.org/officeDocument/2006/relationships/notesSlide" Target="/ppt/notesSlides/notesSlide2.xml" Id="Rb56be28db55d47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782188d254614" /><Relationship Type="http://schemas.openxmlformats.org/officeDocument/2006/relationships/image" Target="/ppt/media/image2.png" Id="R7537573973d6401a" /><Relationship Type="http://schemas.openxmlformats.org/officeDocument/2006/relationships/image" Target="/ppt/media/image3.png" Id="Rfafae57fec064427" /><Relationship Type="http://schemas.openxmlformats.org/officeDocument/2006/relationships/notesSlide" Target="/ppt/notesSlides/notesSlide3.xml" Id="Rf63355c320f149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2b85757434f97" /><Relationship Type="http://schemas.openxmlformats.org/officeDocument/2006/relationships/notesSlide" Target="/ppt/notesSlides/notesSlide4.xml" Id="R1bfb8b7e65c74d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d399eb91d4e46" /><Relationship Type="http://schemas.openxmlformats.org/officeDocument/2006/relationships/image" Target="/ppt/media/image4.png" Id="R3e24b514638e41d9" /><Relationship Type="http://schemas.openxmlformats.org/officeDocument/2006/relationships/notesSlide" Target="/ppt/notesSlides/notesSlide5.xml" Id="R7220c0328c954d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02d8de03c4ab9" /><Relationship Type="http://schemas.openxmlformats.org/officeDocument/2006/relationships/image" Target="/ppt/media/image5.png" Id="Rc7483e832d0e418e" /><Relationship Type="http://schemas.openxmlformats.org/officeDocument/2006/relationships/notesSlide" Target="/ppt/notesSlides/notesSlide6.xml" Id="R0f8e4f301cec43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95a92b3114d43" /><Relationship Type="http://schemas.openxmlformats.org/officeDocument/2006/relationships/notesSlide" Target="/ppt/notesSlides/notesSlide7.xml" Id="Rc90af357829442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3738ac2fb406f" /><Relationship Type="http://schemas.openxmlformats.org/officeDocument/2006/relationships/hyperlink" Target="mailto:JonathanKyleHobson@gmail.com" TargetMode="External" Id="R342dacd100ac4f41" /><Relationship Type="http://schemas.openxmlformats.org/officeDocument/2006/relationships/hyperlink" Target="https://jonathankhobson.github.io/application-portfolios/wikimedia-learning-designer/" TargetMode="External" Id="R87a43f3912864bf7" /><Relationship Type="http://schemas.openxmlformats.org/officeDocument/2006/relationships/notesSlide" Target="/ppt/notesSlides/notesSlide8.xml" Id="Rb0d5cf66b4f846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33FE5A-299A-4395-B322-F563A59C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8F9173D-16ED-4911-AC61-E34B9EB7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KYLE HOBSON · SELECTED WORK FOR WIKIMEDIA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2E7E6597-AFFE-4DC7-952E-ABDE9D27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667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525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Learning for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525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participation</a:t>
            </a:r>
          </a:p>
        </p:txBody>
      </p:sp>
      <p:sp>
        <p:nvSpPr>
          <p:cNvPr id="4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BF04A2E9-B1A0-4640-984D-409501D0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Published instruction.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17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Learning workflows.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17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Research in a volunteer community.</a:t>
            </a:r>
          </a:p>
        </p:txBody>
      </p:sp>
      <p:sp>
        <p:nvSpPr>
          <p:cNvPr id="5" name="role">
            <a:extLst xmlns:a="http://schemas.openxmlformats.org/drawingml/2006/main">
              <a:ext uri="{FF2B5EF4-FFF2-40B4-BE49-F238E27FC236}">
                <a16:creationId xmlns:a16="http://schemas.microsoft.com/office/drawing/2014/main" id="{6F869CE9-9795-4081-9F67-F3421D40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Lead Learning Experience Designer application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ca3bdd2f04e51"/>
          <a:stretch xmlns:a="http://schemas.openxmlformats.org/drawingml/2006/main"/>
        </p:blipFill>
        <p:spPr>
          <a:xfrm xmlns:a="http://schemas.openxmlformats.org/drawingml/2006/main">
            <a:off x="8248650" y="1847850"/>
            <a:ext cx="3314700" cy="3314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983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F42A6C7-6F92-4650-9EBC-17468EA0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05763E5-203E-4AEC-8A33-113F6BDB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COURSERA · GUIDED PROJECT INSTRUCTOR, 2024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BE8788DD-5413-4F4C-9AD5-B62D1360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382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beginner can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practice the decision</a:t>
            </a:r>
          </a:p>
        </p:txBody>
      </p:sp>
      <p:sp>
        <p:nvSpPr>
          <p:cNvPr id="4" name="course-task">
            <a:extLst xmlns:a="http://schemas.openxmlformats.org/drawingml/2006/main">
              <a:ext uri="{FF2B5EF4-FFF2-40B4-BE49-F238E27FC236}">
                <a16:creationId xmlns:a16="http://schemas.microsoft.com/office/drawing/2014/main" id="{07679815-7614-4485-ABB3-DF105E71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000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built a one-hour guided project around a familiar content task: draft a social post, inspect the result, and make a purposeful revision.</a:t>
            </a:r>
          </a:p>
        </p:txBody>
      </p:sp>
      <p:sp>
        <p:nvSpPr>
          <p:cNvPr id="5" name="course-reach">
            <a:extLst xmlns:a="http://schemas.openxmlformats.org/drawingml/2006/main">
              <a:ext uri="{FF2B5EF4-FFF2-40B4-BE49-F238E27FC236}">
                <a16:creationId xmlns:a16="http://schemas.microsoft.com/office/drawing/2014/main" id="{98BFB2FA-E970-4B68-95D4-D675D0F1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4000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4,700+ enrollments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as of September 2026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bbc504ab64fcd"/>
          <a:stretch xmlns:a="http://schemas.openxmlformats.org/drawingml/2006/main"/>
        </p:blipFill>
        <p:spPr>
          <a:xfrm xmlns:a="http://schemas.openxmlformats.org/drawingml/2006/main">
            <a:off x="4991100" y="2858309"/>
            <a:ext cx="6591300" cy="37131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48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C81E83B-CBD1-4215-A447-DA10C647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1F394E6-0F23-4074-889D-792EA351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COURSERA · ORIGINAL TEACHING DEMONSTRATION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3794A7BA-6CCC-417A-BEDA-6FED9895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revision is visible</a:t>
            </a:r>
          </a:p>
        </p:txBody>
      </p:sp>
      <p:sp>
        <p:nvSpPr>
          <p:cNvPr id="4" name="initial-label">
            <a:extLst xmlns:a="http://schemas.openxmlformats.org/drawingml/2006/main">
              <a:ext uri="{FF2B5EF4-FFF2-40B4-BE49-F238E27FC236}">
                <a16:creationId xmlns:a16="http://schemas.microsoft.com/office/drawing/2014/main" id="{65A93B1C-D6F3-432C-B84D-81B3012B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Initial café-post draft</a:t>
            </a:r>
          </a:p>
        </p:txBody>
      </p:sp>
      <p:sp>
        <p:nvSpPr>
          <p:cNvPr id="5" name="later-label">
            <a:extLst xmlns:a="http://schemas.openxmlformats.org/drawingml/2006/main">
              <a:ext uri="{FF2B5EF4-FFF2-40B4-BE49-F238E27FC236}">
                <a16:creationId xmlns:a16="http://schemas.microsoft.com/office/drawing/2014/main" id="{060C0AAE-2F17-4454-8180-7865C185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955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Later draft after a more specific request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7573973d6401a"/>
          <a:stretch xmlns:a="http://schemas.openxmlformats.org/drawingml/2006/main"/>
        </p:blipFill>
        <p:spPr>
          <a:xfrm xmlns:a="http://schemas.openxmlformats.org/drawingml/2006/main">
            <a:off x="612458" y="2647950"/>
            <a:ext cx="5213985" cy="2428875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ae57fec064427"/>
          <a:stretch xmlns:a="http://schemas.openxmlformats.org/drawingml/2006/main"/>
        </p:blipFill>
        <p:spPr>
          <a:xfrm xmlns:a="http://schemas.openxmlformats.org/drawingml/2006/main">
            <a:off x="6372225" y="2649855"/>
            <a:ext cx="5219700" cy="2348865"/>
          </a:xfrm>
          <a:prstGeom xmlns:a="http://schemas.openxmlformats.org/drawingml/2006/main" prst="rect">
            <a:avLst/>
          </a:prstGeom>
        </p:spPr>
      </p:pic>
      <p:sp>
        <p:nvSpPr>
          <p:cNvPr id="8" name="observation">
            <a:extLst xmlns:a="http://schemas.openxmlformats.org/drawingml/2006/main">
              <a:ext uri="{FF2B5EF4-FFF2-40B4-BE49-F238E27FC236}">
                <a16:creationId xmlns:a16="http://schemas.microsoft.com/office/drawing/2014/main" id="{3CB08134-5ECE-428A-9DDB-95474BE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648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second draft adds detail. Learners still need to check that the details fit the brief.</a:t>
            </a:r>
          </a:p>
        </p:txBody>
      </p:sp>
      <p:sp>
        <p:nvSpPr>
          <p:cNvPr id="9" name="historical">
            <a:extLst xmlns:a="http://schemas.openxmlformats.org/drawingml/2006/main">
              <a:ext uri="{FF2B5EF4-FFF2-40B4-BE49-F238E27FC236}">
                <a16:creationId xmlns:a16="http://schemas.microsoft.com/office/drawing/2014/main" id="{381B77B8-A697-4036-B00C-F430E930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2024 recording excerpts · fictional practice brand · historical interface</a:t>
            </a:r>
          </a:p>
        </p:txBody>
      </p:sp>
    </p:spTree>
    <p:extLst>
      <p:ext uri="{BB962C8B-B14F-4D97-AF65-F5344CB8AC3E}">
        <p14:creationId xmlns:p14="http://schemas.microsoft.com/office/powerpoint/2010/main" val="19405126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9E0ECD9-A9D5-4673-B1FA-364F915E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2FF3047-AE1A-4173-8F04-108CEA7F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COURSERA · RETROSPECTIVE ASSESSMENT PROPOSAL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1DE14E0D-042A-4C45-811D-F3334831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0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Checking transfer</a:t>
            </a:r>
          </a:p>
        </p:txBody>
      </p:sp>
      <p:sp>
        <p:nvSpPr>
          <p:cNvPr id="4" name="transfer-setup">
            <a:extLst xmlns:a="http://schemas.openxmlformats.org/drawingml/2006/main">
              <a:ext uri="{FF2B5EF4-FFF2-40B4-BE49-F238E27FC236}">
                <a16:creationId xmlns:a16="http://schemas.microsoft.com/office/drawing/2014/main" id="{83462046-8713-42F0-86A6-DF6AD584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9810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would give learners a different task and ask them to explain the next revision.</a:t>
            </a:r>
          </a:p>
        </p:txBody>
      </p:sp>
      <p:sp>
        <p:nvSpPr>
          <p:cNvPr id="5" name="question-one">
            <a:extLst xmlns:a="http://schemas.openxmlformats.org/drawingml/2006/main">
              <a:ext uri="{FF2B5EF4-FFF2-40B4-BE49-F238E27FC236}">
                <a16:creationId xmlns:a16="http://schemas.microsoft.com/office/drawing/2014/main" id="{6C649354-9C1C-49F0-892B-36FC012B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01   Which detail is unsupported?</a:t>
            </a:r>
          </a:p>
        </p:txBody>
      </p:sp>
      <p:sp>
        <p:nvSpPr>
          <p:cNvPr id="6" name="question-two">
            <a:extLst xmlns:a="http://schemas.openxmlformats.org/drawingml/2006/main">
              <a:ext uri="{FF2B5EF4-FFF2-40B4-BE49-F238E27FC236}">
                <a16:creationId xmlns:a16="http://schemas.microsoft.com/office/drawing/2014/main" id="{1C040A9C-DD14-4E84-A9B4-1796355A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02   What would you change in the instruction?</a:t>
            </a:r>
          </a:p>
        </p:txBody>
      </p:sp>
      <p:sp>
        <p:nvSpPr>
          <p:cNvPr id="7" name="question-three">
            <a:extLst xmlns:a="http://schemas.openxmlformats.org/drawingml/2006/main">
              <a:ext uri="{FF2B5EF4-FFF2-40B4-BE49-F238E27FC236}">
                <a16:creationId xmlns:a16="http://schemas.microsoft.com/office/drawing/2014/main" id="{EA49A0D8-75D2-4160-9669-50C78D06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03   How will you judge the next answer?</a:t>
            </a:r>
          </a:p>
        </p:txBody>
      </p:sp>
      <p:sp>
        <p:nvSpPr>
          <p:cNvPr id="8" name="transfer-boundary">
            <a:extLst xmlns:a="http://schemas.openxmlformats.org/drawingml/2006/main">
              <a:ext uri="{FF2B5EF4-FFF2-40B4-BE49-F238E27FC236}">
                <a16:creationId xmlns:a16="http://schemas.microsoft.com/office/drawing/2014/main" id="{02330D51-CEDE-41B1-BC2F-D667F6AA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Proposed follow-up assessment; these questions were not a reported learner study.</a:t>
            </a:r>
          </a:p>
        </p:txBody>
      </p:sp>
    </p:spTree>
    <p:extLst>
      <p:ext uri="{BB962C8B-B14F-4D97-AF65-F5344CB8AC3E}">
        <p14:creationId xmlns:p14="http://schemas.microsoft.com/office/powerpoint/2010/main" val="2255527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5370F9A-8B12-45CB-9118-1E29653A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EF16105-1BF2-4545-A19F-0449E585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ASU · AI ANALYST, 2024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6AFA7320-22DE-42F2-9862-4E9EC7A2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40100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Mentor review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before learner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delivery</a:t>
            </a:r>
          </a:p>
        </p:txBody>
      </p:sp>
      <p:sp>
        <p:nvSpPr>
          <p:cNvPr id="4" name="asu-choice">
            <a:extLst xmlns:a="http://schemas.openxmlformats.org/drawingml/2006/main">
              <a:ext uri="{FF2B5EF4-FFF2-40B4-BE49-F238E27FC236}">
                <a16:creationId xmlns:a16="http://schemas.microsoft.com/office/drawing/2014/main" id="{D6D9856B-5934-4D5C-955C-C4F92001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6671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proposed review of learner context and generated tasks at two points in the workflow.</a:t>
            </a:r>
          </a:p>
        </p:txBody>
      </p:sp>
      <p:sp>
        <p:nvSpPr>
          <p:cNvPr id="5" name="asu-stage">
            <a:extLst xmlns:a="http://schemas.openxmlformats.org/drawingml/2006/main">
              <a:ext uri="{FF2B5EF4-FFF2-40B4-BE49-F238E27FC236}">
                <a16:creationId xmlns:a16="http://schemas.microsoft.com/office/drawing/2014/main" id="{E4691D9B-1012-470F-85A8-F23872C5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3667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Documented proposal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Simplified reconstruction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4b514638e41d9"/>
          <a:stretch xmlns:a="http://schemas.openxmlformats.org/drawingml/2006/main"/>
        </p:blipFill>
        <p:spPr>
          <a:xfrm xmlns:a="http://schemas.openxmlformats.org/drawingml/2006/main">
            <a:off x="4555696" y="857250"/>
            <a:ext cx="7023957" cy="57245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782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4F23DC6-8A2A-4F0F-91FD-BEA1201F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8D78F68-FD45-42F8-AED6-F0451C34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OPPIA · CURRENT UX RESEARCH LEAD, VOLUNTEER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F744F162-6629-4837-9675-31C3D14C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4000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Research that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keeps its source</a:t>
            </a:r>
          </a:p>
        </p:txBody>
      </p:sp>
      <p:sp>
        <p:nvSpPr>
          <p:cNvPr id="4" name="oppia-current">
            <a:extLst xmlns:a="http://schemas.openxmlformats.org/drawingml/2006/main">
              <a:ext uri="{FF2B5EF4-FFF2-40B4-BE49-F238E27FC236}">
                <a16:creationId xmlns:a16="http://schemas.microsoft.com/office/drawing/2014/main" id="{979467F7-5378-4AD2-BCEC-E7C29F3B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36385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review lesson-player behavior with the team, including what happens to progress when a learner leaves.</a:t>
            </a:r>
          </a:p>
        </p:txBody>
      </p:sp>
      <p:sp>
        <p:nvSpPr>
          <p:cNvPr id="5" name="oppia-tool">
            <a:extLst xmlns:a="http://schemas.openxmlformats.org/drawingml/2006/main">
              <a:ext uri="{FF2B5EF4-FFF2-40B4-BE49-F238E27FC236}">
                <a16:creationId xmlns:a16="http://schemas.microsoft.com/office/drawing/2014/main" id="{55693CCB-FF25-4A2E-BF68-6492AE3B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36385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I also built an internal research tool that keeps source references and flags evidence gaps.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83e832d0e418e"/>
          <a:stretch xmlns:a="http://schemas.openxmlformats.org/drawingml/2006/main"/>
        </p:blipFill>
        <p:spPr>
          <a:xfrm xmlns:a="http://schemas.openxmlformats.org/drawingml/2006/main">
            <a:off x="4552950" y="1095613"/>
            <a:ext cx="7029450" cy="54478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177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8A734A-A893-42AD-B2FD-14C5F883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678B2C5-CFDE-4638-8FC3-F857C9E8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WIKIMEDIA · PROPOSED APPROACH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1FF74434-DE57-44D2-9593-11254CF5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829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first learning experiment</a:t>
            </a:r>
          </a:p>
        </p:txBody>
      </p:sp>
      <p:sp>
        <p:nvSpPr>
          <p:cNvPr id="4" name="experiment-intro">
            <a:extLst xmlns:a="http://schemas.openxmlformats.org/drawingml/2006/main">
              <a:ext uri="{FF2B5EF4-FFF2-40B4-BE49-F238E27FC236}">
                <a16:creationId xmlns:a16="http://schemas.microsoft.com/office/drawing/2014/main" id="{BA7B7387-1BC8-41C4-A248-B3519C39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Choose one contributor task with the volunteers who support it.</a:t>
            </a:r>
          </a:p>
        </p:txBody>
      </p:sp>
      <p:sp>
        <p:nvSpPr>
          <p:cNvPr id="5" name="experiment-1">
            <a:extLst xmlns:a="http://schemas.openxmlformats.org/drawingml/2006/main">
              <a:ext uri="{FF2B5EF4-FFF2-40B4-BE49-F238E27FC236}">
                <a16:creationId xmlns:a16="http://schemas.microsoft.com/office/drawing/2014/main" id="{0731DA76-0F9E-4500-B14B-3BE90946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Observe the attempt</a:t>
            </a:r>
          </a:p>
        </p:txBody>
      </p:sp>
      <p:sp>
        <p:nvSpPr>
          <p:cNvPr id="6" name="experiment-1-body">
            <a:extLst xmlns:a="http://schemas.openxmlformats.org/drawingml/2006/main">
              <a:ext uri="{FF2B5EF4-FFF2-40B4-BE49-F238E27FC236}">
                <a16:creationId xmlns:a16="http://schemas.microsoft.com/office/drawing/2014/main" id="{F3FD40C6-B704-4D0A-807B-894734C1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1527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Find the point where people hesitate, get stuck, or need help.</a:t>
            </a:r>
          </a:p>
        </p:txBody>
      </p:sp>
      <p:sp>
        <p:nvSpPr>
          <p:cNvPr id="7" name="experiment-2">
            <a:extLst xmlns:a="http://schemas.openxmlformats.org/drawingml/2006/main">
              <a:ext uri="{FF2B5EF4-FFF2-40B4-BE49-F238E27FC236}">
                <a16:creationId xmlns:a16="http://schemas.microsoft.com/office/drawing/2014/main" id="{BA567865-00F5-4B8D-8304-0DA0DBBB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52850"/>
            <a:ext cx="34575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Build the smallest useful aid</a:t>
            </a:r>
          </a:p>
        </p:txBody>
      </p:sp>
      <p:sp>
        <p:nvSpPr>
          <p:cNvPr id="8" name="experiment-2-body">
            <a:extLst xmlns:a="http://schemas.openxmlformats.org/drawingml/2006/main">
              <a:ext uri="{FF2B5EF4-FFF2-40B4-BE49-F238E27FC236}">
                <a16:creationId xmlns:a16="http://schemas.microsoft.com/office/drawing/2014/main" id="{9DBA857C-EE18-4C9F-9B3A-2BCB2BAD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67250"/>
            <a:ext cx="313372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Try a demonstration, WikiLearn activity, or guidance in the workflow.</a:t>
            </a:r>
          </a:p>
        </p:txBody>
      </p:sp>
      <p:sp>
        <p:nvSpPr>
          <p:cNvPr id="9" name="experiment-3">
            <a:extLst xmlns:a="http://schemas.openxmlformats.org/drawingml/2006/main">
              <a:ext uri="{FF2B5EF4-FFF2-40B4-BE49-F238E27FC236}">
                <a16:creationId xmlns:a16="http://schemas.microsoft.com/office/drawing/2014/main" id="{293107D6-7581-435A-A9F6-ED6D0251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52850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Check independent use</a:t>
            </a:r>
          </a:p>
        </p:txBody>
      </p:sp>
      <p:sp>
        <p:nvSpPr>
          <p:cNvPr id="10" name="experiment-3-body">
            <a:extLst xmlns:a="http://schemas.openxmlformats.org/drawingml/2006/main">
              <a:ext uri="{FF2B5EF4-FFF2-40B4-BE49-F238E27FC236}">
                <a16:creationId xmlns:a16="http://schemas.microsoft.com/office/drawing/2014/main" id="{451ABDF4-B7EE-4FA3-ADBD-AA508F1F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438650"/>
            <a:ext cx="3286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Observe the next attempt and listen to contributor feedback.</a:t>
            </a:r>
          </a:p>
        </p:txBody>
      </p:sp>
      <p:sp>
        <p:nvSpPr>
          <p:cNvPr id="11" name="experiment-boundary">
            <a:extLst xmlns:a="http://schemas.openxmlformats.org/drawingml/2006/main">
              <a:ext uri="{FF2B5EF4-FFF2-40B4-BE49-F238E27FC236}">
                <a16:creationId xmlns:a16="http://schemas.microsoft.com/office/drawing/2014/main" id="{1CE3E1DF-8BBD-4133-9288-E7C25DE8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The task and format would be chosen with contributors; this is an approach, not prior Wikimedia work.</a:t>
            </a:r>
          </a:p>
        </p:txBody>
      </p:sp>
    </p:spTree>
    <p:extLst>
      <p:ext uri="{BB962C8B-B14F-4D97-AF65-F5344CB8AC3E}">
        <p14:creationId xmlns:p14="http://schemas.microsoft.com/office/powerpoint/2010/main" val="1005823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2A57754-9DEC-4BD8-9A74-D306DCF3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300ED35-A3E2-4863-B07F-2B576DC2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LEAD LEARNING EXPERIENCE DESIGNER APPLICATION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13B68BCB-0FFC-4C09-80D4-94C252A6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858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54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Kyle Hobson</a:t>
            </a:r>
          </a:p>
        </p:txBody>
      </p:sp>
      <p:sp>
        <p:nvSpPr>
          <p:cNvPr id="4" name="education">
            <a:extLst xmlns:a="http://schemas.openxmlformats.org/drawingml/2006/main">
              <a:ext uri="{FF2B5EF4-FFF2-40B4-BE49-F238E27FC236}">
                <a16:creationId xmlns:a16="http://schemas.microsoft.com/office/drawing/2014/main" id="{D605C9F5-FB17-4F8E-A4EF-A8A9F350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1019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MS User Experience · BS Technical Communication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BS Electronic Media</a:t>
            </a:r>
          </a:p>
        </p:txBody>
      </p:sp>
      <p:sp>
        <p:nvSpPr>
          <p:cNvPr id="5" name="availability">
            <a:extLst xmlns:a="http://schemas.openxmlformats.org/drawingml/2006/main">
              <a:ext uri="{FF2B5EF4-FFF2-40B4-BE49-F238E27FC236}">
                <a16:creationId xmlns:a16="http://schemas.microsoft.com/office/drawing/2014/main" id="{E6033AED-BC06-4CBC-B9EE-54CC823B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Mesa, Arizona · U.S. remote work · Available ASAP</a:t>
            </a:r>
          </a:p>
        </p:txBody>
      </p:sp>
      <p:sp>
        <p:nvSpPr>
          <p:cNvPr id="6" name="email">
            <a:extLst xmlns:a="http://schemas.openxmlformats.org/drawingml/2006/main">
              <a:ext uri="{FF2B5EF4-FFF2-40B4-BE49-F238E27FC236}">
                <a16:creationId xmlns:a16="http://schemas.microsoft.com/office/drawing/2014/main" id="{E2AD6FFB-63C5-414E-89EF-6039B64A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342dacd100ac4f41"/>
              </a:rPr>
              <a:t>JonathanKyleHobson@gmail.com</a:t>
            </a:r>
          </a:p>
        </p:txBody>
      </p:sp>
      <p:sp>
        <p:nvSpPr>
          <p:cNvPr id="7" name="portfolio">
            <a:extLst xmlns:a="http://schemas.openxmlformats.org/drawingml/2006/main">
              <a:ext uri="{FF2B5EF4-FFF2-40B4-BE49-F238E27FC236}">
                <a16:creationId xmlns:a16="http://schemas.microsoft.com/office/drawing/2014/main" id="{1EE614F5-0303-438C-A86F-AF24FD05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769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F4F2E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87a43f3912864bf7"/>
              </a:rPr>
              <a:t>Portfolio selected for Wikimedia</a:t>
            </a:r>
          </a:p>
        </p:txBody>
      </p:sp>
    </p:spTree>
    <p:extLst>
      <p:ext uri="{BB962C8B-B14F-4D97-AF65-F5344CB8AC3E}">
        <p14:creationId xmlns:p14="http://schemas.microsoft.com/office/powerpoint/2010/main" val="371161342"/>
      </p:ext>
    </p:extLst>
  </p:cSld>
</p:sld>
</file>

<file path=ppt/theme/theme1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2026-09-08T16:59:45.6040000Z</dcterms:created>
  <dcterms:modified xsi:type="dcterms:W3CDTF">2026-09-08T16:59:45.6040000Z</dcterms:modified>
</coreProperties>
</file>