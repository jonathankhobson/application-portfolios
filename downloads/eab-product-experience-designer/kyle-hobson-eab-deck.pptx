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57668ec76343d2" /><Relationship Type="http://schemas.openxmlformats.org/officeDocument/2006/relationships/extended-properties" Target="/docProps/app.xml" Id="R69d6558330d34291" /><Relationship Type="http://schemas.openxmlformats.org/officeDocument/2006/relationships/officeDocument" Target="/ppt/presentation.xml" Id="R948b6e83c2e748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c8b111190401b"/>
  </p:sldMasterIdLst>
  <p:notesMasterIdLst>
    <p:notesMasterId xmlns:r="http://schemas.openxmlformats.org/officeDocument/2006/relationships" r:id="Ra5ba6959a58e4465"/>
  </p:notesMasterIdLst>
  <p:sldIdLst>
    <p:sldId xmlns:r="http://schemas.openxmlformats.org/officeDocument/2006/relationships" id="256" r:id="Rae8ef97b44274317"/>
    <p:sldId xmlns:r="http://schemas.openxmlformats.org/officeDocument/2006/relationships" id="257" r:id="R019dd8ee936d45dc"/>
    <p:sldId xmlns:r="http://schemas.openxmlformats.org/officeDocument/2006/relationships" id="258" r:id="Rd3973be86b934de7"/>
    <p:sldId xmlns:r="http://schemas.openxmlformats.org/officeDocument/2006/relationships" id="259" r:id="R0c6bb87332484524"/>
    <p:sldId xmlns:r="http://schemas.openxmlformats.org/officeDocument/2006/relationships" id="260" r:id="Rb3d6ed2a9d384eec"/>
    <p:sldId xmlns:r="http://schemas.openxmlformats.org/officeDocument/2006/relationships" id="261" r:id="Re7a0562d228a474a"/>
    <p:sldId xmlns:r="http://schemas.openxmlformats.org/officeDocument/2006/relationships" id="262" r:id="R3c17ae7032054fd2"/>
    <p:sldId xmlns:r="http://schemas.openxmlformats.org/officeDocument/2006/relationships" id="263" r:id="R75591b739b0f4bdb"/>
    <p:sldId xmlns:r="http://schemas.openxmlformats.org/officeDocument/2006/relationships" id="264" r:id="Re1b7986cbf3748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a4eb1743034b99" /><Relationship Type="http://schemas.openxmlformats.org/officeDocument/2006/relationships/slideMaster" Target="/ppt/slideMasters/slideMaster1.xml" Id="R75dc8b111190401b" /><Relationship Type="http://schemas.openxmlformats.org/officeDocument/2006/relationships/notesMaster" Target="/ppt/notesMasters/notesMaster1.xml" Id="Ra5ba6959a58e4465" /><Relationship Type="http://schemas.openxmlformats.org/officeDocument/2006/relationships/presProps" Target="/ppt/presProps.xml" Id="R5583ed5f76994cde" /><Relationship Type="http://schemas.openxmlformats.org/officeDocument/2006/relationships/tableStyles" Target="/ppt/tableStyles.xml" Id="R03aa13f32e65427c" /><Relationship Type="http://schemas.openxmlformats.org/officeDocument/2006/relationships/slide" Target="/ppt/slides/slide1.xml" Id="Rae8ef97b44274317" /><Relationship Type="http://schemas.openxmlformats.org/officeDocument/2006/relationships/slide" Target="/ppt/slides/slide2.xml" Id="R019dd8ee936d45dc" /><Relationship Type="http://schemas.openxmlformats.org/officeDocument/2006/relationships/slide" Target="/ppt/slides/slide3.xml" Id="Rd3973be86b934de7" /><Relationship Type="http://schemas.openxmlformats.org/officeDocument/2006/relationships/slide" Target="/ppt/slides/slide4.xml" Id="R0c6bb87332484524" /><Relationship Type="http://schemas.openxmlformats.org/officeDocument/2006/relationships/slide" Target="/ppt/slides/slide5.xml" Id="Rb3d6ed2a9d384eec" /><Relationship Type="http://schemas.openxmlformats.org/officeDocument/2006/relationships/slide" Target="/ppt/slides/slide6.xml" Id="Re7a0562d228a474a" /><Relationship Type="http://schemas.openxmlformats.org/officeDocument/2006/relationships/slide" Target="/ppt/slides/slide7.xml" Id="R3c17ae7032054fd2" /><Relationship Type="http://schemas.openxmlformats.org/officeDocument/2006/relationships/slide" Target="/ppt/slides/slide8.xml" Id="R75591b739b0f4bdb" /><Relationship Type="http://schemas.openxmlformats.org/officeDocument/2006/relationships/slide" Target="/ppt/slides/slide9.xml" Id="Re1b7986cbf3748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353cb568474e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e77e439f54442c" /><Relationship Type="http://schemas.openxmlformats.org/officeDocument/2006/relationships/notesMaster" Target="/ppt/notesMasters/notesMaster1.xml" Id="R3a8212781aff43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09e36bdd7b4925" /><Relationship Type="http://schemas.openxmlformats.org/officeDocument/2006/relationships/notesMaster" Target="/ppt/notesMasters/notesMaster1.xml" Id="R3b87628e48d048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96dabf088a4d77" /><Relationship Type="http://schemas.openxmlformats.org/officeDocument/2006/relationships/notesMaster" Target="/ppt/notesMasters/notesMaster1.xml" Id="R621fea0230694a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4f8a20a3064f2c" /><Relationship Type="http://schemas.openxmlformats.org/officeDocument/2006/relationships/notesMaster" Target="/ppt/notesMasters/notesMaster1.xml" Id="R1f048f92b2d343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9fbcd39c8e4b30" /><Relationship Type="http://schemas.openxmlformats.org/officeDocument/2006/relationships/notesMaster" Target="/ppt/notesMasters/notesMaster1.xml" Id="Rbaac1771e1c240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7cb06f573749fa" /><Relationship Type="http://schemas.openxmlformats.org/officeDocument/2006/relationships/notesMaster" Target="/ppt/notesMasters/notesMaster1.xml" Id="Rbe2e3ad4f40b43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690b4c18044377" /><Relationship Type="http://schemas.openxmlformats.org/officeDocument/2006/relationships/notesMaster" Target="/ppt/notesMasters/notesMaster1.xml" Id="Re4d89adb091c4a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380ad9cf404a2a" /><Relationship Type="http://schemas.openxmlformats.org/officeDocument/2006/relationships/notesMaster" Target="/ppt/notesMasters/notesMaster1.xml" Id="Red8390d413364a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937180c0304a4d" /><Relationship Type="http://schemas.openxmlformats.org/officeDocument/2006/relationships/notesMaster" Target="/ppt/notesMasters/notesMaster1.xml" Id="R35461b10c3e54a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EAB Product Experience Designer (PXD), Senior Analyst, requisition 610993. Employer source: https://recruit.hirebridge.com/v3/Jobs/JobDetails.aspx?cid=7856&amp;jid=610993&amp;locvalue=1036, verified September 8, 2026. Original SmartTagIt Flint design from Kyle’s selected portfolio. Sample interface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FactorLab Flint mobile design and design walkthroughs. Kyle explored entry, suggestions and the question library and prepared annotated handoffs. These are designed states, not a claim that every pictured variant shipped.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SmartTagIt Flint interrupted-response and offline variants, including the March 27, 2026 error-state handoff. The examples document design decisions and engineering annotations. Sample interface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About Me widget and April-May 2026 walkthroughs. Kyle developed insight layouts and made interpretation questions explicit. About Me web/server release was confirmed September 2, 2026, but the exact pictured layout and completed mobile rollout are not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ASU Learning Innovations AI Analyst, February-October 2024. Kyle’s attributed section of a collaborative workflow document supports the proposed review stages. The image is a simplified portfolio reconstruction of that proposal. Deployment, learner outcomes and time savings are not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Published project: https://www.coursera.org/projects/chatgpt-beginners. Kyle created ChatGPT 4o for Beginners: Create Social Media Content in 2024. Original lesson excerpt retains its Coursera branding. This demonstrates authored instruction, not measured learner gains or an EAB product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beta.3: https://github.com/JonathanKHobson/prompt-compass/releases/tag/v0.1.0-beta.3, April 27, 2026. The example paraphrases a May local developer-authored regression fixture. Four named fields are category, article_id, confidence and suggested_response. The original also specifies confidence below 0.7 should yield needs_review. Local evaluation examples are separate from the April release and are not measured customer effectiveness.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approach, informed by EAB requisition 610993: https://recruit.hirebridge.com/v3/Jobs/JobDetails.aspx?cid=7856&amp;jid=610993&amp;locvalue=1036. The role concerns product demonstrations, reusable prototypes and accurate representation of current and future product behavior. This slide is a proposed collaboration approach.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contact and availability are confirmed. Intended isolated portfolio route: https://jonathankhobson.github.io/application-portfolios/eab-product-experience-designer/. Publication is a separate campaign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013fea8f94b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62cce5dc5140ba" /><Relationship Type="http://schemas.openxmlformats.org/officeDocument/2006/relationships/slideLayout" Target="/ppt/slideLayouts/slideLayout1.xml" Id="R9a4607b8f6af4e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4607b8f6af4e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a6e87df484826" /><Relationship Type="http://schemas.openxmlformats.org/officeDocument/2006/relationships/image" Target="/ppt/media/image.png" Id="Rb84e627fd2774928" /><Relationship Type="http://schemas.openxmlformats.org/officeDocument/2006/relationships/notesSlide" Target="/ppt/notesSlides/notesSlide1.xml" Id="Rf23ac68aa37c44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21ba76f814a5e" /><Relationship Type="http://schemas.openxmlformats.org/officeDocument/2006/relationships/image" Target="/ppt/media/image2.png" Id="R6075428c7f244f69" /><Relationship Type="http://schemas.openxmlformats.org/officeDocument/2006/relationships/notesSlide" Target="/ppt/notesSlides/notesSlide2.xml" Id="R9dbb4d149ada4c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083ad2f194164" /><Relationship Type="http://schemas.openxmlformats.org/officeDocument/2006/relationships/image" Target="/ppt/media/image3.png" Id="R9fd9d060fde04829" /><Relationship Type="http://schemas.openxmlformats.org/officeDocument/2006/relationships/image" Target="/ppt/media/image4.png" Id="R22a87b33b7c44f16" /><Relationship Type="http://schemas.openxmlformats.org/officeDocument/2006/relationships/notesSlide" Target="/ppt/notesSlides/notesSlide3.xml" Id="R088012f055e342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80afaf7fd48ae" /><Relationship Type="http://schemas.openxmlformats.org/officeDocument/2006/relationships/image" Target="/ppt/media/image5.png" Id="R612c0c94d8f84248" /><Relationship Type="http://schemas.openxmlformats.org/officeDocument/2006/relationships/notesSlide" Target="/ppt/notesSlides/notesSlide4.xml" Id="R9c15b9eb60ff4b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7d4a18fb94268" /><Relationship Type="http://schemas.openxmlformats.org/officeDocument/2006/relationships/image" Target="/ppt/media/image6.png" Id="R6407ba4e9892471e" /><Relationship Type="http://schemas.openxmlformats.org/officeDocument/2006/relationships/notesSlide" Target="/ppt/notesSlides/notesSlide5.xml" Id="Rfacd4c4e106a4c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60ca6a7924ebf" /><Relationship Type="http://schemas.openxmlformats.org/officeDocument/2006/relationships/image" Target="/ppt/media/image7.png" Id="R7dbc907a3ed548a3" /><Relationship Type="http://schemas.openxmlformats.org/officeDocument/2006/relationships/notesSlide" Target="/ppt/notesSlides/notesSlide6.xml" Id="R4ab5fba7fd9449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75a4ccf694d8d" /><Relationship Type="http://schemas.openxmlformats.org/officeDocument/2006/relationships/notesSlide" Target="/ppt/notesSlides/notesSlide7.xml" Id="Rb41e5052357b4b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94947d27240d4" /><Relationship Type="http://schemas.openxmlformats.org/officeDocument/2006/relationships/notesSlide" Target="/ppt/notesSlides/notesSlide8.xml" Id="Re5e5f2dbe0c74b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cd6febfc0431b" /><Relationship Type="http://schemas.openxmlformats.org/officeDocument/2006/relationships/hyperlink" Target="mailto:JonathanKyleHobson@gmail.com" TargetMode="External" Id="Rd510b0327d494f4f" /><Relationship Type="http://schemas.openxmlformats.org/officeDocument/2006/relationships/hyperlink" Target="https://jonathankhobson.github.io/application-portfolios/eab-product-experience-designer/" TargetMode="External" Id="R712c761a982a49c8" /><Relationship Type="http://schemas.openxmlformats.org/officeDocument/2006/relationships/notesSlide" Target="/ppt/notesSlides/notesSlide9.xml" Id="R22a615602b4947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FD956F1-CEE6-4A19-87B7-CD835D64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C010EA9-5789-4AAB-A516-14B130F7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KYLE HOBSON / EAB PRODUCT EXPERIENCE DESIGNER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AC7164C0-75D1-4993-969A-ECB8299E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6581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65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Product experiences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65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people can explore</a:t>
            </a:r>
          </a:p>
        </p:txBody>
      </p:sp>
      <p:sp>
        <p:nvSpPr>
          <p:cNvPr id="4" name="cover-intro">
            <a:extLst xmlns:a="http://schemas.openxmlformats.org/drawingml/2006/main">
              <a:ext uri="{FF2B5EF4-FFF2-40B4-BE49-F238E27FC236}">
                <a16:creationId xmlns:a16="http://schemas.microsoft.com/office/drawing/2014/main" id="{A1FB7054-257E-40C3-9392-9539396C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7000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Prototypes and walkthroughs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for complex product behavior.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4004922A-B56A-4E2F-836D-0B4D2EAE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702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Selected work for EAB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e627fd2774928"/>
          <a:stretch xmlns:a="http://schemas.openxmlformats.org/drawingml/2006/main"/>
        </p:blipFill>
        <p:spPr>
          <a:xfrm xmlns:a="http://schemas.openxmlformats.org/drawingml/2006/main">
            <a:off x="8867775" y="644039"/>
            <a:ext cx="2524125" cy="54079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294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DCDDC0-F94E-409E-BBF9-6EA44EAE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C14B036-2F56-4C59-9556-650BFC92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FLINT / SMARTTAGIT, FACTORLAB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990D9898-D83E-4A16-806A-9CA93C1D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useful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first question</a:t>
            </a:r>
          </a:p>
        </p:txBody>
      </p:sp>
      <p:sp>
        <p:nvSpPr>
          <p:cNvPr id="4" name="role">
            <a:extLst xmlns:a="http://schemas.openxmlformats.org/drawingml/2006/main">
              <a:ext uri="{FF2B5EF4-FFF2-40B4-BE49-F238E27FC236}">
                <a16:creationId xmlns:a16="http://schemas.microsoft.com/office/drawing/2014/main" id="{7BDC1463-0BED-4CFB-B3A7-4CF20C21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UX Designer &amp; Researcher (Contract)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2025-2026</a:t>
            </a:r>
          </a:p>
        </p:txBody>
      </p:sp>
      <p:sp>
        <p:nvSpPr>
          <p:cNvPr id="5" name="choice">
            <a:extLst xmlns:a="http://schemas.openxmlformats.org/drawingml/2006/main">
              <a:ext uri="{FF2B5EF4-FFF2-40B4-BE49-F238E27FC236}">
                <a16:creationId xmlns:a16="http://schemas.microsoft.com/office/drawing/2014/main" id="{5C6EFAAD-5C30-440B-A678-21149D8A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4667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explored suggested questions and a question library while keeping a person’s own question close at hand.</a:t>
            </a:r>
          </a:p>
        </p:txBody>
      </p:sp>
      <p:sp>
        <p:nvSpPr>
          <p:cNvPr id="6" name="stage">
            <a:extLst xmlns:a="http://schemas.openxmlformats.org/drawingml/2006/main">
              <a:ext uri="{FF2B5EF4-FFF2-40B4-BE49-F238E27FC236}">
                <a16:creationId xmlns:a16="http://schemas.microsoft.com/office/drawing/2014/main" id="{AA5026FB-BC91-40E3-B2BB-655291A3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Design deliverables and engineering handoff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5428c7f244f69"/>
          <a:stretch xmlns:a="http://schemas.openxmlformats.org/drawingml/2006/main"/>
        </p:blipFill>
        <p:spPr>
          <a:xfrm xmlns:a="http://schemas.openxmlformats.org/drawingml/2006/main">
            <a:off x="7953494" y="914400"/>
            <a:ext cx="2542936" cy="5448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53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413207-DB2D-490A-B5F1-1A8789BD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71C714D-EF23-442C-BD68-67A39D58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FLINT / INTERRUPTED AND OFFLINE STATES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7B925479-1A98-4ECB-8F16-CED73AF7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45529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Recovery follows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failure</a:t>
            </a:r>
          </a:p>
        </p:txBody>
      </p:sp>
      <p:sp>
        <p:nvSpPr>
          <p:cNvPr id="4" name="decision">
            <a:extLst xmlns:a="http://schemas.openxmlformats.org/drawingml/2006/main">
              <a:ext uri="{FF2B5EF4-FFF2-40B4-BE49-F238E27FC236}">
                <a16:creationId xmlns:a16="http://schemas.microsoft.com/office/drawing/2014/main" id="{2BF1D7F2-8134-46A2-A974-1230B304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43148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 incomplete answer and a lost connection need different next actions.</a:t>
            </a:r>
          </a:p>
        </p:txBody>
      </p:sp>
      <p:sp>
        <p:nvSpPr>
          <p:cNvPr id="5" name="handoff">
            <a:extLst xmlns:a="http://schemas.openxmlformats.org/drawingml/2006/main">
              <a:ext uri="{FF2B5EF4-FFF2-40B4-BE49-F238E27FC236}">
                <a16:creationId xmlns:a16="http://schemas.microsoft.com/office/drawing/2014/main" id="{21A76648-4A24-4067-84AA-E9EE8B3A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43148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assembled the connected flows and their next actions into an annotated handoff for engineering.</a:t>
            </a:r>
          </a:p>
        </p:txBody>
      </p:sp>
      <p:sp>
        <p:nvSpPr>
          <p:cNvPr id="6" name="partial-label">
            <a:extLst xmlns:a="http://schemas.openxmlformats.org/drawingml/2006/main">
              <a:ext uri="{FF2B5EF4-FFF2-40B4-BE49-F238E27FC236}">
                <a16:creationId xmlns:a16="http://schemas.microsoft.com/office/drawing/2014/main" id="{27B0EDBF-75DD-4D75-AC0D-1E4182D2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28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Incomplete answer</a:t>
            </a:r>
          </a:p>
        </p:txBody>
      </p:sp>
      <p:sp>
        <p:nvSpPr>
          <p:cNvPr id="7" name="offline-label">
            <a:extLst xmlns:a="http://schemas.openxmlformats.org/drawingml/2006/main">
              <a:ext uri="{FF2B5EF4-FFF2-40B4-BE49-F238E27FC236}">
                <a16:creationId xmlns:a16="http://schemas.microsoft.com/office/drawing/2014/main" id="{4AF30E11-5870-4C5F-9637-9E2C29CC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28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Connection lost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9d060fde04829"/>
          <a:stretch xmlns:a="http://schemas.openxmlformats.org/drawingml/2006/main"/>
        </p:blipFill>
        <p:spPr>
          <a:xfrm xmlns:a="http://schemas.openxmlformats.org/drawingml/2006/main">
            <a:off x="5711001" y="1190625"/>
            <a:ext cx="2427348" cy="52006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87b33b7c44f16"/>
          <a:stretch xmlns:a="http://schemas.openxmlformats.org/drawingml/2006/main"/>
        </p:blipFill>
        <p:spPr>
          <a:xfrm xmlns:a="http://schemas.openxmlformats.org/drawingml/2006/main">
            <a:off x="8778051" y="1190625"/>
            <a:ext cx="2427348" cy="5200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378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E13794-82BB-4B32-AA65-AD065B1C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99AAFC-CBDA-4277-B17F-59726FC8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ABOUT ME / SMARTTAGIT, FACTORLAB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7EDDF67C-94EF-4E92-ADF0-147D6BC1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51530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comparison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needs context</a:t>
            </a:r>
          </a:p>
        </p:txBody>
      </p:sp>
      <p:sp>
        <p:nvSpPr>
          <p:cNvPr id="4" name="choice">
            <a:extLst xmlns:a="http://schemas.openxmlformats.org/drawingml/2006/main">
              <a:ext uri="{FF2B5EF4-FFF2-40B4-BE49-F238E27FC236}">
                <a16:creationId xmlns:a16="http://schemas.microsoft.com/office/drawing/2014/main" id="{065F6667-B1C7-4D80-AD32-D8195159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333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Mentioning fatigue less often is a comparison. Whether that is good depends on the context.</a:t>
            </a:r>
          </a:p>
        </p:txBody>
      </p:sp>
      <p:sp>
        <p:nvSpPr>
          <p:cNvPr id="5" name="outcome">
            <a:extLst xmlns:a="http://schemas.openxmlformats.org/drawingml/2006/main">
              <a:ext uri="{FF2B5EF4-FFF2-40B4-BE49-F238E27FC236}">
                <a16:creationId xmlns:a16="http://schemas.microsoft.com/office/drawing/2014/main" id="{9B7EF161-81BE-4C11-8D96-868CDF9C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333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raised the cohort and wording questions while developing reusable insight widgets.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c0c94d8f84248"/>
          <a:stretch xmlns:a="http://schemas.openxmlformats.org/drawingml/2006/main"/>
        </p:blipFill>
        <p:spPr>
          <a:xfrm xmlns:a="http://schemas.openxmlformats.org/drawingml/2006/main">
            <a:off x="5876925" y="2201702"/>
            <a:ext cx="5572125" cy="3692847"/>
          </a:xfrm>
          <a:prstGeom xmlns:a="http://schemas.openxmlformats.org/drawingml/2006/main" prst="rect">
            <a:avLst/>
          </a:prstGeom>
        </p:spPr>
      </p:pic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89512F92-9F43-4066-AAEE-FA7E51D6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6153150"/>
            <a:ext cx="550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design iteration with sample values</a:t>
            </a:r>
          </a:p>
        </p:txBody>
      </p:sp>
    </p:spTree>
    <p:extLst>
      <p:ext uri="{BB962C8B-B14F-4D97-AF65-F5344CB8AC3E}">
        <p14:creationId xmlns:p14="http://schemas.microsoft.com/office/powerpoint/2010/main" val="1421261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24D51D-63F6-45D5-A4A6-78CAF0E1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88382CD-D4F5-4045-B384-35C0141A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ASU / AI ANALYST, 2024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CF02DE09-0719-483A-BB6C-AAD0B691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39243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Mentor review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in a learner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workflow</a:t>
            </a:r>
          </a:p>
        </p:txBody>
      </p:sp>
      <p:sp>
        <p:nvSpPr>
          <p:cNvPr id="4" name="choice">
            <a:extLst xmlns:a="http://schemas.openxmlformats.org/drawingml/2006/main">
              <a:ext uri="{FF2B5EF4-FFF2-40B4-BE49-F238E27FC236}">
                <a16:creationId xmlns:a16="http://schemas.microsoft.com/office/drawing/2014/main" id="{CEC0FC90-1390-4703-BB0C-2FD3EDEF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36385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proposed review of learner context and generated tasks at two points in the workflow.</a:t>
            </a:r>
          </a:p>
        </p:txBody>
      </p:sp>
      <p:sp>
        <p:nvSpPr>
          <p:cNvPr id="5" name="stage">
            <a:extLst xmlns:a="http://schemas.openxmlformats.org/drawingml/2006/main">
              <a:ext uri="{FF2B5EF4-FFF2-40B4-BE49-F238E27FC236}">
                <a16:creationId xmlns:a16="http://schemas.microsoft.com/office/drawing/2014/main" id="{81AB68C2-0C26-4E14-8979-4BDE0113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695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Documented proposal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Simplified reconstruction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7ba4e9892471e"/>
          <a:stretch xmlns:a="http://schemas.openxmlformats.org/drawingml/2006/main"/>
        </p:blipFill>
        <p:spPr>
          <a:xfrm xmlns:a="http://schemas.openxmlformats.org/drawingml/2006/main">
            <a:off x="4555696" y="857250"/>
            <a:ext cx="7023957" cy="57245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2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D013AB3-3B46-4A15-A615-7A24D123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FE0FA1B-2933-4FD6-A553-014C5CC5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COURSERA / GUIDED PROJECT INSTRUCTOR, 2024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12C3BC7F-0124-4DC4-9770-5F908553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4013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demonstration becomes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practice task</a:t>
            </a:r>
          </a:p>
        </p:txBody>
      </p:sp>
      <p:sp>
        <p:nvSpPr>
          <p:cNvPr id="4" name="task">
            <a:extLst xmlns:a="http://schemas.openxmlformats.org/drawingml/2006/main">
              <a:ext uri="{FF2B5EF4-FFF2-40B4-BE49-F238E27FC236}">
                <a16:creationId xmlns:a16="http://schemas.microsoft.com/office/drawing/2014/main" id="{398C04E1-0FFF-4D91-B237-9F87D3A9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000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created a guided project around a familiar task: draft a social post, inspect the result, and make a purposeful revision.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84ADA8A2-91A3-4AEA-88D5-A16A9462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Published beginner instruction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Original lesson goals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c907a3ed548a3"/>
          <a:stretch xmlns:a="http://schemas.openxmlformats.org/drawingml/2006/main"/>
        </p:blipFill>
        <p:spPr>
          <a:xfrm xmlns:a="http://schemas.openxmlformats.org/drawingml/2006/main">
            <a:off x="5192561" y="2905125"/>
            <a:ext cx="6188377" cy="3486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50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DAAD62-5069-4C21-B3E6-6A02D254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09C3620-2BB9-43D5-A330-3858098B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PROMPT COMPASS / INDEPENDENT CREATOR, 2026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13C6A555-927C-4443-B697-4F180EBB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15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prompt rewrite can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lose requirements</a:t>
            </a:r>
          </a:p>
        </p:txBody>
      </p:sp>
      <p:sp>
        <p:nvSpPr>
          <p:cNvPr id="4" name="original-label">
            <a:extLst xmlns:a="http://schemas.openxmlformats.org/drawingml/2006/main">
              <a:ext uri="{FF2B5EF4-FFF2-40B4-BE49-F238E27FC236}">
                <a16:creationId xmlns:a16="http://schemas.microsoft.com/office/drawing/2014/main" id="{FF95B80A-3037-471F-A0F6-F58E2099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Original request</a:t>
            </a:r>
          </a:p>
        </p:txBody>
      </p:sp>
      <p:sp>
        <p:nvSpPr>
          <p:cNvPr id="5" name="original-body">
            <a:extLst xmlns:a="http://schemas.openxmlformats.org/drawingml/2006/main">
              <a:ext uri="{FF2B5EF4-FFF2-40B4-BE49-F238E27FC236}">
                <a16:creationId xmlns:a16="http://schemas.microsoft.com/office/drawing/2014/main" id="{007F7F95-C2DA-4538-8AE6-140B4946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7910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Valid JSON, four named fields, and a low-confidence review rule.</a:t>
            </a:r>
          </a:p>
        </p:txBody>
      </p:sp>
      <p:sp>
        <p:nvSpPr>
          <p:cNvPr id="6" name="rewrite-label">
            <a:extLst xmlns:a="http://schemas.openxmlformats.org/drawingml/2006/main">
              <a:ext uri="{FF2B5EF4-FFF2-40B4-BE49-F238E27FC236}">
                <a16:creationId xmlns:a16="http://schemas.microsoft.com/office/drawing/2014/main" id="{092431C8-4A0D-48EA-B266-8F374C6E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00375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Shorter rewrite</a:t>
            </a:r>
          </a:p>
        </p:txBody>
      </p:sp>
      <p:sp>
        <p:nvSpPr>
          <p:cNvPr id="7" name="rewrite-body">
            <a:extLst xmlns:a="http://schemas.openxmlformats.org/drawingml/2006/main">
              <a:ext uri="{FF2B5EF4-FFF2-40B4-BE49-F238E27FC236}">
                <a16:creationId xmlns:a16="http://schemas.microsoft.com/office/drawing/2014/main" id="{E2F5DD49-70C8-45E0-A657-6B28EC33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14750"/>
            <a:ext cx="47910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clean structured answer with the best response for the user.</a:t>
            </a:r>
          </a:p>
        </p:txBody>
      </p:sp>
      <p:sp>
        <p:nvSpPr>
          <p:cNvPr id="8" name="finding">
            <a:extLst xmlns:a="http://schemas.openxmlformats.org/drawingml/2006/main">
              <a:ext uri="{FF2B5EF4-FFF2-40B4-BE49-F238E27FC236}">
                <a16:creationId xmlns:a16="http://schemas.microsoft.com/office/drawing/2014/main" id="{DCA66057-6362-401A-A040-9C192F31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My tool compares requirements as well as wording. This developer-authored test exposes what the shorter request leaves out.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2A0B3FC0-31E6-4DBE-824B-A2B1C009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Public beta product; this example comes from later local evaluation work.</a:t>
            </a:r>
          </a:p>
        </p:txBody>
      </p:sp>
    </p:spTree>
    <p:extLst>
      <p:ext uri="{BB962C8B-B14F-4D97-AF65-F5344CB8AC3E}">
        <p14:creationId xmlns:p14="http://schemas.microsoft.com/office/powerpoint/2010/main" val="1766231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CF01BE-DAA6-447E-A0DD-1F78160E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A2B195E-CCEA-454E-AD8D-5C1AD0FA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EAB / PROPOSED APPROACH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BC4FFABB-64E2-4D6C-821F-D9F60C04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 EAB product demonstration</a:t>
            </a:r>
          </a:p>
        </p:txBody>
      </p:sp>
      <p:sp>
        <p:nvSpPr>
          <p:cNvPr id="4" name="proposed-intro">
            <a:extLst xmlns:a="http://schemas.openxmlformats.org/drawingml/2006/main">
              <a:ext uri="{FF2B5EF4-FFF2-40B4-BE49-F238E27FC236}">
                <a16:creationId xmlns:a16="http://schemas.microsoft.com/office/drawing/2014/main" id="{B4D4C4CE-6988-4B2E-BEB6-C686E206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14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3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would begin with one education partner’s task and the product behavior that supports it.</a:t>
            </a:r>
          </a:p>
        </p:txBody>
      </p:sp>
      <p:sp>
        <p:nvSpPr>
          <p:cNvPr id="5" name="step1">
            <a:extLst xmlns:a="http://schemas.openxmlformats.org/drawingml/2006/main">
              <a:ext uri="{FF2B5EF4-FFF2-40B4-BE49-F238E27FC236}">
                <a16:creationId xmlns:a16="http://schemas.microsoft.com/office/drawing/2014/main" id="{ED60EC08-3F9C-4CDD-A136-1BB15411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01  A task the audience recognizes</a:t>
            </a:r>
          </a:p>
        </p:txBody>
      </p:sp>
      <p:sp>
        <p:nvSpPr>
          <p:cNvPr id="6" name="step2">
            <a:extLst xmlns:a="http://schemas.openxmlformats.org/drawingml/2006/main">
              <a:ext uri="{FF2B5EF4-FFF2-40B4-BE49-F238E27FC236}">
                <a16:creationId xmlns:a16="http://schemas.microsoft.com/office/drawing/2014/main" id="{16BC784B-97BD-4AAA-862B-4EE85D38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02  A prototype reviewed with product and engineering</a:t>
            </a:r>
          </a:p>
        </p:txBody>
      </p:sp>
      <p:sp>
        <p:nvSpPr>
          <p:cNvPr id="7" name="step3">
            <a:extLst xmlns:a="http://schemas.openxmlformats.org/drawingml/2006/main">
              <a:ext uri="{FF2B5EF4-FFF2-40B4-BE49-F238E27FC236}">
                <a16:creationId xmlns:a16="http://schemas.microsoft.com/office/drawing/2014/main" id="{7EA82CA2-FE4C-4516-9012-9D42B070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03  A clear label for current behavior and future concepts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09EF8DA1-2DCD-4217-898B-005CBE72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Proposed approach for this role; no prior EAB work is claimed.</a:t>
            </a:r>
          </a:p>
        </p:txBody>
      </p:sp>
    </p:spTree>
    <p:extLst>
      <p:ext uri="{BB962C8B-B14F-4D97-AF65-F5344CB8AC3E}">
        <p14:creationId xmlns:p14="http://schemas.microsoft.com/office/powerpoint/2010/main" val="1323922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82C01C-EF21-450E-9B5F-4A2322E6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9924D86-444C-4CA3-95AC-5846C245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EAB PRODUCT EXPERIENCE DESIGNER APPLICATION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6410F9AE-1F24-4DD5-AC28-AA819573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54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Kyle Hobson</a:t>
            </a:r>
          </a:p>
        </p:txBody>
      </p:sp>
      <p:sp>
        <p:nvSpPr>
          <p:cNvPr id="4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A9E225-E965-4A57-AF5A-0693B128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28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Product design, higher education experience,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and clear explanations of how a product works.</a:t>
            </a:r>
          </a:p>
        </p:txBody>
      </p:sp>
      <p:sp>
        <p:nvSpPr>
          <p:cNvPr id="5" name="availability">
            <a:extLst xmlns:a="http://schemas.openxmlformats.org/drawingml/2006/main">
              <a:ext uri="{FF2B5EF4-FFF2-40B4-BE49-F238E27FC236}">
                <a16:creationId xmlns:a16="http://schemas.microsoft.com/office/drawing/2014/main" id="{F0F298D8-E217-4971-B706-603B94F6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Mesa, Arizona / U.S. remote work / Available ASAP</a:t>
            </a:r>
          </a:p>
        </p:txBody>
      </p:sp>
      <p:sp>
        <p:nvSpPr>
          <p:cNvPr id="6" name="email">
            <a:extLst xmlns:a="http://schemas.openxmlformats.org/drawingml/2006/main">
              <a:ext uri="{FF2B5EF4-FFF2-40B4-BE49-F238E27FC236}">
                <a16:creationId xmlns:a16="http://schemas.microsoft.com/office/drawing/2014/main" id="{F0D04ABB-1E73-4A3C-A270-296FA115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d510b0327d494f4f"/>
              </a:rPr>
              <a:t>JonathanKyleHobson@gmail.com</a:t>
            </a:r>
          </a:p>
        </p:txBody>
      </p:sp>
      <p:sp>
        <p:nvSpPr>
          <p:cNvPr id="7" name="portfolio">
            <a:extLst xmlns:a="http://schemas.openxmlformats.org/drawingml/2006/main">
              <a:ext uri="{FF2B5EF4-FFF2-40B4-BE49-F238E27FC236}">
                <a16:creationId xmlns:a16="http://schemas.microsoft.com/office/drawing/2014/main" id="{0E2D229B-8D04-42D1-B47A-76DA930D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24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 u="sng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u="sng">
                <a:solidFill>
                  <a:srgbClr val="F4F2E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712c761a982a49c8"/>
              </a:rPr>
              <a:t>Portfolio selected for EAB</a:t>
            </a:r>
          </a:p>
        </p:txBody>
      </p:sp>
    </p:spTree>
    <p:extLst>
      <p:ext uri="{BB962C8B-B14F-4D97-AF65-F5344CB8AC3E}">
        <p14:creationId xmlns:p14="http://schemas.microsoft.com/office/powerpoint/2010/main" val="888288038"/>
      </p:ext>
    </p:extLst>
  </p:cSld>
</p:sld>
</file>

<file path=ppt/theme/theme1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2026-09-08T18:40:09.4970000Z</dcterms:created>
  <dcterms:modified xsi:type="dcterms:W3CDTF">2026-09-08T18:40:09.4970000Z</dcterms:modified>
</coreProperties>
</file>