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b9937d3dd54e96" /><Relationship Type="http://schemas.openxmlformats.org/officeDocument/2006/relationships/extended-properties" Target="/docProps/app.xml" Id="Rb231fe05ca464426" /><Relationship Type="http://schemas.openxmlformats.org/officeDocument/2006/relationships/officeDocument" Target="/ppt/presentation.xml" Id="R07877f4323404b7f" /></Relationships>
</file>

<file path=ppt/presentation.xml><?xml version="1.0" encoding="utf-8"?>
<p:presentation xmlns:p="http://schemas.openxmlformats.org/presentationml/2006/main">
  <p:sldMasterIdLst>
    <p:sldMasterId xmlns:r="http://schemas.openxmlformats.org/officeDocument/2006/relationships" id="2147483648" r:id="R3e4a3e2312ce4269"/>
  </p:sldMasterIdLst>
  <p:notesMasterIdLst>
    <p:notesMasterId xmlns:r="http://schemas.openxmlformats.org/officeDocument/2006/relationships" r:id="R60a22bcda7704076"/>
  </p:notesMasterIdLst>
  <p:sldIdLst>
    <p:sldId xmlns:r="http://schemas.openxmlformats.org/officeDocument/2006/relationships" id="256" r:id="Rb4e84175430c4f83"/>
    <p:sldId xmlns:r="http://schemas.openxmlformats.org/officeDocument/2006/relationships" id="257" r:id="Rbcf31325a85f41a6"/>
    <p:sldId xmlns:r="http://schemas.openxmlformats.org/officeDocument/2006/relationships" id="258" r:id="R23623cfbc38241c5"/>
    <p:sldId xmlns:r="http://schemas.openxmlformats.org/officeDocument/2006/relationships" id="259" r:id="R9661aa265d5f45e2"/>
    <p:sldId xmlns:r="http://schemas.openxmlformats.org/officeDocument/2006/relationships" id="260" r:id="R0a219c1c0979430f"/>
    <p:sldId xmlns:r="http://schemas.openxmlformats.org/officeDocument/2006/relationships" id="261" r:id="R56953005256f464c"/>
    <p:sldId xmlns:r="http://schemas.openxmlformats.org/officeDocument/2006/relationships" id="262" r:id="R55e76a234c134ee8"/>
    <p:sldId xmlns:r="http://schemas.openxmlformats.org/officeDocument/2006/relationships" id="263" r:id="R01989e6e36e94ce5"/>
    <p:sldId xmlns:r="http://schemas.openxmlformats.org/officeDocument/2006/relationships" id="264" r:id="R10391959ed7742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eafbd9a8e1464b" /><Relationship Type="http://schemas.openxmlformats.org/officeDocument/2006/relationships/slideMaster" Target="/ppt/slideMasters/slideMaster1.xml" Id="R3e4a3e2312ce4269" /><Relationship Type="http://schemas.openxmlformats.org/officeDocument/2006/relationships/notesMaster" Target="/ppt/notesMasters/notesMaster1.xml" Id="R60a22bcda7704076" /><Relationship Type="http://schemas.openxmlformats.org/officeDocument/2006/relationships/presProps" Target="/ppt/presProps.xml" Id="Rb1f5d04009ca47fe" /><Relationship Type="http://schemas.openxmlformats.org/officeDocument/2006/relationships/tableStyles" Target="/ppt/tableStyles.xml" Id="R953bfb3de3f643ce" /><Relationship Type="http://schemas.openxmlformats.org/officeDocument/2006/relationships/slide" Target="/ppt/slides/slide1.xml" Id="Rb4e84175430c4f83" /><Relationship Type="http://schemas.openxmlformats.org/officeDocument/2006/relationships/slide" Target="/ppt/slides/slide2.xml" Id="Rbcf31325a85f41a6" /><Relationship Type="http://schemas.openxmlformats.org/officeDocument/2006/relationships/slide" Target="/ppt/slides/slide3.xml" Id="R23623cfbc38241c5" /><Relationship Type="http://schemas.openxmlformats.org/officeDocument/2006/relationships/slide" Target="/ppt/slides/slide4.xml" Id="R9661aa265d5f45e2" /><Relationship Type="http://schemas.openxmlformats.org/officeDocument/2006/relationships/slide" Target="/ppt/slides/slide5.xml" Id="R0a219c1c0979430f" /><Relationship Type="http://schemas.openxmlformats.org/officeDocument/2006/relationships/slide" Target="/ppt/slides/slide6.xml" Id="R56953005256f464c" /><Relationship Type="http://schemas.openxmlformats.org/officeDocument/2006/relationships/slide" Target="/ppt/slides/slide7.xml" Id="R55e76a234c134ee8" /><Relationship Type="http://schemas.openxmlformats.org/officeDocument/2006/relationships/slide" Target="/ppt/slides/slide8.xml" Id="R01989e6e36e94ce5" /><Relationship Type="http://schemas.openxmlformats.org/officeDocument/2006/relationships/slide" Target="/ppt/slides/slide9.xml" Id="R10391959ed7742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e0aeca045743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a022a456154e10" /><Relationship Type="http://schemas.openxmlformats.org/officeDocument/2006/relationships/notesMaster" Target="/ppt/notesMasters/notesMaster1.xml" Id="R107b04c7940940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36d768b73f457c" /><Relationship Type="http://schemas.openxmlformats.org/officeDocument/2006/relationships/notesMaster" Target="/ppt/notesMasters/notesMaster1.xml" Id="Rde2e535ab5ab46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3c76397d644903" /><Relationship Type="http://schemas.openxmlformats.org/officeDocument/2006/relationships/notesMaster" Target="/ppt/notesMasters/notesMaster1.xml" Id="R0d7bf01ee21149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239e6f51c54c8e" /><Relationship Type="http://schemas.openxmlformats.org/officeDocument/2006/relationships/notesMaster" Target="/ppt/notesMasters/notesMaster1.xml" Id="Rf5438f9cdb6045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9ded1f61be493b" /><Relationship Type="http://schemas.openxmlformats.org/officeDocument/2006/relationships/notesMaster" Target="/ppt/notesMasters/notesMaster1.xml" Id="R8b531f205e9d4f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c3fd535f254062" /><Relationship Type="http://schemas.openxmlformats.org/officeDocument/2006/relationships/notesMaster" Target="/ppt/notesMasters/notesMaster1.xml" Id="R23465757a16d4e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ff354dbd5b49ad" /><Relationship Type="http://schemas.openxmlformats.org/officeDocument/2006/relationships/notesMaster" Target="/ppt/notesMasters/notesMaster1.xml" Id="R9f8c5cd625b74b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ba7227e4e54460" /><Relationship Type="http://schemas.openxmlformats.org/officeDocument/2006/relationships/notesMaster" Target="/ppt/notesMasters/notesMaster1.xml" Id="R80c6f5beaeae4f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ff884785454447" /><Relationship Type="http://schemas.openxmlformats.org/officeDocument/2006/relationships/notesMaster" Target="/ppt/notesMasters/notesMaster1.xml" Id="R6c3b7b19ae1a40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to the GoGuardian Senior Product Designer role, New Products team. Role source: https://job-boards.greenhouse.io/goguardian/jobs/4705045006 . Three cases: About Me, Oak AI and Prompt Compass. The approved paper-path illustration is decorative.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local implementation and public beta.3 release, April 27, 2026. Kyle independently created and released the tool. The host assistant owns the conversation; Prompt Compass supplies structured analysis and routing. Diagram is explicitly reconstructed from implementation. Public beta source: https://github.com/JonathanKHobson/prompt-compass/releases/tag/v0.1.0-beta.3 . No adoption, revenue or production-model performance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prompts are exact values from a developer-authored May 2026 local regression fixture. The public beta was released in April; later local evaluation is a separate state. This is a designed example, not a customer incident or independent benchmark. It illustrates how Kyle makes a product judgment inspectable: task requirements should survive a rewrite.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discovery questions, tailored to the job description’s focus on digital-safety insights for K–12 leaders. They are not findings about GoGuardian, product requirements, clinical advice or a safety-risk classification method. Source: https://job-boards.greenhouse.io/goguardian/jobs/4705045006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Candidate-confirmed location, work authorization and availability. The separate application portfolio contains About Me, Oak AI and Prompt Compass with ownership and delivery-stage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6c450306e54d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f13b17bcb34c2b" /><Relationship Type="http://schemas.openxmlformats.org/officeDocument/2006/relationships/slideLayout" Target="/ppt/slideLayouts/slideLayout1.xml" Id="R82d80f910d6646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d80f910d6646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0695194f6c469f" /><Relationship Type="http://schemas.openxmlformats.org/officeDocument/2006/relationships/image" Target="/ppt/media/image.png" Id="R6d4ef58b40084687" /><Relationship Type="http://schemas.openxmlformats.org/officeDocument/2006/relationships/notesSlide" Target="/ppt/notesSlides/notesSlide1.xml" Id="Ra611200f938342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6ecc0f0bc747c3" /><Relationship Type="http://schemas.openxmlformats.org/officeDocument/2006/relationships/image" Target="/ppt/media/image2.png" Id="R4c650d3b98e44ce5" /><Relationship Type="http://schemas.openxmlformats.org/officeDocument/2006/relationships/notesSlide" Target="/ppt/notesSlides/notesSlide2.xml" Id="R4f7978c4368c44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229e5615424869" /><Relationship Type="http://schemas.openxmlformats.org/officeDocument/2006/relationships/image" Target="/ppt/media/image3.png" Id="R9b3a2f8ea5c54df2" /><Relationship Type="http://schemas.openxmlformats.org/officeDocument/2006/relationships/notesSlide" Target="/ppt/notesSlides/notesSlide3.xml" Id="R34e89a18723b4f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37ef6ad612428d" /><Relationship Type="http://schemas.openxmlformats.org/officeDocument/2006/relationships/image" Target="/ppt/media/image4.png" Id="Red462bf2db814fbf" /><Relationship Type="http://schemas.openxmlformats.org/officeDocument/2006/relationships/notesSlide" Target="/ppt/notesSlides/notesSlide4.xml" Id="R0f08bc077e7540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e391807055483e" /><Relationship Type="http://schemas.openxmlformats.org/officeDocument/2006/relationships/image" Target="/ppt/media/image5.png" Id="Rf165c2c617954996" /><Relationship Type="http://schemas.openxmlformats.org/officeDocument/2006/relationships/image" Target="/ppt/media/image6.png" Id="R0baf9d4018d34686" /><Relationship Type="http://schemas.openxmlformats.org/officeDocument/2006/relationships/image" Target="/ppt/media/image7.png" Id="R08145aa32b124b51" /><Relationship Type="http://schemas.openxmlformats.org/officeDocument/2006/relationships/notesSlide" Target="/ppt/notesSlides/notesSlide5.xml" Id="R9018f56b2ce04a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7f9aef201340ca" /><Relationship Type="http://schemas.openxmlformats.org/officeDocument/2006/relationships/image" Target="/ppt/media/image8.png" Id="Rad4e0d71e1b94232" /><Relationship Type="http://schemas.openxmlformats.org/officeDocument/2006/relationships/notesSlide" Target="/ppt/notesSlides/notesSlide6.xml" Id="Rcc9be29b9f0c40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790d148ff44aa8" /><Relationship Type="http://schemas.openxmlformats.org/officeDocument/2006/relationships/notesSlide" Target="/ppt/notesSlides/notesSlide7.xml" Id="R6e7bb19f0df541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84154540694f59" /><Relationship Type="http://schemas.openxmlformats.org/officeDocument/2006/relationships/notesSlide" Target="/ppt/notesSlides/notesSlide8.xml" Id="Rfebaad96031945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ec1658fec246c3" /><Relationship Type="http://schemas.openxmlformats.org/officeDocument/2006/relationships/hyperlink" Target="mailto:JonathanKyleHobson@gmail.com" TargetMode="External" Id="R022395b5a23849c1" /><Relationship Type="http://schemas.openxmlformats.org/officeDocument/2006/relationships/hyperlink" Target="https://jonathankhobson.github.io/application-portfolios/goguardian-product-designer/" TargetMode="External" Id="R5f782419829a41ab" /><Relationship Type="http://schemas.openxmlformats.org/officeDocument/2006/relationships/notesSlide" Target="/ppt/notesSlides/notesSlide9.xml" Id="R3fd8606a77dd44b2"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d4ef58b40084687"/>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24637092-F24B-46E4-BC68-DEDCDAB4C127}"/>
              </a:ext>
            </a:extLst>
          </p:cNvPr>
          <p:cNvSpPr>
            <a:spLocks xmlns:a="http://schemas.openxmlformats.org/drawingml/2006/main" noGrp="1"/>
          </p:cNvSpPr>
          <p:nvPr/>
        </p:nvSpPr>
        <p:spPr>
          <a:xfrm xmlns:a="http://schemas.openxmlformats.org/drawingml/2006/main">
            <a:off x="609600" y="5143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GOGUARDIAN</a:t>
            </a:r>
          </a:p>
        </p:txBody>
      </p:sp>
      <p:sp>
        <p:nvSpPr>
          <p:cNvPr id="3" name="headline">
            <a:extLst xmlns:a="http://schemas.openxmlformats.org/drawingml/2006/main">
              <a:ext uri="{FF2B5EF4-FFF2-40B4-BE49-F238E27FC236}">
                <a16:creationId xmlns:a16="http://schemas.microsoft.com/office/drawing/2014/main" id="{0A53D92E-6282-4C08-9221-70C403DEC9B9}"/>
              </a:ext>
            </a:extLst>
          </p:cNvPr>
          <p:cNvSpPr>
            <a:spLocks xmlns:a="http://schemas.openxmlformats.org/drawingml/2006/main" noGrp="1"/>
          </p:cNvSpPr>
          <p:nvPr/>
        </p:nvSpPr>
        <p:spPr>
          <a:xfrm xmlns:a="http://schemas.openxmlformats.org/drawingml/2006/main">
            <a:off x="609600" y="1495425"/>
            <a:ext cx="10001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192B25"/>
                </a:solidFill>
                <a:latin typeface="Helvetica Neue"/>
                <a:ea typeface="Helvetica Neue"/>
                <a:cs typeface="Helvetica Neue"/>
              </a:defRPr>
            </a:pPr>
            <a:r>
              <a:rPr sz="4800" b="1">
                <a:solidFill>
                  <a:srgbClr val="192B25"/>
                </a:solidFill>
                <a:latin typeface="Helvetica Neue"/>
                <a:ea typeface="Helvetica Neue"/>
                <a:cs typeface="Helvetica Neue"/>
              </a:rPr>
              <a:t>Make the insight</a:t>
            </a:r>
          </a:p>
          <a:p xmlns:a="http://schemas.openxmlformats.org/drawingml/2006/main">
            <a:pPr>
              <a:lnSpc>
                <a:spcPct val="110000"/>
              </a:lnSpc>
              <a:buNone/>
              <a:defRPr sz="4800" b="1">
                <a:solidFill>
                  <a:srgbClr val="192B25"/>
                </a:solidFill>
                <a:latin typeface="Helvetica Neue"/>
                <a:ea typeface="Helvetica Neue"/>
                <a:cs typeface="Helvetica Neue"/>
              </a:defRPr>
            </a:pPr>
            <a:r>
              <a:rPr sz="4800" b="1">
                <a:solidFill>
                  <a:srgbClr val="192B25"/>
                </a:solidFill>
                <a:latin typeface="Helvetica Neue"/>
                <a:ea typeface="Helvetica Neue"/>
                <a:cs typeface="Helvetica Neue"/>
              </a:rPr>
              <a:t>understandable.</a:t>
            </a:r>
          </a:p>
        </p:txBody>
      </p:sp>
      <p:sp>
        <p:nvSpPr>
          <p:cNvPr id="4" name="cover-intro">
            <a:extLst xmlns:a="http://schemas.openxmlformats.org/drawingml/2006/main">
              <a:ext uri="{FF2B5EF4-FFF2-40B4-BE49-F238E27FC236}">
                <a16:creationId xmlns:a16="http://schemas.microsoft.com/office/drawing/2014/main" id="{679E4E4D-7957-4FA3-A8D7-43FCE05795FC}"/>
              </a:ext>
            </a:extLst>
          </p:cNvPr>
          <p:cNvSpPr>
            <a:spLocks xmlns:a="http://schemas.openxmlformats.org/drawingml/2006/main" noGrp="1"/>
          </p:cNvSpPr>
          <p:nvPr/>
        </p:nvSpPr>
        <p:spPr>
          <a:xfrm xmlns:a="http://schemas.openxmlformats.org/drawingml/2006/main">
            <a:off x="647700" y="4448175"/>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Product design, research synthesis</a:t>
            </a:r>
          </a:p>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and human–AI interaction</a:t>
            </a:r>
          </a:p>
        </p:txBody>
      </p:sp>
      <p:sp>
        <p:nvSpPr>
          <p:cNvPr id="5" name="cover-role">
            <a:extLst xmlns:a="http://schemas.openxmlformats.org/drawingml/2006/main">
              <a:ext uri="{FF2B5EF4-FFF2-40B4-BE49-F238E27FC236}">
                <a16:creationId xmlns:a16="http://schemas.microsoft.com/office/drawing/2014/main" id="{702634E7-84E0-449B-9B5A-C6467610E7A9}"/>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Senior Product Designer · New Products</a:t>
            </a:r>
          </a:p>
        </p:txBody>
      </p:sp>
      <p:sp>
        <p:nvSpPr>
          <p:cNvPr id="6" name="slide-number">
            <a:extLst xmlns:a="http://schemas.openxmlformats.org/drawingml/2006/main">
              <a:ext uri="{FF2B5EF4-FFF2-40B4-BE49-F238E27FC236}">
                <a16:creationId xmlns:a16="http://schemas.microsoft.com/office/drawing/2014/main" id="{79C24BB8-6D1F-4D64-ABCF-30DFE17DF02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3826105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827E250-0EE4-4FFA-8C3E-A1B09F0713D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2" name="headline">
            <a:extLst xmlns:a="http://schemas.openxmlformats.org/drawingml/2006/main">
              <a:ext uri="{FF2B5EF4-FFF2-40B4-BE49-F238E27FC236}">
                <a16:creationId xmlns:a16="http://schemas.microsoft.com/office/drawing/2014/main" id="{17C8BDD7-CADC-41A6-845C-BE59DD4DC980}"/>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3" name="role">
            <a:extLst xmlns:a="http://schemas.openxmlformats.org/drawingml/2006/main">
              <a:ext uri="{FF2B5EF4-FFF2-40B4-BE49-F238E27FC236}">
                <a16:creationId xmlns:a16="http://schemas.microsoft.com/office/drawing/2014/main" id="{4619514A-BABC-4339-965D-2FFBAD07F618}"/>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4" name="about-decision">
            <a:extLst xmlns:a="http://schemas.openxmlformats.org/drawingml/2006/main">
              <a:ext uri="{FF2B5EF4-FFF2-40B4-BE49-F238E27FC236}">
                <a16:creationId xmlns:a16="http://schemas.microsoft.com/office/drawing/2014/main" id="{7EC5C197-AAA6-4B3D-A94F-E02621146843}"/>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5" name="about-stage">
            <a:extLst xmlns:a="http://schemas.openxmlformats.org/drawingml/2006/main">
              <a:ext uri="{FF2B5EF4-FFF2-40B4-BE49-F238E27FC236}">
                <a16:creationId xmlns:a16="http://schemas.microsoft.com/office/drawing/2014/main" id="{37125B86-3B69-48BD-A83F-523830D98F31}"/>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c650d3b98e44ce5"/>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948D1E7D-63F2-4069-A89A-E9561B06D9D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30206424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19E4992-F27A-4AFC-96A4-A8455D3DA60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2" name="headline">
            <a:extLst xmlns:a="http://schemas.openxmlformats.org/drawingml/2006/main">
              <a:ext uri="{FF2B5EF4-FFF2-40B4-BE49-F238E27FC236}">
                <a16:creationId xmlns:a16="http://schemas.microsoft.com/office/drawing/2014/main" id="{B5C09680-779C-4DFE-9CFF-FDF8BF981BF5}"/>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3" name="comparison-decision">
            <a:extLst xmlns:a="http://schemas.openxmlformats.org/drawingml/2006/main">
              <a:ext uri="{FF2B5EF4-FFF2-40B4-BE49-F238E27FC236}">
                <a16:creationId xmlns:a16="http://schemas.microsoft.com/office/drawing/2014/main" id="{07E3AC66-47C7-4A23-B390-5233C6163ADA}"/>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4" name="comparison-outcome">
            <a:extLst xmlns:a="http://schemas.openxmlformats.org/drawingml/2006/main">
              <a:ext uri="{FF2B5EF4-FFF2-40B4-BE49-F238E27FC236}">
                <a16:creationId xmlns:a16="http://schemas.microsoft.com/office/drawing/2014/main" id="{99B992E8-658E-4195-99CC-A5B08B0E9135}"/>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3a2f8ea5c54df2"/>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6" name="sample-label">
            <a:extLst xmlns:a="http://schemas.openxmlformats.org/drawingml/2006/main">
              <a:ext uri="{FF2B5EF4-FFF2-40B4-BE49-F238E27FC236}">
                <a16:creationId xmlns:a16="http://schemas.microsoft.com/office/drawing/2014/main" id="{DC00D6A3-739A-447C-9147-2DCBA1696B5C}"/>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
        <p:nvSpPr>
          <p:cNvPr id="7" name="slide-number">
            <a:extLst xmlns:a="http://schemas.openxmlformats.org/drawingml/2006/main">
              <a:ext uri="{FF2B5EF4-FFF2-40B4-BE49-F238E27FC236}">
                <a16:creationId xmlns:a16="http://schemas.microsoft.com/office/drawing/2014/main" id="{76E49E9E-E9C6-442C-B0DC-441F551D38A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2997696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17C8D939-8ABE-431B-9369-14391F5483E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2" name="headline">
            <a:extLst xmlns:a="http://schemas.openxmlformats.org/drawingml/2006/main">
              <a:ext uri="{FF2B5EF4-FFF2-40B4-BE49-F238E27FC236}">
                <a16:creationId xmlns:a16="http://schemas.microsoft.com/office/drawing/2014/main" id="{D60183BB-3D4C-4BE5-B157-D373522E4C80}"/>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3" name="oak-observation">
            <a:extLst xmlns:a="http://schemas.openxmlformats.org/drawingml/2006/main">
              <a:ext uri="{FF2B5EF4-FFF2-40B4-BE49-F238E27FC236}">
                <a16:creationId xmlns:a16="http://schemas.microsoft.com/office/drawing/2014/main" id="{2EFCF7BF-4FBB-49CF-A36E-5B9339D3E44E}"/>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4" name="oak-rationale">
            <a:extLst xmlns:a="http://schemas.openxmlformats.org/drawingml/2006/main">
              <a:ext uri="{FF2B5EF4-FFF2-40B4-BE49-F238E27FC236}">
                <a16:creationId xmlns:a16="http://schemas.microsoft.com/office/drawing/2014/main" id="{A38BB53C-C109-442A-96D1-C377FE8AAB14}"/>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5" name="oak-stage">
            <a:extLst xmlns:a="http://schemas.openxmlformats.org/drawingml/2006/main">
              <a:ext uri="{FF2B5EF4-FFF2-40B4-BE49-F238E27FC236}">
                <a16:creationId xmlns:a16="http://schemas.microsoft.com/office/drawing/2014/main" id="{4BA9D842-AFA2-4ACB-84AD-FEF6F01EC7C1}"/>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d462bf2db814fbf"/>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80A757BE-A161-444F-89D2-1BF3B5BBFD4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41743248"/>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6855982F-14E6-411F-9429-AB94BC06D43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43B2F469-C6CE-46C9-83A0-020C130F9180}"/>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9FF2447D-B365-49FF-870A-C737B47FF2B9}"/>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D0865E0A-5317-4611-82DB-2066E9CFDC28}"/>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2DE5A480-042E-4708-9AC8-FFEA4569529A}"/>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39752C10-19C9-4F2A-A001-091B3B7ABB8D}"/>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165c2c617954996"/>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baf9d4018d34686"/>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01A403C5-B993-4624-B3ED-A20F30A7CBA5}"/>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8145aa32b124b51"/>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8F092B1E-A8F2-414F-AD75-AD1621D47047}"/>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A691E5EA-7E95-46D1-8A3E-4B65FF6AA3E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629094465"/>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57BC55B0-DE75-4FC1-BB53-5FA4ECB74C7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CREATOR, 2026</a:t>
            </a:r>
          </a:p>
        </p:txBody>
      </p:sp>
      <p:sp>
        <p:nvSpPr>
          <p:cNvPr id="2" name="headline">
            <a:extLst xmlns:a="http://schemas.openxmlformats.org/drawingml/2006/main">
              <a:ext uri="{FF2B5EF4-FFF2-40B4-BE49-F238E27FC236}">
                <a16:creationId xmlns:a16="http://schemas.microsoft.com/office/drawing/2014/main" id="{D78D89E2-931E-46CE-8240-5A5518D38AFB}"/>
              </a:ext>
            </a:extLst>
          </p:cNvPr>
          <p:cNvSpPr>
            <a:spLocks xmlns:a="http://schemas.openxmlformats.org/drawingml/2006/main" noGrp="1"/>
          </p:cNvSpPr>
          <p:nvPr/>
        </p:nvSpPr>
        <p:spPr>
          <a:xfrm xmlns:a="http://schemas.openxmlformats.org/drawingml/2006/main">
            <a:off x="609600" y="1104900"/>
            <a:ext cx="5715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From a question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to a public beta</a:t>
            </a:r>
          </a:p>
        </p:txBody>
      </p:sp>
      <p:sp>
        <p:nvSpPr>
          <p:cNvPr id="3" name="prompt-problem">
            <a:extLst xmlns:a="http://schemas.openxmlformats.org/drawingml/2006/main">
              <a:ext uri="{FF2B5EF4-FFF2-40B4-BE49-F238E27FC236}">
                <a16:creationId xmlns:a16="http://schemas.microsoft.com/office/drawing/2014/main" id="{15EB21F7-5506-48BD-B686-5D5F0C413FA0}"/>
              </a:ext>
            </a:extLst>
          </p:cNvPr>
          <p:cNvSpPr>
            <a:spLocks xmlns:a="http://schemas.openxmlformats.org/drawingml/2006/main" noGrp="1"/>
          </p:cNvSpPr>
          <p:nvPr/>
        </p:nvSpPr>
        <p:spPr>
          <a:xfrm xmlns:a="http://schemas.openxmlformats.org/drawingml/2006/main">
            <a:off x="609600" y="3095625"/>
            <a:ext cx="51244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Can a prompt rewrite sound clearer while losing the task’s requirements?</a:t>
            </a:r>
          </a:p>
        </p:txBody>
      </p:sp>
      <p:sp>
        <p:nvSpPr>
          <p:cNvPr id="4" name="prompt-ownership">
            <a:extLst xmlns:a="http://schemas.openxmlformats.org/drawingml/2006/main">
              <a:ext uri="{FF2B5EF4-FFF2-40B4-BE49-F238E27FC236}">
                <a16:creationId xmlns:a16="http://schemas.microsoft.com/office/drawing/2014/main" id="{17669AED-251E-403C-8E15-9DDF275F714B}"/>
              </a:ext>
            </a:extLst>
          </p:cNvPr>
          <p:cNvSpPr>
            <a:spLocks xmlns:a="http://schemas.openxmlformats.org/drawingml/2006/main" noGrp="1"/>
          </p:cNvSpPr>
          <p:nvPr/>
        </p:nvSpPr>
        <p:spPr>
          <a:xfrm xmlns:a="http://schemas.openxmlformats.org/drawingml/2006/main">
            <a:off x="609600" y="4676775"/>
            <a:ext cx="51244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built and released a local tool that structures the requirements, identifies gaps, and helps an assistant compare prompt versions.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d4e0d71e1b94232"/>
          <a:stretch xmlns:a="http://schemas.openxmlformats.org/drawingml/2006/main"/>
        </p:blipFill>
        <p:spPr>
          <a:xfrm xmlns:a="http://schemas.openxmlformats.org/drawingml/2006/main">
            <a:off x="6202146" y="1943100"/>
            <a:ext cx="5331259" cy="3705225"/>
          </a:xfrm>
          <a:prstGeom xmlns:a="http://schemas.openxmlformats.org/drawingml/2006/main" prst="rect">
            <a:avLst/>
          </a:prstGeom>
        </p:spPr>
      </p:pic>
      <p:sp>
        <p:nvSpPr>
          <p:cNvPr id="6" name="workflow-caption">
            <a:extLst xmlns:a="http://schemas.openxmlformats.org/drawingml/2006/main">
              <a:ext uri="{FF2B5EF4-FFF2-40B4-BE49-F238E27FC236}">
                <a16:creationId xmlns:a16="http://schemas.microsoft.com/office/drawing/2014/main" id="{E8451731-FFD5-4F71-B31F-5CAD0F5761CB}"/>
              </a:ext>
            </a:extLst>
          </p:cNvPr>
          <p:cNvSpPr>
            <a:spLocks xmlns:a="http://schemas.openxmlformats.org/drawingml/2006/main" noGrp="1"/>
          </p:cNvSpPr>
          <p:nvPr/>
        </p:nvSpPr>
        <p:spPr>
          <a:xfrm xmlns:a="http://schemas.openxmlformats.org/drawingml/2006/main">
            <a:off x="6200775" y="59531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Reconstruction of implemented workflow</a:t>
            </a:r>
          </a:p>
        </p:txBody>
      </p:sp>
      <p:sp>
        <p:nvSpPr>
          <p:cNvPr id="7" name="slide-number">
            <a:extLst xmlns:a="http://schemas.openxmlformats.org/drawingml/2006/main">
              <a:ext uri="{FF2B5EF4-FFF2-40B4-BE49-F238E27FC236}">
                <a16:creationId xmlns:a16="http://schemas.microsoft.com/office/drawing/2014/main" id="{1F1FC082-ADB6-41F9-B848-1C50961EABD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68510413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FF4251EC-893B-46A6-A1FF-B92700CB288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POST-BETA LOCAL EVALUATION</a:t>
            </a:r>
          </a:p>
        </p:txBody>
      </p:sp>
      <p:sp>
        <p:nvSpPr>
          <p:cNvPr id="2" name="headline">
            <a:extLst xmlns:a="http://schemas.openxmlformats.org/drawingml/2006/main">
              <a:ext uri="{FF2B5EF4-FFF2-40B4-BE49-F238E27FC236}">
                <a16:creationId xmlns:a16="http://schemas.microsoft.com/office/drawing/2014/main" id="{B14DDF6A-3F0B-4FE1-B480-4C7A9C1027F3}"/>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7EA77BFC-5018-4395-8CEE-19E263958B04}"/>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5EAB3B92-2B46-48D0-827F-B16279C2DA8F}"/>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F4D4CADE-8C77-4457-82D5-1540A8F236C1}"/>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EEDFCA6A-8E72-44BF-A648-7052F0BA0C35}"/>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E2206AB5-22AF-4C7B-A26D-9623DA3CDD6A}"/>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DA2A87FC-3AE3-4F7F-9D28-8AA94741B3A7}"/>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A designed regression case: the rewrite loses named fields and the review condition.</a:t>
            </a:r>
          </a:p>
        </p:txBody>
      </p:sp>
      <p:sp>
        <p:nvSpPr>
          <p:cNvPr id="9" name="slide-number">
            <a:extLst xmlns:a="http://schemas.openxmlformats.org/drawingml/2006/main">
              <a:ext uri="{FF2B5EF4-FFF2-40B4-BE49-F238E27FC236}">
                <a16:creationId xmlns:a16="http://schemas.microsoft.com/office/drawing/2014/main" id="{CD810EF1-628E-4C14-959F-CD1CD19504B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20777102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CAB5CC9-63EA-4C97-9D49-158B47C76CF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GOGUARDIAN   /   PROPOSED STARTING QUESTIONS</a:t>
            </a:r>
          </a:p>
        </p:txBody>
      </p:sp>
      <p:sp>
        <p:nvSpPr>
          <p:cNvPr id="2" name="headline">
            <a:extLst xmlns:a="http://schemas.openxmlformats.org/drawingml/2006/main">
              <a:ext uri="{FF2B5EF4-FFF2-40B4-BE49-F238E27FC236}">
                <a16:creationId xmlns:a16="http://schemas.microsoft.com/office/drawing/2014/main" id="{D1CE5D7C-58F7-4E65-AE39-7C67776788E4}"/>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What would make an insight useful?</a:t>
            </a:r>
          </a:p>
        </p:txBody>
      </p:sp>
      <p:sp>
        <p:nvSpPr>
          <p:cNvPr id="3" name="proposal-intro">
            <a:extLst xmlns:a="http://schemas.openxmlformats.org/drawingml/2006/main">
              <a:ext uri="{FF2B5EF4-FFF2-40B4-BE49-F238E27FC236}">
                <a16:creationId xmlns:a16="http://schemas.microsoft.com/office/drawing/2014/main" id="{281B35A5-0730-4699-BBE8-029BB74B925C}"/>
              </a:ext>
            </a:extLst>
          </p:cNvPr>
          <p:cNvSpPr>
            <a:spLocks xmlns:a="http://schemas.openxmlformats.org/drawingml/2006/main" noGrp="1"/>
          </p:cNvSpPr>
          <p:nvPr/>
        </p:nvSpPr>
        <p:spPr>
          <a:xfrm xmlns:a="http://schemas.openxmlformats.org/drawingml/2006/main">
            <a:off x="609600" y="2162175"/>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 would begin with the decision an educator needs to make, then trace the information needed to support it.</a:t>
            </a:r>
          </a:p>
        </p:txBody>
      </p:sp>
      <p:sp>
        <p:nvSpPr>
          <p:cNvPr id="4" name="proposal-steps">
            <a:extLst xmlns:a="http://schemas.openxmlformats.org/drawingml/2006/main">
              <a:ext uri="{FF2B5EF4-FFF2-40B4-BE49-F238E27FC236}">
                <a16:creationId xmlns:a16="http://schemas.microsoft.com/office/drawing/2014/main" id="{6A9182AE-86CB-4455-991B-AD70E73EC8C1}"/>
              </a:ext>
            </a:extLst>
          </p:cNvPr>
          <p:cNvSpPr>
            <a:spLocks xmlns:a="http://schemas.openxmlformats.org/drawingml/2006/main" noGrp="1"/>
          </p:cNvSpPr>
          <p:nvPr/>
        </p:nvSpPr>
        <p:spPr>
          <a:xfrm xmlns:a="http://schemas.openxmlformats.org/drawingml/2006/main">
            <a:off x="609600" y="3419475"/>
            <a:ext cx="1033462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What does the person understand from the summary?</a:t>
            </a:r>
          </a:p>
          <a:p xmlns:a="http://schemas.openxmlformats.org/drawingml/2006/main">
            <a:r>
              <a:t/>
            </a:r>
          </a:p>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Can they inspect the evidence and its limits?</a:t>
            </a:r>
          </a:p>
          <a:p xmlns:a="http://schemas.openxmlformats.org/drawingml/2006/main">
            <a:r>
              <a:t/>
            </a:r>
          </a:p>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Which next action fits their role and context?</a:t>
            </a:r>
          </a:p>
          <a:p xmlns:a="http://schemas.openxmlformats.org/drawingml/2006/main">
            <a:r>
              <a:t/>
            </a:r>
          </a:p>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Can they explain why that action is appropriate?</a:t>
            </a:r>
          </a:p>
        </p:txBody>
      </p:sp>
      <p:sp>
        <p:nvSpPr>
          <p:cNvPr id="5" name="proposal-boundary">
            <a:extLst xmlns:a="http://schemas.openxmlformats.org/drawingml/2006/main">
              <a:ext uri="{FF2B5EF4-FFF2-40B4-BE49-F238E27FC236}">
                <a16:creationId xmlns:a16="http://schemas.microsoft.com/office/drawing/2014/main" id="{5236BB81-6039-4DB2-A2E0-3C23CBC9CED3}"/>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research questions for discovery; no claim of access to GoGuardian data or users.</a:t>
            </a:r>
          </a:p>
        </p:txBody>
      </p:sp>
      <p:sp>
        <p:nvSpPr>
          <p:cNvPr id="6" name="slide-number">
            <a:extLst xmlns:a="http://schemas.openxmlformats.org/drawingml/2006/main">
              <a:ext uri="{FF2B5EF4-FFF2-40B4-BE49-F238E27FC236}">
                <a16:creationId xmlns:a16="http://schemas.microsoft.com/office/drawing/2014/main" id="{9AF3348D-70B2-4AE9-9827-28DA5B9991B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644710425"/>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64BD2AC-C34A-4E80-A340-F19B91E6D438}"/>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GOGUARDIAN APPLICATION</a:t>
            </a:r>
          </a:p>
        </p:txBody>
      </p:sp>
      <p:sp>
        <p:nvSpPr>
          <p:cNvPr id="2" name="headline">
            <a:extLst xmlns:a="http://schemas.openxmlformats.org/drawingml/2006/main">
              <a:ext uri="{FF2B5EF4-FFF2-40B4-BE49-F238E27FC236}">
                <a16:creationId xmlns:a16="http://schemas.microsoft.com/office/drawing/2014/main" id="{41F0575B-D82C-44F6-BAED-E8AEAF247BBD}"/>
              </a:ext>
            </a:extLst>
          </p:cNvPr>
          <p:cNvSpPr>
            <a:spLocks xmlns:a="http://schemas.openxmlformats.org/drawingml/2006/main" noGrp="1"/>
          </p:cNvSpPr>
          <p:nvPr/>
        </p:nvSpPr>
        <p:spPr>
          <a:xfrm xmlns:a="http://schemas.openxmlformats.org/drawingml/2006/main">
            <a:off x="609600" y="1571625"/>
            <a:ext cx="10763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425" b="1">
                <a:solidFill>
                  <a:srgbClr val="F4F2E9"/>
                </a:solidFill>
                <a:latin typeface="Helvetica Neue"/>
                <a:ea typeface="Helvetica Neue"/>
                <a:cs typeface="Helvetica Neue"/>
              </a:defRPr>
            </a:pPr>
            <a:r>
              <a:rPr sz="4425" b="1">
                <a:solidFill>
                  <a:srgbClr val="F4F2E9"/>
                </a:solidFill>
                <a:latin typeface="Helvetica Neue"/>
                <a:ea typeface="Helvetica Neue"/>
                <a:cs typeface="Helvetica Neue"/>
              </a:rPr>
              <a:t>Research into</a:t>
            </a:r>
          </a:p>
          <a:p xmlns:a="http://schemas.openxmlformats.org/drawingml/2006/main">
            <a:pPr>
              <a:lnSpc>
                <a:spcPct val="110000"/>
              </a:lnSpc>
              <a:buNone/>
              <a:defRPr sz="4425" b="1">
                <a:solidFill>
                  <a:srgbClr val="F4F2E9"/>
                </a:solidFill>
                <a:latin typeface="Helvetica Neue"/>
                <a:ea typeface="Helvetica Neue"/>
                <a:cs typeface="Helvetica Neue"/>
              </a:defRPr>
            </a:pPr>
            <a:r>
              <a:rPr sz="4425" b="1">
                <a:solidFill>
                  <a:srgbClr val="F4F2E9"/>
                </a:solidFill>
                <a:latin typeface="Helvetica Neue"/>
                <a:ea typeface="Helvetica Neue"/>
                <a:cs typeface="Helvetica Neue"/>
              </a:rPr>
              <a:t>product decisions.</a:t>
            </a:r>
          </a:p>
        </p:txBody>
      </p:sp>
      <p:sp>
        <p:nvSpPr>
          <p:cNvPr id="3" name="contact-intent">
            <a:extLst xmlns:a="http://schemas.openxmlformats.org/drawingml/2006/main">
              <a:ext uri="{FF2B5EF4-FFF2-40B4-BE49-F238E27FC236}">
                <a16:creationId xmlns:a16="http://schemas.microsoft.com/office/drawing/2014/main" id="{78D39AC4-8D3C-448B-B02D-CFBCE808BE52}"/>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work.</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C2CCAB3A-BDA0-4EA7-A6B9-4A7F374DD884}"/>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022395b5a23849c1"/>
              </a:rPr>
              <a:t>JonathanKyleHobson@gmail.com</a:t>
            </a:r>
          </a:p>
        </p:txBody>
      </p:sp>
      <p:sp>
        <p:nvSpPr>
          <p:cNvPr id="5" name="portfolio">
            <a:extLst xmlns:a="http://schemas.openxmlformats.org/drawingml/2006/main">
              <a:ext uri="{FF2B5EF4-FFF2-40B4-BE49-F238E27FC236}">
                <a16:creationId xmlns:a16="http://schemas.microsoft.com/office/drawing/2014/main" id="{79E6A502-FF6A-4ED7-8B93-4E2F4B280C3E}"/>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5f782419829a41ab"/>
              </a:rPr>
              <a:t>View the three GoGuardian case studies</a:t>
            </a:r>
          </a:p>
        </p:txBody>
      </p:sp>
      <p:sp>
        <p:nvSpPr>
          <p:cNvPr id="6" name="slide-number">
            <a:extLst xmlns:a="http://schemas.openxmlformats.org/drawingml/2006/main">
              <a:ext uri="{FF2B5EF4-FFF2-40B4-BE49-F238E27FC236}">
                <a16:creationId xmlns:a16="http://schemas.microsoft.com/office/drawing/2014/main" id="{DDDD6B6D-050F-46E7-812E-AFB5BFD4BE5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724194845"/>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2026-09-08T17:41:45.6230000Z</dcterms:created>
  <dcterms:modified xsi:type="dcterms:W3CDTF">2026-09-08T17:41:45.6230000Z</dcterms:modified>
</coreProperties>
</file>