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ac949bca446e7" /><Relationship Type="http://schemas.openxmlformats.org/officeDocument/2006/relationships/extended-properties" Target="/docProps/app.xml" Id="Rc897ef10d1d1406f" /><Relationship Type="http://schemas.openxmlformats.org/officeDocument/2006/relationships/officeDocument" Target="/ppt/presentation.xml" Id="R8f29c5670aa7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6a12e36cf548e6"/>
  </p:sldMasterIdLst>
  <p:notesMasterIdLst>
    <p:notesMasterId xmlns:r="http://schemas.openxmlformats.org/officeDocument/2006/relationships" r:id="Re77e1b5a15a247e1"/>
  </p:notesMasterIdLst>
  <p:sldIdLst>
    <p:sldId xmlns:r="http://schemas.openxmlformats.org/officeDocument/2006/relationships" id="256" r:id="R760b39b351954eae"/>
    <p:sldId xmlns:r="http://schemas.openxmlformats.org/officeDocument/2006/relationships" id="257" r:id="R1bfc23e59e164990"/>
    <p:sldId xmlns:r="http://schemas.openxmlformats.org/officeDocument/2006/relationships" id="258" r:id="R73964e5904fc49dd"/>
    <p:sldId xmlns:r="http://schemas.openxmlformats.org/officeDocument/2006/relationships" id="259" r:id="R6d6beb98834240d2"/>
    <p:sldId xmlns:r="http://schemas.openxmlformats.org/officeDocument/2006/relationships" id="260" r:id="R3313765ab5f0410a"/>
    <p:sldId xmlns:r="http://schemas.openxmlformats.org/officeDocument/2006/relationships" id="261" r:id="R7fd30cd29ef744c7"/>
    <p:sldId xmlns:r="http://schemas.openxmlformats.org/officeDocument/2006/relationships" id="262" r:id="R3f53c2d5f2f14e9b"/>
    <p:sldId xmlns:r="http://schemas.openxmlformats.org/officeDocument/2006/relationships" id="263" r:id="Ra45da499b2e545e4"/>
    <p:sldId xmlns:r="http://schemas.openxmlformats.org/officeDocument/2006/relationships" id="264" r:id="Rcb07e1af790444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8bd1264e6a4a9e" /><Relationship Type="http://schemas.openxmlformats.org/officeDocument/2006/relationships/slideMaster" Target="/ppt/slideMasters/slideMaster1.xml" Id="Ra56a12e36cf548e6" /><Relationship Type="http://schemas.openxmlformats.org/officeDocument/2006/relationships/notesMaster" Target="/ppt/notesMasters/notesMaster1.xml" Id="Re77e1b5a15a247e1" /><Relationship Type="http://schemas.openxmlformats.org/officeDocument/2006/relationships/presProps" Target="/ppt/presProps.xml" Id="Ra48fce9bec424aea" /><Relationship Type="http://schemas.openxmlformats.org/officeDocument/2006/relationships/tableStyles" Target="/ppt/tableStyles.xml" Id="R782e55a1f51445fd" /><Relationship Type="http://schemas.openxmlformats.org/officeDocument/2006/relationships/slide" Target="/ppt/slides/slide1.xml" Id="R760b39b351954eae" /><Relationship Type="http://schemas.openxmlformats.org/officeDocument/2006/relationships/slide" Target="/ppt/slides/slide2.xml" Id="R1bfc23e59e164990" /><Relationship Type="http://schemas.openxmlformats.org/officeDocument/2006/relationships/slide" Target="/ppt/slides/slide3.xml" Id="R73964e5904fc49dd" /><Relationship Type="http://schemas.openxmlformats.org/officeDocument/2006/relationships/slide" Target="/ppt/slides/slide4.xml" Id="R6d6beb98834240d2" /><Relationship Type="http://schemas.openxmlformats.org/officeDocument/2006/relationships/slide" Target="/ppt/slides/slide5.xml" Id="R3313765ab5f0410a" /><Relationship Type="http://schemas.openxmlformats.org/officeDocument/2006/relationships/slide" Target="/ppt/slides/slide6.xml" Id="R7fd30cd29ef744c7" /><Relationship Type="http://schemas.openxmlformats.org/officeDocument/2006/relationships/slide" Target="/ppt/slides/slide7.xml" Id="R3f53c2d5f2f14e9b" /><Relationship Type="http://schemas.openxmlformats.org/officeDocument/2006/relationships/slide" Target="/ppt/slides/slide8.xml" Id="Ra45da499b2e545e4" /><Relationship Type="http://schemas.openxmlformats.org/officeDocument/2006/relationships/slide" Target="/ppt/slides/slide9.xml" Id="Rcb07e1af790444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69fc78a39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9b2778d9b44d4" /><Relationship Type="http://schemas.openxmlformats.org/officeDocument/2006/relationships/notesMaster" Target="/ppt/notesMasters/notesMaster1.xml" Id="R81df8de8b6a4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4e0f976dca47c5" /><Relationship Type="http://schemas.openxmlformats.org/officeDocument/2006/relationships/notesMaster" Target="/ppt/notesMasters/notesMaster1.xml" Id="R9b2ad36a1ae54b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2c3f17b8df4a0d" /><Relationship Type="http://schemas.openxmlformats.org/officeDocument/2006/relationships/notesMaster" Target="/ppt/notesMasters/notesMaster1.xml" Id="Rd126714dadb540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5ac1d25d8f4cc6" /><Relationship Type="http://schemas.openxmlformats.org/officeDocument/2006/relationships/notesMaster" Target="/ppt/notesMasters/notesMaster1.xml" Id="R38469ce9f0d149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b8649f02e146c0" /><Relationship Type="http://schemas.openxmlformats.org/officeDocument/2006/relationships/notesMaster" Target="/ppt/notesMasters/notesMaster1.xml" Id="R0cae984da2e542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9443572654357" /><Relationship Type="http://schemas.openxmlformats.org/officeDocument/2006/relationships/notesMaster" Target="/ppt/notesMasters/notesMaster1.xml" Id="R286956ce925845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70012f456748af" /><Relationship Type="http://schemas.openxmlformats.org/officeDocument/2006/relationships/notesMaster" Target="/ppt/notesMasters/notesMaster1.xml" Id="Rfc0a2015a2df42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705bb271e84549" /><Relationship Type="http://schemas.openxmlformats.org/officeDocument/2006/relationships/notesMaster" Target="/ppt/notesMasters/notesMaster1.xml" Id="R82917d282aaf48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fcf477120a4c83" /><Relationship Type="http://schemas.openxmlformats.org/officeDocument/2006/relationships/notesMaster" Target="/ppt/notesMasters/notesMaster1.xml" Id="Re91ea45128a5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Coinbase Product Designer II, Design Systems, P77346 / 8126896. Employer source: https://www.coinbase.com/careers/positions/8126896, verified September 8, 2026. This is a selection of product-level pattern and handoff work, not a claim of prior Coinbase work or company-wide consumer design-system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About Me April-May 2026 design walkthroughs, especially May 15, and original refined screen. The five groups are summaries, recommendations, Simple 7, comparisons and accomplishments. This native diagram summarizes their organization; it is not an original interface screenshot. Customization and final policy remained open in the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About Me comparison widget and April-May 2026 walkthroughs. About Me web/server release was confirmed September 2, 2026, but the exact pictured layout and completed mobile rollout are not established. No customer result is inferred from illustrative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Flint mobile design and design walkthroughs. These are designed states, not a claim that every pictured variant shipped. Original interface content is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SmartTagIt Flint interrupted-response and offline variants, including the March 27, 2026 error-state handoff. This documents design decisions and engineering annotations. Sample interface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of Kyle’s original FactorLab design walkthroughs and annotated handoff work. Supported by Flint flows and About Me layout discussions. This does not establish a formal enterprise design-system governance process, broad adoption measures, or a finished release for every variant.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beta.3: https://github.com/JonathanKHobson/prompt-compass/releases/tag/v0.1.0-beta.3, April 27, 2026. Example paraphrases a later May developer-authored regression fixture. Fields are category, article_id, confidence and suggested_response; confidence below 0.7 should yield needs_review. Later evaluation is separate from the April release and is not measured customer effectiveness.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collaboration approach, informed by Coinbase Product Designer II, Design Systems, P77346 / 8126896, https://www.coinbase.com/careers/positions/8126896. Specific product constraints, technical interfaces, contribution process and measures would need to be established with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contact and travel availability are confirmed. Intended isolated portfolio route: https://jonathankhobson.github.io/application-portfolios/coinbase-design-systems/. Publication is a separate campaign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49bb0d7f4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20017af0b648eb" /><Relationship Type="http://schemas.openxmlformats.org/officeDocument/2006/relationships/slideLayout" Target="/ppt/slideLayouts/slideLayout1.xml" Id="R23cc7b38e11947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c7b38e11947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52dbc9a3f4136" /><Relationship Type="http://schemas.openxmlformats.org/officeDocument/2006/relationships/image" Target="/ppt/media/image.png" Id="R27a647c7d5094e73" /><Relationship Type="http://schemas.openxmlformats.org/officeDocument/2006/relationships/notesSlide" Target="/ppt/notesSlides/notesSlide1.xml" Id="Ra565e98b1d1349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f7cdc47e347c1" /><Relationship Type="http://schemas.openxmlformats.org/officeDocument/2006/relationships/notesSlide" Target="/ppt/notesSlides/notesSlide2.xml" Id="Rca87c687a1024d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44b4cb374459c" /><Relationship Type="http://schemas.openxmlformats.org/officeDocument/2006/relationships/image" Target="/ppt/media/image2.png" Id="R41f465cb2f7a4efd" /><Relationship Type="http://schemas.openxmlformats.org/officeDocument/2006/relationships/notesSlide" Target="/ppt/notesSlides/notesSlide3.xml" Id="R691f2a50a80f49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7045667544e1" /><Relationship Type="http://schemas.openxmlformats.org/officeDocument/2006/relationships/image" Target="/ppt/media/image3.png" Id="R4017c59bc8e34dd5" /><Relationship Type="http://schemas.openxmlformats.org/officeDocument/2006/relationships/notesSlide" Target="/ppt/notesSlides/notesSlide4.xml" Id="R716a2b0f8726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fb305a6d84793" /><Relationship Type="http://schemas.openxmlformats.org/officeDocument/2006/relationships/image" Target="/ppt/media/image4.png" Id="R551fda5d16bd4ef7" /><Relationship Type="http://schemas.openxmlformats.org/officeDocument/2006/relationships/image" Target="/ppt/media/image5.png" Id="Rfc93a35cbbd14c02" /><Relationship Type="http://schemas.openxmlformats.org/officeDocument/2006/relationships/notesSlide" Target="/ppt/notesSlides/notesSlide5.xml" Id="R0852c67a93454b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31d2b271e436b" /><Relationship Type="http://schemas.openxmlformats.org/officeDocument/2006/relationships/notesSlide" Target="/ppt/notesSlides/notesSlide6.xml" Id="Rc2e1f90e12c441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c9c701d7047b0" /><Relationship Type="http://schemas.openxmlformats.org/officeDocument/2006/relationships/notesSlide" Target="/ppt/notesSlides/notesSlide7.xml" Id="Rcd97a0cdba4945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39c69d6564fc7" /><Relationship Type="http://schemas.openxmlformats.org/officeDocument/2006/relationships/notesSlide" Target="/ppt/notesSlides/notesSlide8.xml" Id="R47de6713997442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d86753cd74fc4" /><Relationship Type="http://schemas.openxmlformats.org/officeDocument/2006/relationships/hyperlink" Target="mailto:JonathanKyleHobson@gmail.com" TargetMode="External" Id="R4eca320bf3cd49ba" /><Relationship Type="http://schemas.openxmlformats.org/officeDocument/2006/relationships/hyperlink" Target="https://jonathankhobson.github.io/application-portfolios/coinbase-design-systems/" TargetMode="External" Id="R97568a57a6a640e3" /><Relationship Type="http://schemas.openxmlformats.org/officeDocument/2006/relationships/notesSlide" Target="/ppt/notesSlides/notesSlide9.xml" Id="Rb6361249b9d546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4F541F-9A25-4B0C-9858-791CAAF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A0744B-1F1B-46E6-A8DD-F412B5FC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/ COINBASE DESIGN SYSTEMS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D964ADDA-FA9C-4313-B916-9FD3AE64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658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4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Patterns people can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4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425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use consistently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CA929DF4-EC61-4486-A8BE-AF8EB4D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7000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Reusable interfaces, connected states,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the decisions behind them.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BE34166B-E634-4E7E-B1AD-E9746A2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702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Selected work for Coinbase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647c7d5094e73"/>
          <a:stretch xmlns:a="http://schemas.openxmlformats.org/drawingml/2006/main"/>
        </p:blipFill>
        <p:spPr>
          <a:xfrm xmlns:a="http://schemas.openxmlformats.org/drawingml/2006/main">
            <a:off x="8867775" y="644039"/>
            <a:ext cx="2524125" cy="540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09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A17179-DF92-40E4-8573-91BBBCA7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6B0555E-5B19-4454-BCB5-1C82687E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A90B3563-192A-4736-8AAF-8F5A455D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3054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Five families,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one starting point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AC69D64D-B58B-46CA-A35E-9D7E273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7148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developed insight widgets around recurring information needs, then explored their order and content density.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F42A7255-A0BF-4796-9759-17E60219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4905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Summary of the reviewed structure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screen iterations in the linked case</a:t>
            </a:r>
          </a:p>
        </p:txBody>
      </p:sp>
      <p:sp>
        <p:nvSpPr>
          <p:cNvPr id="6" name="family-number-0">
            <a:extLst xmlns:a="http://schemas.openxmlformats.org/drawingml/2006/main">
              <a:ext uri="{FF2B5EF4-FFF2-40B4-BE49-F238E27FC236}">
                <a16:creationId xmlns:a16="http://schemas.microsoft.com/office/drawing/2014/main" id="{C0AC46B7-C1C7-4081-B018-B30E1DD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family-0">
            <a:extLst xmlns:a="http://schemas.openxmlformats.org/drawingml/2006/main">
              <a:ext uri="{FF2B5EF4-FFF2-40B4-BE49-F238E27FC236}">
                <a16:creationId xmlns:a16="http://schemas.microsoft.com/office/drawing/2014/main" id="{6B2ADD14-93BE-4910-8135-90DF271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1906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Summaries</a:t>
            </a:r>
          </a:p>
        </p:txBody>
      </p:sp>
      <p:sp>
        <p:nvSpPr>
          <p:cNvPr id="8" name="family-number-1">
            <a:extLst xmlns:a="http://schemas.openxmlformats.org/drawingml/2006/main">
              <a:ext uri="{FF2B5EF4-FFF2-40B4-BE49-F238E27FC236}">
                <a16:creationId xmlns:a16="http://schemas.microsoft.com/office/drawing/2014/main" id="{75906BFF-6F6D-4C9F-9D4F-D98FCBF5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amily-1">
            <a:extLst xmlns:a="http://schemas.openxmlformats.org/drawingml/2006/main">
              <a:ext uri="{FF2B5EF4-FFF2-40B4-BE49-F238E27FC236}">
                <a16:creationId xmlns:a16="http://schemas.microsoft.com/office/drawing/2014/main" id="{2CE11634-C547-4B28-A708-2D045936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621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Recommendations</a:t>
            </a:r>
          </a:p>
        </p:txBody>
      </p:sp>
      <p:sp>
        <p:nvSpPr>
          <p:cNvPr id="10" name="family-number-2">
            <a:extLst xmlns:a="http://schemas.openxmlformats.org/drawingml/2006/main">
              <a:ext uri="{FF2B5EF4-FFF2-40B4-BE49-F238E27FC236}">
                <a16:creationId xmlns:a16="http://schemas.microsoft.com/office/drawing/2014/main" id="{101F929C-5EF1-4EC6-BF8F-5659609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family-2">
            <a:extLst xmlns:a="http://schemas.openxmlformats.org/drawingml/2006/main">
              <a:ext uri="{FF2B5EF4-FFF2-40B4-BE49-F238E27FC236}">
                <a16:creationId xmlns:a16="http://schemas.microsoft.com/office/drawing/2014/main" id="{168AA9A6-CE73-4D59-8A40-C76F180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337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Simple 7</a:t>
            </a:r>
          </a:p>
        </p:txBody>
      </p:sp>
      <p:sp>
        <p:nvSpPr>
          <p:cNvPr id="12" name="family-number-3">
            <a:extLst xmlns:a="http://schemas.openxmlformats.org/drawingml/2006/main">
              <a:ext uri="{FF2B5EF4-FFF2-40B4-BE49-F238E27FC236}">
                <a16:creationId xmlns:a16="http://schemas.microsoft.com/office/drawing/2014/main" id="{D265A009-AB6F-48A1-B6F6-8CC6EDA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family-3">
            <a:extLst xmlns:a="http://schemas.openxmlformats.org/drawingml/2006/main">
              <a:ext uri="{FF2B5EF4-FFF2-40B4-BE49-F238E27FC236}">
                <a16:creationId xmlns:a16="http://schemas.microsoft.com/office/drawing/2014/main" id="{34F688D9-EDC7-4B50-A52D-F492F66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052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Comparisons</a:t>
            </a:r>
          </a:p>
        </p:txBody>
      </p:sp>
      <p:sp>
        <p:nvSpPr>
          <p:cNvPr id="14" name="family-number-4">
            <a:extLst xmlns:a="http://schemas.openxmlformats.org/drawingml/2006/main">
              <a:ext uri="{FF2B5EF4-FFF2-40B4-BE49-F238E27FC236}">
                <a16:creationId xmlns:a16="http://schemas.microsoft.com/office/drawing/2014/main" id="{2B533429-0909-4BB3-803E-A1FA1E49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61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family-4">
            <a:extLst xmlns:a="http://schemas.openxmlformats.org/drawingml/2006/main">
              <a:ext uri="{FF2B5EF4-FFF2-40B4-BE49-F238E27FC236}">
                <a16:creationId xmlns:a16="http://schemas.microsoft.com/office/drawing/2014/main" id="{12FA72D6-3BDB-4D49-958A-A51CA69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7682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Accomplishments</a:t>
            </a:r>
          </a:p>
        </p:txBody>
      </p:sp>
    </p:spTree>
    <p:extLst>
      <p:ext uri="{BB962C8B-B14F-4D97-AF65-F5344CB8AC3E}">
        <p14:creationId xmlns:p14="http://schemas.microsoft.com/office/powerpoint/2010/main" val="1527295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6BEA42-6D36-4C2D-9C58-977E5183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4A530B0-F180-43E7-BB6F-6D80A30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ABOUT ME / A PATTERN CARRIES MEANING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35D90E3B-8BC0-4BB1-B736-F8D22695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51530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needs context</a:t>
            </a:r>
          </a:p>
        </p:txBody>
      </p:sp>
      <p:sp>
        <p:nvSpPr>
          <p:cNvPr id="4" name="choice">
            <a:extLst xmlns:a="http://schemas.openxmlformats.org/drawingml/2006/main">
              <a:ext uri="{FF2B5EF4-FFF2-40B4-BE49-F238E27FC236}">
                <a16:creationId xmlns:a16="http://schemas.microsoft.com/office/drawing/2014/main" id="{B669A422-4B26-4DC8-8AE2-76023904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333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Mentioning fatigue less often is a comparison. Whether that is good depends on the context.</a:t>
            </a:r>
          </a:p>
        </p:txBody>
      </p:sp>
      <p:sp>
        <p:nvSpPr>
          <p:cNvPr id="5" name="outcome">
            <a:extLst xmlns:a="http://schemas.openxmlformats.org/drawingml/2006/main">
              <a:ext uri="{FF2B5EF4-FFF2-40B4-BE49-F238E27FC236}">
                <a16:creationId xmlns:a16="http://schemas.microsoft.com/office/drawing/2014/main" id="{F03ECE84-7A53-4F67-AD49-BAE3547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333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raised the cohort and wording questions while developing reusable insight widgets.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465cb2f7a4efd"/>
          <a:stretch xmlns:a="http://schemas.openxmlformats.org/drawingml/2006/main"/>
        </p:blipFill>
        <p:spPr>
          <a:xfrm xmlns:a="http://schemas.openxmlformats.org/drawingml/2006/main">
            <a:off x="5876925" y="2201702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873B3BD3-8BEC-42C1-86E4-510B4C4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61531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 with sample values</a:t>
            </a:r>
          </a:p>
        </p:txBody>
      </p:sp>
    </p:spTree>
    <p:extLst>
      <p:ext uri="{BB962C8B-B14F-4D97-AF65-F5344CB8AC3E}">
        <p14:creationId xmlns:p14="http://schemas.microsoft.com/office/powerpoint/2010/main" val="2093901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FA2E316-1CDC-49DF-B2DF-E17355E1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55249B1-4310-4F7D-8BFA-F8822280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SMARTTAGIT, FACTORLAB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5F3B2566-07F1-481E-9370-087F210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useful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first question</a:t>
            </a:r>
          </a:p>
        </p:txBody>
      </p:sp>
      <p:sp>
        <p:nvSpPr>
          <p:cNvPr id="4" name="role">
            <a:extLst xmlns:a="http://schemas.openxmlformats.org/drawingml/2006/main">
              <a:ext uri="{FF2B5EF4-FFF2-40B4-BE49-F238E27FC236}">
                <a16:creationId xmlns:a16="http://schemas.microsoft.com/office/drawing/2014/main" id="{7CCFCFE4-5B7F-4C7F-BC08-6ADC4870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UX Designer &amp; Researcher (Contract)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2025-2026</a:t>
            </a:r>
          </a:p>
        </p:txBody>
      </p:sp>
      <p:sp>
        <p:nvSpPr>
          <p:cNvPr id="5" name="choice">
            <a:extLst xmlns:a="http://schemas.openxmlformats.org/drawingml/2006/main">
              <a:ext uri="{FF2B5EF4-FFF2-40B4-BE49-F238E27FC236}">
                <a16:creationId xmlns:a16="http://schemas.microsoft.com/office/drawing/2014/main" id="{318A0EA1-6AA5-463A-BEFC-7596C352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suggested questions and a question library while keeping a person’s own question close at hand.</a:t>
            </a:r>
          </a:p>
        </p:txBody>
      </p:sp>
      <p:sp>
        <p:nvSpPr>
          <p:cNvPr id="6" name="stage">
            <a:extLst xmlns:a="http://schemas.openxmlformats.org/drawingml/2006/main">
              <a:ext uri="{FF2B5EF4-FFF2-40B4-BE49-F238E27FC236}">
                <a16:creationId xmlns:a16="http://schemas.microsoft.com/office/drawing/2014/main" id="{D928EADD-2EF8-4290-AB77-34E797B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Design deliverables and engineering handoff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7c59bc8e34dd5"/>
          <a:stretch xmlns:a="http://schemas.openxmlformats.org/drawingml/2006/main"/>
        </p:blipFill>
        <p:spPr>
          <a:xfrm xmlns:a="http://schemas.openxmlformats.org/drawingml/2006/main">
            <a:off x="7953494" y="914400"/>
            <a:ext cx="2542936" cy="544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20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A616C8-84FE-4A66-83FF-DBD47D56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0F5F371-EFAE-49D5-AA45-0431CBD2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FLINT / INTERRUPTED AND OFFLINE STATES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56CEFD3-8494-4B2B-812F-38BF4E63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552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follows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failure</a:t>
            </a:r>
          </a:p>
        </p:txBody>
      </p:sp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D4C38DB9-F280-4F01-8222-A1001EC0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3148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incomplete answer and a lost connection need different next actions.</a:t>
            </a:r>
          </a:p>
        </p:txBody>
      </p:sp>
      <p:sp>
        <p:nvSpPr>
          <p:cNvPr id="5" name="handoff">
            <a:extLst xmlns:a="http://schemas.openxmlformats.org/drawingml/2006/main">
              <a:ext uri="{FF2B5EF4-FFF2-40B4-BE49-F238E27FC236}">
                <a16:creationId xmlns:a16="http://schemas.microsoft.com/office/drawing/2014/main" id="{56B81FDE-CD5A-446B-8D77-1ECF77B4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314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 assembled the connected flows and their next actions into an annotated handoff for engineering.</a:t>
            </a:r>
          </a:p>
        </p:txBody>
      </p:sp>
      <p:sp>
        <p:nvSpPr>
          <p:cNvPr id="6" name="partial-label">
            <a:extLst xmlns:a="http://schemas.openxmlformats.org/drawingml/2006/main">
              <a:ext uri="{FF2B5EF4-FFF2-40B4-BE49-F238E27FC236}">
                <a16:creationId xmlns:a16="http://schemas.microsoft.com/office/drawing/2014/main" id="{5F66CFEC-50A8-47F7-8037-F9CFAD4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Incomplete answer</a:t>
            </a:r>
          </a:p>
        </p:txBody>
      </p:sp>
      <p:sp>
        <p:nvSpPr>
          <p:cNvPr id="7" name="offline-label">
            <a:extLst xmlns:a="http://schemas.openxmlformats.org/drawingml/2006/main">
              <a:ext uri="{FF2B5EF4-FFF2-40B4-BE49-F238E27FC236}">
                <a16:creationId xmlns:a16="http://schemas.microsoft.com/office/drawing/2014/main" id="{E0AA8CFB-2E5F-4E7C-9D76-FBC1F855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286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Connection lost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fda5d16bd4ef7"/>
          <a:stretch xmlns:a="http://schemas.openxmlformats.org/drawingml/2006/main"/>
        </p:blipFill>
        <p:spPr>
          <a:xfrm xmlns:a="http://schemas.openxmlformats.org/drawingml/2006/main">
            <a:off x="5711001" y="1190625"/>
            <a:ext cx="2427348" cy="52006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3a35cbbd14c02"/>
          <a:stretch xmlns:a="http://schemas.openxmlformats.org/drawingml/2006/main"/>
        </p:blipFill>
        <p:spPr>
          <a:xfrm xmlns:a="http://schemas.openxmlformats.org/drawingml/2006/main">
            <a:off x="8778051" y="1190625"/>
            <a:ext cx="2427348" cy="520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23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4D274B-437A-40F6-ADFF-2109098E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601F756-42F7-4916-8AB7-7164EDEA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/ DESIGN AND ENGINEERING HANDOFF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59ABC15D-10E2-446E-B7D3-0683F363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pattern needs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shared explanation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8CEA68A7-0A79-42FA-8628-92D3B912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334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walkthroughs make the state, the next action, and the unresolved choice available for review.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5637C3D7-9020-44C5-A598-C3AE401A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Connect the normal path to waiting and recovery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F3BCFF15-7069-44F4-936C-3948D138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Explain what should stay consistent across variants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E0BFF10A-51B0-413C-8204-54D3D557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Revise with developers as constraints become clear</a:t>
            </a:r>
          </a:p>
        </p:txBody>
      </p:sp>
    </p:spTree>
    <p:extLst>
      <p:ext uri="{BB962C8B-B14F-4D97-AF65-F5344CB8AC3E}">
        <p14:creationId xmlns:p14="http://schemas.microsoft.com/office/powerpoint/2010/main" val="699862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87B0BF-AC83-4762-93EB-CA69E000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2CC640-7A71-45F3-B7B3-EAD5189E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PROMPT COMPASS / INDEPENDENT CREATOR, 2026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82D43F30-72B8-4A2F-812C-1AD6A8FD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15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prompt rewrite can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lose requirements</a:t>
            </a:r>
          </a:p>
        </p:txBody>
      </p:sp>
      <p:sp>
        <p:nvSpPr>
          <p:cNvPr id="4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C6562518-29DE-41EC-B262-94EBFAB1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Original request</a:t>
            </a:r>
          </a:p>
        </p:txBody>
      </p:sp>
      <p:sp>
        <p:nvSpPr>
          <p:cNvPr id="5" name="original-body">
            <a:extLst xmlns:a="http://schemas.openxmlformats.org/drawingml/2006/main">
              <a:ext uri="{FF2B5EF4-FFF2-40B4-BE49-F238E27FC236}">
                <a16:creationId xmlns:a16="http://schemas.microsoft.com/office/drawing/2014/main" id="{1B124E3F-CD92-42D3-8D1D-AAD13A5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910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Valid JSON, four named fields, and a low-confidence review rule.</a:t>
            </a:r>
          </a:p>
        </p:txBody>
      </p:sp>
      <p:sp>
        <p:nvSpPr>
          <p:cNvPr id="6" name="rewrite-label">
            <a:extLst xmlns:a="http://schemas.openxmlformats.org/drawingml/2006/main">
              <a:ext uri="{FF2B5EF4-FFF2-40B4-BE49-F238E27FC236}">
                <a16:creationId xmlns:a16="http://schemas.microsoft.com/office/drawing/2014/main" id="{A0A770F5-073F-48C9-ABFE-BE8645E9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003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Shorter rewrite</a:t>
            </a:r>
          </a:p>
        </p:txBody>
      </p:sp>
      <p:sp>
        <p:nvSpPr>
          <p:cNvPr id="7" name="rewrite-body">
            <a:extLst xmlns:a="http://schemas.openxmlformats.org/drawingml/2006/main">
              <a:ext uri="{FF2B5EF4-FFF2-40B4-BE49-F238E27FC236}">
                <a16:creationId xmlns:a16="http://schemas.microsoft.com/office/drawing/2014/main" id="{F31F9BD5-4D21-4940-8DD5-6E1280CC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14750"/>
            <a:ext cx="47910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clean structured answer with the best response for the user.</a:t>
            </a:r>
          </a:p>
        </p:txBody>
      </p:sp>
      <p:sp>
        <p:nvSpPr>
          <p:cNvPr id="8" name="finding">
            <a:extLst xmlns:a="http://schemas.openxmlformats.org/drawingml/2006/main">
              <a:ext uri="{FF2B5EF4-FFF2-40B4-BE49-F238E27FC236}">
                <a16:creationId xmlns:a16="http://schemas.microsoft.com/office/drawing/2014/main" id="{3E7277E3-989D-4FE0-85CE-C7B75117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tool compares requirements as well as wording. This developer-authored test exposes what the shorter request leaves out.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7AB61AEB-1A2D-4172-9201-ACF1D689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Public beta product; this example comes from later local evaluation work.</a:t>
            </a:r>
          </a:p>
        </p:txBody>
      </p:sp>
    </p:spTree>
    <p:extLst>
      <p:ext uri="{BB962C8B-B14F-4D97-AF65-F5344CB8AC3E}">
        <p14:creationId xmlns:p14="http://schemas.microsoft.com/office/powerpoint/2010/main" val="15013428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21FAB5-6478-46B5-A9E2-283FD766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23A300-946D-45BF-9A2A-3A748366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COINBASE / PROPOSED APPROACH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65181253-AAD6-405F-8367-EDB19CA4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first contribution to CDS</a:t>
            </a:r>
          </a:p>
        </p:txBody>
      </p:sp>
      <p:sp>
        <p:nvSpPr>
          <p:cNvPr id="4" name="proposed-intro">
            <a:extLst xmlns:a="http://schemas.openxmlformats.org/drawingml/2006/main">
              <a:ext uri="{FF2B5EF4-FFF2-40B4-BE49-F238E27FC236}">
                <a16:creationId xmlns:a16="http://schemas.microsoft.com/office/drawing/2014/main" id="{02BDE67F-25A6-4E44-8D23-535838B8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14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begin with one recurring pattern and the product contexts that expose its limits.</a:t>
            </a:r>
          </a:p>
        </p:txBody>
      </p:sp>
      <p:sp>
        <p:nvSpPr>
          <p:cNvPr id="5" name="step1">
            <a:extLst xmlns:a="http://schemas.openxmlformats.org/drawingml/2006/main">
              <a:ext uri="{FF2B5EF4-FFF2-40B4-BE49-F238E27FC236}">
                <a16:creationId xmlns:a16="http://schemas.microsoft.com/office/drawing/2014/main" id="{66DFA1D0-2593-439A-B44C-62825D6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01  Review existing usage and constraints with the team</a:t>
            </a:r>
          </a:p>
        </p:txBody>
      </p:sp>
      <p:sp>
        <p:nvSpPr>
          <p:cNvPr id="6" name="step2">
            <a:extLst xmlns:a="http://schemas.openxmlformats.org/drawingml/2006/main">
              <a:ext uri="{FF2B5EF4-FFF2-40B4-BE49-F238E27FC236}">
                <a16:creationId xmlns:a16="http://schemas.microsoft.com/office/drawing/2014/main" id="{928C36D4-D28F-4D47-B50E-C069C321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02  Prototype the states inside real product screens</a:t>
            </a:r>
          </a:p>
        </p:txBody>
      </p:sp>
      <p:sp>
        <p:nvSpPr>
          <p:cNvPr id="7" name="step3">
            <a:extLst xmlns:a="http://schemas.openxmlformats.org/drawingml/2006/main">
              <a:ext uri="{FF2B5EF4-FFF2-40B4-BE49-F238E27FC236}">
                <a16:creationId xmlns:a16="http://schemas.microsoft.com/office/drawing/2014/main" id="{C9353EEA-78D0-4134-A577-CEC8D5C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03  Test the behavior and document implementation choices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FFAAB644-713D-4861-A3FC-35ABBDB2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approach for this role; no prior Coinbase work is claimed.</a:t>
            </a:r>
          </a:p>
        </p:txBody>
      </p:sp>
    </p:spTree>
    <p:extLst>
      <p:ext uri="{BB962C8B-B14F-4D97-AF65-F5344CB8AC3E}">
        <p14:creationId xmlns:p14="http://schemas.microsoft.com/office/powerpoint/2010/main" val="281141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F25FC6-83AA-476E-A5DB-55A4B42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323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0AC17D1-6060-4703-8BC2-7C4E9DAC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COINBASE DESIGN SYSTEMS APPLICATION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B1B3C9EC-A8FD-48AD-B102-D1595188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Kyle Hobson</a:t>
            </a:r>
          </a:p>
        </p:txBody>
      </p:sp>
      <p:sp>
        <p:nvSpPr>
          <p:cNvPr id="4" name="background">
            <a:extLst xmlns:a="http://schemas.openxmlformats.org/drawingml/2006/main">
              <a:ext uri="{FF2B5EF4-FFF2-40B4-BE49-F238E27FC236}">
                <a16:creationId xmlns:a16="http://schemas.microsoft.com/office/drawing/2014/main" id="{4DB83072-FFEC-49AA-B2F4-A922DB83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28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Reusable patterns, research-informed design,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and clear engineering handoffs.</a:t>
            </a:r>
          </a:p>
        </p:txBody>
      </p:sp>
      <p:sp>
        <p:nvSpPr>
          <p:cNvPr id="5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1864604E-C9BA-46CD-A140-5F5B5BB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/ U.S. remote work / Quarterly travel available</a:t>
            </a:r>
          </a:p>
        </p:txBody>
      </p:sp>
      <p:sp>
        <p:nvSpPr>
          <p:cNvPr id="6" name="email">
            <a:extLst xmlns:a="http://schemas.openxmlformats.org/drawingml/2006/main">
              <a:ext uri="{FF2B5EF4-FFF2-40B4-BE49-F238E27FC236}">
                <a16:creationId xmlns:a16="http://schemas.microsoft.com/office/drawing/2014/main" id="{9FD148EB-CC4E-493D-89DE-8321110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4eca320bf3cd49ba"/>
              </a:rPr>
              <a:t>JonathanKyleHobson@gmail.com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97077EA4-405A-4782-B8B4-F1816BBD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F4F2E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7568a57a6a640e3"/>
              </a:rPr>
              <a:t>Portfolio selected for Coinbase</a:t>
            </a:r>
          </a:p>
        </p:txBody>
      </p:sp>
    </p:spTree>
    <p:extLst>
      <p:ext uri="{BB962C8B-B14F-4D97-AF65-F5344CB8AC3E}">
        <p14:creationId xmlns:p14="http://schemas.microsoft.com/office/powerpoint/2010/main" val="1360510000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2026-09-08T19:28:29.2430000Z</dcterms:created>
  <dcterms:modified xsi:type="dcterms:W3CDTF">2026-09-08T19:28:29.2440000Z</dcterms:modified>
</coreProperties>
</file>