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4762f9d127a42be" /><Relationship Type="http://schemas.openxmlformats.org/officeDocument/2006/relationships/extended-properties" Target="/docProps/app.xml" Id="R6606e381ab2b46a1" /><Relationship Type="http://schemas.openxmlformats.org/officeDocument/2006/relationships/officeDocument" Target="/ppt/presentation.xml" Id="Rf0e8e6b5448b4ff3" /></Relationships>
</file>

<file path=ppt/presentation.xml><?xml version="1.0" encoding="utf-8"?>
<p:presentation xmlns:p="http://schemas.openxmlformats.org/presentationml/2006/main">
  <p:sldMasterIdLst>
    <p:sldMasterId xmlns:r="http://schemas.openxmlformats.org/officeDocument/2006/relationships" id="2147483648" r:id="R7fa3a10a0cdb4905"/>
  </p:sldMasterIdLst>
  <p:notesMasterIdLst>
    <p:notesMasterId xmlns:r="http://schemas.openxmlformats.org/officeDocument/2006/relationships" r:id="R497b73b292c34f37"/>
  </p:notesMasterIdLst>
  <p:sldIdLst>
    <p:sldId xmlns:r="http://schemas.openxmlformats.org/officeDocument/2006/relationships" id="256" r:id="R1adfb08f5fc3438b"/>
    <p:sldId xmlns:r="http://schemas.openxmlformats.org/officeDocument/2006/relationships" id="257" r:id="R084da8f1037d4b55"/>
    <p:sldId xmlns:r="http://schemas.openxmlformats.org/officeDocument/2006/relationships" id="258" r:id="R13fa44281c454b0e"/>
    <p:sldId xmlns:r="http://schemas.openxmlformats.org/officeDocument/2006/relationships" id="259" r:id="Re1b5a7d7c0c045b1"/>
    <p:sldId xmlns:r="http://schemas.openxmlformats.org/officeDocument/2006/relationships" id="260" r:id="R985a5e1bb1d54e77"/>
    <p:sldId xmlns:r="http://schemas.openxmlformats.org/officeDocument/2006/relationships" id="261" r:id="Re029d7c32e9d4d1b"/>
    <p:sldId xmlns:r="http://schemas.openxmlformats.org/officeDocument/2006/relationships" id="262" r:id="Rfd4a6d0b9a004084"/>
    <p:sldId xmlns:r="http://schemas.openxmlformats.org/officeDocument/2006/relationships" id="263" r:id="Rfb4014d581744b62"/>
    <p:sldId xmlns:r="http://schemas.openxmlformats.org/officeDocument/2006/relationships" id="264" r:id="Rda2cf8bb537e4304"/>
    <p:sldId xmlns:r="http://schemas.openxmlformats.org/officeDocument/2006/relationships" id="265" r:id="Rcebc5bac9cb544f3"/>
    <p:sldId xmlns:r="http://schemas.openxmlformats.org/officeDocument/2006/relationships" id="266" r:id="Rf8c3e9ff95f14db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c8cb07a6dd9489a" /><Relationship Type="http://schemas.openxmlformats.org/officeDocument/2006/relationships/slideMaster" Target="/ppt/slideMasters/slideMaster1.xml" Id="R7fa3a10a0cdb4905" /><Relationship Type="http://schemas.openxmlformats.org/officeDocument/2006/relationships/notesMaster" Target="/ppt/notesMasters/notesMaster1.xml" Id="R497b73b292c34f37" /><Relationship Type="http://schemas.openxmlformats.org/officeDocument/2006/relationships/presProps" Target="/ppt/presProps.xml" Id="R5b9f2cf8b47a4bf2" /><Relationship Type="http://schemas.openxmlformats.org/officeDocument/2006/relationships/tableStyles" Target="/ppt/tableStyles.xml" Id="R96ca474d253d44dc" /><Relationship Type="http://schemas.openxmlformats.org/officeDocument/2006/relationships/slide" Target="/ppt/slides/slide1.xml" Id="R1adfb08f5fc3438b" /><Relationship Type="http://schemas.openxmlformats.org/officeDocument/2006/relationships/slide" Target="/ppt/slides/slide2.xml" Id="R084da8f1037d4b55" /><Relationship Type="http://schemas.openxmlformats.org/officeDocument/2006/relationships/slide" Target="/ppt/slides/slide3.xml" Id="R13fa44281c454b0e" /><Relationship Type="http://schemas.openxmlformats.org/officeDocument/2006/relationships/slide" Target="/ppt/slides/slide4.xml" Id="Re1b5a7d7c0c045b1" /><Relationship Type="http://schemas.openxmlformats.org/officeDocument/2006/relationships/slide" Target="/ppt/slides/slide5.xml" Id="R985a5e1bb1d54e77" /><Relationship Type="http://schemas.openxmlformats.org/officeDocument/2006/relationships/slide" Target="/ppt/slides/slide6.xml" Id="Re029d7c32e9d4d1b" /><Relationship Type="http://schemas.openxmlformats.org/officeDocument/2006/relationships/slide" Target="/ppt/slides/slide7.xml" Id="Rfd4a6d0b9a004084" /><Relationship Type="http://schemas.openxmlformats.org/officeDocument/2006/relationships/slide" Target="/ppt/slides/slide8.xml" Id="Rfb4014d581744b62" /><Relationship Type="http://schemas.openxmlformats.org/officeDocument/2006/relationships/slide" Target="/ppt/slides/slide9.xml" Id="Rda2cf8bb537e4304" /><Relationship Type="http://schemas.openxmlformats.org/officeDocument/2006/relationships/slide" Target="/ppt/slides/slide10.xml" Id="Rcebc5bac9cb544f3" /><Relationship Type="http://schemas.openxmlformats.org/officeDocument/2006/relationships/slide" Target="/ppt/slides/slide11.xml" Id="Rf8c3e9ff95f14db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376543bdecc40f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Kyle Portfolio">
      <a:dk1>
        <a:srgbClr val="192B25"/>
      </a:dk1>
      <a:lt1>
        <a:srgbClr val="FFFFFF"/>
      </a:lt1>
      <a:dk2>
        <a:srgbClr val="244D3C"/>
      </a:dk2>
      <a:lt2>
        <a:srgbClr val="F4F2E9"/>
      </a:lt2>
      <a:accent1>
        <a:srgbClr val="244D3C"/>
      </a:accent1>
      <a:accent2>
        <a:srgbClr val="DBEB89"/>
      </a:accent2>
      <a:accent3>
        <a:srgbClr val="E1E8DB"/>
      </a:accent3>
      <a:accent4>
        <a:srgbClr val="58645D"/>
      </a:accent4>
      <a:accent5>
        <a:srgbClr val="192B25"/>
      </a:accent5>
      <a:accent6>
        <a:srgbClr val="F4F2E9"/>
      </a:accent6>
      <a:hlink>
        <a:srgbClr val="DBEB89"/>
      </a:hlink>
      <a:folHlink>
        <a:srgbClr val="DBEB89"/>
      </a:folHlink>
    </a:clrScheme>
    <a:fontScheme name="Office">
      <a:majorFont>
        <a:latin typeface="Calibri Light"/>
        <a:ea typeface="Calibri Light"/>
        <a:cs typeface="Calibri Light"/>
      </a:majorFont>
      <a:minorFont>
        <a:latin typeface="Calibri"/>
        <a:ea typeface="Calibri"/>
        <a:cs typeface="Calibri"/>
      </a:minorFont>
    </a:fontScheme>
    <a:fmtScheme name="Kyle Portfol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030bc9539594700" /><Relationship Type="http://schemas.openxmlformats.org/officeDocument/2006/relationships/notesMaster" Target="/ppt/notesMasters/notesMaster1.xml" Id="R5aab299792b442d7" /></Relationships>
</file>

<file path=ppt/notesSlides/_rels/notesSlide2.xml.rels>&#65279;<?xml version="1.0" encoding="utf-8"?><Relationships xmlns="http://schemas.openxmlformats.org/package/2006/relationships"><Relationship Type="http://schemas.openxmlformats.org/officeDocument/2006/relationships/slide" Target="/ppt/slides/slide2.xml" Id="Rdfece2799bac4126" /><Relationship Type="http://schemas.openxmlformats.org/officeDocument/2006/relationships/notesMaster" Target="/ppt/notesMasters/notesMaster1.xml" Id="R4b796de61b45495b" /></Relationships>
</file>

<file path=ppt/notesSlides/_rels/notesSlide3.xml.rels>&#65279;<?xml version="1.0" encoding="utf-8"?><Relationships xmlns="http://schemas.openxmlformats.org/package/2006/relationships"><Relationship Type="http://schemas.openxmlformats.org/officeDocument/2006/relationships/slide" Target="/ppt/slides/slide3.xml" Id="R0b97d03e73514b7e" /><Relationship Type="http://schemas.openxmlformats.org/officeDocument/2006/relationships/notesMaster" Target="/ppt/notesMasters/notesMaster1.xml" Id="Re1b2d698aa354f01" /></Relationships>
</file>

<file path=ppt/notesSlides/_rels/notesSlide4.xml.rels>&#65279;<?xml version="1.0" encoding="utf-8"?><Relationships xmlns="http://schemas.openxmlformats.org/package/2006/relationships"><Relationship Type="http://schemas.openxmlformats.org/officeDocument/2006/relationships/slide" Target="/ppt/slides/slide4.xml" Id="R21fa32254b9746a6" /><Relationship Type="http://schemas.openxmlformats.org/officeDocument/2006/relationships/notesMaster" Target="/ppt/notesMasters/notesMaster1.xml" Id="R140bec9891f14bec" /></Relationships>
</file>

<file path=ppt/notesSlides/_rels/notesSlide5.xml.rels>&#65279;<?xml version="1.0" encoding="utf-8"?><Relationships xmlns="http://schemas.openxmlformats.org/package/2006/relationships"><Relationship Type="http://schemas.openxmlformats.org/officeDocument/2006/relationships/slide" Target="/ppt/slides/slide5.xml" Id="Rd3970ecc502e4c39" /><Relationship Type="http://schemas.openxmlformats.org/officeDocument/2006/relationships/notesMaster" Target="/ppt/notesMasters/notesMaster1.xml" Id="R320cf99af1994800" /></Relationships>
</file>

<file path=ppt/notesSlides/_rels/notesSlide6.xml.rels>&#65279;<?xml version="1.0" encoding="utf-8"?><Relationships xmlns="http://schemas.openxmlformats.org/package/2006/relationships"><Relationship Type="http://schemas.openxmlformats.org/officeDocument/2006/relationships/slide" Target="/ppt/slides/slide6.xml" Id="R81fbffc8b5c544d1" /><Relationship Type="http://schemas.openxmlformats.org/officeDocument/2006/relationships/notesMaster" Target="/ppt/notesMasters/notesMaster1.xml" Id="R15cc990cdfe8493d" /></Relationships>
</file>

<file path=ppt/notesSlides/_rels/notesSlide7.xml.rels>&#65279;<?xml version="1.0" encoding="utf-8"?><Relationships xmlns="http://schemas.openxmlformats.org/package/2006/relationships"><Relationship Type="http://schemas.openxmlformats.org/officeDocument/2006/relationships/slide" Target="/ppt/slides/slide7.xml" Id="R25e288a7d5f94c7a" /><Relationship Type="http://schemas.openxmlformats.org/officeDocument/2006/relationships/notesMaster" Target="/ppt/notesMasters/notesMaster1.xml" Id="Rd10225752c4945c8" /></Relationships>
</file>

<file path=ppt/notesSlides/_rels/notesSlide8.xml.rels>&#65279;<?xml version="1.0" encoding="utf-8"?><Relationships xmlns="http://schemas.openxmlformats.org/package/2006/relationships"><Relationship Type="http://schemas.openxmlformats.org/officeDocument/2006/relationships/slide" Target="/ppt/slides/slide8.xml" Id="Rfba68df00d3547bb" /><Relationship Type="http://schemas.openxmlformats.org/officeDocument/2006/relationships/notesMaster" Target="/ppt/notesMasters/notesMaster1.xml" Id="Rcfa647df9507483d" /></Relationships>
</file>

<file path=ppt/notesSlides/_rels/notesSlide9.xml.rels>&#65279;<?xml version="1.0" encoding="utf-8"?><Relationships xmlns="http://schemas.openxmlformats.org/package/2006/relationships"><Relationship Type="http://schemas.openxmlformats.org/officeDocument/2006/relationships/slide" Target="/ppt/slides/slide9.xml" Id="R4dc9d6904d2346a6" /><Relationship Type="http://schemas.openxmlformats.org/officeDocument/2006/relationships/notesMaster" Target="/ppt/notesMasters/notesMaster1.xml" Id="R2be0cc9dad324ca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b53d6e0e7c94fe2" /><Relationship Type="http://schemas.openxmlformats.org/officeDocument/2006/relationships/notesMaster" Target="/ppt/notesMasters/notesMaster1.xml" Id="Red3650ac6f88405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b953e72c2544f7f" /><Relationship Type="http://schemas.openxmlformats.org/officeDocument/2006/relationships/notesMaster" Target="/ppt/notesMasters/notesMaster1.xml" Id="R8c6dc030bd3044a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Kyle Hobson, UX Designer. Source: selected original SmartTagIt About Me widget design export. Interface content and values are illustrative design content. The deck discusses design deliverables, handoff and proposed iterations, with work stage stated at each case opening.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Case: About Me, SmartTagIt at FactorLab. Kyle: UX Designer &amp; Researcher (Contract), 2026. Source: original About Me Figma direction and April–May 2026 walkthroughs. The displayed crop retains original sample content. A September 2, 2026 engineering update confirms the About Me web/server release. These images document design iterations rather than the exact released layout.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original About Me Topic Comparison widget and stakeholder design discussions. Values are illustrative design content, not research outcomes. Kyle advocated neutral feedback and made cohort definition and interpretation questions explicit. The case output was a family of insight layouts and concrete product questions for alignment.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Case: Flint, SmartTagIt at FactorLab. Kyle: UX Designer &amp; Researcher (Contract), 2025–2026. Source: original mobile design export, question suggestions and project walkthroughs. Work stage: design deliverables and engineering handoff. These examples document designed states, not a claim that every variant shipped.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original Flint response-in-progress mobile export and design walkthrough. The inset enlarges an unchanged region of the same source image. Kyle explored the waiting treatment alongside the conversation and discussed animation constraints with engineering.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selected original Flint interrupted-response and offline design variants, including the March 27, 2026 error-state handoff. Distinct recovery actions follow the state: Ask again or Continue for a partial response, and retry after connection loss with the question preserved. Deliverable: connected flows, interaction states and engineering annotations.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reviewed public AI portfolio and Prompt Compass beta.3 release dated April 27, 2026. The image reformats an original May 2026 developer-authored regression fixture. It is a designed expected-result example, not a customer incident or independent effectiveness benchmark. Later local evaluation work is distinct from the April release. This project establishes working AI tool implementation; it is not a Gather AI prototype.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Case: Oak AI. Kyle: Lead UX Researcher, 2023–2025. Source: original Oak navigation evaluation screenshot, with the identity area omitted. Training the assistant, starting Vibecheck and requesting support appear as competing entry points. Kyle documented the labels and visual treatments and used the audit to make these choices explicit for review. Work stage: usability evaluation and design recommendations. This slide does not present a finished navigation redesign or a user-study finding.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original Oak error-message recommendation artifact containing Before and After panels. Displayed interface panels retain source pixels and are labeled Original and Proposed to clarify the work state. Kyle connected an evaluation finding to visual alternatives and implementation recommendations. No conversion or task-success percentage is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approach for a Gather AI product design problem, grounded in Kyle’s Figma prototypes, documented interaction states and developer collaboration. This is not prior work for Gather AI or a measured product outcome. The portrait is user-supplied identity material.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product and UX design roles, contract projects and professional collaborations. The displayed contact links are clickable.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e3568da566948e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f48807842b34144" /><Relationship Type="http://schemas.openxmlformats.org/officeDocument/2006/relationships/slideLayout" Target="/ppt/slideLayouts/slideLayout1.xml" Id="R0e181edb84e7458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e181edb84e7458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Kyle Portfolio">
      <a:dk1>
        <a:srgbClr val="192B25"/>
      </a:dk1>
      <a:lt1>
        <a:srgbClr val="FFFFFF"/>
      </a:lt1>
      <a:dk2>
        <a:srgbClr val="244D3C"/>
      </a:dk2>
      <a:lt2>
        <a:srgbClr val="F4F2E9"/>
      </a:lt2>
      <a:accent1>
        <a:srgbClr val="244D3C"/>
      </a:accent1>
      <a:accent2>
        <a:srgbClr val="DBEB89"/>
      </a:accent2>
      <a:accent3>
        <a:srgbClr val="E1E8DB"/>
      </a:accent3>
      <a:accent4>
        <a:srgbClr val="58645D"/>
      </a:accent4>
      <a:accent5>
        <a:srgbClr val="192B25"/>
      </a:accent5>
      <a:accent6>
        <a:srgbClr val="F4F2E9"/>
      </a:accent6>
      <a:hlink>
        <a:srgbClr val="DBEB89"/>
      </a:hlink>
      <a:folHlink>
        <a:srgbClr val="DBEB89"/>
      </a:folHlink>
    </a:clrScheme>
    <a:fontScheme name="Office">
      <a:majorFont>
        <a:latin typeface="Calibri Light"/>
        <a:ea typeface="Calibri Light"/>
        <a:cs typeface="Calibri Light"/>
      </a:majorFont>
      <a:minorFont>
        <a:latin typeface="Calibri"/>
        <a:ea typeface="Calibri"/>
        <a:cs typeface="Calibri"/>
      </a:minorFont>
    </a:fontScheme>
    <a:fmtScheme name="Kyle Portfol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a03a19d68c54f16" /><Relationship Type="http://schemas.openxmlformats.org/officeDocument/2006/relationships/image" Target="/ppt/media/image.png" Id="R032823ecd9944230" /><Relationship Type="http://schemas.openxmlformats.org/officeDocument/2006/relationships/notesSlide" Target="/ppt/notesSlides/notesSlide1.xml" Id="Rd91dd3f0b425412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0808856019f4476" /><Relationship Type="http://schemas.openxmlformats.org/officeDocument/2006/relationships/image" Target="/ppt/media/image2.png" Id="R8778639753104c19" /><Relationship Type="http://schemas.openxmlformats.org/officeDocument/2006/relationships/notesSlide" Target="/ppt/notesSlides/notesSlide2.xml" Id="R16e60ac87f3b445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3e3a5f4936a4669" /><Relationship Type="http://schemas.openxmlformats.org/officeDocument/2006/relationships/image" Target="/ppt/media/image3.png" Id="R94928674c7c041f3" /><Relationship Type="http://schemas.openxmlformats.org/officeDocument/2006/relationships/notesSlide" Target="/ppt/notesSlides/notesSlide3.xml" Id="Rdad2fa8fd77242f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eee99cd6f8b467b" /><Relationship Type="http://schemas.openxmlformats.org/officeDocument/2006/relationships/image" Target="/ppt/media/image4.png" Id="Reae627802e054449" /><Relationship Type="http://schemas.openxmlformats.org/officeDocument/2006/relationships/notesSlide" Target="/ppt/notesSlides/notesSlide4.xml" Id="Rd11675e82f93482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6e18b09cfd44228" /><Relationship Type="http://schemas.openxmlformats.org/officeDocument/2006/relationships/image" Target="/ppt/media/image5.png" Id="R595f607ea3414776" /><Relationship Type="http://schemas.openxmlformats.org/officeDocument/2006/relationships/image" Target="/ppt/media/image6.png" Id="Rccdded0986084ffc" /><Relationship Type="http://schemas.openxmlformats.org/officeDocument/2006/relationships/notesSlide" Target="/ppt/notesSlides/notesSlide5.xml" Id="Rb114b9c11140427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a75b8d9838545de" /><Relationship Type="http://schemas.openxmlformats.org/officeDocument/2006/relationships/image" Target="/ppt/media/image7.png" Id="R50f924476a714c93" /><Relationship Type="http://schemas.openxmlformats.org/officeDocument/2006/relationships/image" Target="/ppt/media/image8.png" Id="Rdb1c33133d2d46e8" /><Relationship Type="http://schemas.openxmlformats.org/officeDocument/2006/relationships/notesSlide" Target="/ppt/notesSlides/notesSlide6.xml" Id="R9558b9e95c31453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90a291946794bdf" /><Relationship Type="http://schemas.openxmlformats.org/officeDocument/2006/relationships/image" Target="/ppt/media/image9.png" Id="Rb732b14184ce4410" /><Relationship Type="http://schemas.openxmlformats.org/officeDocument/2006/relationships/hyperlink" Target="https://github.com/JonathanKHobson/prompt-compass/releases/tag/v0.1.0-beta.3" TargetMode="External" Id="R0a01801b8a894024" /><Relationship Type="http://schemas.openxmlformats.org/officeDocument/2006/relationships/notesSlide" Target="/ppt/notesSlides/notesSlide7.xml" Id="R0263ee6c8bad42c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f0b7f633ac14547" /><Relationship Type="http://schemas.openxmlformats.org/officeDocument/2006/relationships/image" Target="/ppt/media/image10.png" Id="Rf989f3a7180f46a6" /><Relationship Type="http://schemas.openxmlformats.org/officeDocument/2006/relationships/notesSlide" Target="/ppt/notesSlides/notesSlide8.xml" Id="R5c4895d93ef14fe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33099c0e08e4c9f" /><Relationship Type="http://schemas.openxmlformats.org/officeDocument/2006/relationships/image" Target="/ppt/media/image11.png" Id="Rbec482ff883846c2" /><Relationship Type="http://schemas.openxmlformats.org/officeDocument/2006/relationships/image" Target="/ppt/media/image12.png" Id="R4847ceb57b4447b1" /><Relationship Type="http://schemas.openxmlformats.org/officeDocument/2006/relationships/image" Target="/ppt/media/image13.png" Id="Re3c55b84788d4a4c" /><Relationship Type="http://schemas.openxmlformats.org/officeDocument/2006/relationships/notesSlide" Target="/ppt/notesSlides/notesSlide9.xml" Id="R7531dfb1d3c7470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c1993e6f5ff4129" /><Relationship Type="http://schemas.openxmlformats.org/officeDocument/2006/relationships/image" Target="/ppt/media/image.jpeg" Id="R7d7eeaffd7bc4836" /><Relationship Type="http://schemas.openxmlformats.org/officeDocument/2006/relationships/notesSlide" Target="/ppt/notesSlides/notesSlide10.xml" Id="R13fa4448b572411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ffda73ee8e74941" /><Relationship Type="http://schemas.openxmlformats.org/officeDocument/2006/relationships/hyperlink" Target="mailto:JonathanKyleHobson@gmail.com" TargetMode="External" Id="Rca8209fab0c5451d" /><Relationship Type="http://schemas.openxmlformats.org/officeDocument/2006/relationships/hyperlink" Target="https://jonathankhobson.github.io/application-portfolios/gather-ai-ux-designer/" TargetMode="External" Id="R7c8038ba4404413b" /><Relationship Type="http://schemas.openxmlformats.org/officeDocument/2006/relationships/notesSlide" Target="/ppt/notesSlides/notesSlide11.xml" Id="R8d9b6fc3438e4a2e" /></Relationships>
</file>

<file path=ppt/slides/slide1.xml><?xml version="1.0" encoding="utf-8"?>
<p:sld xmlns:p="http://schemas.openxmlformats.org/presentationml/2006/main">
  <p:cSld>
    <p:bg>
      <p:bgPr>
        <a:solidFill xmlns:a="http://schemas.openxmlformats.org/drawingml/2006/main">
          <a:srgbClr val="244D3C"/>
        </a:solidFill>
      </p:bgPr>
    </p:bg>
    <p:spTree>
      <p:nvGrpSpPr>
        <p:cNvPr id="1" name=""/>
        <p:cNvGrpSpPr/>
        <p:nvPr/>
      </p:nvGrpSpPr>
      <p:grpSpPr>
        <a:xfrm xmlns:a="http://schemas.openxmlformats.org/drawingml/2006/main"/>
      </p:grpSpPr>
      <p:sp>
        <p:nvSpPr>
          <p:cNvPr id="8" name="slide-number">
            <a:extLst xmlns:a="http://schemas.openxmlformats.org/drawingml/2006/main">
              <a:ext uri="{FF2B5EF4-FFF2-40B4-BE49-F238E27FC236}">
                <a16:creationId xmlns:a16="http://schemas.microsoft.com/office/drawing/2014/main" id="{B362C34E-84EA-49D4-9C4D-F0AD80560E56}"/>
              </a:ext>
            </a:extLst>
          </p:cNvPr>
          <p:cNvSpPr>
            <a:spLocks xmlns:a="http://schemas.openxmlformats.org/drawingml/2006/main" noGrp="1"/>
          </p:cNvSpPr>
          <p:nvPr/>
        </p:nvSpPr>
        <p:spPr>
          <a:xfrm xmlns:a="http://schemas.openxmlformats.org/drawingml/2006/main">
            <a:off x="11353800" y="651510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DBEB89"/>
                </a:solidFill>
                <a:latin typeface="Helvetica Neue"/>
                <a:ea typeface="Helvetica Neue"/>
                <a:cs typeface="Helvetica Neue"/>
              </a:defRPr>
            </a:pPr>
            <a:r>
              <a:rPr sz="1050" b="0">
                <a:solidFill>
                  <a:srgbClr val="DBEB89"/>
                </a:solidFill>
                <a:latin typeface="Helvetica Neue"/>
                <a:ea typeface="Helvetica Neue"/>
                <a:cs typeface="Helvetica Neue"/>
              </a:rPr>
              <a:t>01</a:t>
            </a:r>
          </a:p>
        </p:txBody>
      </p:sp>
      <p:sp>
        <p:nvSpPr>
          <p:cNvPr id="2" name="section-label">
            <a:extLst xmlns:a="http://schemas.openxmlformats.org/drawingml/2006/main">
              <a:ext uri="{FF2B5EF4-FFF2-40B4-BE49-F238E27FC236}">
                <a16:creationId xmlns:a16="http://schemas.microsoft.com/office/drawing/2014/main" id="{08500CCF-4575-465A-AC6C-17409120597B}"/>
              </a:ext>
            </a:extLst>
          </p:cNvPr>
          <p:cNvSpPr>
            <a:spLocks xmlns:a="http://schemas.openxmlformats.org/drawingml/2006/main" noGrp="1"/>
          </p:cNvSpPr>
          <p:nvPr/>
        </p:nvSpPr>
        <p:spPr>
          <a:xfrm xmlns:a="http://schemas.openxmlformats.org/drawingml/2006/main">
            <a:off x="609600" y="514350"/>
            <a:ext cx="685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DBEB89"/>
                </a:solidFill>
                <a:latin typeface="Helvetica Neue"/>
                <a:ea typeface="Helvetica Neue"/>
                <a:cs typeface="Helvetica Neue"/>
              </a:defRPr>
            </a:pPr>
            <a:r>
              <a:rPr sz="1200" b="1">
                <a:solidFill>
                  <a:srgbClr val="DBEB89"/>
                </a:solidFill>
                <a:latin typeface="Helvetica Neue"/>
                <a:ea typeface="Helvetica Neue"/>
                <a:cs typeface="Helvetica Neue"/>
              </a:rPr>
              <a:t>KYLE HOBSON   /   GATHER AI UX DESIGNER APPLICATION</a:t>
            </a:r>
          </a:p>
        </p:txBody>
      </p:sp>
      <p:sp>
        <p:nvSpPr>
          <p:cNvPr id="3" name="headline">
            <a:extLst xmlns:a="http://schemas.openxmlformats.org/drawingml/2006/main">
              <a:ext uri="{FF2B5EF4-FFF2-40B4-BE49-F238E27FC236}">
                <a16:creationId xmlns:a16="http://schemas.microsoft.com/office/drawing/2014/main" id="{1EF9760A-0EBD-4BFE-AF37-72D98C14209E}"/>
              </a:ext>
            </a:extLst>
          </p:cNvPr>
          <p:cNvSpPr>
            <a:spLocks xmlns:a="http://schemas.openxmlformats.org/drawingml/2006/main" noGrp="1"/>
          </p:cNvSpPr>
          <p:nvPr/>
        </p:nvSpPr>
        <p:spPr>
          <a:xfrm xmlns:a="http://schemas.openxmlformats.org/drawingml/2006/main">
            <a:off x="609600" y="1924050"/>
            <a:ext cx="7334250" cy="2076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5100" b="1">
                <a:solidFill>
                  <a:srgbClr val="F4F2E9"/>
                </a:solidFill>
                <a:latin typeface="Helvetica Neue"/>
                <a:ea typeface="Helvetica Neue"/>
                <a:cs typeface="Helvetica Neue"/>
              </a:defRPr>
            </a:pPr>
            <a:r>
              <a:rPr sz="5100" b="1">
                <a:solidFill>
                  <a:srgbClr val="F4F2E9"/>
                </a:solidFill>
                <a:latin typeface="Helvetica Neue"/>
                <a:ea typeface="Helvetica Neue"/>
                <a:cs typeface="Helvetica Neue"/>
              </a:rPr>
              <a:t>Operational data.</a:t>
            </a:r>
          </a:p>
          <a:p xmlns:a="http://schemas.openxmlformats.org/drawingml/2006/main">
            <a:pPr>
              <a:lnSpc>
                <a:spcPct val="110000"/>
              </a:lnSpc>
              <a:buNone/>
              <a:defRPr sz="5100" b="1">
                <a:solidFill>
                  <a:srgbClr val="F4F2E9"/>
                </a:solidFill>
                <a:latin typeface="Helvetica Neue"/>
                <a:ea typeface="Helvetica Neue"/>
                <a:cs typeface="Helvetica Neue"/>
              </a:defRPr>
            </a:pPr>
            <a:r>
              <a:rPr sz="5100" b="1">
                <a:solidFill>
                  <a:srgbClr val="F4F2E9"/>
                </a:solidFill>
                <a:latin typeface="Helvetica Neue"/>
                <a:ea typeface="Helvetica Neue"/>
                <a:cs typeface="Helvetica Neue"/>
              </a:rPr>
              <a:t>Useful next actions.</a:t>
            </a:r>
          </a:p>
        </p:txBody>
      </p:sp>
      <p:sp>
        <p:nvSpPr>
          <p:cNvPr id="4" name="cover-intro">
            <a:extLst xmlns:a="http://schemas.openxmlformats.org/drawingml/2006/main">
              <a:ext uri="{FF2B5EF4-FFF2-40B4-BE49-F238E27FC236}">
                <a16:creationId xmlns:a16="http://schemas.microsoft.com/office/drawing/2014/main" id="{D10D3CD6-554D-4524-9DFB-D995A6BCA8FA}"/>
              </a:ext>
            </a:extLst>
          </p:cNvPr>
          <p:cNvSpPr>
            <a:spLocks xmlns:a="http://schemas.openxmlformats.org/drawingml/2006/main" noGrp="1"/>
          </p:cNvSpPr>
          <p:nvPr/>
        </p:nvSpPr>
        <p:spPr>
          <a:xfrm xmlns:a="http://schemas.openxmlformats.org/drawingml/2006/main">
            <a:off x="647700" y="4324350"/>
            <a:ext cx="6762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00" b="0">
                <a:solidFill>
                  <a:srgbClr val="F4F2E9"/>
                </a:solidFill>
                <a:latin typeface="Helvetica Neue"/>
                <a:ea typeface="Helvetica Neue"/>
                <a:cs typeface="Helvetica Neue"/>
              </a:defRPr>
            </a:pPr>
            <a:r>
              <a:rPr sz="2100" b="0">
                <a:solidFill>
                  <a:srgbClr val="F4F2E9"/>
                </a:solidFill>
                <a:latin typeface="Helvetica Neue"/>
                <a:ea typeface="Helvetica Neue"/>
                <a:cs typeface="Helvetica Neue"/>
              </a:rPr>
              <a:t>AI insights, task continuity,</a:t>
            </a:r>
          </a:p>
          <a:p xmlns:a="http://schemas.openxmlformats.org/drawingml/2006/main">
            <a:pPr>
              <a:lnSpc>
                <a:spcPct val="110000"/>
              </a:lnSpc>
              <a:buNone/>
              <a:defRPr sz="2100" b="0">
                <a:solidFill>
                  <a:srgbClr val="F4F2E9"/>
                </a:solidFill>
                <a:latin typeface="Helvetica Neue"/>
                <a:ea typeface="Helvetica Neue"/>
                <a:cs typeface="Helvetica Neue"/>
              </a:defRPr>
            </a:pPr>
            <a:r>
              <a:rPr sz="2100" b="0">
                <a:solidFill>
                  <a:srgbClr val="F4F2E9"/>
                </a:solidFill>
                <a:latin typeface="Helvetica Neue"/>
                <a:ea typeface="Helvetica Neue"/>
                <a:cs typeface="Helvetica Neue"/>
              </a:rPr>
              <a:t>and the evidence behind an interaction.</a:t>
            </a:r>
          </a:p>
        </p:txBody>
      </p:sp>
      <p:sp>
        <p:nvSpPr>
          <p:cNvPr id="5" name="cover-accent">
            <a:extLst xmlns:a="http://schemas.openxmlformats.org/drawingml/2006/main">
              <a:ext uri="{FF2B5EF4-FFF2-40B4-BE49-F238E27FC236}">
                <a16:creationId xmlns:a16="http://schemas.microsoft.com/office/drawing/2014/main" id="{562F31D1-3BC0-49F5-948F-D7BD405DEA79}"/>
              </a:ext>
            </a:extLst>
          </p:cNvPr>
          <p:cNvSpPr>
            <a:spLocks xmlns:a="http://schemas.openxmlformats.org/drawingml/2006/main" noGrp="1"/>
          </p:cNvSpPr>
          <p:nvPr/>
        </p:nvSpPr>
        <p:spPr>
          <a:xfrm xmlns:a="http://schemas.openxmlformats.org/drawingml/2006/main">
            <a:off x="647700" y="5838825"/>
            <a:ext cx="647700" cy="47625"/>
          </a:xfrm>
          <a:prstGeom xmlns:a="http://schemas.openxmlformats.org/drawingml/2006/main" prst="rect">
            <a:avLst/>
          </a:prstGeom>
          <a:solidFill xmlns:a="http://schemas.openxmlformats.org/drawingml/2006/main">
            <a:srgbClr val="DBEB89"/>
          </a:solidFill>
          <a:ln xmlns:a="http://schemas.openxmlformats.org/drawingml/2006/main" w="0">
            <a:noFill/>
          </a:ln>
        </p:spPr>
      </p:sp>
      <p:sp>
        <p:nvSpPr>
          <p:cNvPr id="6" name="cover-type">
            <a:extLst xmlns:a="http://schemas.openxmlformats.org/drawingml/2006/main">
              <a:ext uri="{FF2B5EF4-FFF2-40B4-BE49-F238E27FC236}">
                <a16:creationId xmlns:a16="http://schemas.microsoft.com/office/drawing/2014/main" id="{776601F1-522C-4193-9A62-1A9113E31CA7}"/>
              </a:ext>
            </a:extLst>
          </p:cNvPr>
          <p:cNvSpPr>
            <a:spLocks xmlns:a="http://schemas.openxmlformats.org/drawingml/2006/main" noGrp="1"/>
          </p:cNvSpPr>
          <p:nvPr/>
        </p:nvSpPr>
        <p:spPr>
          <a:xfrm xmlns:a="http://schemas.openxmlformats.org/drawingml/2006/main">
            <a:off x="647700" y="6134100"/>
            <a:ext cx="657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0">
                <a:solidFill>
                  <a:srgbClr val="F4F2E9"/>
                </a:solidFill>
                <a:latin typeface="Helvetica Neue"/>
                <a:ea typeface="Helvetica Neue"/>
                <a:cs typeface="Helvetica Neue"/>
              </a:defRPr>
            </a:pPr>
            <a:r>
              <a:rPr sz="1350" b="0">
                <a:solidFill>
                  <a:srgbClr val="F4F2E9"/>
                </a:solidFill>
                <a:latin typeface="Helvetica Neue"/>
                <a:ea typeface="Helvetica Neue"/>
                <a:cs typeface="Helvetica Neue"/>
              </a:rPr>
              <a:t>Selected work for Gather AI · September 2026</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032823ecd9944230"/>
          <a:stretch xmlns:a="http://schemas.openxmlformats.org/drawingml/2006/main"/>
        </p:blipFill>
        <p:spPr>
          <a:xfrm xmlns:a="http://schemas.openxmlformats.org/drawingml/2006/main">
            <a:off x="7829550" y="1554273"/>
            <a:ext cx="3600450" cy="3511330"/>
          </a:xfrm>
          <a:prstGeom xmlns:a="http://schemas.openxmlformats.org/drawingml/2006/main" prst="rect">
            <a:avLst/>
          </a:prstGeom>
        </p:spPr>
      </p:pic>
    </p:spTree>
    <p:extLst>
      <p:ext uri="{BB962C8B-B14F-4D97-AF65-F5344CB8AC3E}">
        <p14:creationId xmlns:p14="http://schemas.microsoft.com/office/powerpoint/2010/main" val="1164453550"/>
      </p:ext>
    </p:extLst>
  </p:cSld>
</p:sld>
</file>

<file path=ppt/slides/slide2.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8" name="slide-number">
            <a:extLst xmlns:a="http://schemas.openxmlformats.org/drawingml/2006/main">
              <a:ext uri="{FF2B5EF4-FFF2-40B4-BE49-F238E27FC236}">
                <a16:creationId xmlns:a16="http://schemas.microsoft.com/office/drawing/2014/main" id="{CDA8F3C4-274D-4907-ACD5-31298B8FD076}"/>
              </a:ext>
            </a:extLst>
          </p:cNvPr>
          <p:cNvSpPr>
            <a:spLocks xmlns:a="http://schemas.openxmlformats.org/drawingml/2006/main" noGrp="1"/>
          </p:cNvSpPr>
          <p:nvPr/>
        </p:nvSpPr>
        <p:spPr>
          <a:xfrm xmlns:a="http://schemas.openxmlformats.org/drawingml/2006/main">
            <a:off x="11353800" y="651510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02</a:t>
            </a:r>
          </a:p>
        </p:txBody>
      </p:sp>
      <p:sp>
        <p:nvSpPr>
          <p:cNvPr id="2" name="section-label">
            <a:extLst xmlns:a="http://schemas.openxmlformats.org/drawingml/2006/main">
              <a:ext uri="{FF2B5EF4-FFF2-40B4-BE49-F238E27FC236}">
                <a16:creationId xmlns:a16="http://schemas.microsoft.com/office/drawing/2014/main" id="{BF7C5D93-2CB3-4369-8011-3E998EF205F9}"/>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ABOUT ME   /   SMARTTAGIT, FACTORLAB</a:t>
            </a:r>
          </a:p>
        </p:txBody>
      </p:sp>
      <p:sp>
        <p:nvSpPr>
          <p:cNvPr id="3" name="headline">
            <a:extLst xmlns:a="http://schemas.openxmlformats.org/drawingml/2006/main">
              <a:ext uri="{FF2B5EF4-FFF2-40B4-BE49-F238E27FC236}">
                <a16:creationId xmlns:a16="http://schemas.microsoft.com/office/drawing/2014/main" id="{FBEE4847-FD26-47B6-A27A-249DEC6FFF5C}"/>
              </a:ext>
            </a:extLst>
          </p:cNvPr>
          <p:cNvSpPr>
            <a:spLocks xmlns:a="http://schemas.openxmlformats.org/drawingml/2006/main" noGrp="1"/>
          </p:cNvSpPr>
          <p:nvPr/>
        </p:nvSpPr>
        <p:spPr>
          <a:xfrm xmlns:a="http://schemas.openxmlformats.org/drawingml/2006/main">
            <a:off x="609600" y="1095375"/>
            <a:ext cx="4953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4050" b="1">
                <a:solidFill>
                  <a:srgbClr val="192B25"/>
                </a:solidFill>
                <a:latin typeface="Helvetica Neue"/>
                <a:ea typeface="Helvetica Neue"/>
                <a:cs typeface="Helvetica Neue"/>
              </a:defRPr>
            </a:pPr>
            <a:r>
              <a:rPr sz="4050" b="1">
                <a:solidFill>
                  <a:srgbClr val="192B25"/>
                </a:solidFill>
                <a:latin typeface="Helvetica Neue"/>
                <a:ea typeface="Helvetica Neue"/>
                <a:cs typeface="Helvetica Neue"/>
              </a:rPr>
              <a:t>Feedback</a:t>
            </a:r>
          </a:p>
          <a:p xmlns:a="http://schemas.openxmlformats.org/drawingml/2006/main">
            <a:pPr>
              <a:lnSpc>
                <a:spcPct val="110000"/>
              </a:lnSpc>
              <a:buNone/>
              <a:defRPr sz="4050" b="1">
                <a:solidFill>
                  <a:srgbClr val="192B25"/>
                </a:solidFill>
                <a:latin typeface="Helvetica Neue"/>
                <a:ea typeface="Helvetica Neue"/>
                <a:cs typeface="Helvetica Neue"/>
              </a:defRPr>
            </a:pPr>
            <a:r>
              <a:rPr sz="4050" b="1">
                <a:solidFill>
                  <a:srgbClr val="192B25"/>
                </a:solidFill>
                <a:latin typeface="Helvetica Neue"/>
                <a:ea typeface="Helvetica Neue"/>
                <a:cs typeface="Helvetica Neue"/>
              </a:rPr>
              <a:t>with context</a:t>
            </a:r>
          </a:p>
        </p:txBody>
      </p:sp>
      <p:sp>
        <p:nvSpPr>
          <p:cNvPr id="4" name="role">
            <a:extLst xmlns:a="http://schemas.openxmlformats.org/drawingml/2006/main">
              <a:ext uri="{FF2B5EF4-FFF2-40B4-BE49-F238E27FC236}">
                <a16:creationId xmlns:a16="http://schemas.microsoft.com/office/drawing/2014/main" id="{7B3FE76B-7006-4231-A069-9424B36F478C}"/>
              </a:ext>
            </a:extLst>
          </p:cNvPr>
          <p:cNvSpPr>
            <a:spLocks xmlns:a="http://schemas.openxmlformats.org/drawingml/2006/main" noGrp="1"/>
          </p:cNvSpPr>
          <p:nvPr/>
        </p:nvSpPr>
        <p:spPr>
          <a:xfrm xmlns:a="http://schemas.openxmlformats.org/drawingml/2006/main">
            <a:off x="609600" y="2724150"/>
            <a:ext cx="52673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425" b="1">
                <a:solidFill>
                  <a:srgbClr val="244D3C"/>
                </a:solidFill>
                <a:latin typeface="Helvetica Neue"/>
                <a:ea typeface="Helvetica Neue"/>
                <a:cs typeface="Helvetica Neue"/>
              </a:defRPr>
            </a:pPr>
            <a:r>
              <a:rPr sz="1425" b="1">
                <a:solidFill>
                  <a:srgbClr val="244D3C"/>
                </a:solidFill>
                <a:latin typeface="Helvetica Neue"/>
                <a:ea typeface="Helvetica Neue"/>
                <a:cs typeface="Helvetica Neue"/>
              </a:rPr>
              <a:t>UX Designer &amp; Researcher (Contract), 2026</a:t>
            </a:r>
          </a:p>
        </p:txBody>
      </p:sp>
      <p:sp>
        <p:nvSpPr>
          <p:cNvPr id="5" name="about-decision">
            <a:extLst xmlns:a="http://schemas.openxmlformats.org/drawingml/2006/main">
              <a:ext uri="{FF2B5EF4-FFF2-40B4-BE49-F238E27FC236}">
                <a16:creationId xmlns:a16="http://schemas.microsoft.com/office/drawing/2014/main" id="{28E61CA5-B83A-46F4-B203-6DF04568D46F}"/>
              </a:ext>
            </a:extLst>
          </p:cNvPr>
          <p:cNvSpPr>
            <a:spLocks xmlns:a="http://schemas.openxmlformats.org/drawingml/2006/main" noGrp="1"/>
          </p:cNvSpPr>
          <p:nvPr/>
        </p:nvSpPr>
        <p:spPr>
          <a:xfrm xmlns:a="http://schemas.openxmlformats.org/drawingml/2006/main">
            <a:off x="609600" y="3429000"/>
            <a:ext cx="4676775"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I connected a personal summary to its supporting observations and a useful next action.</a:t>
            </a:r>
          </a:p>
        </p:txBody>
      </p:sp>
      <p:sp>
        <p:nvSpPr>
          <p:cNvPr id="6" name="about-stage">
            <a:extLst xmlns:a="http://schemas.openxmlformats.org/drawingml/2006/main">
              <a:ext uri="{FF2B5EF4-FFF2-40B4-BE49-F238E27FC236}">
                <a16:creationId xmlns:a16="http://schemas.microsoft.com/office/drawing/2014/main" id="{AF6D93F6-5891-4819-BC02-1CC3718F43A9}"/>
              </a:ext>
            </a:extLst>
          </p:cNvPr>
          <p:cNvSpPr>
            <a:spLocks xmlns:a="http://schemas.openxmlformats.org/drawingml/2006/main" noGrp="1"/>
          </p:cNvSpPr>
          <p:nvPr/>
        </p:nvSpPr>
        <p:spPr>
          <a:xfrm xmlns:a="http://schemas.openxmlformats.org/drawingml/2006/main">
            <a:off x="609600" y="5314950"/>
            <a:ext cx="52101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0">
                <a:solidFill>
                  <a:srgbClr val="58645D"/>
                </a:solidFill>
                <a:latin typeface="Helvetica Neue"/>
                <a:ea typeface="Helvetica Neue"/>
                <a:cs typeface="Helvetica Neue"/>
              </a:defRPr>
            </a:pPr>
            <a:r>
              <a:rPr sz="1350" b="0">
                <a:solidFill>
                  <a:srgbClr val="58645D"/>
                </a:solidFill>
                <a:latin typeface="Helvetica Neue"/>
                <a:ea typeface="Helvetica Neue"/>
                <a:cs typeface="Helvetica Neue"/>
              </a:rPr>
              <a:t>Design iterations shown with sample content.</a:t>
            </a:r>
          </a:p>
          <a:p xmlns:a="http://schemas.openxmlformats.org/drawingml/2006/main">
            <a:pPr>
              <a:lnSpc>
                <a:spcPct val="110000"/>
              </a:lnSpc>
              <a:buNone/>
              <a:defRPr sz="1350" b="0">
                <a:solidFill>
                  <a:srgbClr val="58645D"/>
                </a:solidFill>
                <a:latin typeface="Helvetica Neue"/>
                <a:ea typeface="Helvetica Neue"/>
                <a:cs typeface="Helvetica Neue"/>
              </a:defRPr>
            </a:pPr>
            <a:r>
              <a:rPr sz="1350" b="0">
                <a:solidFill>
                  <a:srgbClr val="58645D"/>
                </a:solidFill>
                <a:latin typeface="Helvetica Neue"/>
                <a:ea typeface="Helvetica Neue"/>
                <a:cs typeface="Helvetica Neue"/>
              </a:rPr>
              <a:t>Web/server release confirmed September 2, 2026.</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8778639753104c19"/>
          <a:stretch xmlns:a="http://schemas.openxmlformats.org/drawingml/2006/main"/>
        </p:blipFill>
        <p:spPr>
          <a:xfrm xmlns:a="http://schemas.openxmlformats.org/drawingml/2006/main">
            <a:off x="6410325" y="1546021"/>
            <a:ext cx="4857750" cy="4737509"/>
          </a:xfrm>
          <a:prstGeom xmlns:a="http://schemas.openxmlformats.org/drawingml/2006/main" prst="rect">
            <a:avLst/>
          </a:prstGeom>
        </p:spPr>
      </p:pic>
    </p:spTree>
    <p:extLst>
      <p:ext uri="{BB962C8B-B14F-4D97-AF65-F5344CB8AC3E}">
        <p14:creationId xmlns:p14="http://schemas.microsoft.com/office/powerpoint/2010/main" val="689724364"/>
      </p:ext>
    </p:extLst>
  </p:cSld>
</p:sld>
</file>

<file path=ppt/slides/slide3.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8" name="slide-number">
            <a:extLst xmlns:a="http://schemas.openxmlformats.org/drawingml/2006/main">
              <a:ext uri="{FF2B5EF4-FFF2-40B4-BE49-F238E27FC236}">
                <a16:creationId xmlns:a16="http://schemas.microsoft.com/office/drawing/2014/main" id="{580AEC04-C1B5-460F-81FC-A9DDFE977FE9}"/>
              </a:ext>
            </a:extLst>
          </p:cNvPr>
          <p:cNvSpPr>
            <a:spLocks xmlns:a="http://schemas.openxmlformats.org/drawingml/2006/main" noGrp="1"/>
          </p:cNvSpPr>
          <p:nvPr/>
        </p:nvSpPr>
        <p:spPr>
          <a:xfrm xmlns:a="http://schemas.openxmlformats.org/drawingml/2006/main">
            <a:off x="11353800" y="651510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03</a:t>
            </a:r>
          </a:p>
        </p:txBody>
      </p:sp>
      <p:sp>
        <p:nvSpPr>
          <p:cNvPr id="2" name="section-label">
            <a:extLst xmlns:a="http://schemas.openxmlformats.org/drawingml/2006/main">
              <a:ext uri="{FF2B5EF4-FFF2-40B4-BE49-F238E27FC236}">
                <a16:creationId xmlns:a16="http://schemas.microsoft.com/office/drawing/2014/main" id="{01E7523A-6984-4ADA-AA1E-FE8564668C23}"/>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ABOUT ME   /   NEUTRAL COMPARISON</a:t>
            </a:r>
          </a:p>
        </p:txBody>
      </p:sp>
      <p:sp>
        <p:nvSpPr>
          <p:cNvPr id="3" name="headline">
            <a:extLst xmlns:a="http://schemas.openxmlformats.org/drawingml/2006/main">
              <a:ext uri="{FF2B5EF4-FFF2-40B4-BE49-F238E27FC236}">
                <a16:creationId xmlns:a16="http://schemas.microsoft.com/office/drawing/2014/main" id="{49355B41-5236-4B26-BC29-C342905CF144}"/>
              </a:ext>
            </a:extLst>
          </p:cNvPr>
          <p:cNvSpPr>
            <a:spLocks xmlns:a="http://schemas.openxmlformats.org/drawingml/2006/main" noGrp="1"/>
          </p:cNvSpPr>
          <p:nvPr/>
        </p:nvSpPr>
        <p:spPr>
          <a:xfrm xmlns:a="http://schemas.openxmlformats.org/drawingml/2006/main">
            <a:off x="609600" y="1114425"/>
            <a:ext cx="557212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A comparison needs</a:t>
            </a:r>
          </a:p>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an interpretation</a:t>
            </a:r>
          </a:p>
        </p:txBody>
      </p:sp>
      <p:sp>
        <p:nvSpPr>
          <p:cNvPr id="4" name="comparison-decision">
            <a:extLst xmlns:a="http://schemas.openxmlformats.org/drawingml/2006/main">
              <a:ext uri="{FF2B5EF4-FFF2-40B4-BE49-F238E27FC236}">
                <a16:creationId xmlns:a16="http://schemas.microsoft.com/office/drawing/2014/main" id="{6E22AC6E-BB6E-4D7E-AC10-4326837231E1}"/>
              </a:ext>
            </a:extLst>
          </p:cNvPr>
          <p:cNvSpPr>
            <a:spLocks xmlns:a="http://schemas.openxmlformats.org/drawingml/2006/main" noGrp="1"/>
          </p:cNvSpPr>
          <p:nvPr/>
        </p:nvSpPr>
        <p:spPr>
          <a:xfrm xmlns:a="http://schemas.openxmlformats.org/drawingml/2006/main">
            <a:off x="609600" y="3181350"/>
            <a:ext cx="440055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Mentioning fatigue less often is a comparison. Whether that is good depends on the context.</a:t>
            </a:r>
          </a:p>
        </p:txBody>
      </p:sp>
      <p:sp>
        <p:nvSpPr>
          <p:cNvPr id="5" name="comparison-outcome">
            <a:extLst xmlns:a="http://schemas.openxmlformats.org/drawingml/2006/main">
              <a:ext uri="{FF2B5EF4-FFF2-40B4-BE49-F238E27FC236}">
                <a16:creationId xmlns:a16="http://schemas.microsoft.com/office/drawing/2014/main" id="{1FBE3069-A278-45C1-943C-B35DF368FE0A}"/>
              </a:ext>
            </a:extLst>
          </p:cNvPr>
          <p:cNvSpPr>
            <a:spLocks xmlns:a="http://schemas.openxmlformats.org/drawingml/2006/main" noGrp="1"/>
          </p:cNvSpPr>
          <p:nvPr/>
        </p:nvSpPr>
        <p:spPr>
          <a:xfrm xmlns:a="http://schemas.openxmlformats.org/drawingml/2006/main">
            <a:off x="609600" y="5010150"/>
            <a:ext cx="44005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58645D"/>
                </a:solidFill>
                <a:latin typeface="Helvetica Neue"/>
                <a:ea typeface="Helvetica Neue"/>
                <a:cs typeface="Helvetica Neue"/>
              </a:defRPr>
            </a:pPr>
            <a:r>
              <a:rPr sz="1725" b="0">
                <a:solidFill>
                  <a:srgbClr val="58645D"/>
                </a:solidFill>
                <a:latin typeface="Helvetica Neue"/>
                <a:ea typeface="Helvetica Neue"/>
                <a:cs typeface="Helvetica Neue"/>
              </a:rPr>
              <a:t>I raised the cohort, percentile and wording questions before they became interface rules.</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94928674c7c041f3"/>
          <a:stretch xmlns:a="http://schemas.openxmlformats.org/drawingml/2006/main"/>
        </p:blipFill>
        <p:spPr>
          <a:xfrm xmlns:a="http://schemas.openxmlformats.org/drawingml/2006/main">
            <a:off x="5876925" y="2249327"/>
            <a:ext cx="5572125" cy="3692847"/>
          </a:xfrm>
          <a:prstGeom xmlns:a="http://schemas.openxmlformats.org/drawingml/2006/main" prst="rect">
            <a:avLst/>
          </a:prstGeom>
        </p:spPr>
      </p:pic>
      <p:sp>
        <p:nvSpPr>
          <p:cNvPr id="7" name="sample-label">
            <a:extLst xmlns:a="http://schemas.openxmlformats.org/drawingml/2006/main">
              <a:ext uri="{FF2B5EF4-FFF2-40B4-BE49-F238E27FC236}">
                <a16:creationId xmlns:a16="http://schemas.microsoft.com/office/drawing/2014/main" id="{DE175F31-9D37-4AC2-9C8D-5FB1F6B1C596}"/>
              </a:ext>
            </a:extLst>
          </p:cNvPr>
          <p:cNvSpPr>
            <a:spLocks xmlns:a="http://schemas.openxmlformats.org/drawingml/2006/main" noGrp="1"/>
          </p:cNvSpPr>
          <p:nvPr/>
        </p:nvSpPr>
        <p:spPr>
          <a:xfrm xmlns:a="http://schemas.openxmlformats.org/drawingml/2006/main">
            <a:off x="5915025" y="6153150"/>
            <a:ext cx="5505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0">
                <a:solidFill>
                  <a:srgbClr val="58645D"/>
                </a:solidFill>
                <a:latin typeface="Helvetica Neue"/>
                <a:ea typeface="Helvetica Neue"/>
                <a:cs typeface="Helvetica Neue"/>
              </a:defRPr>
            </a:pPr>
            <a:r>
              <a:rPr sz="1200" b="0">
                <a:solidFill>
                  <a:srgbClr val="58645D"/>
                </a:solidFill>
                <a:latin typeface="Helvetica Neue"/>
                <a:ea typeface="Helvetica Neue"/>
                <a:cs typeface="Helvetica Neue"/>
              </a:rPr>
              <a:t>Original widget, illustrative values</a:t>
            </a:r>
          </a:p>
        </p:txBody>
      </p:sp>
    </p:spTree>
    <p:extLst>
      <p:ext uri="{BB962C8B-B14F-4D97-AF65-F5344CB8AC3E}">
        <p14:creationId xmlns:p14="http://schemas.microsoft.com/office/powerpoint/2010/main" val="1677296158"/>
      </p:ext>
    </p:extLst>
  </p:cSld>
</p:sld>
</file>

<file path=ppt/slides/slide4.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10" name="slide-number">
            <a:extLst xmlns:a="http://schemas.openxmlformats.org/drawingml/2006/main">
              <a:ext uri="{FF2B5EF4-FFF2-40B4-BE49-F238E27FC236}">
                <a16:creationId xmlns:a16="http://schemas.microsoft.com/office/drawing/2014/main" id="{89069551-243B-488E-A1EC-ECEC81FD819C}"/>
              </a:ext>
            </a:extLst>
          </p:cNvPr>
          <p:cNvSpPr>
            <a:spLocks xmlns:a="http://schemas.openxmlformats.org/drawingml/2006/main" noGrp="1"/>
          </p:cNvSpPr>
          <p:nvPr/>
        </p:nvSpPr>
        <p:spPr>
          <a:xfrm xmlns:a="http://schemas.openxmlformats.org/drawingml/2006/main">
            <a:off x="11353800" y="651510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04</a:t>
            </a:r>
          </a:p>
        </p:txBody>
      </p:sp>
      <p:sp>
        <p:nvSpPr>
          <p:cNvPr id="2" name="section-label">
            <a:extLst xmlns:a="http://schemas.openxmlformats.org/drawingml/2006/main">
              <a:ext uri="{FF2B5EF4-FFF2-40B4-BE49-F238E27FC236}">
                <a16:creationId xmlns:a16="http://schemas.microsoft.com/office/drawing/2014/main" id="{E2260366-148E-41F5-9FDE-8054195E5C77}"/>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FLINT   /   SMARTTAGIT, FACTORLAB</a:t>
            </a:r>
          </a:p>
        </p:txBody>
      </p:sp>
      <p:sp>
        <p:nvSpPr>
          <p:cNvPr id="3" name="headline">
            <a:extLst xmlns:a="http://schemas.openxmlformats.org/drawingml/2006/main">
              <a:ext uri="{FF2B5EF4-FFF2-40B4-BE49-F238E27FC236}">
                <a16:creationId xmlns:a16="http://schemas.microsoft.com/office/drawing/2014/main" id="{5D804ECE-3377-4320-9B13-0A92D723836F}"/>
              </a:ext>
            </a:extLst>
          </p:cNvPr>
          <p:cNvSpPr>
            <a:spLocks xmlns:a="http://schemas.openxmlformats.org/drawingml/2006/main" noGrp="1"/>
          </p:cNvSpPr>
          <p:nvPr/>
        </p:nvSpPr>
        <p:spPr>
          <a:xfrm xmlns:a="http://schemas.openxmlformats.org/drawingml/2006/main">
            <a:off x="609600" y="1104900"/>
            <a:ext cx="4953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900" b="1">
                <a:solidFill>
                  <a:srgbClr val="192B25"/>
                </a:solidFill>
                <a:latin typeface="Helvetica Neue"/>
                <a:ea typeface="Helvetica Neue"/>
                <a:cs typeface="Helvetica Neue"/>
              </a:defRPr>
            </a:pPr>
            <a:r>
              <a:rPr sz="3900" b="1">
                <a:solidFill>
                  <a:srgbClr val="192B25"/>
                </a:solidFill>
                <a:latin typeface="Helvetica Neue"/>
                <a:ea typeface="Helvetica Neue"/>
                <a:cs typeface="Helvetica Neue"/>
              </a:rPr>
              <a:t>A useful</a:t>
            </a:r>
          </a:p>
          <a:p xmlns:a="http://schemas.openxmlformats.org/drawingml/2006/main">
            <a:pPr>
              <a:lnSpc>
                <a:spcPct val="110000"/>
              </a:lnSpc>
              <a:buNone/>
              <a:defRPr sz="3900" b="1">
                <a:solidFill>
                  <a:srgbClr val="192B25"/>
                </a:solidFill>
                <a:latin typeface="Helvetica Neue"/>
                <a:ea typeface="Helvetica Neue"/>
                <a:cs typeface="Helvetica Neue"/>
              </a:defRPr>
            </a:pPr>
            <a:r>
              <a:rPr sz="3900" b="1">
                <a:solidFill>
                  <a:srgbClr val="192B25"/>
                </a:solidFill>
                <a:latin typeface="Helvetica Neue"/>
                <a:ea typeface="Helvetica Neue"/>
                <a:cs typeface="Helvetica Neue"/>
              </a:rPr>
              <a:t>first question</a:t>
            </a:r>
          </a:p>
        </p:txBody>
      </p:sp>
      <p:sp>
        <p:nvSpPr>
          <p:cNvPr id="4" name="role">
            <a:extLst xmlns:a="http://schemas.openxmlformats.org/drawingml/2006/main">
              <a:ext uri="{FF2B5EF4-FFF2-40B4-BE49-F238E27FC236}">
                <a16:creationId xmlns:a16="http://schemas.microsoft.com/office/drawing/2014/main" id="{85993B2C-0617-4B22-8F44-748E248E235B}"/>
              </a:ext>
            </a:extLst>
          </p:cNvPr>
          <p:cNvSpPr>
            <a:spLocks xmlns:a="http://schemas.openxmlformats.org/drawingml/2006/main" noGrp="1"/>
          </p:cNvSpPr>
          <p:nvPr/>
        </p:nvSpPr>
        <p:spPr>
          <a:xfrm xmlns:a="http://schemas.openxmlformats.org/drawingml/2006/main">
            <a:off x="609600" y="2705100"/>
            <a:ext cx="5334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500" b="1">
                <a:solidFill>
                  <a:srgbClr val="244D3C"/>
                </a:solidFill>
                <a:latin typeface="Helvetica Neue"/>
                <a:ea typeface="Helvetica Neue"/>
                <a:cs typeface="Helvetica Neue"/>
              </a:defRPr>
            </a:pPr>
            <a:r>
              <a:rPr sz="1500" b="1">
                <a:solidFill>
                  <a:srgbClr val="244D3C"/>
                </a:solidFill>
                <a:latin typeface="Helvetica Neue"/>
                <a:ea typeface="Helvetica Neue"/>
                <a:cs typeface="Helvetica Neue"/>
              </a:rPr>
              <a:t>UX Designer &amp; Researcher (Contract)</a:t>
            </a:r>
          </a:p>
          <a:p xmlns:a="http://schemas.openxmlformats.org/drawingml/2006/main">
            <a:pPr>
              <a:lnSpc>
                <a:spcPct val="110000"/>
              </a:lnSpc>
              <a:buNone/>
              <a:defRPr sz="1500" b="1">
                <a:solidFill>
                  <a:srgbClr val="244D3C"/>
                </a:solidFill>
                <a:latin typeface="Helvetica Neue"/>
                <a:ea typeface="Helvetica Neue"/>
                <a:cs typeface="Helvetica Neue"/>
              </a:defRPr>
            </a:pPr>
            <a:r>
              <a:rPr sz="1500" b="1">
                <a:solidFill>
                  <a:srgbClr val="244D3C"/>
                </a:solidFill>
                <a:latin typeface="Helvetica Neue"/>
                <a:ea typeface="Helvetica Neue"/>
                <a:cs typeface="Helvetica Neue"/>
              </a:rPr>
              <a:t>2025–2026</a:t>
            </a:r>
          </a:p>
        </p:txBody>
      </p:sp>
      <p:sp>
        <p:nvSpPr>
          <p:cNvPr id="5" name="entry-decision">
            <a:extLst xmlns:a="http://schemas.openxmlformats.org/drawingml/2006/main">
              <a:ext uri="{FF2B5EF4-FFF2-40B4-BE49-F238E27FC236}">
                <a16:creationId xmlns:a16="http://schemas.microsoft.com/office/drawing/2014/main" id="{261FE76C-E663-43D5-8507-F4A2AE6ABA10}"/>
              </a:ext>
            </a:extLst>
          </p:cNvPr>
          <p:cNvSpPr>
            <a:spLocks xmlns:a="http://schemas.openxmlformats.org/drawingml/2006/main" noGrp="1"/>
          </p:cNvSpPr>
          <p:nvPr/>
        </p:nvSpPr>
        <p:spPr>
          <a:xfrm xmlns:a="http://schemas.openxmlformats.org/drawingml/2006/main">
            <a:off x="609600" y="3676650"/>
            <a:ext cx="4667250"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I explored suggested questions and a question library while keeping a person’s own question close at hand.</a:t>
            </a:r>
          </a:p>
        </p:txBody>
      </p:sp>
      <p:sp>
        <p:nvSpPr>
          <p:cNvPr id="6" name="stage">
            <a:extLst xmlns:a="http://schemas.openxmlformats.org/drawingml/2006/main">
              <a:ext uri="{FF2B5EF4-FFF2-40B4-BE49-F238E27FC236}">
                <a16:creationId xmlns:a16="http://schemas.microsoft.com/office/drawing/2014/main" id="{17708CAE-6FB3-4BD2-B4B7-DB9C4EA57710}"/>
              </a:ext>
            </a:extLst>
          </p:cNvPr>
          <p:cNvSpPr>
            <a:spLocks xmlns:a="http://schemas.openxmlformats.org/drawingml/2006/main" noGrp="1"/>
          </p:cNvSpPr>
          <p:nvPr/>
        </p:nvSpPr>
        <p:spPr>
          <a:xfrm xmlns:a="http://schemas.openxmlformats.org/drawingml/2006/main">
            <a:off x="609600" y="5486400"/>
            <a:ext cx="52197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0">
                <a:solidFill>
                  <a:srgbClr val="58645D"/>
                </a:solidFill>
                <a:latin typeface="Helvetica Neue"/>
                <a:ea typeface="Helvetica Neue"/>
                <a:cs typeface="Helvetica Neue"/>
              </a:defRPr>
            </a:pPr>
            <a:r>
              <a:rPr sz="1350" b="0">
                <a:solidFill>
                  <a:srgbClr val="58645D"/>
                </a:solidFill>
                <a:latin typeface="Helvetica Neue"/>
                <a:ea typeface="Helvetica Neue"/>
                <a:cs typeface="Helvetica Neue"/>
              </a:rPr>
              <a:t>Design deliverables and engineering handoff</a:t>
            </a:r>
          </a:p>
        </p:txBody>
      </p:sp>
      <p:sp>
        <p:nvSpPr>
          <p:cNvPr id="7" name="entry-scope">
            <a:extLst xmlns:a="http://schemas.openxmlformats.org/drawingml/2006/main">
              <a:ext uri="{FF2B5EF4-FFF2-40B4-BE49-F238E27FC236}">
                <a16:creationId xmlns:a16="http://schemas.microsoft.com/office/drawing/2014/main" id="{680D3037-037E-411E-B172-455DF803E101}"/>
              </a:ext>
            </a:extLst>
          </p:cNvPr>
          <p:cNvSpPr>
            <a:spLocks xmlns:a="http://schemas.openxmlformats.org/drawingml/2006/main" noGrp="1"/>
          </p:cNvSpPr>
          <p:nvPr/>
        </p:nvSpPr>
        <p:spPr>
          <a:xfrm xmlns:a="http://schemas.openxmlformats.org/drawingml/2006/main">
            <a:off x="609600" y="5943600"/>
            <a:ext cx="504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0">
                <a:solidFill>
                  <a:srgbClr val="58645D"/>
                </a:solidFill>
                <a:latin typeface="Helvetica Neue"/>
                <a:ea typeface="Helvetica Neue"/>
                <a:cs typeface="Helvetica Neue"/>
              </a:defRPr>
            </a:pPr>
            <a:r>
              <a:rPr sz="1350" b="0">
                <a:solidFill>
                  <a:srgbClr val="58645D"/>
                </a:solidFill>
                <a:latin typeface="Helvetica Neue"/>
                <a:ea typeface="Helvetica Neue"/>
                <a:cs typeface="Helvetica Neue"/>
              </a:rPr>
              <a:t>Mobile and desktop conversation flows</a:t>
            </a:r>
          </a:p>
        </p:txBody>
      </p:sp>
      <p:sp>
        <p:nvSpPr>
          <p:cNvPr id="8" name="phone-surface">
            <a:extLst xmlns:a="http://schemas.openxmlformats.org/drawingml/2006/main">
              <a:ext uri="{FF2B5EF4-FFF2-40B4-BE49-F238E27FC236}">
                <a16:creationId xmlns:a16="http://schemas.microsoft.com/office/drawing/2014/main" id="{E547E1DC-4998-4205-9CE8-E08467A25409}"/>
              </a:ext>
            </a:extLst>
          </p:cNvPr>
          <p:cNvSpPr>
            <a:spLocks xmlns:a="http://schemas.openxmlformats.org/drawingml/2006/main" noGrp="1"/>
          </p:cNvSpPr>
          <p:nvPr/>
        </p:nvSpPr>
        <p:spPr>
          <a:xfrm xmlns:a="http://schemas.openxmlformats.org/drawingml/2006/main">
            <a:off x="7372350" y="847725"/>
            <a:ext cx="3657600" cy="5514975"/>
          </a:xfrm>
          <a:prstGeom xmlns:a="http://schemas.openxmlformats.org/drawingml/2006/main" prst="rect">
            <a:avLst/>
          </a:prstGeom>
          <a:solidFill xmlns:a="http://schemas.openxmlformats.org/drawingml/2006/main">
            <a:srgbClr val="E1E8DB"/>
          </a:solidFill>
          <a:ln xmlns:a="http://schemas.openxmlformats.org/drawingml/2006/main" w="0">
            <a:noFill/>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eae627802e054449"/>
          <a:stretch xmlns:a="http://schemas.openxmlformats.org/drawingml/2006/main"/>
        </p:blipFill>
        <p:spPr>
          <a:xfrm xmlns:a="http://schemas.openxmlformats.org/drawingml/2006/main">
            <a:off x="7982069" y="895350"/>
            <a:ext cx="2542936" cy="5448300"/>
          </a:xfrm>
          <a:prstGeom xmlns:a="http://schemas.openxmlformats.org/drawingml/2006/main" prst="rect">
            <a:avLst/>
          </a:prstGeom>
        </p:spPr>
      </p:pic>
    </p:spTree>
    <p:extLst>
      <p:ext uri="{BB962C8B-B14F-4D97-AF65-F5344CB8AC3E}">
        <p14:creationId xmlns:p14="http://schemas.microsoft.com/office/powerpoint/2010/main" val="1879305844"/>
      </p:ext>
    </p:extLst>
  </p:cSld>
</p:sld>
</file>

<file path=ppt/slides/slide5.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9" name="slide-number">
            <a:extLst xmlns:a="http://schemas.openxmlformats.org/drawingml/2006/main">
              <a:ext uri="{FF2B5EF4-FFF2-40B4-BE49-F238E27FC236}">
                <a16:creationId xmlns:a16="http://schemas.microsoft.com/office/drawing/2014/main" id="{2D7222CC-BEF2-4CB2-8DF4-4F6A92B53F06}"/>
              </a:ext>
            </a:extLst>
          </p:cNvPr>
          <p:cNvSpPr>
            <a:spLocks xmlns:a="http://schemas.openxmlformats.org/drawingml/2006/main" noGrp="1"/>
          </p:cNvSpPr>
          <p:nvPr/>
        </p:nvSpPr>
        <p:spPr>
          <a:xfrm xmlns:a="http://schemas.openxmlformats.org/drawingml/2006/main">
            <a:off x="11353800" y="651510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05</a:t>
            </a:r>
          </a:p>
        </p:txBody>
      </p:sp>
      <p:sp>
        <p:nvSpPr>
          <p:cNvPr id="2" name="section-label">
            <a:extLst xmlns:a="http://schemas.openxmlformats.org/drawingml/2006/main">
              <a:ext uri="{FF2B5EF4-FFF2-40B4-BE49-F238E27FC236}">
                <a16:creationId xmlns:a16="http://schemas.microsoft.com/office/drawing/2014/main" id="{124454EC-706E-4356-86A3-FF4268D70EBC}"/>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FLINT   /   RESPONSE IN PROGRESS</a:t>
            </a:r>
          </a:p>
        </p:txBody>
      </p:sp>
      <p:sp>
        <p:nvSpPr>
          <p:cNvPr id="3" name="headline">
            <a:extLst xmlns:a="http://schemas.openxmlformats.org/drawingml/2006/main">
              <a:ext uri="{FF2B5EF4-FFF2-40B4-BE49-F238E27FC236}">
                <a16:creationId xmlns:a16="http://schemas.microsoft.com/office/drawing/2014/main" id="{9A546645-5551-4CD3-BC39-FA3AA0F588C0}"/>
              </a:ext>
            </a:extLst>
          </p:cNvPr>
          <p:cNvSpPr>
            <a:spLocks xmlns:a="http://schemas.openxmlformats.org/drawingml/2006/main" noGrp="1"/>
          </p:cNvSpPr>
          <p:nvPr/>
        </p:nvSpPr>
        <p:spPr>
          <a:xfrm xmlns:a="http://schemas.openxmlformats.org/drawingml/2006/main">
            <a:off x="609600" y="1123950"/>
            <a:ext cx="567690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Waiting is part of</a:t>
            </a:r>
          </a:p>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the conversation</a:t>
            </a:r>
          </a:p>
        </p:txBody>
      </p:sp>
      <p:sp>
        <p:nvSpPr>
          <p:cNvPr id="4" name="waiting-decision">
            <a:extLst xmlns:a="http://schemas.openxmlformats.org/drawingml/2006/main">
              <a:ext uri="{FF2B5EF4-FFF2-40B4-BE49-F238E27FC236}">
                <a16:creationId xmlns:a16="http://schemas.microsoft.com/office/drawing/2014/main" id="{5D7406CF-D8FD-4C5C-9E5D-7520A05C4887}"/>
              </a:ext>
            </a:extLst>
          </p:cNvPr>
          <p:cNvSpPr>
            <a:spLocks xmlns:a="http://schemas.openxmlformats.org/drawingml/2006/main" noGrp="1"/>
          </p:cNvSpPr>
          <p:nvPr/>
        </p:nvSpPr>
        <p:spPr>
          <a:xfrm xmlns:a="http://schemas.openxmlformats.org/drawingml/2006/main">
            <a:off x="609600" y="3124200"/>
            <a:ext cx="4619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I kept the question visible and gave the response a distinct waiting state.</a:t>
            </a:r>
          </a:p>
        </p:txBody>
      </p:sp>
      <p:sp>
        <p:nvSpPr>
          <p:cNvPr id="5" name="waiting-constraint">
            <a:extLst xmlns:a="http://schemas.openxmlformats.org/drawingml/2006/main">
              <a:ext uri="{FF2B5EF4-FFF2-40B4-BE49-F238E27FC236}">
                <a16:creationId xmlns:a16="http://schemas.microsoft.com/office/drawing/2014/main" id="{A29F5756-3665-4E60-BE91-A29029AD85B1}"/>
              </a:ext>
            </a:extLst>
          </p:cNvPr>
          <p:cNvSpPr>
            <a:spLocks xmlns:a="http://schemas.openxmlformats.org/drawingml/2006/main" noGrp="1"/>
          </p:cNvSpPr>
          <p:nvPr/>
        </p:nvSpPr>
        <p:spPr>
          <a:xfrm xmlns:a="http://schemas.openxmlformats.org/drawingml/2006/main">
            <a:off x="609600" y="4543425"/>
            <a:ext cx="4619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0">
                <a:solidFill>
                  <a:srgbClr val="58645D"/>
                </a:solidFill>
                <a:latin typeface="Helvetica Neue"/>
                <a:ea typeface="Helvetica Neue"/>
                <a:cs typeface="Helvetica Neue"/>
              </a:defRPr>
            </a:pPr>
            <a:r>
              <a:rPr sz="1800" b="0">
                <a:solidFill>
                  <a:srgbClr val="58645D"/>
                </a:solidFill>
                <a:latin typeface="Helvetica Neue"/>
                <a:ea typeface="Helvetica Neue"/>
                <a:cs typeface="Helvetica Neue"/>
              </a:rPr>
              <a:t>Animation was an implementation question to resolve with engineering.</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595f607ea3414776"/>
          <a:stretch xmlns:a="http://schemas.openxmlformats.org/drawingml/2006/main"/>
        </p:blipFill>
        <p:spPr>
          <a:xfrm xmlns:a="http://schemas.openxmlformats.org/drawingml/2006/main">
            <a:off x="5850211" y="2362200"/>
            <a:ext cx="2872828" cy="1219200"/>
          </a:xfrm>
          <a:prstGeom xmlns:a="http://schemas.openxmlformats.org/drawingml/2006/main" prst="rect">
            <a:avLst/>
          </a:prstGeom>
        </p:spPr>
      </p:pic>
      <p:sp>
        <p:nvSpPr>
          <p:cNvPr id="7" name="detail-caption">
            <a:extLst xmlns:a="http://schemas.openxmlformats.org/drawingml/2006/main">
              <a:ext uri="{FF2B5EF4-FFF2-40B4-BE49-F238E27FC236}">
                <a16:creationId xmlns:a16="http://schemas.microsoft.com/office/drawing/2014/main" id="{8A71A9D5-1725-4FC0-8D77-E82B1B519ACB}"/>
              </a:ext>
            </a:extLst>
          </p:cNvPr>
          <p:cNvSpPr>
            <a:spLocks xmlns:a="http://schemas.openxmlformats.org/drawingml/2006/main" noGrp="1"/>
          </p:cNvSpPr>
          <p:nvPr/>
        </p:nvSpPr>
        <p:spPr>
          <a:xfrm xmlns:a="http://schemas.openxmlformats.org/drawingml/2006/main">
            <a:off x="5905500" y="3810000"/>
            <a:ext cx="2686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0">
                <a:solidFill>
                  <a:srgbClr val="58645D"/>
                </a:solidFill>
                <a:latin typeface="Helvetica Neue"/>
                <a:ea typeface="Helvetica Neue"/>
                <a:cs typeface="Helvetica Neue"/>
              </a:defRPr>
            </a:pPr>
            <a:r>
              <a:rPr sz="1200" b="0">
                <a:solidFill>
                  <a:srgbClr val="58645D"/>
                </a:solidFill>
                <a:latin typeface="Helvetica Neue"/>
                <a:ea typeface="Helvetica Neue"/>
                <a:cs typeface="Helvetica Neue"/>
              </a:rPr>
              <a:t>Original state detail</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ccdded0986084ffc"/>
          <a:stretch xmlns:a="http://schemas.openxmlformats.org/drawingml/2006/main"/>
        </p:blipFill>
        <p:spPr>
          <a:xfrm xmlns:a="http://schemas.openxmlformats.org/drawingml/2006/main">
            <a:off x="9087302" y="1076325"/>
            <a:ext cx="2351771" cy="5038725"/>
          </a:xfrm>
          <a:prstGeom xmlns:a="http://schemas.openxmlformats.org/drawingml/2006/main" prst="rect">
            <a:avLst/>
          </a:prstGeom>
        </p:spPr>
      </p:pic>
    </p:spTree>
    <p:extLst>
      <p:ext uri="{BB962C8B-B14F-4D97-AF65-F5344CB8AC3E}">
        <p14:creationId xmlns:p14="http://schemas.microsoft.com/office/powerpoint/2010/main" val="225100093"/>
      </p:ext>
    </p:extLst>
  </p:cSld>
</p:sld>
</file>

<file path=ppt/slides/slide6.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10" name="slide-number">
            <a:extLst xmlns:a="http://schemas.openxmlformats.org/drawingml/2006/main">
              <a:ext uri="{FF2B5EF4-FFF2-40B4-BE49-F238E27FC236}">
                <a16:creationId xmlns:a16="http://schemas.microsoft.com/office/drawing/2014/main" id="{6735AC0B-3D23-4956-985F-EBA3C51CEE32}"/>
              </a:ext>
            </a:extLst>
          </p:cNvPr>
          <p:cNvSpPr>
            <a:spLocks xmlns:a="http://schemas.openxmlformats.org/drawingml/2006/main" noGrp="1"/>
          </p:cNvSpPr>
          <p:nvPr/>
        </p:nvSpPr>
        <p:spPr>
          <a:xfrm xmlns:a="http://schemas.openxmlformats.org/drawingml/2006/main">
            <a:off x="11353800" y="651510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06</a:t>
            </a:r>
          </a:p>
        </p:txBody>
      </p:sp>
      <p:sp>
        <p:nvSpPr>
          <p:cNvPr id="2" name="section-label">
            <a:extLst xmlns:a="http://schemas.openxmlformats.org/drawingml/2006/main">
              <a:ext uri="{FF2B5EF4-FFF2-40B4-BE49-F238E27FC236}">
                <a16:creationId xmlns:a16="http://schemas.microsoft.com/office/drawing/2014/main" id="{F94FDED8-3B76-47F2-9A1C-AD306087150C}"/>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FLINT   /   INTERRUPTED AND OFFLINE STATES</a:t>
            </a:r>
          </a:p>
        </p:txBody>
      </p:sp>
      <p:sp>
        <p:nvSpPr>
          <p:cNvPr id="3" name="headline">
            <a:extLst xmlns:a="http://schemas.openxmlformats.org/drawingml/2006/main">
              <a:ext uri="{FF2B5EF4-FFF2-40B4-BE49-F238E27FC236}">
                <a16:creationId xmlns:a16="http://schemas.microsoft.com/office/drawing/2014/main" id="{4BC1BE6C-E7FB-4636-BC55-C46D7448BC8F}"/>
              </a:ext>
            </a:extLst>
          </p:cNvPr>
          <p:cNvSpPr>
            <a:spLocks xmlns:a="http://schemas.openxmlformats.org/drawingml/2006/main" noGrp="1"/>
          </p:cNvSpPr>
          <p:nvPr/>
        </p:nvSpPr>
        <p:spPr>
          <a:xfrm xmlns:a="http://schemas.openxmlformats.org/drawingml/2006/main">
            <a:off x="609600" y="1133475"/>
            <a:ext cx="4667250"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Recovery follows</a:t>
            </a:r>
          </a:p>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the failure</a:t>
            </a:r>
          </a:p>
        </p:txBody>
      </p:sp>
      <p:sp>
        <p:nvSpPr>
          <p:cNvPr id="4" name="recovery-decision">
            <a:extLst xmlns:a="http://schemas.openxmlformats.org/drawingml/2006/main">
              <a:ext uri="{FF2B5EF4-FFF2-40B4-BE49-F238E27FC236}">
                <a16:creationId xmlns:a16="http://schemas.microsoft.com/office/drawing/2014/main" id="{974B5DC4-C7DC-4426-8D72-D886955915D0}"/>
              </a:ext>
            </a:extLst>
          </p:cNvPr>
          <p:cNvSpPr>
            <a:spLocks xmlns:a="http://schemas.openxmlformats.org/drawingml/2006/main" noGrp="1"/>
          </p:cNvSpPr>
          <p:nvPr/>
        </p:nvSpPr>
        <p:spPr>
          <a:xfrm xmlns:a="http://schemas.openxmlformats.org/drawingml/2006/main">
            <a:off x="609600" y="3209925"/>
            <a:ext cx="4352925"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An incomplete answer and a lost connection need different next actions.</a:t>
            </a:r>
          </a:p>
        </p:txBody>
      </p:sp>
      <p:sp>
        <p:nvSpPr>
          <p:cNvPr id="5" name="recovery-outcome">
            <a:extLst xmlns:a="http://schemas.openxmlformats.org/drawingml/2006/main">
              <a:ext uri="{FF2B5EF4-FFF2-40B4-BE49-F238E27FC236}">
                <a16:creationId xmlns:a16="http://schemas.microsoft.com/office/drawing/2014/main" id="{C9250FCD-26F6-4FFF-8602-92379A77426F}"/>
              </a:ext>
            </a:extLst>
          </p:cNvPr>
          <p:cNvSpPr>
            <a:spLocks xmlns:a="http://schemas.openxmlformats.org/drawingml/2006/main" noGrp="1"/>
          </p:cNvSpPr>
          <p:nvPr/>
        </p:nvSpPr>
        <p:spPr>
          <a:xfrm xmlns:a="http://schemas.openxmlformats.org/drawingml/2006/main">
            <a:off x="609600" y="4772025"/>
            <a:ext cx="4352925"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0">
                <a:solidFill>
                  <a:srgbClr val="58645D"/>
                </a:solidFill>
                <a:latin typeface="Helvetica Neue"/>
                <a:ea typeface="Helvetica Neue"/>
                <a:cs typeface="Helvetica Neue"/>
              </a:defRPr>
            </a:pPr>
            <a:r>
              <a:rPr sz="1800" b="0">
                <a:solidFill>
                  <a:srgbClr val="58645D"/>
                </a:solidFill>
                <a:latin typeface="Helvetica Neue"/>
                <a:ea typeface="Helvetica Neue"/>
                <a:cs typeface="Helvetica Neue"/>
              </a:rPr>
              <a:t>I assembled the flows and their next actions into an annotated handoff for engineering.</a:t>
            </a:r>
          </a:p>
        </p:txBody>
      </p:sp>
      <p:sp>
        <p:nvSpPr>
          <p:cNvPr id="6" name="incomplete-label">
            <a:extLst xmlns:a="http://schemas.openxmlformats.org/drawingml/2006/main">
              <a:ext uri="{FF2B5EF4-FFF2-40B4-BE49-F238E27FC236}">
                <a16:creationId xmlns:a16="http://schemas.microsoft.com/office/drawing/2014/main" id="{94A1037B-AFA3-49B4-98F2-9BEF10C26BA8}"/>
              </a:ext>
            </a:extLst>
          </p:cNvPr>
          <p:cNvSpPr>
            <a:spLocks xmlns:a="http://schemas.openxmlformats.org/drawingml/2006/main" noGrp="1"/>
          </p:cNvSpPr>
          <p:nvPr/>
        </p:nvSpPr>
        <p:spPr>
          <a:xfrm xmlns:a="http://schemas.openxmlformats.org/drawingml/2006/main">
            <a:off x="5638800" y="819150"/>
            <a:ext cx="2495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Incomplete answer</a:t>
            </a:r>
          </a:p>
        </p:txBody>
      </p:sp>
      <p:sp>
        <p:nvSpPr>
          <p:cNvPr id="7" name="offline-label">
            <a:extLst xmlns:a="http://schemas.openxmlformats.org/drawingml/2006/main">
              <a:ext uri="{FF2B5EF4-FFF2-40B4-BE49-F238E27FC236}">
                <a16:creationId xmlns:a16="http://schemas.microsoft.com/office/drawing/2014/main" id="{97AD57EB-274A-4C97-8A76-66A6DB01F30E}"/>
              </a:ext>
            </a:extLst>
          </p:cNvPr>
          <p:cNvSpPr>
            <a:spLocks xmlns:a="http://schemas.openxmlformats.org/drawingml/2006/main" noGrp="1"/>
          </p:cNvSpPr>
          <p:nvPr/>
        </p:nvSpPr>
        <p:spPr>
          <a:xfrm xmlns:a="http://schemas.openxmlformats.org/drawingml/2006/main">
            <a:off x="8705850" y="819150"/>
            <a:ext cx="2495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Connection lost</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50f924476a714c93"/>
          <a:stretch xmlns:a="http://schemas.openxmlformats.org/drawingml/2006/main"/>
        </p:blipFill>
        <p:spPr>
          <a:xfrm xmlns:a="http://schemas.openxmlformats.org/drawingml/2006/main">
            <a:off x="5706555" y="1181100"/>
            <a:ext cx="2436239" cy="5219700"/>
          </a:xfrm>
          <a:prstGeom xmlns:a="http://schemas.openxmlformats.org/drawingml/2006/main" prst="rect">
            <a:avLst/>
          </a:prstGeom>
        </p:spPr>
      </p:pic>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db1c33133d2d46e8"/>
          <a:stretch xmlns:a="http://schemas.openxmlformats.org/drawingml/2006/main"/>
        </p:blipFill>
        <p:spPr>
          <a:xfrm xmlns:a="http://schemas.openxmlformats.org/drawingml/2006/main">
            <a:off x="8773605" y="1181100"/>
            <a:ext cx="2436239" cy="5219700"/>
          </a:xfrm>
          <a:prstGeom xmlns:a="http://schemas.openxmlformats.org/drawingml/2006/main" prst="rect">
            <a:avLst/>
          </a:prstGeom>
        </p:spPr>
      </p:pic>
    </p:spTree>
    <p:extLst>
      <p:ext uri="{BB962C8B-B14F-4D97-AF65-F5344CB8AC3E}">
        <p14:creationId xmlns:p14="http://schemas.microsoft.com/office/powerpoint/2010/main" val="1270374509"/>
      </p:ext>
    </p:extLst>
  </p:cSld>
</p:sld>
</file>

<file path=ppt/slides/slide7.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9" name="slide-number">
            <a:extLst xmlns:a="http://schemas.openxmlformats.org/drawingml/2006/main">
              <a:ext uri="{FF2B5EF4-FFF2-40B4-BE49-F238E27FC236}">
                <a16:creationId xmlns:a16="http://schemas.microsoft.com/office/drawing/2014/main" id="{A6E10D7E-67DB-42B8-B32C-A2021055B538}"/>
              </a:ext>
            </a:extLst>
          </p:cNvPr>
          <p:cNvSpPr>
            <a:spLocks xmlns:a="http://schemas.openxmlformats.org/drawingml/2006/main" noGrp="1"/>
          </p:cNvSpPr>
          <p:nvPr/>
        </p:nvSpPr>
        <p:spPr>
          <a:xfrm xmlns:a="http://schemas.openxmlformats.org/drawingml/2006/main">
            <a:off x="11353800" y="651510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07</a:t>
            </a:r>
          </a:p>
        </p:txBody>
      </p:sp>
      <p:sp>
        <p:nvSpPr>
          <p:cNvPr id="2" name="section-label">
            <a:extLst xmlns:a="http://schemas.openxmlformats.org/drawingml/2006/main">
              <a:ext uri="{FF2B5EF4-FFF2-40B4-BE49-F238E27FC236}">
                <a16:creationId xmlns:a16="http://schemas.microsoft.com/office/drawing/2014/main" id="{AC893F31-9F57-40DA-A461-F92CFAF0807F}"/>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PROMPT COMPASS   /   INDEPENDENT PROJECT</a:t>
            </a:r>
          </a:p>
        </p:txBody>
      </p:sp>
      <p:sp>
        <p:nvSpPr>
          <p:cNvPr id="3" name="headline">
            <a:extLst xmlns:a="http://schemas.openxmlformats.org/drawingml/2006/main">
              <a:ext uri="{FF2B5EF4-FFF2-40B4-BE49-F238E27FC236}">
                <a16:creationId xmlns:a16="http://schemas.microsoft.com/office/drawing/2014/main" id="{6BEFFDBC-B81A-4902-AD57-BC585D63245B}"/>
              </a:ext>
            </a:extLst>
          </p:cNvPr>
          <p:cNvSpPr>
            <a:spLocks xmlns:a="http://schemas.openxmlformats.org/drawingml/2006/main" noGrp="1"/>
          </p:cNvSpPr>
          <p:nvPr/>
        </p:nvSpPr>
        <p:spPr>
          <a:xfrm xmlns:a="http://schemas.openxmlformats.org/drawingml/2006/main">
            <a:off x="609600" y="1123950"/>
            <a:ext cx="4800600" cy="1419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900" b="1">
                <a:solidFill>
                  <a:srgbClr val="192B25"/>
                </a:solidFill>
                <a:latin typeface="Helvetica Neue"/>
                <a:ea typeface="Helvetica Neue"/>
                <a:cs typeface="Helvetica Neue"/>
              </a:defRPr>
            </a:pPr>
            <a:r>
              <a:rPr sz="3900" b="1">
                <a:solidFill>
                  <a:srgbClr val="192B25"/>
                </a:solidFill>
                <a:latin typeface="Helvetica Neue"/>
                <a:ea typeface="Helvetica Neue"/>
                <a:cs typeface="Helvetica Neue"/>
              </a:rPr>
              <a:t>Make the task</a:t>
            </a:r>
          </a:p>
          <a:p xmlns:a="http://schemas.openxmlformats.org/drawingml/2006/main">
            <a:pPr>
              <a:lnSpc>
                <a:spcPct val="110000"/>
              </a:lnSpc>
              <a:buNone/>
              <a:defRPr sz="3900" b="1">
                <a:solidFill>
                  <a:srgbClr val="192B25"/>
                </a:solidFill>
                <a:latin typeface="Helvetica Neue"/>
                <a:ea typeface="Helvetica Neue"/>
                <a:cs typeface="Helvetica Neue"/>
              </a:defRPr>
            </a:pPr>
            <a:r>
              <a:rPr sz="3900" b="1">
                <a:solidFill>
                  <a:srgbClr val="192B25"/>
                </a:solidFill>
                <a:latin typeface="Helvetica Neue"/>
                <a:ea typeface="Helvetica Neue"/>
                <a:cs typeface="Helvetica Neue"/>
              </a:rPr>
              <a:t>explicit.</a:t>
            </a:r>
          </a:p>
        </p:txBody>
      </p:sp>
      <p:sp>
        <p:nvSpPr>
          <p:cNvPr id="4" name="tool-contribution">
            <a:extLst xmlns:a="http://schemas.openxmlformats.org/drawingml/2006/main">
              <a:ext uri="{FF2B5EF4-FFF2-40B4-BE49-F238E27FC236}">
                <a16:creationId xmlns:a16="http://schemas.microsoft.com/office/drawing/2014/main" id="{D7D02AFD-676C-41CD-8307-EE35532E08F7}"/>
              </a:ext>
            </a:extLst>
          </p:cNvPr>
          <p:cNvSpPr>
            <a:spLocks xmlns:a="http://schemas.openxmlformats.org/drawingml/2006/main" noGrp="1"/>
          </p:cNvSpPr>
          <p:nvPr/>
        </p:nvSpPr>
        <p:spPr>
          <a:xfrm xmlns:a="http://schemas.openxmlformats.org/drawingml/2006/main">
            <a:off x="609600" y="3076575"/>
            <a:ext cx="4343400"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I built and released a tool that helps an AI assistant inspect requirements and compare prompt versions.</a:t>
            </a:r>
          </a:p>
        </p:txBody>
      </p:sp>
      <p:sp>
        <p:nvSpPr>
          <p:cNvPr id="5" name="tool-boundary">
            <a:extLst xmlns:a="http://schemas.openxmlformats.org/drawingml/2006/main">
              <a:ext uri="{FF2B5EF4-FFF2-40B4-BE49-F238E27FC236}">
                <a16:creationId xmlns:a16="http://schemas.microsoft.com/office/drawing/2014/main" id="{F5A52566-2CDC-48A3-A439-313D8E5392FD}"/>
              </a:ext>
            </a:extLst>
          </p:cNvPr>
          <p:cNvSpPr>
            <a:spLocks xmlns:a="http://schemas.openxmlformats.org/drawingml/2006/main" noGrp="1"/>
          </p:cNvSpPr>
          <p:nvPr/>
        </p:nvSpPr>
        <p:spPr>
          <a:xfrm xmlns:a="http://schemas.openxmlformats.org/drawingml/2006/main">
            <a:off x="609600" y="4838700"/>
            <a:ext cx="43434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500" b="0">
                <a:solidFill>
                  <a:srgbClr val="58645D"/>
                </a:solidFill>
                <a:latin typeface="Helvetica Neue"/>
                <a:ea typeface="Helvetica Neue"/>
                <a:cs typeface="Helvetica Neue"/>
              </a:defRPr>
            </a:pPr>
            <a:r>
              <a:rPr sz="1500" b="0">
                <a:solidFill>
                  <a:srgbClr val="58645D"/>
                </a:solidFill>
                <a:latin typeface="Helvetica Neue"/>
                <a:ea typeface="Helvetica Neue"/>
                <a:cs typeface="Helvetica Neue"/>
              </a:rPr>
              <a:t>Public beta released April 2026.</a:t>
            </a:r>
          </a:p>
          <a:p xmlns:a="http://schemas.openxmlformats.org/drawingml/2006/main">
            <a:pPr>
              <a:lnSpc>
                <a:spcPct val="110000"/>
              </a:lnSpc>
              <a:buNone/>
              <a:defRPr sz="1500" b="0">
                <a:solidFill>
                  <a:srgbClr val="58645D"/>
                </a:solidFill>
                <a:latin typeface="Helvetica Neue"/>
                <a:ea typeface="Helvetica Neue"/>
                <a:cs typeface="Helvetica Neue"/>
              </a:defRPr>
            </a:pPr>
            <a:r>
              <a:rPr sz="1500" b="0">
                <a:solidFill>
                  <a:srgbClr val="58645D"/>
                </a:solidFill>
                <a:latin typeface="Helvetica Neue"/>
                <a:ea typeface="Helvetica Neue"/>
                <a:cs typeface="Helvetica Neue"/>
              </a:rPr>
              <a:t>The pictured local test asks whether a rewrite preserves required output behavior.</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b732b14184ce4410"/>
          <a:stretch xmlns:a="http://schemas.openxmlformats.org/drawingml/2006/main"/>
        </p:blipFill>
        <p:spPr>
          <a:xfrm xmlns:a="http://schemas.openxmlformats.org/drawingml/2006/main">
            <a:off x="5514975" y="1658112"/>
            <a:ext cx="6038850" cy="4589526"/>
          </a:xfrm>
          <a:prstGeom xmlns:a="http://schemas.openxmlformats.org/drawingml/2006/main" prst="rect">
            <a:avLst/>
          </a:prstGeom>
        </p:spPr>
      </p:pic>
      <p:sp>
        <p:nvSpPr>
          <p:cNvPr id="7" name="public-release-surface">
            <a:extLst xmlns:a="http://schemas.openxmlformats.org/drawingml/2006/main">
              <a:ext uri="{FF2B5EF4-FFF2-40B4-BE49-F238E27FC236}">
                <a16:creationId xmlns:a16="http://schemas.microsoft.com/office/drawing/2014/main" id="{2B346915-076A-4E70-88AF-ACA4DD66526F}"/>
              </a:ext>
            </a:extLst>
          </p:cNvPr>
          <p:cNvSpPr>
            <a:spLocks xmlns:a="http://schemas.openxmlformats.org/drawingml/2006/main" noGrp="1"/>
          </p:cNvSpPr>
          <p:nvPr/>
        </p:nvSpPr>
        <p:spPr>
          <a:xfrm xmlns:a="http://schemas.openxmlformats.org/drawingml/2006/main">
            <a:off x="609600" y="6048375"/>
            <a:ext cx="3124200" cy="438150"/>
          </a:xfrm>
          <a:prstGeom xmlns:a="http://schemas.openxmlformats.org/drawingml/2006/main" prst="rect">
            <a:avLst/>
          </a:prstGeom>
          <a:solidFill xmlns:a="http://schemas.openxmlformats.org/drawingml/2006/main">
            <a:srgbClr val="244D3C"/>
          </a:solidFill>
          <a:ln xmlns:a="http://schemas.openxmlformats.org/drawingml/2006/main" w="0">
            <a:noFill/>
          </a:ln>
        </p:spPr>
      </p:sp>
      <p:sp>
        <p:nvSpPr>
          <p:cNvPr id="8" name="public-release">
            <a:extLst xmlns:a="http://schemas.openxmlformats.org/drawingml/2006/main">
              <a:ext uri="{FF2B5EF4-FFF2-40B4-BE49-F238E27FC236}">
                <a16:creationId xmlns:a16="http://schemas.microsoft.com/office/drawing/2014/main" id="{F0A5D86A-6FC6-47F1-B082-AD05719FD046}"/>
              </a:ext>
            </a:extLst>
          </p:cNvPr>
          <p:cNvSpPr>
            <a:spLocks xmlns:a="http://schemas.openxmlformats.org/drawingml/2006/main" noGrp="1"/>
          </p:cNvSpPr>
          <p:nvPr/>
        </p:nvSpPr>
        <p:spPr>
          <a:xfrm xmlns:a="http://schemas.openxmlformats.org/drawingml/2006/main">
            <a:off x="762000" y="6162675"/>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0" u="sng">
                <a:solidFill>
                  <a:srgbClr val="DBEB89"/>
                </a:solidFill>
                <a:latin typeface="Helvetica Neue"/>
                <a:ea typeface="Helvetica Neue"/>
                <a:cs typeface="Helvetica Neue"/>
              </a:defRPr>
            </a:pPr>
            <a:r>
              <a:rPr sz="1350" b="0" u="sng">
                <a:solidFill>
                  <a:srgbClr val="DBEB89"/>
                </a:solidFill>
                <a:latin typeface="Helvetica Neue"/>
                <a:ea typeface="Helvetica Neue"/>
                <a:cs typeface="Helvetica Neue"/>
                <a:hlinkClick xmlns:r="http://schemas.openxmlformats.org/officeDocument/2006/relationships" r:id="R0a01801b8a894024"/>
              </a:rPr>
              <a:t>Explore the public beta</a:t>
            </a:r>
          </a:p>
        </p:txBody>
      </p:sp>
    </p:spTree>
    <p:extLst>
      <p:ext uri="{BB962C8B-B14F-4D97-AF65-F5344CB8AC3E}">
        <p14:creationId xmlns:p14="http://schemas.microsoft.com/office/powerpoint/2010/main" val="572953033"/>
      </p:ext>
    </p:extLst>
  </p:cSld>
</p:sld>
</file>

<file path=ppt/slides/slide8.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8" name="slide-number">
            <a:extLst xmlns:a="http://schemas.openxmlformats.org/drawingml/2006/main">
              <a:ext uri="{FF2B5EF4-FFF2-40B4-BE49-F238E27FC236}">
                <a16:creationId xmlns:a16="http://schemas.microsoft.com/office/drawing/2014/main" id="{95EE9373-BA45-4038-9814-BB1A9BEAB6CB}"/>
              </a:ext>
            </a:extLst>
          </p:cNvPr>
          <p:cNvSpPr>
            <a:spLocks xmlns:a="http://schemas.openxmlformats.org/drawingml/2006/main" noGrp="1"/>
          </p:cNvSpPr>
          <p:nvPr/>
        </p:nvSpPr>
        <p:spPr>
          <a:xfrm xmlns:a="http://schemas.openxmlformats.org/drawingml/2006/main">
            <a:off x="11353800" y="651510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08</a:t>
            </a:r>
          </a:p>
        </p:txBody>
      </p:sp>
      <p:sp>
        <p:nvSpPr>
          <p:cNvPr id="2" name="section-label">
            <a:extLst xmlns:a="http://schemas.openxmlformats.org/drawingml/2006/main">
              <a:ext uri="{FF2B5EF4-FFF2-40B4-BE49-F238E27FC236}">
                <a16:creationId xmlns:a16="http://schemas.microsoft.com/office/drawing/2014/main" id="{9744BDA2-506F-4344-A26C-3A9141694E8F}"/>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OAK AI   /   LEAD UX RESEARCHER, 2023–2025</a:t>
            </a:r>
          </a:p>
        </p:txBody>
      </p:sp>
      <p:sp>
        <p:nvSpPr>
          <p:cNvPr id="3" name="headline">
            <a:extLst xmlns:a="http://schemas.openxmlformats.org/drawingml/2006/main">
              <a:ext uri="{FF2B5EF4-FFF2-40B4-BE49-F238E27FC236}">
                <a16:creationId xmlns:a16="http://schemas.microsoft.com/office/drawing/2014/main" id="{66431243-5CAD-4B1A-9012-0B24063E826B}"/>
              </a:ext>
            </a:extLst>
          </p:cNvPr>
          <p:cNvSpPr>
            <a:spLocks xmlns:a="http://schemas.openxmlformats.org/drawingml/2006/main" noGrp="1"/>
          </p:cNvSpPr>
          <p:nvPr/>
        </p:nvSpPr>
        <p:spPr>
          <a:xfrm xmlns:a="http://schemas.openxmlformats.org/drawingml/2006/main">
            <a:off x="609600" y="1104900"/>
            <a:ext cx="424815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750" b="1">
                <a:solidFill>
                  <a:srgbClr val="192B25"/>
                </a:solidFill>
                <a:latin typeface="Helvetica Neue"/>
                <a:ea typeface="Helvetica Neue"/>
                <a:cs typeface="Helvetica Neue"/>
              </a:defRPr>
            </a:pPr>
            <a:r>
              <a:rPr sz="3750" b="1">
                <a:solidFill>
                  <a:srgbClr val="192B25"/>
                </a:solidFill>
                <a:latin typeface="Helvetica Neue"/>
                <a:ea typeface="Helvetica Neue"/>
                <a:cs typeface="Helvetica Neue"/>
              </a:rPr>
              <a:t>Competing</a:t>
            </a:r>
          </a:p>
          <a:p xmlns:a="http://schemas.openxmlformats.org/drawingml/2006/main">
            <a:pPr>
              <a:lnSpc>
                <a:spcPct val="110000"/>
              </a:lnSpc>
              <a:buNone/>
              <a:defRPr sz="3750" b="1">
                <a:solidFill>
                  <a:srgbClr val="192B25"/>
                </a:solidFill>
                <a:latin typeface="Helvetica Neue"/>
                <a:ea typeface="Helvetica Neue"/>
                <a:cs typeface="Helvetica Neue"/>
              </a:defRPr>
            </a:pPr>
            <a:r>
              <a:rPr sz="3750" b="1">
                <a:solidFill>
                  <a:srgbClr val="192B25"/>
                </a:solidFill>
                <a:latin typeface="Helvetica Neue"/>
                <a:ea typeface="Helvetica Neue"/>
                <a:cs typeface="Helvetica Neue"/>
              </a:rPr>
              <a:t>entry points</a:t>
            </a:r>
          </a:p>
        </p:txBody>
      </p:sp>
      <p:sp>
        <p:nvSpPr>
          <p:cNvPr id="4" name="oak-observation">
            <a:extLst xmlns:a="http://schemas.openxmlformats.org/drawingml/2006/main">
              <a:ext uri="{FF2B5EF4-FFF2-40B4-BE49-F238E27FC236}">
                <a16:creationId xmlns:a16="http://schemas.microsoft.com/office/drawing/2014/main" id="{49676C00-6B9D-498E-942A-B4D7AABC4889}"/>
              </a:ext>
            </a:extLst>
          </p:cNvPr>
          <p:cNvSpPr>
            <a:spLocks xmlns:a="http://schemas.openxmlformats.org/drawingml/2006/main" noGrp="1"/>
          </p:cNvSpPr>
          <p:nvPr/>
        </p:nvSpPr>
        <p:spPr>
          <a:xfrm xmlns:a="http://schemas.openxmlformats.org/drawingml/2006/main">
            <a:off x="609600" y="2981325"/>
            <a:ext cx="4057650" cy="1743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0">
                <a:solidFill>
                  <a:srgbClr val="192B25"/>
                </a:solidFill>
                <a:latin typeface="Helvetica Neue"/>
                <a:ea typeface="Helvetica Neue"/>
                <a:cs typeface="Helvetica Neue"/>
              </a:defRPr>
            </a:pPr>
            <a:r>
              <a:rPr sz="1950" b="0">
                <a:solidFill>
                  <a:srgbClr val="192B25"/>
                </a:solidFill>
                <a:latin typeface="Helvetica Neue"/>
                <a:ea typeface="Helvetica Neue"/>
                <a:cs typeface="Helvetica Neue"/>
              </a:rPr>
              <a:t>Training an assistant, starting a Vibecheck and requesting support competed at the same entry point.</a:t>
            </a:r>
          </a:p>
        </p:txBody>
      </p:sp>
      <p:sp>
        <p:nvSpPr>
          <p:cNvPr id="5" name="oak-rationale">
            <a:extLst xmlns:a="http://schemas.openxmlformats.org/drawingml/2006/main">
              <a:ext uri="{FF2B5EF4-FFF2-40B4-BE49-F238E27FC236}">
                <a16:creationId xmlns:a16="http://schemas.microsoft.com/office/drawing/2014/main" id="{A1B0B518-9D12-4199-8B2B-C50E4E770460}"/>
              </a:ext>
            </a:extLst>
          </p:cNvPr>
          <p:cNvSpPr>
            <a:spLocks xmlns:a="http://schemas.openxmlformats.org/drawingml/2006/main" noGrp="1"/>
          </p:cNvSpPr>
          <p:nvPr/>
        </p:nvSpPr>
        <p:spPr>
          <a:xfrm xmlns:a="http://schemas.openxmlformats.org/drawingml/2006/main">
            <a:off x="609600" y="5038725"/>
            <a:ext cx="40576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58645D"/>
                </a:solidFill>
                <a:latin typeface="Helvetica Neue"/>
                <a:ea typeface="Helvetica Neue"/>
                <a:cs typeface="Helvetica Neue"/>
              </a:defRPr>
            </a:pPr>
            <a:r>
              <a:rPr sz="1725" b="0">
                <a:solidFill>
                  <a:srgbClr val="58645D"/>
                </a:solidFill>
                <a:latin typeface="Helvetica Neue"/>
                <a:ea typeface="Helvetica Neue"/>
                <a:cs typeface="Helvetica Neue"/>
              </a:rPr>
              <a:t>I used the audit to make these choices explicit for the team’s review.</a:t>
            </a:r>
          </a:p>
        </p:txBody>
      </p:sp>
      <p:sp>
        <p:nvSpPr>
          <p:cNvPr id="6" name="oak-stage">
            <a:extLst xmlns:a="http://schemas.openxmlformats.org/drawingml/2006/main">
              <a:ext uri="{FF2B5EF4-FFF2-40B4-BE49-F238E27FC236}">
                <a16:creationId xmlns:a16="http://schemas.microsoft.com/office/drawing/2014/main" id="{BCB58EA9-A4F0-4D62-9921-8A08B96476E5}"/>
              </a:ext>
            </a:extLst>
          </p:cNvPr>
          <p:cNvSpPr>
            <a:spLocks xmlns:a="http://schemas.openxmlformats.org/drawingml/2006/main" noGrp="1"/>
          </p:cNvSpPr>
          <p:nvPr/>
        </p:nvSpPr>
        <p:spPr>
          <a:xfrm xmlns:a="http://schemas.openxmlformats.org/drawingml/2006/main">
            <a:off x="609600" y="6096000"/>
            <a:ext cx="4248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0">
                <a:solidFill>
                  <a:srgbClr val="58645D"/>
                </a:solidFill>
                <a:latin typeface="Helvetica Neue"/>
                <a:ea typeface="Helvetica Neue"/>
                <a:cs typeface="Helvetica Neue"/>
              </a:defRPr>
            </a:pPr>
            <a:r>
              <a:rPr sz="1200" b="0">
                <a:solidFill>
                  <a:srgbClr val="58645D"/>
                </a:solidFill>
                <a:latin typeface="Helvetica Neue"/>
                <a:ea typeface="Helvetica Neue"/>
                <a:cs typeface="Helvetica Neue"/>
              </a:rPr>
              <a:t>Usability evaluation and design recommendations</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f989f3a7180f46a6"/>
          <a:stretch xmlns:a="http://schemas.openxmlformats.org/drawingml/2006/main"/>
        </p:blipFill>
        <p:spPr>
          <a:xfrm xmlns:a="http://schemas.openxmlformats.org/drawingml/2006/main">
            <a:off x="5147971" y="1438275"/>
            <a:ext cx="6429958" cy="5048250"/>
          </a:xfrm>
          <a:prstGeom xmlns:a="http://schemas.openxmlformats.org/drawingml/2006/main" prst="rect">
            <a:avLst/>
          </a:prstGeom>
        </p:spPr>
      </p:pic>
    </p:spTree>
    <p:extLst>
      <p:ext uri="{BB962C8B-B14F-4D97-AF65-F5344CB8AC3E}">
        <p14:creationId xmlns:p14="http://schemas.microsoft.com/office/powerpoint/2010/main" val="147205570"/>
      </p:ext>
    </p:extLst>
  </p:cSld>
</p:sld>
</file>

<file path=ppt/slides/slide9.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13" name="slide-number">
            <a:extLst xmlns:a="http://schemas.openxmlformats.org/drawingml/2006/main">
              <a:ext uri="{FF2B5EF4-FFF2-40B4-BE49-F238E27FC236}">
                <a16:creationId xmlns:a16="http://schemas.microsoft.com/office/drawing/2014/main" id="{2682CBC0-3C83-4713-A235-7FFCF2DDA95C}"/>
              </a:ext>
            </a:extLst>
          </p:cNvPr>
          <p:cNvSpPr>
            <a:spLocks xmlns:a="http://schemas.openxmlformats.org/drawingml/2006/main" noGrp="1"/>
          </p:cNvSpPr>
          <p:nvPr/>
        </p:nvSpPr>
        <p:spPr>
          <a:xfrm xmlns:a="http://schemas.openxmlformats.org/drawingml/2006/main">
            <a:off x="11353800" y="651510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09</a:t>
            </a:r>
          </a:p>
        </p:txBody>
      </p:sp>
      <p:sp>
        <p:nvSpPr>
          <p:cNvPr id="2" name="section-label">
            <a:extLst xmlns:a="http://schemas.openxmlformats.org/drawingml/2006/main">
              <a:ext uri="{FF2B5EF4-FFF2-40B4-BE49-F238E27FC236}">
                <a16:creationId xmlns:a16="http://schemas.microsoft.com/office/drawing/2014/main" id="{462DEEDB-D6C2-45F9-9B7F-A28DE332641C}"/>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OAK AI   /   LOGIN FEEDBACK</a:t>
            </a:r>
          </a:p>
        </p:txBody>
      </p:sp>
      <p:sp>
        <p:nvSpPr>
          <p:cNvPr id="3" name="headline">
            <a:extLst xmlns:a="http://schemas.openxmlformats.org/drawingml/2006/main">
              <a:ext uri="{FF2B5EF4-FFF2-40B4-BE49-F238E27FC236}">
                <a16:creationId xmlns:a16="http://schemas.microsoft.com/office/drawing/2014/main" id="{223D22F1-DDA2-4BC6-BB5E-B22141D8C94E}"/>
              </a:ext>
            </a:extLst>
          </p:cNvPr>
          <p:cNvSpPr>
            <a:spLocks xmlns:a="http://schemas.openxmlformats.org/drawingml/2006/main" noGrp="1"/>
          </p:cNvSpPr>
          <p:nvPr/>
        </p:nvSpPr>
        <p:spPr>
          <a:xfrm xmlns:a="http://schemas.openxmlformats.org/drawingml/2006/main">
            <a:off x="609600" y="1143000"/>
            <a:ext cx="421005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450" b="1">
                <a:solidFill>
                  <a:srgbClr val="192B25"/>
                </a:solidFill>
                <a:latin typeface="Helvetica Neue"/>
                <a:ea typeface="Helvetica Neue"/>
                <a:cs typeface="Helvetica Neue"/>
              </a:defRPr>
            </a:pPr>
            <a:r>
              <a:rPr sz="3450" b="1">
                <a:solidFill>
                  <a:srgbClr val="192B25"/>
                </a:solidFill>
                <a:latin typeface="Helvetica Neue"/>
                <a:ea typeface="Helvetica Neue"/>
                <a:cs typeface="Helvetica Neue"/>
              </a:rPr>
              <a:t>Error feedback</a:t>
            </a:r>
          </a:p>
          <a:p xmlns:a="http://schemas.openxmlformats.org/drawingml/2006/main">
            <a:pPr>
              <a:lnSpc>
                <a:spcPct val="110000"/>
              </a:lnSpc>
              <a:buNone/>
              <a:defRPr sz="3450" b="1">
                <a:solidFill>
                  <a:srgbClr val="192B25"/>
                </a:solidFill>
                <a:latin typeface="Helvetica Neue"/>
                <a:ea typeface="Helvetica Neue"/>
                <a:cs typeface="Helvetica Neue"/>
              </a:defRPr>
            </a:pPr>
            <a:r>
              <a:rPr sz="3450" b="1">
                <a:solidFill>
                  <a:srgbClr val="192B25"/>
                </a:solidFill>
                <a:latin typeface="Helvetica Neue"/>
                <a:ea typeface="Helvetica Neue"/>
                <a:cs typeface="Helvetica Neue"/>
              </a:rPr>
              <a:t>beside the field</a:t>
            </a:r>
          </a:p>
        </p:txBody>
      </p:sp>
      <p:sp>
        <p:nvSpPr>
          <p:cNvPr id="4" name="oak-error-decision">
            <a:extLst xmlns:a="http://schemas.openxmlformats.org/drawingml/2006/main">
              <a:ext uri="{FF2B5EF4-FFF2-40B4-BE49-F238E27FC236}">
                <a16:creationId xmlns:a16="http://schemas.microsoft.com/office/drawing/2014/main" id="{2D696EE4-D29E-4A3A-AFC7-DBE396DCB2D2}"/>
              </a:ext>
            </a:extLst>
          </p:cNvPr>
          <p:cNvSpPr>
            <a:spLocks xmlns:a="http://schemas.openxmlformats.org/drawingml/2006/main" noGrp="1"/>
          </p:cNvSpPr>
          <p:nvPr/>
        </p:nvSpPr>
        <p:spPr>
          <a:xfrm xmlns:a="http://schemas.openxmlformats.org/drawingml/2006/main">
            <a:off x="609600" y="3276600"/>
            <a:ext cx="34956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I made the problem field visible where a person could act on it.</a:t>
            </a:r>
          </a:p>
        </p:txBody>
      </p:sp>
      <p:sp>
        <p:nvSpPr>
          <p:cNvPr id="5" name="oak-error-outcome">
            <a:extLst xmlns:a="http://schemas.openxmlformats.org/drawingml/2006/main">
              <a:ext uri="{FF2B5EF4-FFF2-40B4-BE49-F238E27FC236}">
                <a16:creationId xmlns:a16="http://schemas.microsoft.com/office/drawing/2014/main" id="{03C06A4F-1E2B-422C-B996-048D85C52961}"/>
              </a:ext>
            </a:extLst>
          </p:cNvPr>
          <p:cNvSpPr>
            <a:spLocks xmlns:a="http://schemas.openxmlformats.org/drawingml/2006/main" noGrp="1"/>
          </p:cNvSpPr>
          <p:nvPr/>
        </p:nvSpPr>
        <p:spPr>
          <a:xfrm xmlns:a="http://schemas.openxmlformats.org/drawingml/2006/main">
            <a:off x="609600" y="4848225"/>
            <a:ext cx="349567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58645D"/>
                </a:solidFill>
                <a:latin typeface="Helvetica Neue"/>
                <a:ea typeface="Helvetica Neue"/>
                <a:cs typeface="Helvetica Neue"/>
              </a:defRPr>
            </a:pPr>
            <a:r>
              <a:rPr sz="1725" b="0">
                <a:solidFill>
                  <a:srgbClr val="58645D"/>
                </a:solidFill>
                <a:latin typeface="Helvetica Neue"/>
                <a:ea typeface="Helvetica Neue"/>
                <a:cs typeface="Helvetica Neue"/>
              </a:rPr>
              <a:t>The recommendation gave the team a specific behavior to discuss and prioritize.</a:t>
            </a:r>
          </a:p>
        </p:txBody>
      </p:sp>
      <p:sp>
        <p:nvSpPr>
          <p:cNvPr id="6" name="before-label">
            <a:extLst xmlns:a="http://schemas.openxmlformats.org/drawingml/2006/main">
              <a:ext uri="{FF2B5EF4-FFF2-40B4-BE49-F238E27FC236}">
                <a16:creationId xmlns:a16="http://schemas.microsoft.com/office/drawing/2014/main" id="{55F647E6-7FF0-44D0-ABFC-A27F8A1B8F49}"/>
              </a:ext>
            </a:extLst>
          </p:cNvPr>
          <p:cNvSpPr>
            <a:spLocks xmlns:a="http://schemas.openxmlformats.org/drawingml/2006/main" noGrp="1"/>
          </p:cNvSpPr>
          <p:nvPr/>
        </p:nvSpPr>
        <p:spPr>
          <a:xfrm xmlns:a="http://schemas.openxmlformats.org/drawingml/2006/main">
            <a:off x="4495800" y="1828800"/>
            <a:ext cx="33147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Original</a:t>
            </a:r>
          </a:p>
        </p:txBody>
      </p:sp>
      <p:sp>
        <p:nvSpPr>
          <p:cNvPr id="7" name="after-label">
            <a:extLst xmlns:a="http://schemas.openxmlformats.org/drawingml/2006/main">
              <a:ext uri="{FF2B5EF4-FFF2-40B4-BE49-F238E27FC236}">
                <a16:creationId xmlns:a16="http://schemas.microsoft.com/office/drawing/2014/main" id="{451688EE-9EB5-4136-9C31-FC0A3EB0FA2B}"/>
              </a:ext>
            </a:extLst>
          </p:cNvPr>
          <p:cNvSpPr>
            <a:spLocks xmlns:a="http://schemas.openxmlformats.org/drawingml/2006/main" noGrp="1"/>
          </p:cNvSpPr>
          <p:nvPr/>
        </p:nvSpPr>
        <p:spPr>
          <a:xfrm xmlns:a="http://schemas.openxmlformats.org/drawingml/2006/main">
            <a:off x="8124825" y="1828800"/>
            <a:ext cx="33147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Proposed</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bec482ff883846c2"/>
          <a:stretch xmlns:a="http://schemas.openxmlformats.org/drawingml/2006/main"/>
        </p:blipFill>
        <p:spPr>
          <a:xfrm xmlns:a="http://schemas.openxmlformats.org/drawingml/2006/main">
            <a:off x="4495800" y="2517745"/>
            <a:ext cx="3314700" cy="2689285"/>
          </a:xfrm>
          <a:prstGeom xmlns:a="http://schemas.openxmlformats.org/drawingml/2006/main" prst="rect">
            <a:avLst/>
          </a:prstGeom>
        </p:spPr>
      </p:pic>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4847ceb57b4447b1"/>
          <a:stretch xmlns:a="http://schemas.openxmlformats.org/drawingml/2006/main"/>
        </p:blipFill>
        <p:spPr>
          <a:xfrm xmlns:a="http://schemas.openxmlformats.org/drawingml/2006/main">
            <a:off x="8124825" y="2674620"/>
            <a:ext cx="3314700" cy="2375535"/>
          </a:xfrm>
          <a:prstGeom xmlns:a="http://schemas.openxmlformats.org/drawingml/2006/main" prst="rect">
            <a:avLst/>
          </a:prstGeom>
        </p:spPr>
      </p:pic>
      <p:sp>
        <p:nvSpPr>
          <p:cNvPr id="10" name="footer-label">
            <a:extLst xmlns:a="http://schemas.openxmlformats.org/drawingml/2006/main">
              <a:ext uri="{FF2B5EF4-FFF2-40B4-BE49-F238E27FC236}">
                <a16:creationId xmlns:a16="http://schemas.microsoft.com/office/drawing/2014/main" id="{5E4D126A-1328-432C-A9AC-C1B30F63A9EC}"/>
              </a:ext>
            </a:extLst>
          </p:cNvPr>
          <p:cNvSpPr>
            <a:spLocks xmlns:a="http://schemas.openxmlformats.org/drawingml/2006/main" noGrp="1"/>
          </p:cNvSpPr>
          <p:nvPr/>
        </p:nvSpPr>
        <p:spPr>
          <a:xfrm xmlns:a="http://schemas.openxmlformats.org/drawingml/2006/main">
            <a:off x="4495800" y="5514975"/>
            <a:ext cx="3314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75" b="0">
                <a:solidFill>
                  <a:srgbClr val="58645D"/>
                </a:solidFill>
                <a:latin typeface="Helvetica Neue"/>
                <a:ea typeface="Helvetica Neue"/>
                <a:cs typeface="Helvetica Neue"/>
              </a:defRPr>
            </a:pPr>
            <a:r>
              <a:rPr sz="1275" b="0">
                <a:solidFill>
                  <a:srgbClr val="58645D"/>
                </a:solidFill>
                <a:latin typeface="Helvetica Neue"/>
                <a:ea typeface="Helvetica Neue"/>
                <a:cs typeface="Helvetica Neue"/>
              </a:rPr>
              <a:t>Original error at the page footer</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e3c55b84788d4a4c"/>
          <a:stretch xmlns:a="http://schemas.openxmlformats.org/drawingml/2006/main"/>
        </p:blipFill>
        <p:spPr>
          <a:xfrm xmlns:a="http://schemas.openxmlformats.org/drawingml/2006/main">
            <a:off x="4495800" y="5918026"/>
            <a:ext cx="3314700" cy="317848"/>
          </a:xfrm>
          <a:prstGeom xmlns:a="http://schemas.openxmlformats.org/drawingml/2006/main" prst="rect">
            <a:avLst/>
          </a:prstGeom>
        </p:spPr>
      </p:pic>
      <p:sp>
        <p:nvSpPr>
          <p:cNvPr id="12" name="field-label">
            <a:extLst xmlns:a="http://schemas.openxmlformats.org/drawingml/2006/main">
              <a:ext uri="{FF2B5EF4-FFF2-40B4-BE49-F238E27FC236}">
                <a16:creationId xmlns:a16="http://schemas.microsoft.com/office/drawing/2014/main" id="{6CDFC8A3-64CC-4BCA-9076-8D10C48AD509}"/>
              </a:ext>
            </a:extLst>
          </p:cNvPr>
          <p:cNvSpPr>
            <a:spLocks xmlns:a="http://schemas.openxmlformats.org/drawingml/2006/main" noGrp="1"/>
          </p:cNvSpPr>
          <p:nvPr/>
        </p:nvSpPr>
        <p:spPr>
          <a:xfrm xmlns:a="http://schemas.openxmlformats.org/drawingml/2006/main">
            <a:off x="8124825" y="5514975"/>
            <a:ext cx="33147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75" b="0">
                <a:solidFill>
                  <a:srgbClr val="58645D"/>
                </a:solidFill>
                <a:latin typeface="Helvetica Neue"/>
                <a:ea typeface="Helvetica Neue"/>
                <a:cs typeface="Helvetica Neue"/>
              </a:defRPr>
            </a:pPr>
            <a:r>
              <a:rPr sz="1275" b="0">
                <a:solidFill>
                  <a:srgbClr val="58645D"/>
                </a:solidFill>
                <a:latin typeface="Helvetica Neue"/>
                <a:ea typeface="Helvetica Neue"/>
                <a:cs typeface="Helvetica Neue"/>
              </a:rPr>
              <a:t>Proposed feedback beside the field</a:t>
            </a:r>
          </a:p>
        </p:txBody>
      </p:sp>
    </p:spTree>
    <p:extLst>
      <p:ext uri="{BB962C8B-B14F-4D97-AF65-F5344CB8AC3E}">
        <p14:creationId xmlns:p14="http://schemas.microsoft.com/office/powerpoint/2010/main" val="1277667788"/>
      </p:ext>
    </p:extLst>
  </p:cSld>
</p:sld>
</file>

<file path=ppt/slides/slide10.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9" name="slide-number">
            <a:extLst xmlns:a="http://schemas.openxmlformats.org/drawingml/2006/main">
              <a:ext uri="{FF2B5EF4-FFF2-40B4-BE49-F238E27FC236}">
                <a16:creationId xmlns:a16="http://schemas.microsoft.com/office/drawing/2014/main" id="{80932D9A-2486-426E-B487-4EC607BD7C81}"/>
              </a:ext>
            </a:extLst>
          </p:cNvPr>
          <p:cNvSpPr>
            <a:spLocks xmlns:a="http://schemas.openxmlformats.org/drawingml/2006/main" noGrp="1"/>
          </p:cNvSpPr>
          <p:nvPr/>
        </p:nvSpPr>
        <p:spPr>
          <a:xfrm xmlns:a="http://schemas.openxmlformats.org/drawingml/2006/main">
            <a:off x="11353800" y="651510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10</a:t>
            </a:r>
          </a:p>
        </p:txBody>
      </p:sp>
      <p:sp>
        <p:nvSpPr>
          <p:cNvPr id="2" name="story-image-surface">
            <a:extLst xmlns:a="http://schemas.openxmlformats.org/drawingml/2006/main">
              <a:ext uri="{FF2B5EF4-FFF2-40B4-BE49-F238E27FC236}">
                <a16:creationId xmlns:a16="http://schemas.microsoft.com/office/drawing/2014/main" id="{DD560060-9068-4954-B190-47F7FE9BA396}"/>
              </a:ext>
            </a:extLst>
          </p:cNvPr>
          <p:cNvSpPr>
            <a:spLocks xmlns:a="http://schemas.openxmlformats.org/drawingml/2006/main" noGrp="1"/>
          </p:cNvSpPr>
          <p:nvPr/>
        </p:nvSpPr>
        <p:spPr>
          <a:xfrm xmlns:a="http://schemas.openxmlformats.org/drawingml/2006/main">
            <a:off x="6705600" y="0"/>
            <a:ext cx="5486400" cy="6858000"/>
          </a:xfrm>
          <a:prstGeom xmlns:a="http://schemas.openxmlformats.org/drawingml/2006/main" prst="rect">
            <a:avLst/>
          </a:prstGeom>
          <a:solidFill xmlns:a="http://schemas.openxmlformats.org/drawingml/2006/main">
            <a:srgbClr val="E1E8DB"/>
          </a:solidFill>
          <a:ln xmlns:a="http://schemas.openxmlformats.org/drawingml/2006/main" w="0">
            <a:noFill/>
          </a:ln>
        </p:spPr>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7d7eeaffd7bc4836"/>
          <a:stretch xmlns:a="http://schemas.openxmlformats.org/drawingml/2006/main"/>
        </p:blipFill>
        <p:spPr>
          <a:xfrm xmlns:a="http://schemas.openxmlformats.org/drawingml/2006/main">
            <a:off x="7010400" y="1466850"/>
            <a:ext cx="4876800" cy="4876800"/>
          </a:xfrm>
          <a:prstGeom xmlns:a="http://schemas.openxmlformats.org/drawingml/2006/main" prst="rect">
            <a:avLst/>
          </a:prstGeom>
        </p:spPr>
      </p:pic>
      <p:sp>
        <p:nvSpPr>
          <p:cNvPr id="4" name="section-label">
            <a:extLst xmlns:a="http://schemas.openxmlformats.org/drawingml/2006/main">
              <a:ext uri="{FF2B5EF4-FFF2-40B4-BE49-F238E27FC236}">
                <a16:creationId xmlns:a16="http://schemas.microsoft.com/office/drawing/2014/main" id="{06DD9454-41BD-4AE6-A38A-C4CEFF199EAF}"/>
              </a:ext>
            </a:extLst>
          </p:cNvPr>
          <p:cNvSpPr>
            <a:spLocks xmlns:a="http://schemas.openxmlformats.org/drawingml/2006/main" noGrp="1"/>
          </p:cNvSpPr>
          <p:nvPr/>
        </p:nvSpPr>
        <p:spPr>
          <a:xfrm xmlns:a="http://schemas.openxmlformats.org/drawingml/2006/main">
            <a:off x="609600" y="514350"/>
            <a:ext cx="5753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HOW I WOULD APPROACH A GATHER AI WORKFLOW</a:t>
            </a:r>
          </a:p>
        </p:txBody>
      </p:sp>
      <p:sp>
        <p:nvSpPr>
          <p:cNvPr id="5" name="headline">
            <a:extLst xmlns:a="http://schemas.openxmlformats.org/drawingml/2006/main">
              <a:ext uri="{FF2B5EF4-FFF2-40B4-BE49-F238E27FC236}">
                <a16:creationId xmlns:a16="http://schemas.microsoft.com/office/drawing/2014/main" id="{5AE655A3-7131-4CAA-A67D-E488ED0BA8B1}"/>
              </a:ext>
            </a:extLst>
          </p:cNvPr>
          <p:cNvSpPr>
            <a:spLocks xmlns:a="http://schemas.openxmlformats.org/drawingml/2006/main" noGrp="1"/>
          </p:cNvSpPr>
          <p:nvPr/>
        </p:nvSpPr>
        <p:spPr>
          <a:xfrm xmlns:a="http://schemas.openxmlformats.org/drawingml/2006/main">
            <a:off x="609600" y="1438275"/>
            <a:ext cx="5734050" cy="1657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Observe the work.</a:t>
            </a:r>
          </a:p>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Prototype the next step.</a:t>
            </a:r>
          </a:p>
        </p:txBody>
      </p:sp>
      <p:sp>
        <p:nvSpPr>
          <p:cNvPr id="6" name="story-documentary">
            <a:extLst xmlns:a="http://schemas.openxmlformats.org/drawingml/2006/main">
              <a:ext uri="{FF2B5EF4-FFF2-40B4-BE49-F238E27FC236}">
                <a16:creationId xmlns:a16="http://schemas.microsoft.com/office/drawing/2014/main" id="{5DD03143-3323-4586-8735-E910CCDF43A1}"/>
              </a:ext>
            </a:extLst>
          </p:cNvPr>
          <p:cNvSpPr>
            <a:spLocks xmlns:a="http://schemas.openxmlformats.org/drawingml/2006/main" noGrp="1"/>
          </p:cNvSpPr>
          <p:nvPr/>
        </p:nvSpPr>
        <p:spPr>
          <a:xfrm xmlns:a="http://schemas.openxmlformats.org/drawingml/2006/main">
            <a:off x="609600" y="3609975"/>
            <a:ext cx="561022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0">
                <a:solidFill>
                  <a:srgbClr val="192B25"/>
                </a:solidFill>
                <a:latin typeface="Helvetica Neue"/>
                <a:ea typeface="Helvetica Neue"/>
                <a:cs typeface="Helvetica Neue"/>
              </a:defRPr>
            </a:pPr>
            <a:r>
              <a:rPr sz="1950" b="0">
                <a:solidFill>
                  <a:srgbClr val="192B25"/>
                </a:solidFill>
                <a:latin typeface="Helvetica Neue"/>
                <a:ea typeface="Helvetica Neue"/>
                <a:cs typeface="Helvetica Neue"/>
              </a:rPr>
              <a:t>Observe the task on site: what the operator needs to know, how interruptions happen, and what confirms the action.</a:t>
            </a:r>
          </a:p>
        </p:txBody>
      </p:sp>
      <p:sp>
        <p:nvSpPr>
          <p:cNvPr id="7" name="story-now">
            <a:extLst xmlns:a="http://schemas.openxmlformats.org/drawingml/2006/main">
              <a:ext uri="{FF2B5EF4-FFF2-40B4-BE49-F238E27FC236}">
                <a16:creationId xmlns:a16="http://schemas.microsoft.com/office/drawing/2014/main" id="{7FA5371C-CFCC-46AA-A2EE-FD563AAED89F}"/>
              </a:ext>
            </a:extLst>
          </p:cNvPr>
          <p:cNvSpPr>
            <a:spLocks xmlns:a="http://schemas.openxmlformats.org/drawingml/2006/main" noGrp="1"/>
          </p:cNvSpPr>
          <p:nvPr/>
        </p:nvSpPr>
        <p:spPr>
          <a:xfrm xmlns:a="http://schemas.openxmlformats.org/drawingml/2006/main">
            <a:off x="609600" y="5057775"/>
            <a:ext cx="5610225"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0">
                <a:solidFill>
                  <a:srgbClr val="58645D"/>
                </a:solidFill>
                <a:latin typeface="Helvetica Neue"/>
                <a:ea typeface="Helvetica Neue"/>
                <a:cs typeface="Helvetica Neue"/>
              </a:defRPr>
            </a:pPr>
            <a:r>
              <a:rPr sz="1800" b="0">
                <a:solidFill>
                  <a:srgbClr val="58645D"/>
                </a:solidFill>
                <a:latin typeface="Helvetica Neue"/>
                <a:ea typeface="Helvetica Neue"/>
                <a:cs typeface="Helvetica Neue"/>
              </a:rPr>
              <a:t>Proposed approach: test a focused prototype with users and engineering, including unclear inventory data and interrupted tasks.</a:t>
            </a:r>
          </a:p>
        </p:txBody>
      </p:sp>
      <p:sp>
        <p:nvSpPr>
          <p:cNvPr id="8" name="story-slide-number">
            <a:extLst xmlns:a="http://schemas.openxmlformats.org/drawingml/2006/main">
              <a:ext uri="{FF2B5EF4-FFF2-40B4-BE49-F238E27FC236}">
                <a16:creationId xmlns:a16="http://schemas.microsoft.com/office/drawing/2014/main" id="{BAE88166-B147-4E2E-A9C0-FD3786A5CD93}"/>
              </a:ext>
            </a:extLst>
          </p:cNvPr>
          <p:cNvSpPr>
            <a:spLocks xmlns:a="http://schemas.openxmlformats.org/drawingml/2006/main" noGrp="1"/>
          </p:cNvSpPr>
          <p:nvPr/>
        </p:nvSpPr>
        <p:spPr>
          <a:xfrm xmlns:a="http://schemas.openxmlformats.org/drawingml/2006/main">
            <a:off x="11353800" y="651510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10</a:t>
            </a:r>
          </a:p>
        </p:txBody>
      </p:sp>
    </p:spTree>
    <p:extLst>
      <p:ext uri="{BB962C8B-B14F-4D97-AF65-F5344CB8AC3E}">
        <p14:creationId xmlns:p14="http://schemas.microsoft.com/office/powerpoint/2010/main" val="2017140856"/>
      </p:ext>
    </p:extLst>
  </p:cSld>
</p:sld>
</file>

<file path=ppt/slides/slide11.xml><?xml version="1.0" encoding="utf-8"?>
<p:sld xmlns:p="http://schemas.openxmlformats.org/presentationml/2006/main">
  <p:cSld>
    <p:bg>
      <p:bgPr>
        <a:solidFill xmlns:a="http://schemas.openxmlformats.org/drawingml/2006/main">
          <a:srgbClr val="244D3C"/>
        </a:solidFill>
      </p:bgPr>
    </p:bg>
    <p:spTree>
      <p:nvGrpSpPr>
        <p:cNvPr id="1" name=""/>
        <p:cNvGrpSpPr/>
        <p:nvPr/>
      </p:nvGrpSpPr>
      <p:grpSpPr>
        <a:xfrm xmlns:a="http://schemas.openxmlformats.org/drawingml/2006/main"/>
      </p:grpSpPr>
      <p:sp>
        <p:nvSpPr>
          <p:cNvPr id="7" name="slide-number">
            <a:extLst xmlns:a="http://schemas.openxmlformats.org/drawingml/2006/main">
              <a:ext uri="{FF2B5EF4-FFF2-40B4-BE49-F238E27FC236}">
                <a16:creationId xmlns:a16="http://schemas.microsoft.com/office/drawing/2014/main" id="{B46AA3F4-9C55-47CA-B6A9-8B82ADDD0093}"/>
              </a:ext>
            </a:extLst>
          </p:cNvPr>
          <p:cNvSpPr>
            <a:spLocks xmlns:a="http://schemas.openxmlformats.org/drawingml/2006/main" noGrp="1"/>
          </p:cNvSpPr>
          <p:nvPr/>
        </p:nvSpPr>
        <p:spPr>
          <a:xfrm xmlns:a="http://schemas.openxmlformats.org/drawingml/2006/main">
            <a:off x="11353800" y="651510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DBEB89"/>
                </a:solidFill>
                <a:latin typeface="Helvetica Neue"/>
                <a:ea typeface="Helvetica Neue"/>
                <a:cs typeface="Helvetica Neue"/>
              </a:defRPr>
            </a:pPr>
            <a:r>
              <a:rPr sz="1050" b="0">
                <a:solidFill>
                  <a:srgbClr val="DBEB89"/>
                </a:solidFill>
                <a:latin typeface="Helvetica Neue"/>
                <a:ea typeface="Helvetica Neue"/>
                <a:cs typeface="Helvetica Neue"/>
              </a:rPr>
              <a:t>11</a:t>
            </a:r>
          </a:p>
        </p:txBody>
      </p:sp>
      <p:sp>
        <p:nvSpPr>
          <p:cNvPr id="2" name="section-label">
            <a:extLst xmlns:a="http://schemas.openxmlformats.org/drawingml/2006/main">
              <a:ext uri="{FF2B5EF4-FFF2-40B4-BE49-F238E27FC236}">
                <a16:creationId xmlns:a16="http://schemas.microsoft.com/office/drawing/2014/main" id="{ECFE99BA-8EEB-4C80-8E70-5B6A3373836A}"/>
              </a:ext>
            </a:extLst>
          </p:cNvPr>
          <p:cNvSpPr>
            <a:spLocks xmlns:a="http://schemas.openxmlformats.org/drawingml/2006/main" noGrp="1"/>
          </p:cNvSpPr>
          <p:nvPr/>
        </p:nvSpPr>
        <p:spPr>
          <a:xfrm xmlns:a="http://schemas.openxmlformats.org/drawingml/2006/main">
            <a:off x="609600" y="523875"/>
            <a:ext cx="914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DBEB89"/>
                </a:solidFill>
                <a:latin typeface="Helvetica Neue"/>
                <a:ea typeface="Helvetica Neue"/>
                <a:cs typeface="Helvetica Neue"/>
              </a:defRPr>
            </a:pPr>
            <a:r>
              <a:rPr sz="1200" b="1">
                <a:solidFill>
                  <a:srgbClr val="DBEB89"/>
                </a:solidFill>
                <a:latin typeface="Helvetica Neue"/>
                <a:ea typeface="Helvetica Neue"/>
                <a:cs typeface="Helvetica Neue"/>
              </a:rPr>
              <a:t>KYLE HOBSON   /   GATHER AI UX DESIGNER APPLICATION</a:t>
            </a:r>
          </a:p>
        </p:txBody>
      </p:sp>
      <p:sp>
        <p:nvSpPr>
          <p:cNvPr id="3" name="headline">
            <a:extLst xmlns:a="http://schemas.openxmlformats.org/drawingml/2006/main">
              <a:ext uri="{FF2B5EF4-FFF2-40B4-BE49-F238E27FC236}">
                <a16:creationId xmlns:a16="http://schemas.microsoft.com/office/drawing/2014/main" id="{F3B25BAD-202A-4D2C-B074-0F1A3D599DAC}"/>
              </a:ext>
            </a:extLst>
          </p:cNvPr>
          <p:cNvSpPr>
            <a:spLocks xmlns:a="http://schemas.openxmlformats.org/drawingml/2006/main" noGrp="1"/>
          </p:cNvSpPr>
          <p:nvPr/>
        </p:nvSpPr>
        <p:spPr>
          <a:xfrm xmlns:a="http://schemas.openxmlformats.org/drawingml/2006/main">
            <a:off x="609600" y="1666875"/>
            <a:ext cx="10315575" cy="1866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4800" b="1">
                <a:solidFill>
                  <a:srgbClr val="F4F2E9"/>
                </a:solidFill>
                <a:latin typeface="Helvetica Neue"/>
                <a:ea typeface="Helvetica Neue"/>
                <a:cs typeface="Helvetica Neue"/>
              </a:defRPr>
            </a:pPr>
            <a:r>
              <a:rPr sz="4800" b="1">
                <a:solidFill>
                  <a:srgbClr val="F4F2E9"/>
                </a:solidFill>
                <a:latin typeface="Helvetica Neue"/>
                <a:ea typeface="Helvetica Neue"/>
                <a:cs typeface="Helvetica Neue"/>
              </a:rPr>
              <a:t>Let’s make operational</a:t>
            </a:r>
          </a:p>
          <a:p xmlns:a="http://schemas.openxmlformats.org/drawingml/2006/main">
            <a:pPr>
              <a:lnSpc>
                <a:spcPct val="110000"/>
              </a:lnSpc>
              <a:buNone/>
              <a:defRPr sz="4800" b="1">
                <a:solidFill>
                  <a:srgbClr val="F4F2E9"/>
                </a:solidFill>
                <a:latin typeface="Helvetica Neue"/>
                <a:ea typeface="Helvetica Neue"/>
                <a:cs typeface="Helvetica Neue"/>
              </a:defRPr>
            </a:pPr>
            <a:r>
              <a:rPr sz="4800" b="1">
                <a:solidFill>
                  <a:srgbClr val="F4F2E9"/>
                </a:solidFill>
                <a:latin typeface="Helvetica Neue"/>
                <a:ea typeface="Helvetica Neue"/>
                <a:cs typeface="Helvetica Neue"/>
              </a:rPr>
              <a:t>data useful</a:t>
            </a:r>
          </a:p>
        </p:txBody>
      </p:sp>
      <p:sp>
        <p:nvSpPr>
          <p:cNvPr id="4" name="contact-intent">
            <a:extLst xmlns:a="http://schemas.openxmlformats.org/drawingml/2006/main">
              <a:ext uri="{FF2B5EF4-FFF2-40B4-BE49-F238E27FC236}">
                <a16:creationId xmlns:a16="http://schemas.microsoft.com/office/drawing/2014/main" id="{FBF06649-0B0C-4514-A7DB-76421FFB8F04}"/>
              </a:ext>
            </a:extLst>
          </p:cNvPr>
          <p:cNvSpPr>
            <a:spLocks xmlns:a="http://schemas.openxmlformats.org/drawingml/2006/main" noGrp="1"/>
          </p:cNvSpPr>
          <p:nvPr/>
        </p:nvSpPr>
        <p:spPr>
          <a:xfrm xmlns:a="http://schemas.openxmlformats.org/drawingml/2006/main">
            <a:off x="647700" y="3857625"/>
            <a:ext cx="9839325"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F4F2E9"/>
                </a:solidFill>
                <a:latin typeface="Helvetica Neue"/>
                <a:ea typeface="Helvetica Neue"/>
                <a:cs typeface="Helvetica Neue"/>
              </a:defRPr>
            </a:pPr>
            <a:r>
              <a:rPr sz="2025" b="0">
                <a:solidFill>
                  <a:srgbClr val="F4F2E9"/>
                </a:solidFill>
                <a:latin typeface="Helvetica Neue"/>
                <a:ea typeface="Helvetica Neue"/>
                <a:cs typeface="Helvetica Neue"/>
              </a:rPr>
              <a:t>Available for Gather AI’s UX Designer role. Based in Mesa, Arizona; ready to start as soon as possible.</a:t>
            </a:r>
          </a:p>
        </p:txBody>
      </p:sp>
      <p:sp>
        <p:nvSpPr>
          <p:cNvPr id="5" name="email">
            <a:extLst xmlns:a="http://schemas.openxmlformats.org/drawingml/2006/main">
              <a:ext uri="{FF2B5EF4-FFF2-40B4-BE49-F238E27FC236}">
                <a16:creationId xmlns:a16="http://schemas.microsoft.com/office/drawing/2014/main" id="{B4A665B0-AD51-4A58-BDF3-A9C18F54BBE4}"/>
              </a:ext>
            </a:extLst>
          </p:cNvPr>
          <p:cNvSpPr>
            <a:spLocks xmlns:a="http://schemas.openxmlformats.org/drawingml/2006/main" noGrp="1"/>
          </p:cNvSpPr>
          <p:nvPr/>
        </p:nvSpPr>
        <p:spPr>
          <a:xfrm xmlns:a="http://schemas.openxmlformats.org/drawingml/2006/main">
            <a:off x="647700" y="5057775"/>
            <a:ext cx="10191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0" u="sng">
                <a:solidFill>
                  <a:srgbClr val="DBEB89"/>
                </a:solidFill>
                <a:latin typeface="Helvetica Neue"/>
                <a:ea typeface="Helvetica Neue"/>
                <a:cs typeface="Helvetica Neue"/>
              </a:defRPr>
            </a:pPr>
            <a:r>
              <a:rPr sz="1875" b="0" u="sng">
                <a:solidFill>
                  <a:srgbClr val="DBEB89"/>
                </a:solidFill>
                <a:latin typeface="Helvetica Neue"/>
                <a:ea typeface="Helvetica Neue"/>
                <a:cs typeface="Helvetica Neue"/>
                <a:hlinkClick xmlns:r="http://schemas.openxmlformats.org/officeDocument/2006/relationships" r:id="Rca8209fab0c5451d"/>
              </a:rPr>
              <a:t>JonathanKyleHobson@gmail.com</a:t>
            </a:r>
          </a:p>
        </p:txBody>
      </p:sp>
      <p:sp>
        <p:nvSpPr>
          <p:cNvPr id="6" name="public-profile">
            <a:extLst xmlns:a="http://schemas.openxmlformats.org/drawingml/2006/main">
              <a:ext uri="{FF2B5EF4-FFF2-40B4-BE49-F238E27FC236}">
                <a16:creationId xmlns:a16="http://schemas.microsoft.com/office/drawing/2014/main" id="{EA800154-1038-4A77-99C4-1F7CF24D2A0C}"/>
              </a:ext>
            </a:extLst>
          </p:cNvPr>
          <p:cNvSpPr>
            <a:spLocks xmlns:a="http://schemas.openxmlformats.org/drawingml/2006/main" noGrp="1"/>
          </p:cNvSpPr>
          <p:nvPr/>
        </p:nvSpPr>
        <p:spPr>
          <a:xfrm xmlns:a="http://schemas.openxmlformats.org/drawingml/2006/main">
            <a:off x="647700" y="5705475"/>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500" b="0" u="sng">
                <a:solidFill>
                  <a:srgbClr val="F4F2E9"/>
                </a:solidFill>
                <a:latin typeface="Helvetica Neue"/>
                <a:ea typeface="Helvetica Neue"/>
                <a:cs typeface="Helvetica Neue"/>
              </a:defRPr>
            </a:pPr>
            <a:r>
              <a:rPr sz="1500" b="0" u="sng">
                <a:solidFill>
                  <a:srgbClr val="F4F2E9"/>
                </a:solidFill>
                <a:latin typeface="Helvetica Neue"/>
                <a:ea typeface="Helvetica Neue"/>
                <a:cs typeface="Helvetica Neue"/>
                <a:hlinkClick xmlns:r="http://schemas.openxmlformats.org/officeDocument/2006/relationships" r:id="R7c8038ba4404413b"/>
              </a:rPr>
              <a:t>jonathankhobson.github.io/application-portfolios/gather-ai-ux-designer</a:t>
            </a:r>
          </a:p>
        </p:txBody>
      </p:sp>
    </p:spTree>
    <p:extLst>
      <p:ext uri="{BB962C8B-B14F-4D97-AF65-F5344CB8AC3E}">
        <p14:creationId xmlns:p14="http://schemas.microsoft.com/office/powerpoint/2010/main" val="1053448213"/>
      </p:ext>
    </p:extLst>
  </p:cSld>
</p:sld>
</file>

<file path=ppt/theme/theme1.xml><?xml version="1.0" encoding="utf-8"?>
<a:theme xmlns:a="http://schemas.openxmlformats.org/drawingml/2006/main" name="ChatGPT">
  <a:themeElements>
    <a:clrScheme name="Kyle Portfolio">
      <a:dk1>
        <a:srgbClr val="192B25"/>
      </a:dk1>
      <a:lt1>
        <a:srgbClr val="FFFFFF"/>
      </a:lt1>
      <a:dk2>
        <a:srgbClr val="244D3C"/>
      </a:dk2>
      <a:lt2>
        <a:srgbClr val="F4F2E9"/>
      </a:lt2>
      <a:accent1>
        <a:srgbClr val="244D3C"/>
      </a:accent1>
      <a:accent2>
        <a:srgbClr val="DBEB89"/>
      </a:accent2>
      <a:accent3>
        <a:srgbClr val="E1E8DB"/>
      </a:accent3>
      <a:accent4>
        <a:srgbClr val="58645D"/>
      </a:accent4>
      <a:accent5>
        <a:srgbClr val="192B25"/>
      </a:accent5>
      <a:accent6>
        <a:srgbClr val="F4F2E9"/>
      </a:accent6>
      <a:hlink>
        <a:srgbClr val="DBEB89"/>
      </a:hlink>
      <a:folHlink>
        <a:srgbClr val="DBEB89"/>
      </a:folHlink>
    </a:clrScheme>
    <a:fontScheme name="Office">
      <a:majorFont>
        <a:latin typeface="Calibri Light"/>
        <a:ea typeface="Calibri Light"/>
        <a:cs typeface="Calibri Light"/>
      </a:majorFont>
      <a:minorFont>
        <a:latin typeface="Calibri"/>
        <a:ea typeface="Calibri"/>
        <a:cs typeface="Calibri"/>
      </a:minorFont>
    </a:fontScheme>
    <a:fmtScheme name="Kyle Portfol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2026-09-08T17:20:31.8170000Z</dcterms:created>
  <dcterms:modified xsi:type="dcterms:W3CDTF">2026-09-08T17:20:31.8170000Z</dcterms:modified>
</coreProperties>
</file>