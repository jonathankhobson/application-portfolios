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40ddd24c444f8" /><Relationship Type="http://schemas.openxmlformats.org/officeDocument/2006/relationships/extended-properties" Target="/docProps/app.xml" Id="R284d23f3fead458a" /><Relationship Type="http://schemas.openxmlformats.org/officeDocument/2006/relationships/officeDocument" Target="/ppt/presentation.xml" Id="Rad9e66af2096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0b3a7ab6464b87"/>
  </p:sldMasterIdLst>
  <p:notesMasterIdLst>
    <p:notesMasterId xmlns:r="http://schemas.openxmlformats.org/officeDocument/2006/relationships" r:id="Rffbca487dc744f3b"/>
  </p:notesMasterIdLst>
  <p:sldIdLst>
    <p:sldId xmlns:r="http://schemas.openxmlformats.org/officeDocument/2006/relationships" id="256" r:id="Rf8bb3477556b43c2"/>
    <p:sldId xmlns:r="http://schemas.openxmlformats.org/officeDocument/2006/relationships" id="257" r:id="Ra689d7ecda4e489a"/>
    <p:sldId xmlns:r="http://schemas.openxmlformats.org/officeDocument/2006/relationships" id="258" r:id="R10999fe85d244850"/>
    <p:sldId xmlns:r="http://schemas.openxmlformats.org/officeDocument/2006/relationships" id="259" r:id="R791454908c8a40cf"/>
    <p:sldId xmlns:r="http://schemas.openxmlformats.org/officeDocument/2006/relationships" id="260" r:id="R986da7a660d94867"/>
    <p:sldId xmlns:r="http://schemas.openxmlformats.org/officeDocument/2006/relationships" id="261" r:id="R92af9e1ff41b4544"/>
    <p:sldId xmlns:r="http://schemas.openxmlformats.org/officeDocument/2006/relationships" id="262" r:id="R0bc67110caf44979"/>
    <p:sldId xmlns:r="http://schemas.openxmlformats.org/officeDocument/2006/relationships" id="263" r:id="Rd6836abc5ebb463b"/>
    <p:sldId xmlns:r="http://schemas.openxmlformats.org/officeDocument/2006/relationships" id="264" r:id="Rd99f8203c32c45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cfee18fbcb4be0" /><Relationship Type="http://schemas.openxmlformats.org/officeDocument/2006/relationships/slideMaster" Target="/ppt/slideMasters/slideMaster1.xml" Id="R850b3a7ab6464b87" /><Relationship Type="http://schemas.openxmlformats.org/officeDocument/2006/relationships/notesMaster" Target="/ppt/notesMasters/notesMaster1.xml" Id="Rffbca487dc744f3b" /><Relationship Type="http://schemas.openxmlformats.org/officeDocument/2006/relationships/presProps" Target="/ppt/presProps.xml" Id="R1495db6be4294959" /><Relationship Type="http://schemas.openxmlformats.org/officeDocument/2006/relationships/tableStyles" Target="/ppt/tableStyles.xml" Id="R394d64cf093547cb" /><Relationship Type="http://schemas.openxmlformats.org/officeDocument/2006/relationships/slide" Target="/ppt/slides/slide1.xml" Id="Rf8bb3477556b43c2" /><Relationship Type="http://schemas.openxmlformats.org/officeDocument/2006/relationships/slide" Target="/ppt/slides/slide2.xml" Id="Ra689d7ecda4e489a" /><Relationship Type="http://schemas.openxmlformats.org/officeDocument/2006/relationships/slide" Target="/ppt/slides/slide3.xml" Id="R10999fe85d244850" /><Relationship Type="http://schemas.openxmlformats.org/officeDocument/2006/relationships/slide" Target="/ppt/slides/slide4.xml" Id="R791454908c8a40cf" /><Relationship Type="http://schemas.openxmlformats.org/officeDocument/2006/relationships/slide" Target="/ppt/slides/slide5.xml" Id="R986da7a660d94867" /><Relationship Type="http://schemas.openxmlformats.org/officeDocument/2006/relationships/slide" Target="/ppt/slides/slide6.xml" Id="R92af9e1ff41b4544" /><Relationship Type="http://schemas.openxmlformats.org/officeDocument/2006/relationships/slide" Target="/ppt/slides/slide7.xml" Id="R0bc67110caf44979" /><Relationship Type="http://schemas.openxmlformats.org/officeDocument/2006/relationships/slide" Target="/ppt/slides/slide8.xml" Id="Rd6836abc5ebb463b" /><Relationship Type="http://schemas.openxmlformats.org/officeDocument/2006/relationships/slide" Target="/ppt/slides/slide9.xml" Id="Rd99f8203c32c45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796d2e391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ac58cfada84832" /><Relationship Type="http://schemas.openxmlformats.org/officeDocument/2006/relationships/notesMaster" Target="/ppt/notesMasters/notesMaster1.xml" Id="R28e24d2f460b4d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1e1a6182554580" /><Relationship Type="http://schemas.openxmlformats.org/officeDocument/2006/relationships/notesMaster" Target="/ppt/notesMasters/notesMaster1.xml" Id="Rb9db9d28638645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836ae6e9b540e7" /><Relationship Type="http://schemas.openxmlformats.org/officeDocument/2006/relationships/notesMaster" Target="/ppt/notesMasters/notesMaster1.xml" Id="Rf6fffd7131e242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41f698ee074745" /><Relationship Type="http://schemas.openxmlformats.org/officeDocument/2006/relationships/notesMaster" Target="/ppt/notesMasters/notesMaster1.xml" Id="R9cb8bf98a71849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5f698903da4e71" /><Relationship Type="http://schemas.openxmlformats.org/officeDocument/2006/relationships/notesMaster" Target="/ppt/notesMasters/notesMaster1.xml" Id="R934fb6cbb10f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f10cb21a4f41ed" /><Relationship Type="http://schemas.openxmlformats.org/officeDocument/2006/relationships/notesMaster" Target="/ppt/notesMasters/notesMaster1.xml" Id="Rc20dec7c70fc49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c0f8c0c0194892" /><Relationship Type="http://schemas.openxmlformats.org/officeDocument/2006/relationships/notesMaster" Target="/ppt/notesMasters/notesMaster1.xml" Id="R5990871b7db74c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6702f56b364640" /><Relationship Type="http://schemas.openxmlformats.org/officeDocument/2006/relationships/notesMaster" Target="/ppt/notesMasters/notesMaster1.xml" Id="Rb16783e293e64c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0aafcb70f74bd0" /><Relationship Type="http://schemas.openxmlformats.org/officeDocument/2006/relationships/notesMaster" Target="/ppt/notesMasters/notesMaster1.xml" Id="R6c76742155e343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for the Grow With Trees Contract Instructional Designer role. Job source: https://www.linkedin.com/jobs/view/contract-instructional-designer-at-grow-with-trees-4451414354 . The approved paper-path illustration is decorative, not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career evidence: ASU Knowledge Enterprise, Instructional Designer, April 2022–October 2024. MS User Experience with UX Research concentration, ASU, May 2024; BS Technical Communication with UX concentration, ASU, May 2023. The concise role scope is reviewed evidence; this slide does not claim specific SCORM/LMS production tools or measured learning gains. Public profile: https://www.linkedin.com/in/jonathankylehobson/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2024 lesson materials and the official Coursera page https://www.coursera.org/projects/chatgpt-beginners . The image is an original course slide. Enrollments describe reach, not course completion or measured skill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2024 Task 3 recording at 02:30. This initial fictional Brew Bliss cafe draft gives learners material to inspect and revise. Later lesson steps demonstrate a more specific instruction and its resulting draft. It is not a client campaign or evidence of measured learner proficiency. Official course: https://www.coursera.org/projects/chatgpt-beginners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FactorLab UX Designer &amp; Researcher (Contract), October 2025–Present. Original Kyle-authored Figma designs and engineering annotations, reviewed in the September 2026 portfolio. Design and handoff evidence; exact pictured state is not claimed to be shipped. Its relevance to end-user documentation is adjacent: Kyle is explaining product behavior, not claiming this is a Grow With Trees implementation guide. Public case: https://jonathankhobson.github.io/portfolio/design/case/flint/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developer-authored Prompt Compass local regression fixture, May 2026. Both prompts are exact fixture values. This is a designed evaluation example, not a client incident, production-model benchmark, or measured ROI. The public beta release is https://github.com/JonathanKHobson/prompt-compass/releases/tag/v0.1.0-beta.3 . The example shows why instructional and technical wording must preserve the operational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independently owned portfolio uses custom HTML/CSS with source and version history on GitHub. It was built with AI assistance. This is direct current project evidence, not a claim of years of unassisted frontend engineering or SCORM production. Public repository: https://github.com/JonathanKHobson/portfolio . The screenshot is a reviewed 2026 desktop capture from the original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proposed approach responds to the employer’s custom mobile web training, subject-matter collaboration, assessments, and SCORM delivery needs. It is not a completed GWT module or a claim of utilities domain expertise. SCORM is a stated skills gap. Primary role source: https://www.linkedin.com/jobs/view/contract-instructional-designer-at-grow-with-trees-4451414354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and work-authorization statements are candidate-confirmed for this application. Portfolio link targets the separately prepared Grow With Trees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746bb72474a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88a76fa664cc3" /><Relationship Type="http://schemas.openxmlformats.org/officeDocument/2006/relationships/slideLayout" Target="/ppt/slideLayouts/slideLayout1.xml" Id="Rfa1ad7af4b79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ad7af4b79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68adb71ab4131" /><Relationship Type="http://schemas.openxmlformats.org/officeDocument/2006/relationships/image" Target="/ppt/media/image.png" Id="R67b7c5842faf4216" /><Relationship Type="http://schemas.openxmlformats.org/officeDocument/2006/relationships/notesSlide" Target="/ppt/notesSlides/notesSlide1.xml" Id="Rbbcd54fdbeec40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900efc1274e5e" /><Relationship Type="http://schemas.openxmlformats.org/officeDocument/2006/relationships/image" Target="/ppt/media/image.jpeg" Id="R23b9d6a8b31f4b36" /><Relationship Type="http://schemas.openxmlformats.org/officeDocument/2006/relationships/notesSlide" Target="/ppt/notesSlides/notesSlide2.xml" Id="R9d5e0709d7cb47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8992cb8b34653" /><Relationship Type="http://schemas.openxmlformats.org/officeDocument/2006/relationships/image" Target="/ppt/media/image2.png" Id="Red49b552ca974e09" /><Relationship Type="http://schemas.openxmlformats.org/officeDocument/2006/relationships/notesSlide" Target="/ppt/notesSlides/notesSlide3.xml" Id="Rec5dfde263ed45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664335b194775" /><Relationship Type="http://schemas.openxmlformats.org/officeDocument/2006/relationships/image" Target="/ppt/media/image3.png" Id="Re617227655bc45e6" /><Relationship Type="http://schemas.openxmlformats.org/officeDocument/2006/relationships/notesSlide" Target="/ppt/notesSlides/notesSlide4.xml" Id="R6edb628389aa41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be4fdcc1b421d" /><Relationship Type="http://schemas.openxmlformats.org/officeDocument/2006/relationships/image" Target="/ppt/media/image4.png" Id="Rc2e4b32b00fc4035" /><Relationship Type="http://schemas.openxmlformats.org/officeDocument/2006/relationships/image" Target="/ppt/media/image5.png" Id="R35bb5c3dfe104cc9" /><Relationship Type="http://schemas.openxmlformats.org/officeDocument/2006/relationships/notesSlide" Target="/ppt/notesSlides/notesSlide5.xml" Id="Re58e5a46057340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5b1e8ae154c68" /><Relationship Type="http://schemas.openxmlformats.org/officeDocument/2006/relationships/notesSlide" Target="/ppt/notesSlides/notesSlide6.xml" Id="R8a4c45c0fdf34b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fcfb7c6724088" /><Relationship Type="http://schemas.openxmlformats.org/officeDocument/2006/relationships/image" Target="/ppt/media/image6.png" Id="R9f76861cffad4835" /><Relationship Type="http://schemas.openxmlformats.org/officeDocument/2006/relationships/notesSlide" Target="/ppt/notesSlides/notesSlide7.xml" Id="R95530492652d47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d8400ac6e4201" /><Relationship Type="http://schemas.openxmlformats.org/officeDocument/2006/relationships/notesSlide" Target="/ppt/notesSlides/notesSlide8.xml" Id="R700c04d7b54d48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8b776644b4827" /><Relationship Type="http://schemas.openxmlformats.org/officeDocument/2006/relationships/hyperlink" Target="mailto:JonathanKyleHobson@gmail.com" TargetMode="External" Id="R2cdbbc76e1564f7f" /><Relationship Type="http://schemas.openxmlformats.org/officeDocument/2006/relationships/hyperlink" Target="https://jonathankhobson.github.io/application-portfolios/grow-with-trees-instructional-design/" TargetMode="External" Id="R2a625720c9ff4c17" /><Relationship Type="http://schemas.openxmlformats.org/officeDocument/2006/relationships/notesSlide" Target="/ppt/notesSlides/notesSlide9.xml" Id="R03192f876f8e42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7c5842faf4216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48A84D3-199A-4701-B948-0F15EB39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KYLE HOBSON   /   APPLICATION TO GROW WITH TREES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2092C4A5-1D3C-4FFB-98CA-0D7E51D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83820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5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Learning for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5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Grow With Trees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01FB834B-FFE0-4208-8B2D-A6F84097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Instructional design, mobile workflows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and AI-assisted web content</a:t>
            </a:r>
          </a:p>
        </p:txBody>
      </p:sp>
      <p:sp>
        <p:nvSpPr>
          <p:cNvPr id="5" name="cover-role">
            <a:extLst xmlns:a="http://schemas.openxmlformats.org/drawingml/2006/main">
              <a:ext uri="{FF2B5EF4-FFF2-40B4-BE49-F238E27FC236}">
                <a16:creationId xmlns:a16="http://schemas.microsoft.com/office/drawing/2014/main" id="{1789300C-24F0-43FB-837C-ACAEBAA6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Contract Instructional Designer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D35F46-DBC1-4E96-BE7F-9B26A294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7620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FECAABA-EBC2-4B66-B80B-86562780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ARIZONA STATE UNIVERSITY   /   INSTRUCTIONAL DESIGNER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D1443FB-1C0E-4A01-925D-EF77EA24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628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Learning design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grounded in the task</a:t>
            </a:r>
          </a:p>
        </p:txBody>
      </p:sp>
      <p:sp>
        <p:nvSpPr>
          <p:cNvPr id="3" name="asu-direct">
            <a:extLst xmlns:a="http://schemas.openxmlformats.org/drawingml/2006/main">
              <a:ext uri="{FF2B5EF4-FFF2-40B4-BE49-F238E27FC236}">
                <a16:creationId xmlns:a16="http://schemas.microsoft.com/office/drawing/2014/main" id="{CE27451C-6265-44EC-9E7F-FEFCCF99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90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At ASU Knowledge Enterprise, I developed digital learning materials and workshops with accessibility improvements and AI-supported content workflows.</a:t>
            </a:r>
          </a:p>
        </p:txBody>
      </p:sp>
      <p:sp>
        <p:nvSpPr>
          <p:cNvPr id="4" name="background">
            <a:extLst xmlns:a="http://schemas.openxmlformats.org/drawingml/2006/main">
              <a:ext uri="{FF2B5EF4-FFF2-40B4-BE49-F238E27FC236}">
                <a16:creationId xmlns:a16="http://schemas.microsoft.com/office/drawing/2014/main" id="{ED2C5041-DE2F-477C-8B54-0ACC29E4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590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April 2022–October 2024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MS in User Experience · BS in Technical Communication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9d6a8b31f4b36"/>
          <a:stretch xmlns:a="http://schemas.openxmlformats.org/drawingml/2006/main"/>
        </p:blipFill>
        <p:spPr>
          <a:xfrm xmlns:a="http://schemas.openxmlformats.org/drawingml/2006/main">
            <a:off x="7305675" y="1543050"/>
            <a:ext cx="419100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ED47E1-1216-4802-8CD7-D77C17B8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9473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D13B882-1EEA-4DAD-9E66-6DBCA15C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  /   GUIDED PROJECT INSTRUCTOR, 2024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1DDF1911-91BE-4183-9AC9-E1951270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practical sequence for beginners</a:t>
            </a:r>
          </a:p>
        </p:txBody>
      </p:sp>
      <p:sp>
        <p:nvSpPr>
          <p:cNvPr id="3" name="course-title">
            <a:extLst xmlns:a="http://schemas.openxmlformats.org/drawingml/2006/main">
              <a:ext uri="{FF2B5EF4-FFF2-40B4-BE49-F238E27FC236}">
                <a16:creationId xmlns:a16="http://schemas.microsoft.com/office/drawing/2014/main" id="{F0E8C8CD-21CD-4EAD-9E95-12718BEB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89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ChatGPT 4o for Beginners: Create Social Media Content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9b552ca974e09"/>
          <a:stretch xmlns:a="http://schemas.openxmlformats.org/drawingml/2006/main"/>
        </p:blipFill>
        <p:spPr>
          <a:xfrm xmlns:a="http://schemas.openxmlformats.org/drawingml/2006/main">
            <a:off x="1303734" y="2762250"/>
            <a:ext cx="9508331" cy="3457575"/>
          </a:xfrm>
          <a:prstGeom xmlns:a="http://schemas.openxmlformats.org/drawingml/2006/main" prst="rect">
            <a:avLst/>
          </a:prstGeom>
        </p:spPr>
      </p:pic>
      <p:sp>
        <p:nvSpPr>
          <p:cNvPr id="5" name="course-reach">
            <a:extLst xmlns:a="http://schemas.openxmlformats.org/drawingml/2006/main">
              <a:ext uri="{FF2B5EF4-FFF2-40B4-BE49-F238E27FC236}">
                <a16:creationId xmlns:a16="http://schemas.microsoft.com/office/drawing/2014/main" id="{35F87B26-FE46-404A-87B8-824B76EC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Published in 2024 · 4,700+ enrollments as of September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B52C5A-121B-4B81-967C-CA4C36BC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3644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FC13F8A-B245-49C2-B919-103E905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  /   ORIGINAL DEMONSTRATION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C18898B-0C67-46A9-AA9D-D3F58D4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96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first attempt gives learners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something to revise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7227655bc45e6"/>
          <a:stretch xmlns:a="http://schemas.openxmlformats.org/drawingml/2006/main"/>
        </p:blipFill>
        <p:spPr>
          <a:xfrm xmlns:a="http://schemas.openxmlformats.org/drawingml/2006/main">
            <a:off x="609600" y="2477029"/>
            <a:ext cx="9525000" cy="3704167"/>
          </a:xfrm>
          <a:prstGeom xmlns:a="http://schemas.openxmlformats.org/drawingml/2006/main" prst="rect">
            <a:avLst/>
          </a:prstGeom>
        </p:spPr>
      </p:pic>
      <p:sp>
        <p:nvSpPr>
          <p:cNvPr id="4" name="practice-purpose">
            <a:extLst xmlns:a="http://schemas.openxmlformats.org/drawingml/2006/main">
              <a:ext uri="{FF2B5EF4-FFF2-40B4-BE49-F238E27FC236}">
                <a16:creationId xmlns:a16="http://schemas.microsoft.com/office/drawing/2014/main" id="{034463F0-2315-4124-9846-F8B71FC5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The next step is to make the request more specific and compare the result.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8CA0A7-92E6-447B-BCA7-F84C74F7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3071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61450E7-0F53-476F-ADBF-B208B70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SMARTTAGIT FLINT DESIGN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9D84147-6625-4FBC-8170-EC9EED1C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Mobile guidance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needs a clear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path</a:t>
            </a:r>
          </a:p>
        </p:txBody>
      </p:sp>
      <p:sp>
        <p:nvSpPr>
          <p:cNvPr id="3" name="flint-specific">
            <a:extLst xmlns:a="http://schemas.openxmlformats.org/drawingml/2006/main">
              <a:ext uri="{FF2B5EF4-FFF2-40B4-BE49-F238E27FC236}">
                <a16:creationId xmlns:a16="http://schemas.microsoft.com/office/drawing/2014/main" id="{9EF01B1A-0E1E-46B2-929C-2EF053D7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54768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interrupted answer and a lost connection needed different messages and actions. I organized those states in Figma and annotated the behavior for engineering.</a:t>
            </a:r>
          </a:p>
        </p:txBody>
      </p:sp>
      <p:sp>
        <p:nvSpPr>
          <p:cNvPr id="4" name="flint-adjacent">
            <a:extLst xmlns:a="http://schemas.openxmlformats.org/drawingml/2006/main">
              <a:ext uri="{FF2B5EF4-FFF2-40B4-BE49-F238E27FC236}">
                <a16:creationId xmlns:a16="http://schemas.microsoft.com/office/drawing/2014/main" id="{09B15104-8B09-4355-A913-97A1B23E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476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Relevant to mobile learning: give people a clear next step when the expected flow breaks.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4b32b00fc4035"/>
          <a:stretch xmlns:a="http://schemas.openxmlformats.org/drawingml/2006/main"/>
        </p:blipFill>
        <p:spPr>
          <a:xfrm xmlns:a="http://schemas.openxmlformats.org/drawingml/2006/main">
            <a:off x="6629400" y="1326390"/>
            <a:ext cx="2238375" cy="4795771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b5c3dfe104cc9"/>
          <a:stretch xmlns:a="http://schemas.openxmlformats.org/drawingml/2006/main"/>
        </p:blipFill>
        <p:spPr>
          <a:xfrm xmlns:a="http://schemas.openxmlformats.org/drawingml/2006/main">
            <a:off x="9210675" y="1326390"/>
            <a:ext cx="2238375" cy="4795771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3DB560-CC69-4947-96F8-F55039E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092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DEB4433-9490-4231-80B0-23CBA7F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PROMPT COMPASS   /   DESIGNED LOCAL REGRESSION CASE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1670229-9B01-4694-89DD-4E299E57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rewrite must preserve the requirement</a:t>
            </a:r>
          </a:p>
        </p:txBody>
      </p:sp>
      <p:sp>
        <p:nvSpPr>
          <p:cNvPr id="3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48EF7F08-EFF2-4A43-933C-6CDAF7EA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95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ORIGINAL FIXTURE PROMPT</a:t>
            </a:r>
          </a:p>
        </p:txBody>
      </p:sp>
      <p:sp>
        <p:nvSpPr>
          <p:cNvPr id="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ABA73D2A-8508-44DD-B726-6A834409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4314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SHORTER REWRITE</a:t>
            </a:r>
          </a:p>
        </p:txBody>
      </p:sp>
      <p:sp>
        <p:nvSpPr>
          <p:cNvPr id="5" name="before-prompt">
            <a:extLst xmlns:a="http://schemas.openxmlformats.org/drawingml/2006/main">
              <a:ext uri="{FF2B5EF4-FFF2-40B4-BE49-F238E27FC236}">
                <a16:creationId xmlns:a16="http://schemas.microsoft.com/office/drawing/2014/main" id="{EDDB9FD3-1C47-46A6-89FC-E7E90322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Return valid JSON only with fields category, article_id, confidence, and suggested_response. If confidence is below 0.7, set suggested_response to needs_review. Success: parser accepts the response.</a:t>
            </a:r>
          </a:p>
        </p:txBody>
      </p:sp>
      <p:sp>
        <p:nvSpPr>
          <p:cNvPr id="6" name="after-prompt">
            <a:extLst xmlns:a="http://schemas.openxmlformats.org/drawingml/2006/main">
              <a:ext uri="{FF2B5EF4-FFF2-40B4-BE49-F238E27FC236}">
                <a16:creationId xmlns:a16="http://schemas.microsoft.com/office/drawing/2014/main" id="{CF902FB7-5CBF-43C2-876C-97DF51A4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57525"/>
            <a:ext cx="431482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Return a clean structured answer with the best response for the user.</a:t>
            </a:r>
          </a:p>
        </p:txBody>
      </p:sp>
      <p:sp>
        <p:nvSpPr>
          <p:cNvPr id="7" name="expected-winner">
            <a:extLst xmlns:a="http://schemas.openxmlformats.org/drawingml/2006/main">
              <a:ext uri="{FF2B5EF4-FFF2-40B4-BE49-F238E27FC236}">
                <a16:creationId xmlns:a16="http://schemas.microsoft.com/office/drawing/2014/main" id="{18D821BE-274A-4861-BC45-CFF87C0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Expected winner: the original</a:t>
            </a:r>
          </a:p>
        </p:txBody>
      </p:sp>
      <p:sp>
        <p:nvSpPr>
          <p:cNvPr id="8" name="fixture-reason">
            <a:extLst xmlns:a="http://schemas.openxmlformats.org/drawingml/2006/main">
              <a:ext uri="{FF2B5EF4-FFF2-40B4-BE49-F238E27FC236}">
                <a16:creationId xmlns:a16="http://schemas.microsoft.com/office/drawing/2014/main" id="{A2C6F21F-8356-4755-8D9B-80229FDE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The rewrite loses named fields, JSON-only output and the review condition.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C63F5FC-F01F-4748-A10D-D111A145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2314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46E2132-81F1-47C8-94F8-6795CCBF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INDEPENDENT PORTFOLIO   /   AI-ASSISTED DEVELOPMENT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1DED1E34-610E-4857-9C35-256F1918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6381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Web content with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editable source</a:t>
            </a:r>
          </a:p>
        </p:txBody>
      </p:sp>
      <p:sp>
        <p:nvSpPr>
          <p:cNvPr id="3" name="web-purpose">
            <a:extLst xmlns:a="http://schemas.openxmlformats.org/drawingml/2006/main">
              <a:ext uri="{FF2B5EF4-FFF2-40B4-BE49-F238E27FC236}">
                <a16:creationId xmlns:a16="http://schemas.microsoft.com/office/drawing/2014/main" id="{977D2111-966C-45AA-804B-B2983B10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54483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use Codex and GitHub to build and maintain custom HTML/CSS portfolio pages, alongside local AI tools.</a:t>
            </a:r>
          </a:p>
        </p:txBody>
      </p:sp>
      <p:sp>
        <p:nvSpPr>
          <p:cNvPr id="4" name="web-checks">
            <a:extLst xmlns:a="http://schemas.openxmlformats.org/drawingml/2006/main">
              <a:ext uri="{FF2B5EF4-FFF2-40B4-BE49-F238E27FC236}">
                <a16:creationId xmlns:a16="http://schemas.microsoft.com/office/drawing/2014/main" id="{518566B6-0BDC-4410-9E59-6B27A6E0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44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The workflow includes desktop and mobile review, keyboard focus, source-image viewing, and download checks.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6861cffad4835"/>
          <a:stretch xmlns:a="http://schemas.openxmlformats.org/drawingml/2006/main"/>
        </p:blipFill>
        <p:spPr>
          <a:xfrm xmlns:a="http://schemas.openxmlformats.org/drawingml/2006/main">
            <a:off x="6574155" y="2114550"/>
            <a:ext cx="5044440" cy="3152775"/>
          </a:xfrm>
          <a:prstGeom xmlns:a="http://schemas.openxmlformats.org/drawingml/2006/main" prst="rect">
            <a:avLst/>
          </a:prstGeom>
        </p:spPr>
      </p:pic>
      <p:sp>
        <p:nvSpPr>
          <p:cNvPr id="6" name="web-source">
            <a:extLst xmlns:a="http://schemas.openxmlformats.org/drawingml/2006/main">
              <a:ext uri="{FF2B5EF4-FFF2-40B4-BE49-F238E27FC236}">
                <a16:creationId xmlns:a16="http://schemas.microsoft.com/office/drawing/2014/main" id="{CF4349AF-FE40-46A3-87ED-EE740150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Source: github.com/JonathanKHobson/portfolio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E14731-35A3-4F89-BDDD-67D6ABEA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71633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DB7079D-1E79-463F-B253-7CDE1C4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GROW WITH TREES   /   PROPOSED APPROACH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4A628C8-A7AB-49D0-9048-7D22577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Build a short practice module</a:t>
            </a:r>
          </a:p>
        </p:txBody>
      </p:sp>
      <p:sp>
        <p:nvSpPr>
          <p:cNvPr id="3" name="proposal-intro">
            <a:extLst xmlns:a="http://schemas.openxmlformats.org/drawingml/2006/main">
              <a:ext uri="{FF2B5EF4-FFF2-40B4-BE49-F238E27FC236}">
                <a16:creationId xmlns:a16="http://schemas.microsoft.com/office/drawing/2014/main" id="{CD3549DC-3FA7-4DDA-97DA-D656D467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would begin with the field task a utility professional needs to perform and the evidence that they understood it.</a:t>
            </a:r>
          </a:p>
        </p:txBody>
      </p:sp>
      <p:sp>
        <p:nvSpPr>
          <p:cNvPr id="4" name="proposal-steps">
            <a:extLst xmlns:a="http://schemas.openxmlformats.org/drawingml/2006/main">
              <a:ext uri="{FF2B5EF4-FFF2-40B4-BE49-F238E27FC236}">
                <a16:creationId xmlns:a16="http://schemas.microsoft.com/office/drawing/2014/main" id="{DD7D7D73-C2ED-4DD5-B0DF-E346C0D6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3346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Define the task and review source material with a subject expert.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Pair an approved example with a short practice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Test the learning flow on a phone and review the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Agree on SCORM packaging and LMS acceptance requirements.</a:t>
            </a:r>
          </a:p>
        </p:txBody>
      </p:sp>
      <p:sp>
        <p:nvSpPr>
          <p:cNvPr id="5" name="proposal-boundary">
            <a:extLst xmlns:a="http://schemas.openxmlformats.org/drawingml/2006/main">
              <a:ext uri="{FF2B5EF4-FFF2-40B4-BE49-F238E27FC236}">
                <a16:creationId xmlns:a16="http://schemas.microsoft.com/office/drawing/2014/main" id="{F354110D-76E9-4136-A6FA-947C6378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approach. SCORM packaging and LMS validation remain a development area.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0E4BBB-DADD-4B13-A1AD-97485331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37789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89EEFEB-0973-4B09-8DBA-D891968D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  /   GROW WITH TREES APPLICATION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F8C454F-85E7-43A4-9266-4590DB86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763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27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Contract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27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Instructional Designer</a:t>
            </a:r>
          </a:p>
        </p:txBody>
      </p:sp>
      <p:sp>
        <p:nvSpPr>
          <p:cNvPr id="3" name="contact-intent">
            <a:extLst xmlns:a="http://schemas.openxmlformats.org/drawingml/2006/main">
              <a:ext uri="{FF2B5EF4-FFF2-40B4-BE49-F238E27FC236}">
                <a16:creationId xmlns:a16="http://schemas.microsoft.com/office/drawing/2014/main" id="{FB72C092-676B-4A73-88DB-72F87DBF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0203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Based in Mesa, Arizona. Available for U.S. remote work.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Authorized to work without sponsorship. Available ASAP.</a:t>
            </a:r>
          </a:p>
        </p:txBody>
      </p:sp>
      <p:sp>
        <p:nvSpPr>
          <p:cNvPr id="4" name="email">
            <a:extLst xmlns:a="http://schemas.openxmlformats.org/drawingml/2006/main">
              <a:ext uri="{FF2B5EF4-FFF2-40B4-BE49-F238E27FC236}">
                <a16:creationId xmlns:a16="http://schemas.microsoft.com/office/drawing/2014/main" id="{A1D5E89C-42D6-4F9E-BA6F-D3DD806E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2cdbbc76e1564f7f"/>
              </a:rPr>
              <a:t>JonathanKyleHobson@gmail.com</a:t>
            </a:r>
          </a:p>
        </p:txBody>
      </p:sp>
      <p:sp>
        <p:nvSpPr>
          <p:cNvPr id="5" name="portfolio">
            <a:extLst xmlns:a="http://schemas.openxmlformats.org/drawingml/2006/main">
              <a:ext uri="{FF2B5EF4-FFF2-40B4-BE49-F238E27FC236}">
                <a16:creationId xmlns:a16="http://schemas.microsoft.com/office/drawing/2014/main" id="{2C0DDFE3-3DF1-42BF-83DD-AB822FC8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2a625720c9ff4c17"/>
              </a:rPr>
              <a:t>View the Grow With Trees application portfolio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096715-9041-4ADC-956B-7A0D2944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2291142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2026-09-08T17:27:07.2090000Z</dcterms:created>
  <dcterms:modified xsi:type="dcterms:W3CDTF">2026-09-08T17:27:07.2090000Z</dcterms:modified>
</coreProperties>
</file>