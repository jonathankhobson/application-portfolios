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1cb5a5580241f0" /><Relationship Type="http://schemas.openxmlformats.org/officeDocument/2006/relationships/extended-properties" Target="/docProps/app.xml" Id="R53f8f25a16834648" /><Relationship Type="http://schemas.openxmlformats.org/officeDocument/2006/relationships/officeDocument" Target="/ppt/presentation.xml" Id="R59c0141f41744300" /></Relationships>
</file>

<file path=ppt/presentation.xml><?xml version="1.0" encoding="utf-8"?>
<p:presentation xmlns:p="http://schemas.openxmlformats.org/presentationml/2006/main">
  <p:sldMasterIdLst>
    <p:sldMasterId xmlns:r="http://schemas.openxmlformats.org/officeDocument/2006/relationships" id="2147483648" r:id="Ra932504f7b574346"/>
  </p:sldMasterIdLst>
  <p:notesMasterIdLst>
    <p:notesMasterId xmlns:r="http://schemas.openxmlformats.org/officeDocument/2006/relationships" r:id="R9546bf0f61294449"/>
  </p:notesMasterIdLst>
  <p:sldIdLst>
    <p:sldId xmlns:r="http://schemas.openxmlformats.org/officeDocument/2006/relationships" id="256" r:id="R910e98777cba493e"/>
    <p:sldId xmlns:r="http://schemas.openxmlformats.org/officeDocument/2006/relationships" id="257" r:id="R338240cbd97c4bea"/>
    <p:sldId xmlns:r="http://schemas.openxmlformats.org/officeDocument/2006/relationships" id="258" r:id="R0325ac960c14438b"/>
    <p:sldId xmlns:r="http://schemas.openxmlformats.org/officeDocument/2006/relationships" id="259" r:id="Ra0ce00bb68bd4aab"/>
    <p:sldId xmlns:r="http://schemas.openxmlformats.org/officeDocument/2006/relationships" id="260" r:id="R483e21411e6d4ceb"/>
    <p:sldId xmlns:r="http://schemas.openxmlformats.org/officeDocument/2006/relationships" id="261" r:id="R5d5f879f69d84ac1"/>
    <p:sldId xmlns:r="http://schemas.openxmlformats.org/officeDocument/2006/relationships" id="262" r:id="R973f0a7a120e407b"/>
    <p:sldId xmlns:r="http://schemas.openxmlformats.org/officeDocument/2006/relationships" id="263" r:id="R9f316a1906334d28"/>
    <p:sldId xmlns:r="http://schemas.openxmlformats.org/officeDocument/2006/relationships" id="264" r:id="Rd5a28e62a6a249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2990a5ebc64e49" /><Relationship Type="http://schemas.openxmlformats.org/officeDocument/2006/relationships/slideMaster" Target="/ppt/slideMasters/slideMaster1.xml" Id="Ra932504f7b574346" /><Relationship Type="http://schemas.openxmlformats.org/officeDocument/2006/relationships/notesMaster" Target="/ppt/notesMasters/notesMaster1.xml" Id="R9546bf0f61294449" /><Relationship Type="http://schemas.openxmlformats.org/officeDocument/2006/relationships/presProps" Target="/ppt/presProps.xml" Id="Rb2fc6cbd87cd4b84" /><Relationship Type="http://schemas.openxmlformats.org/officeDocument/2006/relationships/tableStyles" Target="/ppt/tableStyles.xml" Id="R720e6d407039405e" /><Relationship Type="http://schemas.openxmlformats.org/officeDocument/2006/relationships/slide" Target="/ppt/slides/slide1.xml" Id="R910e98777cba493e" /><Relationship Type="http://schemas.openxmlformats.org/officeDocument/2006/relationships/slide" Target="/ppt/slides/slide2.xml" Id="R338240cbd97c4bea" /><Relationship Type="http://schemas.openxmlformats.org/officeDocument/2006/relationships/slide" Target="/ppt/slides/slide3.xml" Id="R0325ac960c14438b" /><Relationship Type="http://schemas.openxmlformats.org/officeDocument/2006/relationships/slide" Target="/ppt/slides/slide4.xml" Id="Ra0ce00bb68bd4aab" /><Relationship Type="http://schemas.openxmlformats.org/officeDocument/2006/relationships/slide" Target="/ppt/slides/slide5.xml" Id="R483e21411e6d4ceb" /><Relationship Type="http://schemas.openxmlformats.org/officeDocument/2006/relationships/slide" Target="/ppt/slides/slide6.xml" Id="R5d5f879f69d84ac1" /><Relationship Type="http://schemas.openxmlformats.org/officeDocument/2006/relationships/slide" Target="/ppt/slides/slide7.xml" Id="R973f0a7a120e407b" /><Relationship Type="http://schemas.openxmlformats.org/officeDocument/2006/relationships/slide" Target="/ppt/slides/slide8.xml" Id="R9f316a1906334d28" /><Relationship Type="http://schemas.openxmlformats.org/officeDocument/2006/relationships/slide" Target="/ppt/slides/slide9.xml" Id="Rd5a28e62a6a249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7b63dba48b4f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87554ab92f4cb8" /><Relationship Type="http://schemas.openxmlformats.org/officeDocument/2006/relationships/notesMaster" Target="/ppt/notesMasters/notesMaster1.xml" Id="R0b28dd52be1c42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fe064b9e8d40be" /><Relationship Type="http://schemas.openxmlformats.org/officeDocument/2006/relationships/notesMaster" Target="/ppt/notesMasters/notesMaster1.xml" Id="R7e500e18640e43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bb3876d6174bbb" /><Relationship Type="http://schemas.openxmlformats.org/officeDocument/2006/relationships/notesMaster" Target="/ppt/notesMasters/notesMaster1.xml" Id="R9f6ae3feeeb34c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e3b4addf604033" /><Relationship Type="http://schemas.openxmlformats.org/officeDocument/2006/relationships/notesMaster" Target="/ppt/notesMasters/notesMaster1.xml" Id="Rbed123b0b73e4a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699c0c64754618" /><Relationship Type="http://schemas.openxmlformats.org/officeDocument/2006/relationships/notesMaster" Target="/ppt/notesMasters/notesMaster1.xml" Id="Re6d0c8af2f3449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6118c97c594ccc" /><Relationship Type="http://schemas.openxmlformats.org/officeDocument/2006/relationships/notesMaster" Target="/ppt/notesMasters/notesMaster1.xml" Id="Rb9aa9322b2fb41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52b34798f24aa8" /><Relationship Type="http://schemas.openxmlformats.org/officeDocument/2006/relationships/notesMaster" Target="/ppt/notesMasters/notesMaster1.xml" Id="R476476ba6e0640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7776ed54ac430b" /><Relationship Type="http://schemas.openxmlformats.org/officeDocument/2006/relationships/notesMaster" Target="/ppt/notesMasters/notesMaster1.xml" Id="R8c9962af176748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c8413f82764f50" /><Relationship Type="http://schemas.openxmlformats.org/officeDocument/2006/relationships/notesMaster" Target="/ppt/notesMasters/notesMaster1.xml" Id="Rf1c880e6defd4e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Apollo.io Researcher, 6135389004. Employer listing https://job-boards.greenhouse.io/apolloio/jobs/6135389004 verified September 8, 2026. Professional UX/research roles begin 2023; no five-year mixed-methods claim. Photo is the reviewed supplied candidate 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Oak + Qasim March 2025 findings report page 4 records 1,459 completed submissions, 282 incomplete and 1,741 total at March 14 while the survey was still live. This slide uses completed submissions only, not unique validated participants or a final cleaned sample. Leadership role is supported by the reviewed portfolio retrospective; the original report is a team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native chart. Source: original Oak + Qasim March 2025 findings report, page 14. Exact reported percentages: decision fatigue 60%, financial constraints 40%, time limitations 38%, unclear action steps 35%, trust issues 20%. Values are stored as 0.60, 0.40, 0.38, 0.35 and 0.20 with percentage format. Response bases, overlap and question logic are unavailable. Do not add values or convert them into participant counts. Proposed support is analyst interpretation, not tested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pages 14–15 contain reported barriers and requested support. Pairing those findings and framing the next task are Kyle’s analytical interpretation; the report does not establish that the same people supplied both. The Action Hub is a proposed direction. No original participant quotes, response records, frequency of requested templates, or implemented outcome is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November 22, 2023 Oak desktop heuristic workbook, November recommendation report and December 3 contribution record. The workbook has 94 rated desktop items, not participants or 94 distinct user problems; its composite formulas have denominator issues, so no composite is reported. Proposed field-specific feedback and recovery remain design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Flint original mobile design states and March 27, 2026 error-state walkthrough. Design/prototype and engineering-handoff evidence; not confirmation of every pictured release or a measured task-success improvement. Interface content is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beta.3: https://github.com/JonathanKHobson/prompt-compass/releases/tag/v0.1.0-beta.3, April 27, 2026. Example paraphrases a later May developer-authored regression fixture. Fields: category, article_id, confidence, suggested_response; confidence below 0.7 should yield needs_review. Later evaluation is separate from the April release and is not measured customer effectiveness.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informed by Apollo.io Researcher 6135389004. Participant access, sampling, product instrumentation, constraints and outcome measures would need to be established with the team. AI assistance would preserve source context and make analyst interpretation available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candidate identity and availability. Intended isolated route: https://jonathankhobson.github.io/application-portfolios/apollo-researcher/. Publication is a separate campaign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a669a1e5de47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03145503f44762" /><Relationship Type="http://schemas.openxmlformats.org/officeDocument/2006/relationships/slideLayout" Target="/ppt/slideLayouts/slideLayout1.xml" Id="R885967fae54743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5967fae54743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77ae73a5784b92" /><Relationship Type="http://schemas.openxmlformats.org/officeDocument/2006/relationships/image" Target="/ppt/media/image.jpeg" Id="Rf0b9c85428de44c7" /><Relationship Type="http://schemas.openxmlformats.org/officeDocument/2006/relationships/notesSlide" Target="/ppt/notesSlides/notesSlide1.xml" Id="Rc954da2a66a749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6d6541c1ff4bb6" /><Relationship Type="http://schemas.openxmlformats.org/officeDocument/2006/relationships/notesSlide" Target="/ppt/notesSlides/notesSlide2.xml" Id="R57e9357a772242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6502bcfefc4042" /><Relationship Type="http://schemas.openxmlformats.org/officeDocument/2006/relationships/chart" Target="/ppt/slides/charts/chart1.xml" Id="Rbd05e21c8338406f" /><Relationship Type="http://schemas.openxmlformats.org/officeDocument/2006/relationships/notesSlide" Target="/ppt/notesSlides/notesSlide3.xml" Id="Re3fb5ec56f7142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3b9a786c9642fe" /><Relationship Type="http://schemas.openxmlformats.org/officeDocument/2006/relationships/notesSlide" Target="/ppt/notesSlides/notesSlide4.xml" Id="R62c275f773b342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e9a9a1a64c4069" /><Relationship Type="http://schemas.openxmlformats.org/officeDocument/2006/relationships/image" Target="/ppt/media/image.png" Id="Rbf7dce18f68a4fd2" /><Relationship Type="http://schemas.openxmlformats.org/officeDocument/2006/relationships/notesSlide" Target="/ppt/notesSlides/notesSlide5.xml" Id="R5e3b3c3dfa0049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ed708d75d54d88" /><Relationship Type="http://schemas.openxmlformats.org/officeDocument/2006/relationships/image" Target="/ppt/media/image2.png" Id="R9eed38546da54bed" /><Relationship Type="http://schemas.openxmlformats.org/officeDocument/2006/relationships/image" Target="/ppt/media/image3.png" Id="Refbd692041b94352" /><Relationship Type="http://schemas.openxmlformats.org/officeDocument/2006/relationships/notesSlide" Target="/ppt/notesSlides/notesSlide6.xml" Id="R1cea23ed15f443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9af277f2474e8f" /><Relationship Type="http://schemas.openxmlformats.org/officeDocument/2006/relationships/notesSlide" Target="/ppt/notesSlides/notesSlide7.xml" Id="Rbb84327dcba14e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c7527b99a94868" /><Relationship Type="http://schemas.openxmlformats.org/officeDocument/2006/relationships/notesSlide" Target="/ppt/notesSlides/notesSlide8.xml" Id="Rc04c700627de49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c93d1b432e45b7" /><Relationship Type="http://schemas.openxmlformats.org/officeDocument/2006/relationships/hyperlink" Target="mailto:JonathanKyleHobson@gmail.com" TargetMode="External" Id="R0fbb664f354b4d90" /><Relationship Type="http://schemas.openxmlformats.org/officeDocument/2006/relationships/hyperlink" Target="https://jonathankhobson.github.io/application-portfolios/apollo-researcher/" TargetMode="External" Id="R90438713f6ee46c8" /><Relationship Type="http://schemas.openxmlformats.org/officeDocument/2006/relationships/notesSlide" Target="/ppt/notesSlides/notesSlide9.xml" Id="Rda932cadf7d64d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percentage</c:v>
          </c:tx>
          <c:spPr>
            <a:solidFill xmlns:a="http://schemas.openxmlformats.org/drawingml/2006/main">
              <a:srgbClr val="244D3C"/>
            </a:solidFill>
            <a:ln xmlns:a="http://schemas.openxmlformats.org/drawingml/2006/main" w="0">
              <a:noFill/>
            </a:ln>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92B2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8645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1C64DCCF-69E9-4E03-A230-D72847236E88}"/>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C232BB99-E745-44AA-84B5-04BA59BAF167}"/>
              </a:ext>
            </a:extLst>
          </p:cNvPr>
          <p:cNvSpPr>
            <a:spLocks xmlns:a="http://schemas.openxmlformats.org/drawingml/2006/main" noGrp="1"/>
          </p:cNvSpPr>
          <p:nvPr/>
        </p:nvSpPr>
        <p:spPr>
          <a:xfrm xmlns:a="http://schemas.openxmlformats.org/drawingml/2006/main">
            <a:off x="609600" y="5143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APOLLO.IO RESEARCHER APPLICATION</a:t>
            </a:r>
          </a:p>
        </p:txBody>
      </p:sp>
      <p:sp>
        <p:nvSpPr>
          <p:cNvPr id="3" name="headline">
            <a:extLst xmlns:a="http://schemas.openxmlformats.org/drawingml/2006/main">
              <a:ext uri="{FF2B5EF4-FFF2-40B4-BE49-F238E27FC236}">
                <a16:creationId xmlns:a16="http://schemas.microsoft.com/office/drawing/2014/main" id="{CA0C9D48-AE22-4568-B0E2-6124BC1FC8D4}"/>
              </a:ext>
            </a:extLst>
          </p:cNvPr>
          <p:cNvSpPr>
            <a:spLocks xmlns:a="http://schemas.openxmlformats.org/drawingml/2006/main" noGrp="1"/>
          </p:cNvSpPr>
          <p:nvPr/>
        </p:nvSpPr>
        <p:spPr>
          <a:xfrm xmlns:a="http://schemas.openxmlformats.org/drawingml/2006/main">
            <a:off x="609600" y="1628775"/>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Research for</a:t>
            </a:r>
          </a:p>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the next decision.</a:t>
            </a:r>
          </a:p>
        </p:txBody>
      </p:sp>
      <p:sp>
        <p:nvSpPr>
          <p:cNvPr id="4" name="cover-intro">
            <a:extLst xmlns:a="http://schemas.openxmlformats.org/drawingml/2006/main">
              <a:ext uri="{FF2B5EF4-FFF2-40B4-BE49-F238E27FC236}">
                <a16:creationId xmlns:a16="http://schemas.microsoft.com/office/drawing/2014/main" id="{B0AFE8CD-0C7C-4134-8E23-EE7279CEB4E5}"/>
              </a:ext>
            </a:extLst>
          </p:cNvPr>
          <p:cNvSpPr>
            <a:spLocks xmlns:a="http://schemas.openxmlformats.org/drawingml/2006/main" noGrp="1"/>
          </p:cNvSpPr>
          <p:nvPr/>
        </p:nvSpPr>
        <p:spPr>
          <a:xfrm xmlns:a="http://schemas.openxmlformats.org/drawingml/2006/main">
            <a:off x="647700" y="4295775"/>
            <a:ext cx="72961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F4F2E9"/>
                </a:solidFill>
                <a:latin typeface="Helvetica Neue"/>
                <a:ea typeface="Helvetica Neue"/>
                <a:cs typeface="Helvetica Neue"/>
              </a:defRPr>
            </a:pPr>
            <a:r>
              <a:rPr sz="2250" b="0">
                <a:solidFill>
                  <a:srgbClr val="F4F2E9"/>
                </a:solidFill>
                <a:latin typeface="Helvetica Neue"/>
                <a:ea typeface="Helvetica Neue"/>
                <a:cs typeface="Helvetica Neue"/>
              </a:rPr>
              <a:t>User evidence, product alternatives,</a:t>
            </a:r>
          </a:p>
          <a:p xmlns:a="http://schemas.openxmlformats.org/drawingml/2006/main">
            <a:pPr>
              <a:lnSpc>
                <a:spcPct val="110000"/>
              </a:lnSpc>
              <a:buNone/>
              <a:defRPr sz="2250" b="0">
                <a:solidFill>
                  <a:srgbClr val="F4F2E9"/>
                </a:solidFill>
                <a:latin typeface="Helvetica Neue"/>
                <a:ea typeface="Helvetica Neue"/>
                <a:cs typeface="Helvetica Neue"/>
              </a:defRPr>
            </a:pPr>
            <a:r>
              <a:rPr sz="2250" b="0">
                <a:solidFill>
                  <a:srgbClr val="F4F2E9"/>
                </a:solidFill>
                <a:latin typeface="Helvetica Neue"/>
                <a:ea typeface="Helvetica Neue"/>
                <a:cs typeface="Helvetica Neue"/>
              </a:rPr>
              <a:t>and applied AI evaluation.</a:t>
            </a:r>
          </a:p>
        </p:txBody>
      </p:sp>
      <p:sp>
        <p:nvSpPr>
          <p:cNvPr id="5" name="cover-date">
            <a:extLst xmlns:a="http://schemas.openxmlformats.org/drawingml/2006/main">
              <a:ext uri="{FF2B5EF4-FFF2-40B4-BE49-F238E27FC236}">
                <a16:creationId xmlns:a16="http://schemas.microsoft.com/office/drawing/2014/main" id="{61763ED7-051F-4D73-928F-096E46E15A11}"/>
              </a:ext>
            </a:extLst>
          </p:cNvPr>
          <p:cNvSpPr>
            <a:spLocks xmlns:a="http://schemas.openxmlformats.org/drawingml/2006/main" noGrp="1"/>
          </p:cNvSpPr>
          <p:nvPr/>
        </p:nvSpPr>
        <p:spPr>
          <a:xfrm xmlns:a="http://schemas.openxmlformats.org/drawingml/2006/main">
            <a:off x="647700" y="5962650"/>
            <a:ext cx="702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Apollo.io</a:t>
            </a:r>
          </a:p>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September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0b9c85428de44c7"/>
          <a:stretch xmlns:a="http://schemas.openxmlformats.org/drawingml/2006/main"/>
        </p:blipFill>
        <p:spPr>
          <a:xfrm xmlns:a="http://schemas.openxmlformats.org/drawingml/2006/main">
            <a:off x="9096375" y="2128838"/>
            <a:ext cx="2505075" cy="2505075"/>
          </a:xfrm>
          <a:prstGeom xmlns:a="http://schemas.openxmlformats.org/drawingml/2006/main" prst="rect">
            <a:avLst/>
          </a:prstGeom>
        </p:spPr>
      </p:pic>
    </p:spTree>
    <p:extLst>
      <p:ext uri="{BB962C8B-B14F-4D97-AF65-F5344CB8AC3E}">
        <p14:creationId xmlns:p14="http://schemas.microsoft.com/office/powerpoint/2010/main" val="1469247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88C9A965-E3D2-42F6-BCB4-5A51CD6E3BFB}"/>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248BE378-339E-4D02-912B-552B18C636A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CREATOR AUDIENCE RESEARCH / MARCH 2025</a:t>
            </a:r>
          </a:p>
        </p:txBody>
      </p:sp>
      <p:sp>
        <p:nvSpPr>
          <p:cNvPr id="3" name="headline">
            <a:extLst xmlns:a="http://schemas.openxmlformats.org/drawingml/2006/main">
              <a:ext uri="{FF2B5EF4-FFF2-40B4-BE49-F238E27FC236}">
                <a16:creationId xmlns:a16="http://schemas.microsoft.com/office/drawing/2014/main" id="{E935D03F-8720-434D-944C-5555FC4ECF51}"/>
              </a:ext>
            </a:extLst>
          </p:cNvPr>
          <p:cNvSpPr>
            <a:spLocks xmlns:a="http://schemas.openxmlformats.org/drawingml/2006/main" noGrp="1"/>
          </p:cNvSpPr>
          <p:nvPr/>
        </p:nvSpPr>
        <p:spPr>
          <a:xfrm xmlns:a="http://schemas.openxmlformats.org/drawingml/2006/main">
            <a:off x="609600" y="110490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Interest leaves a</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question unanswered</a:t>
            </a:r>
          </a:p>
        </p:txBody>
      </p:sp>
      <p:sp>
        <p:nvSpPr>
          <p:cNvPr id="4" name="question">
            <a:extLst xmlns:a="http://schemas.openxmlformats.org/drawingml/2006/main">
              <a:ext uri="{FF2B5EF4-FFF2-40B4-BE49-F238E27FC236}">
                <a16:creationId xmlns:a16="http://schemas.microsoft.com/office/drawing/2014/main" id="{2229134A-2579-48C0-9160-62F092692F1F}"/>
              </a:ext>
            </a:extLst>
          </p:cNvPr>
          <p:cNvSpPr>
            <a:spLocks xmlns:a="http://schemas.openxmlformats.org/drawingml/2006/main" noGrp="1"/>
          </p:cNvSpPr>
          <p:nvPr/>
        </p:nvSpPr>
        <p:spPr>
          <a:xfrm xmlns:a="http://schemas.openxmlformats.org/drawingml/2006/main">
            <a:off x="609600" y="2924175"/>
            <a:ext cx="5619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75" b="0">
                <a:solidFill>
                  <a:srgbClr val="192B25"/>
                </a:solidFill>
                <a:latin typeface="Helvetica Neue"/>
                <a:ea typeface="Helvetica Neue"/>
                <a:cs typeface="Helvetica Neue"/>
              </a:defRPr>
            </a:pPr>
            <a:r>
              <a:rPr sz="2475" b="0">
                <a:solidFill>
                  <a:srgbClr val="192B25"/>
                </a:solidFill>
                <a:latin typeface="Helvetica Neue"/>
                <a:ea typeface="Helvetica Neue"/>
                <a:cs typeface="Helvetica Neue"/>
              </a:rPr>
              <a:t>What makes it difficult for an engaged audience to take the next step?</a:t>
            </a:r>
          </a:p>
        </p:txBody>
      </p:sp>
      <p:sp>
        <p:nvSpPr>
          <p:cNvPr id="5" name="role">
            <a:extLst xmlns:a="http://schemas.openxmlformats.org/drawingml/2006/main">
              <a:ext uri="{FF2B5EF4-FFF2-40B4-BE49-F238E27FC236}">
                <a16:creationId xmlns:a16="http://schemas.microsoft.com/office/drawing/2014/main" id="{52429303-6072-4067-88D3-60F50CF4610A}"/>
              </a:ext>
            </a:extLst>
          </p:cNvPr>
          <p:cNvSpPr>
            <a:spLocks xmlns:a="http://schemas.openxmlformats.org/drawingml/2006/main" noGrp="1"/>
          </p:cNvSpPr>
          <p:nvPr/>
        </p:nvSpPr>
        <p:spPr>
          <a:xfrm xmlns:a="http://schemas.openxmlformats.org/drawingml/2006/main">
            <a:off x="609600" y="4857750"/>
            <a:ext cx="561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led survey creation, launch, and analysis, combining quantitative questions with open responses.</a:t>
            </a:r>
          </a:p>
        </p:txBody>
      </p:sp>
      <p:sp>
        <p:nvSpPr>
          <p:cNvPr id="6" name="count">
            <a:extLst xmlns:a="http://schemas.openxmlformats.org/drawingml/2006/main">
              <a:ext uri="{FF2B5EF4-FFF2-40B4-BE49-F238E27FC236}">
                <a16:creationId xmlns:a16="http://schemas.microsoft.com/office/drawing/2014/main" id="{D551D37F-B28C-407A-90E3-1BCE76642408}"/>
              </a:ext>
            </a:extLst>
          </p:cNvPr>
          <p:cNvSpPr>
            <a:spLocks xmlns:a="http://schemas.openxmlformats.org/drawingml/2006/main" noGrp="1"/>
          </p:cNvSpPr>
          <p:nvPr/>
        </p:nvSpPr>
        <p:spPr>
          <a:xfrm xmlns:a="http://schemas.openxmlformats.org/drawingml/2006/main">
            <a:off x="7600950" y="3009900"/>
            <a:ext cx="37242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7050" b="1">
                <a:solidFill>
                  <a:srgbClr val="244D3C"/>
                </a:solidFill>
                <a:latin typeface="Helvetica Neue"/>
                <a:ea typeface="Helvetica Neue"/>
                <a:cs typeface="Helvetica Neue"/>
              </a:defRPr>
            </a:pPr>
            <a:r>
              <a:rPr sz="7050" b="1">
                <a:solidFill>
                  <a:srgbClr val="244D3C"/>
                </a:solidFill>
                <a:latin typeface="Helvetica Neue"/>
                <a:ea typeface="Helvetica Neue"/>
                <a:cs typeface="Helvetica Neue"/>
              </a:rPr>
              <a:t>1,459</a:t>
            </a:r>
          </a:p>
        </p:txBody>
      </p:sp>
      <p:sp>
        <p:nvSpPr>
          <p:cNvPr id="7" name="count-label">
            <a:extLst xmlns:a="http://schemas.openxmlformats.org/drawingml/2006/main">
              <a:ext uri="{FF2B5EF4-FFF2-40B4-BE49-F238E27FC236}">
                <a16:creationId xmlns:a16="http://schemas.microsoft.com/office/drawing/2014/main" id="{55D22918-F51A-4D83-ADE3-75B7CE7F820B}"/>
              </a:ext>
            </a:extLst>
          </p:cNvPr>
          <p:cNvSpPr>
            <a:spLocks xmlns:a="http://schemas.openxmlformats.org/drawingml/2006/main" noGrp="1"/>
          </p:cNvSpPr>
          <p:nvPr/>
        </p:nvSpPr>
        <p:spPr>
          <a:xfrm xmlns:a="http://schemas.openxmlformats.org/drawingml/2006/main">
            <a:off x="7620000" y="4495800"/>
            <a:ext cx="3781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244D3C"/>
                </a:solidFill>
                <a:latin typeface="Helvetica Neue"/>
                <a:ea typeface="Helvetica Neue"/>
                <a:cs typeface="Helvetica Neue"/>
              </a:defRPr>
            </a:pPr>
            <a:r>
              <a:rPr sz="2175" b="1">
                <a:solidFill>
                  <a:srgbClr val="244D3C"/>
                </a:solidFill>
                <a:latin typeface="Helvetica Neue"/>
                <a:ea typeface="Helvetica Neue"/>
                <a:cs typeface="Helvetica Neue"/>
              </a:rPr>
              <a:t>completed submissions</a:t>
            </a:r>
          </a:p>
        </p:txBody>
      </p:sp>
      <p:sp>
        <p:nvSpPr>
          <p:cNvPr id="8" name="count-date">
            <a:extLst xmlns:a="http://schemas.openxmlformats.org/drawingml/2006/main">
              <a:ext uri="{FF2B5EF4-FFF2-40B4-BE49-F238E27FC236}">
                <a16:creationId xmlns:a16="http://schemas.microsoft.com/office/drawing/2014/main" id="{9087AD34-59C8-4EC3-B3A9-9258BF4FA019}"/>
              </a:ext>
            </a:extLst>
          </p:cNvPr>
          <p:cNvSpPr>
            <a:spLocks xmlns:a="http://schemas.openxmlformats.org/drawingml/2006/main" noGrp="1"/>
          </p:cNvSpPr>
          <p:nvPr/>
        </p:nvSpPr>
        <p:spPr>
          <a:xfrm xmlns:a="http://schemas.openxmlformats.org/drawingml/2006/main">
            <a:off x="7620000" y="5219700"/>
            <a:ext cx="37814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March 14, 2025 report snapshot</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Voluntary audience; survey still live</a:t>
            </a:r>
          </a:p>
        </p:txBody>
      </p:sp>
    </p:spTree>
    <p:extLst>
      <p:ext uri="{BB962C8B-B14F-4D97-AF65-F5344CB8AC3E}">
        <p14:creationId xmlns:p14="http://schemas.microsoft.com/office/powerpoint/2010/main" val="143238734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9C2162D3-7E85-461F-B376-7AE2F069FDED}"/>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17A70745-34D4-45FD-BBB4-A43A199A87E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SURVEY / REPORTED BARRIERS</a:t>
            </a:r>
          </a:p>
        </p:txBody>
      </p:sp>
      <p:sp>
        <p:nvSpPr>
          <p:cNvPr id="3" name="headline">
            <a:extLst xmlns:a="http://schemas.openxmlformats.org/drawingml/2006/main">
              <a:ext uri="{FF2B5EF4-FFF2-40B4-BE49-F238E27FC236}">
                <a16:creationId xmlns:a16="http://schemas.microsoft.com/office/drawing/2014/main" id="{898EA018-3319-4AE8-8B81-EF6BEC5A7F19}"/>
              </a:ext>
            </a:extLst>
          </p:cNvPr>
          <p:cNvSpPr>
            <a:spLocks xmlns:a="http://schemas.openxmlformats.org/drawingml/2006/main" noGrp="1"/>
          </p:cNvSpPr>
          <p:nvPr/>
        </p:nvSpPr>
        <p:spPr>
          <a:xfrm xmlns:a="http://schemas.openxmlformats.org/drawingml/2006/main">
            <a:off x="609600" y="1085850"/>
            <a:ext cx="1095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Different barriers need different support</a:t>
            </a:r>
          </a:p>
        </p:txBody>
      </p:sp>
      <p:sp>
        <p:nvSpPr>
          <p:cNvPr id="4" name="chart-intro">
            <a:extLst xmlns:a="http://schemas.openxmlformats.org/drawingml/2006/main">
              <a:ext uri="{FF2B5EF4-FFF2-40B4-BE49-F238E27FC236}">
                <a16:creationId xmlns:a16="http://schemas.microsoft.com/office/drawing/2014/main" id="{9875CDAA-3B74-4D13-A4B1-C3728AA1A656}"/>
              </a:ext>
            </a:extLst>
          </p:cNvPr>
          <p:cNvSpPr>
            <a:spLocks xmlns:a="http://schemas.openxmlformats.org/drawingml/2006/main" noGrp="1"/>
          </p:cNvSpPr>
          <p:nvPr/>
        </p:nvSpPr>
        <p:spPr>
          <a:xfrm xmlns:a="http://schemas.openxmlformats.org/drawingml/2006/main">
            <a:off x="609600" y="20955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Five reported percentages from the original findings report</a:t>
            </a:r>
          </a:p>
        </p:txBody>
      </p:sp>
      <p:graphicFrame>
        <p:nvGraphicFramePr>
          <p:cNvPr id="12" name="Chart"/>
          <p:cNvGraphicFramePr/>
          <p:nvPr/>
        </p:nvGraphicFramePr>
        <p:xfrm>
          <a:off xmlns:a="http://schemas.openxmlformats.org/drawingml/2006/main" x="609600" y="2714625"/>
          <a:ext xmlns:a="http://schemas.openxmlformats.org/drawingml/2006/main" cx="10953750" cy="2895600"/>
        </p:xfrm>
        <a:graphic xmlns:a="http://schemas.openxmlformats.org/drawingml/2006/main">
          <a:graphicData uri="http://schemas.openxmlformats.org/drawingml/2006/chart">
            <c:chart xmlns:r="http://schemas.openxmlformats.org/officeDocument/2006/relationships" xmlns:c="http://schemas.openxmlformats.org/drawingml/2006/chart" r:id="Rbd05e21c8338406f"/>
          </a:graphicData>
        </a:graphic>
      </p:graphicFrame>
      <p:sp>
        <p:nvSpPr>
          <p:cNvPr id="6" name="interpretation">
            <a:extLst xmlns:a="http://schemas.openxmlformats.org/drawingml/2006/main">
              <a:ext uri="{FF2B5EF4-FFF2-40B4-BE49-F238E27FC236}">
                <a16:creationId xmlns:a16="http://schemas.microsoft.com/office/drawing/2014/main" id="{79544950-4587-4892-B0B3-613456DA7579}"/>
              </a:ext>
            </a:extLst>
          </p:cNvPr>
          <p:cNvSpPr>
            <a:spLocks xmlns:a="http://schemas.openxmlformats.org/drawingml/2006/main" noGrp="1"/>
          </p:cNvSpPr>
          <p:nvPr/>
        </p:nvSpPr>
        <p:spPr>
          <a:xfrm xmlns:a="http://schemas.openxmlformats.org/drawingml/2006/main">
            <a:off x="609600" y="58197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pattern suggested smaller starting actions and concrete support.</a:t>
            </a:r>
          </a:p>
        </p:txBody>
      </p:sp>
      <p:sp>
        <p:nvSpPr>
          <p:cNvPr id="7" name="boundary">
            <a:extLst xmlns:a="http://schemas.openxmlformats.org/drawingml/2006/main">
              <a:ext uri="{FF2B5EF4-FFF2-40B4-BE49-F238E27FC236}">
                <a16:creationId xmlns:a16="http://schemas.microsoft.com/office/drawing/2014/main" id="{91105A31-5414-4555-B351-822C1671C2B2}"/>
              </a:ext>
            </a:extLst>
          </p:cNvPr>
          <p:cNvSpPr>
            <a:spLocks xmlns:a="http://schemas.openxmlformats.org/drawingml/2006/main" noGrp="1"/>
          </p:cNvSpPr>
          <p:nvPr/>
        </p:nvSpPr>
        <p:spPr>
          <a:xfrm xmlns:a="http://schemas.openxmlformats.org/drawingml/2006/main">
            <a:off x="609600" y="64103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March 2025 report, p. 14. Per-item bases unavailable; voluntary self-report, not population estimates.</a:t>
            </a:r>
          </a:p>
        </p:txBody>
      </p:sp>
    </p:spTree>
    <p:extLst>
      <p:ext uri="{BB962C8B-B14F-4D97-AF65-F5344CB8AC3E}">
        <p14:creationId xmlns:p14="http://schemas.microsoft.com/office/powerpoint/2010/main" val="1452101125"/>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1" name="slide-number">
            <a:extLst xmlns:a="http://schemas.openxmlformats.org/drawingml/2006/main">
              <a:ext uri="{FF2B5EF4-FFF2-40B4-BE49-F238E27FC236}">
                <a16:creationId xmlns:a16="http://schemas.microsoft.com/office/drawing/2014/main" id="{65AAECB9-074D-43C2-B992-E496B000FD42}"/>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EB53622B-A7A8-48FE-BC7C-ECACE96780B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SURVEY / EVIDENCE TO PRODUCT DIRECTION</a:t>
            </a:r>
          </a:p>
        </p:txBody>
      </p:sp>
      <p:sp>
        <p:nvSpPr>
          <p:cNvPr id="3" name="headline">
            <a:extLst xmlns:a="http://schemas.openxmlformats.org/drawingml/2006/main">
              <a:ext uri="{FF2B5EF4-FFF2-40B4-BE49-F238E27FC236}">
                <a16:creationId xmlns:a16="http://schemas.microsoft.com/office/drawing/2014/main" id="{3737442A-AAF3-4F0A-B4F2-D2C7A6F3088D}"/>
              </a:ext>
            </a:extLst>
          </p:cNvPr>
          <p:cNvSpPr>
            <a:spLocks xmlns:a="http://schemas.openxmlformats.org/drawingml/2006/main" noGrp="1"/>
          </p:cNvSpPr>
          <p:nvPr/>
        </p:nvSpPr>
        <p:spPr>
          <a:xfrm xmlns:a="http://schemas.openxmlformats.org/drawingml/2006/main">
            <a:off x="609600" y="1104900"/>
            <a:ext cx="10763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Follow a finding</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into a testable proposal</a:t>
            </a:r>
          </a:p>
        </p:txBody>
      </p:sp>
      <p:sp>
        <p:nvSpPr>
          <p:cNvPr id="4" name="finding">
            <a:extLst xmlns:a="http://schemas.openxmlformats.org/drawingml/2006/main">
              <a:ext uri="{FF2B5EF4-FFF2-40B4-BE49-F238E27FC236}">
                <a16:creationId xmlns:a16="http://schemas.microsoft.com/office/drawing/2014/main" id="{2C5E55EE-7F73-4AAA-9E65-1B359A751BA2}"/>
              </a:ext>
            </a:extLst>
          </p:cNvPr>
          <p:cNvSpPr>
            <a:spLocks xmlns:a="http://schemas.openxmlformats.org/drawingml/2006/main" noGrp="1"/>
          </p:cNvSpPr>
          <p:nvPr/>
        </p:nvSpPr>
        <p:spPr>
          <a:xfrm xmlns:a="http://schemas.openxmlformats.org/drawingml/2006/main">
            <a:off x="609600" y="30765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Reported obstacle</a:t>
            </a:r>
          </a:p>
        </p:txBody>
      </p:sp>
      <p:sp>
        <p:nvSpPr>
          <p:cNvPr id="5" name="finding-body">
            <a:extLst xmlns:a="http://schemas.openxmlformats.org/drawingml/2006/main">
              <a:ext uri="{FF2B5EF4-FFF2-40B4-BE49-F238E27FC236}">
                <a16:creationId xmlns:a16="http://schemas.microsoft.com/office/drawing/2014/main" id="{60FF95AB-1283-42B9-A52F-3DB05CCFC702}"/>
              </a:ext>
            </a:extLst>
          </p:cNvPr>
          <p:cNvSpPr>
            <a:spLocks xmlns:a="http://schemas.openxmlformats.org/drawingml/2006/main" noGrp="1"/>
          </p:cNvSpPr>
          <p:nvPr/>
        </p:nvSpPr>
        <p:spPr>
          <a:xfrm xmlns:a="http://schemas.openxmlformats.org/drawingml/2006/main">
            <a:off x="609600" y="3781425"/>
            <a:ext cx="32099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192B25"/>
                </a:solidFill>
                <a:latin typeface="Helvetica Neue"/>
                <a:ea typeface="Helvetica Neue"/>
                <a:cs typeface="Helvetica Neue"/>
              </a:defRPr>
            </a:pPr>
            <a:r>
              <a:rPr sz="2325" b="0">
                <a:solidFill>
                  <a:srgbClr val="192B25"/>
                </a:solidFill>
                <a:latin typeface="Helvetica Neue"/>
                <a:ea typeface="Helvetica Neue"/>
                <a:cs typeface="Helvetica Neue"/>
              </a:rPr>
              <a:t>Unclear action steps</a:t>
            </a:r>
          </a:p>
        </p:txBody>
      </p:sp>
      <p:sp>
        <p:nvSpPr>
          <p:cNvPr id="6" name="support">
            <a:extLst xmlns:a="http://schemas.openxmlformats.org/drawingml/2006/main">
              <a:ext uri="{FF2B5EF4-FFF2-40B4-BE49-F238E27FC236}">
                <a16:creationId xmlns:a16="http://schemas.microsoft.com/office/drawing/2014/main" id="{FEE483E9-F19E-4304-976B-2F1E4806BD44}"/>
              </a:ext>
            </a:extLst>
          </p:cNvPr>
          <p:cNvSpPr>
            <a:spLocks xmlns:a="http://schemas.openxmlformats.org/drawingml/2006/main" noGrp="1"/>
          </p:cNvSpPr>
          <p:nvPr/>
        </p:nvSpPr>
        <p:spPr>
          <a:xfrm xmlns:a="http://schemas.openxmlformats.org/drawingml/2006/main">
            <a:off x="4333875" y="30765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Requested support</a:t>
            </a:r>
          </a:p>
        </p:txBody>
      </p:sp>
      <p:sp>
        <p:nvSpPr>
          <p:cNvPr id="7" name="support-body">
            <a:extLst xmlns:a="http://schemas.openxmlformats.org/drawingml/2006/main">
              <a:ext uri="{FF2B5EF4-FFF2-40B4-BE49-F238E27FC236}">
                <a16:creationId xmlns:a16="http://schemas.microsoft.com/office/drawing/2014/main" id="{BD3E6A39-AEC0-486C-B1B5-EB8E4247B580}"/>
              </a:ext>
            </a:extLst>
          </p:cNvPr>
          <p:cNvSpPr>
            <a:spLocks xmlns:a="http://schemas.openxmlformats.org/drawingml/2006/main" noGrp="1"/>
          </p:cNvSpPr>
          <p:nvPr/>
        </p:nvSpPr>
        <p:spPr>
          <a:xfrm xmlns:a="http://schemas.openxmlformats.org/drawingml/2006/main">
            <a:off x="4333875" y="378142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192B25"/>
                </a:solidFill>
                <a:latin typeface="Helvetica Neue"/>
                <a:ea typeface="Helvetica Neue"/>
                <a:cs typeface="Helvetica Neue"/>
              </a:defRPr>
            </a:pPr>
            <a:r>
              <a:rPr sz="2325" b="0">
                <a:solidFill>
                  <a:srgbClr val="192B25"/>
                </a:solidFill>
                <a:latin typeface="Helvetica Neue"/>
                <a:ea typeface="Helvetica Neue"/>
                <a:cs typeface="Helvetica Neue"/>
              </a:rPr>
              <a:t>Templates and simpler instructions</a:t>
            </a:r>
          </a:p>
        </p:txBody>
      </p:sp>
      <p:sp>
        <p:nvSpPr>
          <p:cNvPr id="8" name="next">
            <a:extLst xmlns:a="http://schemas.openxmlformats.org/drawingml/2006/main">
              <a:ext uri="{FF2B5EF4-FFF2-40B4-BE49-F238E27FC236}">
                <a16:creationId xmlns:a16="http://schemas.microsoft.com/office/drawing/2014/main" id="{8955B68E-C8E9-4639-84CC-9563D1782C23}"/>
              </a:ext>
            </a:extLst>
          </p:cNvPr>
          <p:cNvSpPr>
            <a:spLocks xmlns:a="http://schemas.openxmlformats.org/drawingml/2006/main" noGrp="1"/>
          </p:cNvSpPr>
          <p:nvPr/>
        </p:nvSpPr>
        <p:spPr>
          <a:xfrm xmlns:a="http://schemas.openxmlformats.org/drawingml/2006/main">
            <a:off x="8248650" y="30765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My proposed next test</a:t>
            </a:r>
          </a:p>
        </p:txBody>
      </p:sp>
      <p:sp>
        <p:nvSpPr>
          <p:cNvPr id="9" name="next-body">
            <a:extLst xmlns:a="http://schemas.openxmlformats.org/drawingml/2006/main">
              <a:ext uri="{FF2B5EF4-FFF2-40B4-BE49-F238E27FC236}">
                <a16:creationId xmlns:a16="http://schemas.microsoft.com/office/drawing/2014/main" id="{FBB0E644-20FF-489C-89DF-6CD4F52B2C9D}"/>
              </a:ext>
            </a:extLst>
          </p:cNvPr>
          <p:cNvSpPr>
            <a:spLocks xmlns:a="http://schemas.openxmlformats.org/drawingml/2006/main" noGrp="1"/>
          </p:cNvSpPr>
          <p:nvPr/>
        </p:nvSpPr>
        <p:spPr>
          <a:xfrm xmlns:a="http://schemas.openxmlformats.org/drawingml/2006/main">
            <a:off x="8248650" y="3781425"/>
            <a:ext cx="33337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192B25"/>
                </a:solidFill>
                <a:latin typeface="Helvetica Neue"/>
                <a:ea typeface="Helvetica Neue"/>
                <a:cs typeface="Helvetica Neue"/>
              </a:defRPr>
            </a:pPr>
            <a:r>
              <a:rPr sz="2250" b="0">
                <a:solidFill>
                  <a:srgbClr val="192B25"/>
                </a:solidFill>
                <a:latin typeface="Helvetica Neue"/>
                <a:ea typeface="Helvetica Neue"/>
                <a:cs typeface="Helvetica Neue"/>
              </a:rPr>
              <a:t>Can someone adapt a template and complete the first step?</a:t>
            </a:r>
          </a:p>
        </p:txBody>
      </p:sp>
      <p:sp>
        <p:nvSpPr>
          <p:cNvPr id="10" name="outcome">
            <a:extLst xmlns:a="http://schemas.openxmlformats.org/drawingml/2006/main">
              <a:ext uri="{FF2B5EF4-FFF2-40B4-BE49-F238E27FC236}">
                <a16:creationId xmlns:a16="http://schemas.microsoft.com/office/drawing/2014/main" id="{6309B42C-3C07-4411-847C-92B5AC4DDD9E}"/>
              </a:ext>
            </a:extLst>
          </p:cNvPr>
          <p:cNvSpPr>
            <a:spLocks xmlns:a="http://schemas.openxmlformats.org/drawingml/2006/main" noGrp="1"/>
          </p:cNvSpPr>
          <p:nvPr/>
        </p:nvSpPr>
        <p:spPr>
          <a:xfrm xmlns:a="http://schemas.openxmlformats.org/drawingml/2006/main">
            <a:off x="609600" y="57721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The findings informed a proposed Action Hub. Adoption and business impact were not measured.</a:t>
            </a:r>
          </a:p>
        </p:txBody>
      </p:sp>
    </p:spTree>
    <p:extLst>
      <p:ext uri="{BB962C8B-B14F-4D97-AF65-F5344CB8AC3E}">
        <p14:creationId xmlns:p14="http://schemas.microsoft.com/office/powerpoint/2010/main" val="1816105438"/>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861045EC-1812-40D8-A3B4-B953BF6C75D5}"/>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8DED1AE9-5DAE-411E-B988-E7043E0EC4D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DESKTOP EVALUATION / NOVEMBER–DECEMBER 2023</a:t>
            </a:r>
          </a:p>
        </p:txBody>
      </p:sp>
      <p:sp>
        <p:nvSpPr>
          <p:cNvPr id="3" name="headline">
            <a:extLst xmlns:a="http://schemas.openxmlformats.org/drawingml/2006/main">
              <a:ext uri="{FF2B5EF4-FFF2-40B4-BE49-F238E27FC236}">
                <a16:creationId xmlns:a16="http://schemas.microsoft.com/office/drawing/2014/main" id="{5C5B8C30-D199-4EA2-BA6E-1C24B5B1611A}"/>
              </a:ext>
            </a:extLst>
          </p:cNvPr>
          <p:cNvSpPr>
            <a:spLocks xmlns:a="http://schemas.openxmlformats.org/drawingml/2006/main" noGrp="1"/>
          </p:cNvSpPr>
          <p:nvPr/>
        </p:nvSpPr>
        <p:spPr>
          <a:xfrm xmlns:a="http://schemas.openxmlformats.org/drawingml/2006/main">
            <a:off x="609600" y="1104900"/>
            <a:ext cx="10810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Name the risk.</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Show the alternative.</a:t>
            </a:r>
          </a:p>
        </p:txBody>
      </p:sp>
      <p:sp>
        <p:nvSpPr>
          <p:cNvPr id="4" name="finding">
            <a:extLst xmlns:a="http://schemas.openxmlformats.org/drawingml/2006/main">
              <a:ext uri="{FF2B5EF4-FFF2-40B4-BE49-F238E27FC236}">
                <a16:creationId xmlns:a16="http://schemas.microsoft.com/office/drawing/2014/main" id="{D437FA8C-7419-4088-9531-FB4EBA84B9FD}"/>
              </a:ext>
            </a:extLst>
          </p:cNvPr>
          <p:cNvSpPr>
            <a:spLocks xmlns:a="http://schemas.openxmlformats.org/drawingml/2006/main" noGrp="1"/>
          </p:cNvSpPr>
          <p:nvPr/>
        </p:nvSpPr>
        <p:spPr>
          <a:xfrm xmlns:a="http://schemas.openxmlformats.org/drawingml/2006/main">
            <a:off x="609600" y="3067050"/>
            <a:ext cx="4857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I connected navigation and feedback findings to visual recommendations, then presented them for backlog discussion.</a:t>
            </a:r>
          </a:p>
        </p:txBody>
      </p:sp>
      <p:sp>
        <p:nvSpPr>
          <p:cNvPr id="5" name="boundary">
            <a:extLst xmlns:a="http://schemas.openxmlformats.org/drawingml/2006/main">
              <a:ext uri="{FF2B5EF4-FFF2-40B4-BE49-F238E27FC236}">
                <a16:creationId xmlns:a16="http://schemas.microsoft.com/office/drawing/2014/main" id="{540E1740-23DE-4588-A67A-4C2850BFEE11}"/>
              </a:ext>
            </a:extLst>
          </p:cNvPr>
          <p:cNvSpPr>
            <a:spLocks xmlns:a="http://schemas.openxmlformats.org/drawingml/2006/main" noGrp="1"/>
          </p:cNvSpPr>
          <p:nvPr/>
        </p:nvSpPr>
        <p:spPr>
          <a:xfrm xmlns:a="http://schemas.openxmlformats.org/drawingml/2006/main">
            <a:off x="609600" y="4981575"/>
            <a:ext cx="4857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An expert evaluation informed the proposal. I collaborated with the lead UX designer; implementation and measured improvement remain unverified.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f7dce18f68a4fd2"/>
          <a:stretch xmlns:a="http://schemas.openxmlformats.org/drawingml/2006/main"/>
        </p:blipFill>
        <p:spPr>
          <a:xfrm xmlns:a="http://schemas.openxmlformats.org/drawingml/2006/main">
            <a:off x="6870958" y="3009900"/>
            <a:ext cx="3774558" cy="2705100"/>
          </a:xfrm>
          <a:prstGeom xmlns:a="http://schemas.openxmlformats.org/drawingml/2006/main" prst="rect">
            <a:avLst/>
          </a:prstGeom>
        </p:spPr>
      </p:pic>
      <p:sp>
        <p:nvSpPr>
          <p:cNvPr id="7" name="caption">
            <a:extLst xmlns:a="http://schemas.openxmlformats.org/drawingml/2006/main">
              <a:ext uri="{FF2B5EF4-FFF2-40B4-BE49-F238E27FC236}">
                <a16:creationId xmlns:a16="http://schemas.microsoft.com/office/drawing/2014/main" id="{3AE55DEF-CF1F-4BC4-91DB-F38112ED7175}"/>
              </a:ext>
            </a:extLst>
          </p:cNvPr>
          <p:cNvSpPr>
            <a:spLocks xmlns:a="http://schemas.openxmlformats.org/drawingml/2006/main" noGrp="1"/>
          </p:cNvSpPr>
          <p:nvPr/>
        </p:nvSpPr>
        <p:spPr>
          <a:xfrm xmlns:a="http://schemas.openxmlformats.org/drawingml/2006/main">
            <a:off x="6076950" y="606742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proposed login-feedback treatment</a:t>
            </a:r>
          </a:p>
        </p:txBody>
      </p:sp>
    </p:spTree>
    <p:extLst>
      <p:ext uri="{BB962C8B-B14F-4D97-AF65-F5344CB8AC3E}">
        <p14:creationId xmlns:p14="http://schemas.microsoft.com/office/powerpoint/2010/main" val="149248326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FF180E37-BF5D-4C63-BAB4-F08B3B6C01B9}"/>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DB38E22F-26B9-463B-A782-CC10E6D50B6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RESEARCH INTO DESIGN AND HANDOFF</a:t>
            </a:r>
          </a:p>
        </p:txBody>
      </p:sp>
      <p:sp>
        <p:nvSpPr>
          <p:cNvPr id="3" name="headline">
            <a:extLst xmlns:a="http://schemas.openxmlformats.org/drawingml/2006/main">
              <a:ext uri="{FF2B5EF4-FFF2-40B4-BE49-F238E27FC236}">
                <a16:creationId xmlns:a16="http://schemas.microsoft.com/office/drawing/2014/main" id="{03921018-25D3-4BAD-A51E-E904238F35F6}"/>
              </a:ext>
            </a:extLst>
          </p:cNvPr>
          <p:cNvSpPr>
            <a:spLocks xmlns:a="http://schemas.openxmlformats.org/drawingml/2006/main" noGrp="1"/>
          </p:cNvSpPr>
          <p:nvPr/>
        </p:nvSpPr>
        <p:spPr>
          <a:xfrm xmlns:a="http://schemas.openxmlformats.org/drawingml/2006/main">
            <a:off x="609600" y="1171575"/>
            <a:ext cx="45529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Carry the decision</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into the flow</a:t>
            </a:r>
          </a:p>
        </p:txBody>
      </p:sp>
      <p:sp>
        <p:nvSpPr>
          <p:cNvPr id="4" name="decision">
            <a:extLst xmlns:a="http://schemas.openxmlformats.org/drawingml/2006/main">
              <a:ext uri="{FF2B5EF4-FFF2-40B4-BE49-F238E27FC236}">
                <a16:creationId xmlns:a16="http://schemas.microsoft.com/office/drawing/2014/main" id="{BC1667DA-C522-4AB6-BD83-8EDF5436C7C6}"/>
              </a:ext>
            </a:extLst>
          </p:cNvPr>
          <p:cNvSpPr>
            <a:spLocks xmlns:a="http://schemas.openxmlformats.org/drawingml/2006/main" noGrp="1"/>
          </p:cNvSpPr>
          <p:nvPr/>
        </p:nvSpPr>
        <p:spPr>
          <a:xfrm xmlns:a="http://schemas.openxmlformats.org/drawingml/2006/main">
            <a:off x="609600" y="3219450"/>
            <a:ext cx="43148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interrupted AI answer and a lost connection need different next actions.</a:t>
            </a:r>
          </a:p>
        </p:txBody>
      </p:sp>
      <p:sp>
        <p:nvSpPr>
          <p:cNvPr id="5" name="handoff">
            <a:extLst xmlns:a="http://schemas.openxmlformats.org/drawingml/2006/main">
              <a:ext uri="{FF2B5EF4-FFF2-40B4-BE49-F238E27FC236}">
                <a16:creationId xmlns:a16="http://schemas.microsoft.com/office/drawing/2014/main" id="{A57E3FC5-D8B2-4CF2-9115-D60188160BDE}"/>
              </a:ext>
            </a:extLst>
          </p:cNvPr>
          <p:cNvSpPr>
            <a:spLocks xmlns:a="http://schemas.openxmlformats.org/drawingml/2006/main" noGrp="1"/>
          </p:cNvSpPr>
          <p:nvPr/>
        </p:nvSpPr>
        <p:spPr>
          <a:xfrm xmlns:a="http://schemas.openxmlformats.org/drawingml/2006/main">
            <a:off x="609600" y="4943475"/>
            <a:ext cx="43148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designed connected states and used annotated walkthroughs to resolve the behavior with engineering.</a:t>
            </a:r>
          </a:p>
        </p:txBody>
      </p:sp>
      <p:sp>
        <p:nvSpPr>
          <p:cNvPr id="6" name="partial-label">
            <a:extLst xmlns:a="http://schemas.openxmlformats.org/drawingml/2006/main">
              <a:ext uri="{FF2B5EF4-FFF2-40B4-BE49-F238E27FC236}">
                <a16:creationId xmlns:a16="http://schemas.microsoft.com/office/drawing/2014/main" id="{130FE275-56DF-4443-9895-1E7064EEC802}"/>
              </a:ext>
            </a:extLst>
          </p:cNvPr>
          <p:cNvSpPr>
            <a:spLocks xmlns:a="http://schemas.openxmlformats.org/drawingml/2006/main" noGrp="1"/>
          </p:cNvSpPr>
          <p:nvPr/>
        </p:nvSpPr>
        <p:spPr>
          <a:xfrm xmlns:a="http://schemas.openxmlformats.org/drawingml/2006/main">
            <a:off x="5638800" y="82867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15A95B31-2043-4172-A4C1-1C21EBFBDD8B}"/>
              </a:ext>
            </a:extLst>
          </p:cNvPr>
          <p:cNvSpPr>
            <a:spLocks xmlns:a="http://schemas.openxmlformats.org/drawingml/2006/main" noGrp="1"/>
          </p:cNvSpPr>
          <p:nvPr/>
        </p:nvSpPr>
        <p:spPr>
          <a:xfrm xmlns:a="http://schemas.openxmlformats.org/drawingml/2006/main">
            <a:off x="8705850" y="82867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eed38546da54bed"/>
          <a:stretch xmlns:a="http://schemas.openxmlformats.org/drawingml/2006/main"/>
        </p:blipFill>
        <p:spPr>
          <a:xfrm xmlns:a="http://schemas.openxmlformats.org/drawingml/2006/main">
            <a:off x="5711001" y="1190625"/>
            <a:ext cx="2427348" cy="52006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fbd692041b94352"/>
          <a:stretch xmlns:a="http://schemas.openxmlformats.org/drawingml/2006/main"/>
        </p:blipFill>
        <p:spPr>
          <a:xfrm xmlns:a="http://schemas.openxmlformats.org/drawingml/2006/main">
            <a:off x="8778051" y="1190625"/>
            <a:ext cx="2427348" cy="5200650"/>
          </a:xfrm>
          <a:prstGeom xmlns:a="http://schemas.openxmlformats.org/drawingml/2006/main" prst="rect">
            <a:avLst/>
          </a:prstGeom>
        </p:spPr>
      </p:pic>
    </p:spTree>
    <p:extLst>
      <p:ext uri="{BB962C8B-B14F-4D97-AF65-F5344CB8AC3E}">
        <p14:creationId xmlns:p14="http://schemas.microsoft.com/office/powerpoint/2010/main" val="2069331358"/>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C20DA30C-93B9-4925-9D7F-4A2F63D1054A}"/>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0A5323F9-90F6-461D-A40C-AB545F8A2E2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CREATOR, 2026</a:t>
            </a:r>
          </a:p>
        </p:txBody>
      </p:sp>
      <p:sp>
        <p:nvSpPr>
          <p:cNvPr id="3" name="headline">
            <a:extLst xmlns:a="http://schemas.openxmlformats.org/drawingml/2006/main">
              <a:ext uri="{FF2B5EF4-FFF2-40B4-BE49-F238E27FC236}">
                <a16:creationId xmlns:a16="http://schemas.microsoft.com/office/drawing/2014/main" id="{8ACD75BE-551F-46FD-B4C8-C01011D6B396}"/>
              </a:ext>
            </a:extLst>
          </p:cNvPr>
          <p:cNvSpPr>
            <a:spLocks xmlns:a="http://schemas.openxmlformats.org/drawingml/2006/main" noGrp="1"/>
          </p:cNvSpPr>
          <p:nvPr/>
        </p:nvSpPr>
        <p:spPr>
          <a:xfrm xmlns:a="http://schemas.openxmlformats.org/drawingml/2006/main">
            <a:off x="609600" y="1104900"/>
            <a:ext cx="109156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 prompt rewrite can</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lose requirements</a:t>
            </a:r>
          </a:p>
        </p:txBody>
      </p:sp>
      <p:sp>
        <p:nvSpPr>
          <p:cNvPr id="4" name="original-label">
            <a:extLst xmlns:a="http://schemas.openxmlformats.org/drawingml/2006/main">
              <a:ext uri="{FF2B5EF4-FFF2-40B4-BE49-F238E27FC236}">
                <a16:creationId xmlns:a16="http://schemas.microsoft.com/office/drawing/2014/main" id="{7B990E12-8B45-4ED7-ACDC-BE1B6876FE5F}"/>
              </a:ext>
            </a:extLst>
          </p:cNvPr>
          <p:cNvSpPr>
            <a:spLocks xmlns:a="http://schemas.openxmlformats.org/drawingml/2006/main" noGrp="1"/>
          </p:cNvSpPr>
          <p:nvPr/>
        </p:nvSpPr>
        <p:spPr>
          <a:xfrm xmlns:a="http://schemas.openxmlformats.org/drawingml/2006/main">
            <a:off x="609600" y="3000375"/>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Original request</a:t>
            </a:r>
          </a:p>
        </p:txBody>
      </p:sp>
      <p:sp>
        <p:nvSpPr>
          <p:cNvPr id="5" name="original-body">
            <a:extLst xmlns:a="http://schemas.openxmlformats.org/drawingml/2006/main">
              <a:ext uri="{FF2B5EF4-FFF2-40B4-BE49-F238E27FC236}">
                <a16:creationId xmlns:a16="http://schemas.microsoft.com/office/drawing/2014/main" id="{EE654169-221A-474D-9F0E-09BB8E003FA6}"/>
              </a:ext>
            </a:extLst>
          </p:cNvPr>
          <p:cNvSpPr>
            <a:spLocks xmlns:a="http://schemas.openxmlformats.org/drawingml/2006/main" noGrp="1"/>
          </p:cNvSpPr>
          <p:nvPr/>
        </p:nvSpPr>
        <p:spPr>
          <a:xfrm xmlns:a="http://schemas.openxmlformats.org/drawingml/2006/main">
            <a:off x="609600" y="3714750"/>
            <a:ext cx="47910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0">
                <a:solidFill>
                  <a:srgbClr val="192B25"/>
                </a:solidFill>
                <a:latin typeface="Helvetica Neue"/>
                <a:ea typeface="Helvetica Neue"/>
                <a:cs typeface="Helvetica Neue"/>
              </a:defRPr>
            </a:pPr>
            <a:r>
              <a:rPr sz="2400" b="0">
                <a:solidFill>
                  <a:srgbClr val="192B25"/>
                </a:solidFill>
                <a:latin typeface="Helvetica Neue"/>
                <a:ea typeface="Helvetica Neue"/>
                <a:cs typeface="Helvetica Neue"/>
              </a:rPr>
              <a:t>Valid JSON, four named fields, and a low-confidence review rule.</a:t>
            </a:r>
          </a:p>
        </p:txBody>
      </p:sp>
      <p:sp>
        <p:nvSpPr>
          <p:cNvPr id="6" name="rewrite-label">
            <a:extLst xmlns:a="http://schemas.openxmlformats.org/drawingml/2006/main">
              <a:ext uri="{FF2B5EF4-FFF2-40B4-BE49-F238E27FC236}">
                <a16:creationId xmlns:a16="http://schemas.microsoft.com/office/drawing/2014/main" id="{7629F189-297F-43C1-B9BD-AFF35AA5B2C6}"/>
              </a:ext>
            </a:extLst>
          </p:cNvPr>
          <p:cNvSpPr>
            <a:spLocks xmlns:a="http://schemas.openxmlformats.org/drawingml/2006/main" noGrp="1"/>
          </p:cNvSpPr>
          <p:nvPr/>
        </p:nvSpPr>
        <p:spPr>
          <a:xfrm xmlns:a="http://schemas.openxmlformats.org/drawingml/2006/main">
            <a:off x="6372225" y="3000375"/>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Shorter rewrite</a:t>
            </a:r>
          </a:p>
        </p:txBody>
      </p:sp>
      <p:sp>
        <p:nvSpPr>
          <p:cNvPr id="7" name="rewrite-body">
            <a:extLst xmlns:a="http://schemas.openxmlformats.org/drawingml/2006/main">
              <a:ext uri="{FF2B5EF4-FFF2-40B4-BE49-F238E27FC236}">
                <a16:creationId xmlns:a16="http://schemas.microsoft.com/office/drawing/2014/main" id="{1F485B19-4D55-4E48-8468-799F6204E3C8}"/>
              </a:ext>
            </a:extLst>
          </p:cNvPr>
          <p:cNvSpPr>
            <a:spLocks xmlns:a="http://schemas.openxmlformats.org/drawingml/2006/main" noGrp="1"/>
          </p:cNvSpPr>
          <p:nvPr/>
        </p:nvSpPr>
        <p:spPr>
          <a:xfrm xmlns:a="http://schemas.openxmlformats.org/drawingml/2006/main">
            <a:off x="6372225" y="3714750"/>
            <a:ext cx="47910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0">
                <a:solidFill>
                  <a:srgbClr val="192B25"/>
                </a:solidFill>
                <a:latin typeface="Helvetica Neue"/>
                <a:ea typeface="Helvetica Neue"/>
                <a:cs typeface="Helvetica Neue"/>
              </a:defRPr>
            </a:pPr>
            <a:r>
              <a:rPr sz="2400" b="0">
                <a:solidFill>
                  <a:srgbClr val="192B25"/>
                </a:solidFill>
                <a:latin typeface="Helvetica Neue"/>
                <a:ea typeface="Helvetica Neue"/>
                <a:cs typeface="Helvetica Neue"/>
              </a:rPr>
              <a:t>A clean structured answer with the best response for the user.</a:t>
            </a:r>
          </a:p>
        </p:txBody>
      </p:sp>
      <p:sp>
        <p:nvSpPr>
          <p:cNvPr id="8" name="finding">
            <a:extLst xmlns:a="http://schemas.openxmlformats.org/drawingml/2006/main">
              <a:ext uri="{FF2B5EF4-FFF2-40B4-BE49-F238E27FC236}">
                <a16:creationId xmlns:a16="http://schemas.microsoft.com/office/drawing/2014/main" id="{F691E1A1-FDB3-4374-8BFF-8CC580B2E3C6}"/>
              </a:ext>
            </a:extLst>
          </p:cNvPr>
          <p:cNvSpPr>
            <a:spLocks xmlns:a="http://schemas.openxmlformats.org/drawingml/2006/main" noGrp="1"/>
          </p:cNvSpPr>
          <p:nvPr/>
        </p:nvSpPr>
        <p:spPr>
          <a:xfrm xmlns:a="http://schemas.openxmlformats.org/drawingml/2006/main">
            <a:off x="609600" y="5505450"/>
            <a:ext cx="10515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My tool compares requirements as well as wording. This developer-authored test exposes what the shorter request leaves out.</a:t>
            </a:r>
          </a:p>
        </p:txBody>
      </p:sp>
      <p:sp>
        <p:nvSpPr>
          <p:cNvPr id="9" name="boundary">
            <a:extLst xmlns:a="http://schemas.openxmlformats.org/drawingml/2006/main">
              <a:ext uri="{FF2B5EF4-FFF2-40B4-BE49-F238E27FC236}">
                <a16:creationId xmlns:a16="http://schemas.microsoft.com/office/drawing/2014/main" id="{1DC38BE9-A066-481E-AC8B-E5AB5FC739FC}"/>
              </a:ext>
            </a:extLst>
          </p:cNvPr>
          <p:cNvSpPr>
            <a:spLocks xmlns:a="http://schemas.openxmlformats.org/drawingml/2006/main" noGrp="1"/>
          </p:cNvSpPr>
          <p:nvPr/>
        </p:nvSpPr>
        <p:spPr>
          <a:xfrm xmlns:a="http://schemas.openxmlformats.org/drawingml/2006/main">
            <a:off x="609600" y="6429375"/>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Public beta product; this example comes from later local evaluation work.</a:t>
            </a:r>
          </a:p>
        </p:txBody>
      </p:sp>
    </p:spTree>
    <p:extLst>
      <p:ext uri="{BB962C8B-B14F-4D97-AF65-F5344CB8AC3E}">
        <p14:creationId xmlns:p14="http://schemas.microsoft.com/office/powerpoint/2010/main" val="1767788181"/>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A3A4FCA3-A457-4F47-9A65-F9C971D2016B}"/>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B9CE35CE-4177-4B2F-8C61-54BB7FD7C24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APOLLO / PROPOSED RESEARCH APPROACH</a:t>
            </a:r>
          </a:p>
        </p:txBody>
      </p:sp>
      <p:sp>
        <p:nvSpPr>
          <p:cNvPr id="3" name="headline">
            <a:extLst xmlns:a="http://schemas.openxmlformats.org/drawingml/2006/main">
              <a:ext uri="{FF2B5EF4-FFF2-40B4-BE49-F238E27FC236}">
                <a16:creationId xmlns:a16="http://schemas.microsoft.com/office/drawing/2014/main" id="{D7518569-355F-4D96-A0CF-7E8D9671531A}"/>
              </a:ext>
            </a:extLst>
          </p:cNvPr>
          <p:cNvSpPr>
            <a:spLocks xmlns:a="http://schemas.openxmlformats.org/drawingml/2006/main" noGrp="1"/>
          </p:cNvSpPr>
          <p:nvPr/>
        </p:nvSpPr>
        <p:spPr>
          <a:xfrm xmlns:a="http://schemas.openxmlformats.org/drawingml/2006/main">
            <a:off x="609600" y="1104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Start with the decision a team needs</a:t>
            </a:r>
          </a:p>
        </p:txBody>
      </p:sp>
      <p:sp>
        <p:nvSpPr>
          <p:cNvPr id="4" name="proposed-intro">
            <a:extLst xmlns:a="http://schemas.openxmlformats.org/drawingml/2006/main">
              <a:ext uri="{FF2B5EF4-FFF2-40B4-BE49-F238E27FC236}">
                <a16:creationId xmlns:a16="http://schemas.microsoft.com/office/drawing/2014/main" id="{AF0FD36E-6ADC-4629-9DF9-D13A5E556DBB}"/>
              </a:ext>
            </a:extLst>
          </p:cNvPr>
          <p:cNvSpPr>
            <a:spLocks xmlns:a="http://schemas.openxmlformats.org/drawingml/2006/main" noGrp="1"/>
          </p:cNvSpPr>
          <p:nvPr/>
        </p:nvSpPr>
        <p:spPr>
          <a:xfrm xmlns:a="http://schemas.openxmlformats.org/drawingml/2006/main">
            <a:off x="609600" y="2324100"/>
            <a:ext cx="10363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192B25"/>
                </a:solidFill>
                <a:latin typeface="Helvetica Neue"/>
                <a:ea typeface="Helvetica Neue"/>
                <a:cs typeface="Helvetica Neue"/>
              </a:defRPr>
            </a:pPr>
            <a:r>
              <a:rPr sz="2250" b="0">
                <a:solidFill>
                  <a:srgbClr val="192B25"/>
                </a:solidFill>
                <a:latin typeface="Helvetica Neue"/>
                <a:ea typeface="Helvetica Neue"/>
                <a:cs typeface="Helvetica Neue"/>
              </a:rPr>
              <a:t>I would choose the method around the uncertainty: what people need, where a workflow fails, or whether an alternative helps.</a:t>
            </a:r>
          </a:p>
        </p:txBody>
      </p:sp>
      <p:sp>
        <p:nvSpPr>
          <p:cNvPr id="5" name="step1">
            <a:extLst xmlns:a="http://schemas.openxmlformats.org/drawingml/2006/main">
              <a:ext uri="{FF2B5EF4-FFF2-40B4-BE49-F238E27FC236}">
                <a16:creationId xmlns:a16="http://schemas.microsoft.com/office/drawing/2014/main" id="{9915FA6C-A305-4657-B796-A69645855B70}"/>
              </a:ext>
            </a:extLst>
          </p:cNvPr>
          <p:cNvSpPr>
            <a:spLocks xmlns:a="http://schemas.openxmlformats.org/drawingml/2006/main" noGrp="1"/>
          </p:cNvSpPr>
          <p:nvPr/>
        </p:nvSpPr>
        <p:spPr>
          <a:xfrm xmlns:a="http://schemas.openxmlformats.org/drawingml/2006/main">
            <a:off x="609600" y="38100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01  Frame the decision and review the existing evidence</a:t>
            </a:r>
          </a:p>
        </p:txBody>
      </p:sp>
      <p:sp>
        <p:nvSpPr>
          <p:cNvPr id="6" name="step2">
            <a:extLst xmlns:a="http://schemas.openxmlformats.org/drawingml/2006/main">
              <a:ext uri="{FF2B5EF4-FFF2-40B4-BE49-F238E27FC236}">
                <a16:creationId xmlns:a16="http://schemas.microsoft.com/office/drawing/2014/main" id="{7F178E59-3883-4C8A-BA02-15FBBADC8488}"/>
              </a:ext>
            </a:extLst>
          </p:cNvPr>
          <p:cNvSpPr>
            <a:spLocks xmlns:a="http://schemas.openxmlformats.org/drawingml/2006/main" noGrp="1"/>
          </p:cNvSpPr>
          <p:nvPr/>
        </p:nvSpPr>
        <p:spPr>
          <a:xfrm xmlns:a="http://schemas.openxmlformats.org/drawingml/2006/main">
            <a:off x="609600" y="459105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02  Study the task and prototype a focused alternative</a:t>
            </a:r>
          </a:p>
        </p:txBody>
      </p:sp>
      <p:sp>
        <p:nvSpPr>
          <p:cNvPr id="7" name="step3">
            <a:extLst xmlns:a="http://schemas.openxmlformats.org/drawingml/2006/main">
              <a:ext uri="{FF2B5EF4-FFF2-40B4-BE49-F238E27FC236}">
                <a16:creationId xmlns:a16="http://schemas.microsoft.com/office/drawing/2014/main" id="{CD150713-73F2-475C-898E-6BB554A3044C}"/>
              </a:ext>
            </a:extLst>
          </p:cNvPr>
          <p:cNvSpPr>
            <a:spLocks xmlns:a="http://schemas.openxmlformats.org/drawingml/2006/main" noGrp="1"/>
          </p:cNvSpPr>
          <p:nvPr/>
        </p:nvSpPr>
        <p:spPr>
          <a:xfrm xmlns:a="http://schemas.openxmlformats.org/drawingml/2006/main">
            <a:off x="609600" y="53721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03  Report the finding, its limits, and the next check</a:t>
            </a:r>
          </a:p>
        </p:txBody>
      </p:sp>
      <p:sp>
        <p:nvSpPr>
          <p:cNvPr id="8" name="boundary">
            <a:extLst xmlns:a="http://schemas.openxmlformats.org/drawingml/2006/main">
              <a:ext uri="{FF2B5EF4-FFF2-40B4-BE49-F238E27FC236}">
                <a16:creationId xmlns:a16="http://schemas.microsoft.com/office/drawing/2014/main" id="{5E23AFCE-8B06-44A0-A8C5-1D0D8DB59493}"/>
              </a:ext>
            </a:extLst>
          </p:cNvPr>
          <p:cNvSpPr>
            <a:spLocks xmlns:a="http://schemas.openxmlformats.org/drawingml/2006/main" noGrp="1"/>
          </p:cNvSpPr>
          <p:nvPr/>
        </p:nvSpPr>
        <p:spPr>
          <a:xfrm xmlns:a="http://schemas.openxmlformats.org/drawingml/2006/main">
            <a:off x="609600" y="6257925"/>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Apollo; no prior Apollo or sales-domain research is claimed.</a:t>
            </a:r>
          </a:p>
        </p:txBody>
      </p:sp>
    </p:spTree>
    <p:extLst>
      <p:ext uri="{BB962C8B-B14F-4D97-AF65-F5344CB8AC3E}">
        <p14:creationId xmlns:p14="http://schemas.microsoft.com/office/powerpoint/2010/main" val="186081842"/>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6B4EAA21-31DA-4CFD-B51F-CC9031DDE13E}"/>
              </a:ext>
            </a:extLst>
          </p:cNvPr>
          <p:cNvSpPr>
            <a:spLocks xmlns:a="http://schemas.openxmlformats.org/drawingml/2006/main" noGrp="1"/>
          </p:cNvSpPr>
          <p:nvPr/>
        </p:nvSpPr>
        <p:spPr>
          <a:xfrm xmlns:a="http://schemas.openxmlformats.org/drawingml/2006/main">
            <a:off x="11353800" y="6534150"/>
            <a:ext cx="323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A194AD48-1F63-4135-A02A-0924314362A4}"/>
              </a:ext>
            </a:extLst>
          </p:cNvPr>
          <p:cNvSpPr>
            <a:spLocks xmlns:a="http://schemas.openxmlformats.org/drawingml/2006/main" noGrp="1"/>
          </p:cNvSpPr>
          <p:nvPr/>
        </p:nvSpPr>
        <p:spPr>
          <a:xfrm xmlns:a="http://schemas.openxmlformats.org/drawingml/2006/main">
            <a:off x="609600" y="5238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APOLLO.IO RESEARCHER APPLICATION</a:t>
            </a:r>
          </a:p>
        </p:txBody>
      </p:sp>
      <p:sp>
        <p:nvSpPr>
          <p:cNvPr id="3" name="headline">
            <a:extLst xmlns:a="http://schemas.openxmlformats.org/drawingml/2006/main">
              <a:ext uri="{FF2B5EF4-FFF2-40B4-BE49-F238E27FC236}">
                <a16:creationId xmlns:a16="http://schemas.microsoft.com/office/drawing/2014/main" id="{184140FD-5E7E-4D3D-A4B9-E26982DCA64F}"/>
              </a:ext>
            </a:extLst>
          </p:cNvPr>
          <p:cNvSpPr>
            <a:spLocks xmlns:a="http://schemas.openxmlformats.org/drawingml/2006/main" noGrp="1"/>
          </p:cNvSpPr>
          <p:nvPr/>
        </p:nvSpPr>
        <p:spPr>
          <a:xfrm xmlns:a="http://schemas.openxmlformats.org/drawingml/2006/main">
            <a:off x="609600" y="16573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400" b="1">
                <a:solidFill>
                  <a:srgbClr val="F4F2E9"/>
                </a:solidFill>
                <a:latin typeface="Helvetica Neue"/>
                <a:ea typeface="Helvetica Neue"/>
                <a:cs typeface="Helvetica Neue"/>
              </a:defRPr>
            </a:pPr>
            <a:r>
              <a:rPr sz="5400" b="1">
                <a:solidFill>
                  <a:srgbClr val="F4F2E9"/>
                </a:solidFill>
                <a:latin typeface="Helvetica Neue"/>
                <a:ea typeface="Helvetica Neue"/>
                <a:cs typeface="Helvetica Neue"/>
              </a:rPr>
              <a:t>Kyle Hobson</a:t>
            </a:r>
          </a:p>
        </p:txBody>
      </p:sp>
      <p:sp>
        <p:nvSpPr>
          <p:cNvPr id="4" name="background">
            <a:extLst xmlns:a="http://schemas.openxmlformats.org/drawingml/2006/main">
              <a:ext uri="{FF2B5EF4-FFF2-40B4-BE49-F238E27FC236}">
                <a16:creationId xmlns:a16="http://schemas.microsoft.com/office/drawing/2014/main" id="{85727ED3-97CF-4A74-9345-DD0503EFEBC6}"/>
              </a:ext>
            </a:extLst>
          </p:cNvPr>
          <p:cNvSpPr>
            <a:spLocks xmlns:a="http://schemas.openxmlformats.org/drawingml/2006/main" noGrp="1"/>
          </p:cNvSpPr>
          <p:nvPr/>
        </p:nvSpPr>
        <p:spPr>
          <a:xfrm xmlns:a="http://schemas.openxmlformats.org/drawingml/2006/main">
            <a:off x="647700" y="3476625"/>
            <a:ext cx="1028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Survey research, usability decisions,</a:t>
            </a:r>
          </a:p>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and applied AI evaluation.</a:t>
            </a:r>
          </a:p>
        </p:txBody>
      </p:sp>
      <p:sp>
        <p:nvSpPr>
          <p:cNvPr id="5" name="availability">
            <a:extLst xmlns:a="http://schemas.openxmlformats.org/drawingml/2006/main">
              <a:ext uri="{FF2B5EF4-FFF2-40B4-BE49-F238E27FC236}">
                <a16:creationId xmlns:a16="http://schemas.microsoft.com/office/drawing/2014/main" id="{E0FE2A41-6930-42C3-B9C1-AEEA1F47213F}"/>
              </a:ext>
            </a:extLst>
          </p:cNvPr>
          <p:cNvSpPr>
            <a:spLocks xmlns:a="http://schemas.openxmlformats.org/drawingml/2006/main" noGrp="1"/>
          </p:cNvSpPr>
          <p:nvPr/>
        </p:nvSpPr>
        <p:spPr>
          <a:xfrm xmlns:a="http://schemas.openxmlformats.org/drawingml/2006/main">
            <a:off x="647700" y="49339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F4F2E9"/>
                </a:solidFill>
                <a:latin typeface="Helvetica Neue"/>
                <a:ea typeface="Helvetica Neue"/>
                <a:cs typeface="Helvetica Neue"/>
              </a:defRPr>
            </a:pPr>
            <a:r>
              <a:rPr sz="1800" b="0">
                <a:solidFill>
                  <a:srgbClr val="F4F2E9"/>
                </a:solidFill>
                <a:latin typeface="Helvetica Neue"/>
                <a:ea typeface="Helvetica Neue"/>
                <a:cs typeface="Helvetica Neue"/>
              </a:rPr>
              <a:t>Mesa, Arizona / U.S. remote work / Available to start soon</a:t>
            </a:r>
          </a:p>
        </p:txBody>
      </p:sp>
      <p:sp>
        <p:nvSpPr>
          <p:cNvPr id="6" name="email">
            <a:extLst xmlns:a="http://schemas.openxmlformats.org/drawingml/2006/main">
              <a:ext uri="{FF2B5EF4-FFF2-40B4-BE49-F238E27FC236}">
                <a16:creationId xmlns:a16="http://schemas.microsoft.com/office/drawing/2014/main" id="{7FCFF82C-5EAE-442B-95A9-1FDE9DAB695A}"/>
              </a:ext>
            </a:extLst>
          </p:cNvPr>
          <p:cNvSpPr>
            <a:spLocks xmlns:a="http://schemas.openxmlformats.org/drawingml/2006/main" noGrp="1"/>
          </p:cNvSpPr>
          <p:nvPr/>
        </p:nvSpPr>
        <p:spPr>
          <a:xfrm xmlns:a="http://schemas.openxmlformats.org/drawingml/2006/main">
            <a:off x="647700" y="557212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0fbb664f354b4d90"/>
              </a:rPr>
              <a:t>JonathanKyleHobson@gmail.com</a:t>
            </a:r>
          </a:p>
        </p:txBody>
      </p:sp>
      <p:sp>
        <p:nvSpPr>
          <p:cNvPr id="7" name="portfolio">
            <a:extLst xmlns:a="http://schemas.openxmlformats.org/drawingml/2006/main">
              <a:ext uri="{FF2B5EF4-FFF2-40B4-BE49-F238E27FC236}">
                <a16:creationId xmlns:a16="http://schemas.microsoft.com/office/drawing/2014/main" id="{FF83004E-42DD-4158-8AD4-17D5F531EE8F}"/>
              </a:ext>
            </a:extLst>
          </p:cNvPr>
          <p:cNvSpPr>
            <a:spLocks xmlns:a="http://schemas.openxmlformats.org/drawingml/2006/main" noGrp="1"/>
          </p:cNvSpPr>
          <p:nvPr/>
        </p:nvSpPr>
        <p:spPr>
          <a:xfrm xmlns:a="http://schemas.openxmlformats.org/drawingml/2006/main">
            <a:off x="647700" y="61245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F4F2E9"/>
                </a:solidFill>
                <a:latin typeface="Helvetica Neue"/>
                <a:ea typeface="Helvetica Neue"/>
                <a:cs typeface="Helvetica Neue"/>
              </a:defRPr>
            </a:pPr>
            <a:r>
              <a:rPr sz="1725" b="0" u="sng">
                <a:solidFill>
                  <a:srgbClr val="F4F2E9"/>
                </a:solidFill>
                <a:latin typeface="Helvetica Neue"/>
                <a:ea typeface="Helvetica Neue"/>
                <a:cs typeface="Helvetica Neue"/>
                <a:hlinkClick xmlns:r="http://schemas.openxmlformats.org/officeDocument/2006/relationships" r:id="R90438713f6ee46c8"/>
              </a:rPr>
              <a:t>Portfolio selected for Apollo.io</a:t>
            </a:r>
          </a:p>
        </p:txBody>
      </p:sp>
    </p:spTree>
    <p:extLst>
      <p:ext uri="{BB962C8B-B14F-4D97-AF65-F5344CB8AC3E}">
        <p14:creationId xmlns:p14="http://schemas.microsoft.com/office/powerpoint/2010/main" val="59753869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2026-09-08T20:25:40.9160000Z</dcterms:created>
  <dcterms:modified xsi:type="dcterms:W3CDTF">2026-09-08T20:25:40.9160000Z</dcterms:modified>
</coreProperties>
</file>