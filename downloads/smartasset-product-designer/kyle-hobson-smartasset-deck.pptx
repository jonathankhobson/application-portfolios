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8c23fe62e7541f8" /><Relationship Type="http://schemas.openxmlformats.org/officeDocument/2006/relationships/extended-properties" Target="/docProps/app.xml" Id="Rcd0d5cbfcad443a9" /><Relationship Type="http://schemas.openxmlformats.org/officeDocument/2006/relationships/officeDocument" Target="/ppt/presentation.xml" Id="Rd973db16f5ac4494" /></Relationships>
</file>

<file path=ppt/presentation.xml><?xml version="1.0" encoding="utf-8"?>
<p:presentation xmlns:p="http://schemas.openxmlformats.org/presentationml/2006/main">
  <p:sldMasterIdLst>
    <p:sldMasterId xmlns:r="http://schemas.openxmlformats.org/officeDocument/2006/relationships" id="2147483648" r:id="Reb3106cb50554c84"/>
  </p:sldMasterIdLst>
  <p:notesMasterIdLst>
    <p:notesMasterId xmlns:r="http://schemas.openxmlformats.org/officeDocument/2006/relationships" r:id="R00bdc2abf1444bba"/>
  </p:notesMasterIdLst>
  <p:sldIdLst>
    <p:sldId xmlns:r="http://schemas.openxmlformats.org/officeDocument/2006/relationships" id="256" r:id="R2a8b615206534a9a"/>
    <p:sldId xmlns:r="http://schemas.openxmlformats.org/officeDocument/2006/relationships" id="257" r:id="R0f38d86b0faf40e0"/>
    <p:sldId xmlns:r="http://schemas.openxmlformats.org/officeDocument/2006/relationships" id="258" r:id="Rdcb7cf6255d14302"/>
    <p:sldId xmlns:r="http://schemas.openxmlformats.org/officeDocument/2006/relationships" id="259" r:id="Ra7b12716849945cc"/>
    <p:sldId xmlns:r="http://schemas.openxmlformats.org/officeDocument/2006/relationships" id="260" r:id="Rd5d224f0759c4dd8"/>
    <p:sldId xmlns:r="http://schemas.openxmlformats.org/officeDocument/2006/relationships" id="261" r:id="R260831f969e24876"/>
    <p:sldId xmlns:r="http://schemas.openxmlformats.org/officeDocument/2006/relationships" id="262" r:id="Rc15309c7d9354590"/>
    <p:sldId xmlns:r="http://schemas.openxmlformats.org/officeDocument/2006/relationships" id="263" r:id="Redcc54954cf841d2"/>
    <p:sldId xmlns:r="http://schemas.openxmlformats.org/officeDocument/2006/relationships" id="264" r:id="Re6266518ebd441f4"/>
    <p:sldId xmlns:r="http://schemas.openxmlformats.org/officeDocument/2006/relationships" id="265" r:id="Rf6edcf8f4bee4f1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a5a835abaa34297" /><Relationship Type="http://schemas.openxmlformats.org/officeDocument/2006/relationships/slideMaster" Target="/ppt/slideMasters/slideMaster1.xml" Id="Reb3106cb50554c84" /><Relationship Type="http://schemas.openxmlformats.org/officeDocument/2006/relationships/notesMaster" Target="/ppt/notesMasters/notesMaster1.xml" Id="R00bdc2abf1444bba" /><Relationship Type="http://schemas.openxmlformats.org/officeDocument/2006/relationships/presProps" Target="/ppt/presProps.xml" Id="R6b05b8520cc842aa" /><Relationship Type="http://schemas.openxmlformats.org/officeDocument/2006/relationships/tableStyles" Target="/ppt/tableStyles.xml" Id="R830a4f9b41754cda" /><Relationship Type="http://schemas.openxmlformats.org/officeDocument/2006/relationships/slide" Target="/ppt/slides/slide1.xml" Id="R2a8b615206534a9a" /><Relationship Type="http://schemas.openxmlformats.org/officeDocument/2006/relationships/slide" Target="/ppt/slides/slide2.xml" Id="R0f38d86b0faf40e0" /><Relationship Type="http://schemas.openxmlformats.org/officeDocument/2006/relationships/slide" Target="/ppt/slides/slide3.xml" Id="Rdcb7cf6255d14302" /><Relationship Type="http://schemas.openxmlformats.org/officeDocument/2006/relationships/slide" Target="/ppt/slides/slide4.xml" Id="Ra7b12716849945cc" /><Relationship Type="http://schemas.openxmlformats.org/officeDocument/2006/relationships/slide" Target="/ppt/slides/slide5.xml" Id="Rd5d224f0759c4dd8" /><Relationship Type="http://schemas.openxmlformats.org/officeDocument/2006/relationships/slide" Target="/ppt/slides/slide6.xml" Id="R260831f969e24876" /><Relationship Type="http://schemas.openxmlformats.org/officeDocument/2006/relationships/slide" Target="/ppt/slides/slide7.xml" Id="Rc15309c7d9354590" /><Relationship Type="http://schemas.openxmlformats.org/officeDocument/2006/relationships/slide" Target="/ppt/slides/slide8.xml" Id="Redcc54954cf841d2" /><Relationship Type="http://schemas.openxmlformats.org/officeDocument/2006/relationships/slide" Target="/ppt/slides/slide9.xml" Id="Re6266518ebd441f4" /><Relationship Type="http://schemas.openxmlformats.org/officeDocument/2006/relationships/slide" Target="/ppt/slides/slide10.xml" Id="Rf6edcf8f4bee4f1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0437989d806405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af7aafc4ea448e8" /><Relationship Type="http://schemas.openxmlformats.org/officeDocument/2006/relationships/notesMaster" Target="/ppt/notesMasters/notesMaster1.xml" Id="Ra87e018f09f54a73" /></Relationships>
</file>

<file path=ppt/notesSlides/_rels/notesSlide2.xml.rels>&#65279;<?xml version="1.0" encoding="utf-8"?><Relationships xmlns="http://schemas.openxmlformats.org/package/2006/relationships"><Relationship Type="http://schemas.openxmlformats.org/officeDocument/2006/relationships/slide" Target="/ppt/slides/slide2.xml" Id="R962471565cf642d2" /><Relationship Type="http://schemas.openxmlformats.org/officeDocument/2006/relationships/notesMaster" Target="/ppt/notesMasters/notesMaster1.xml" Id="R15222f8db0b44ab9" /></Relationships>
</file>

<file path=ppt/notesSlides/_rels/notesSlide3.xml.rels>&#65279;<?xml version="1.0" encoding="utf-8"?><Relationships xmlns="http://schemas.openxmlformats.org/package/2006/relationships"><Relationship Type="http://schemas.openxmlformats.org/officeDocument/2006/relationships/slide" Target="/ppt/slides/slide3.xml" Id="R4524f4ca82734aae" /><Relationship Type="http://schemas.openxmlformats.org/officeDocument/2006/relationships/notesMaster" Target="/ppt/notesMasters/notesMaster1.xml" Id="R19d5c2dbd72447ba" /></Relationships>
</file>

<file path=ppt/notesSlides/_rels/notesSlide4.xml.rels>&#65279;<?xml version="1.0" encoding="utf-8"?><Relationships xmlns="http://schemas.openxmlformats.org/package/2006/relationships"><Relationship Type="http://schemas.openxmlformats.org/officeDocument/2006/relationships/slide" Target="/ppt/slides/slide4.xml" Id="R99964734277848c1" /><Relationship Type="http://schemas.openxmlformats.org/officeDocument/2006/relationships/notesMaster" Target="/ppt/notesMasters/notesMaster1.xml" Id="R583f31e07a3d4680" /></Relationships>
</file>

<file path=ppt/notesSlides/_rels/notesSlide5.xml.rels>&#65279;<?xml version="1.0" encoding="utf-8"?><Relationships xmlns="http://schemas.openxmlformats.org/package/2006/relationships"><Relationship Type="http://schemas.openxmlformats.org/officeDocument/2006/relationships/slide" Target="/ppt/slides/slide5.xml" Id="Rd5cef643ddb1476f" /><Relationship Type="http://schemas.openxmlformats.org/officeDocument/2006/relationships/notesMaster" Target="/ppt/notesMasters/notesMaster1.xml" Id="R9a4a702ee7714a38" /></Relationships>
</file>

<file path=ppt/notesSlides/_rels/notesSlide6.xml.rels>&#65279;<?xml version="1.0" encoding="utf-8"?><Relationships xmlns="http://schemas.openxmlformats.org/package/2006/relationships"><Relationship Type="http://schemas.openxmlformats.org/officeDocument/2006/relationships/slide" Target="/ppt/slides/slide6.xml" Id="R4aedce2880a34bfb" /><Relationship Type="http://schemas.openxmlformats.org/officeDocument/2006/relationships/notesMaster" Target="/ppt/notesMasters/notesMaster1.xml" Id="R8f5f2a8931844edf" /></Relationships>
</file>

<file path=ppt/notesSlides/_rels/notesSlide7.xml.rels>&#65279;<?xml version="1.0" encoding="utf-8"?><Relationships xmlns="http://schemas.openxmlformats.org/package/2006/relationships"><Relationship Type="http://schemas.openxmlformats.org/officeDocument/2006/relationships/slide" Target="/ppt/slides/slide7.xml" Id="Rd6a2e8bbbc4346ae" /><Relationship Type="http://schemas.openxmlformats.org/officeDocument/2006/relationships/notesMaster" Target="/ppt/notesMasters/notesMaster1.xml" Id="R92adaf659cbc4694" /></Relationships>
</file>

<file path=ppt/notesSlides/_rels/notesSlide8.xml.rels>&#65279;<?xml version="1.0" encoding="utf-8"?><Relationships xmlns="http://schemas.openxmlformats.org/package/2006/relationships"><Relationship Type="http://schemas.openxmlformats.org/officeDocument/2006/relationships/slide" Target="/ppt/slides/slide8.xml" Id="Rd7152f6004be4989" /><Relationship Type="http://schemas.openxmlformats.org/officeDocument/2006/relationships/notesMaster" Target="/ppt/notesMasters/notesMaster1.xml" Id="Re6f27dfa5f854294" /></Relationships>
</file>

<file path=ppt/notesSlides/_rels/notesSlide9.xml.rels>&#65279;<?xml version="1.0" encoding="utf-8"?><Relationships xmlns="http://schemas.openxmlformats.org/package/2006/relationships"><Relationship Type="http://schemas.openxmlformats.org/officeDocument/2006/relationships/slide" Target="/ppt/slides/slide9.xml" Id="R4d6422565c5f476e" /><Relationship Type="http://schemas.openxmlformats.org/officeDocument/2006/relationships/notesMaster" Target="/ppt/notesMasters/notesMaster1.xml" Id="R6efd5edae612472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49d3f4d14b645fa" /><Relationship Type="http://schemas.openxmlformats.org/officeDocument/2006/relationships/notesMaster" Target="/ppt/notesMasters/notesMaster1.xml" Id="R5b95217558b345d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portfolio for SmartAsset Product Designer. Primary job: https://job-boards.greenhouse.io/smartasset/jobs/8653668002, verified September 8, 2026. The role covers consumer web experiences, Figma, reusable components, accessibility, research, and experimentation. Portrait is identity material.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About Me, SmartTagIt at FactorLab. Kyle: UX Designer &amp; Researcher (Contract), 2026. Source: original About Me Figma direction and April–May 2026 walkthroughs. The displayed crop retains original sample content. A September 2, 2026 engineering update confirms the About Me web/server release. These images document design iterations rather than the exact released layout.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About Me Topic Comparison widget and stakeholder design discussions. Values are illustrative design content, not research outcomes. Kyle advocated neutral feedback and made cohort definition and interpretation questions explicit. The case output was a family of insight layouts and concrete product questions for alignment.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Oak AI. Kyle: Lead UX Researcher, 2023–2025. Source: original Oak navigation evaluation screenshot, with the identity area omitted. Training the assistant, starting Vibecheck and requesting support appear as competing entry points. Kyle documented the labels and visual treatments and used the audit to make these choices explicit for review. Work stage: usability evaluation and design recommendations. This slide does not present a finished navigation redesign or a user-study finding.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error-message recommendation artifact containing Before and After panels. Displayed interface panels retain source pixels and are labeled Original and Proposed to clarify the work state. Kyle connected an evaluation finding to visual alternatives and implementation recommendations. No conversion or task-success percentage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Flint, SmartTagIt at FactorLab. Kyle: UX Designer &amp; Researcher (Contract), 2025–2026. Source: original mobile design export, question suggestions and project walkthroughs. Work stage: design deliverables and engineering handoff. These examples document designed states, not a claim that every variant shipped.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Flint response-in-progress mobile export and design walkthrough. The inset enlarges an unchanged region of the same source image. Kyle explored the waiting treatment alongside the conversation and discussed animation constraints with engineering.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selected original Flint interrupted-response and offline design variants, including the March 27, 2026 error-state handoff. Distinct recovery actions follow the state: Ask again or Continue for a partial response, and retry after connection loss with the question preserved. Deliverable: connected flows, interaction states and engineering annotations.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approach to SmartAsset consumer product work, based on the September 8, 2026 job posting. This does not claim prior SmartAsset employment, fintech delivery, or personally measured A/B-test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Portfolio destination is the intended isolated SmartAsset application route; publication is handled separately. Contact and availability are candidate-confirmed.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27e93c7c506485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69d45c887524cf0" /><Relationship Type="http://schemas.openxmlformats.org/officeDocument/2006/relationships/slideLayout" Target="/ppt/slideLayouts/slideLayout1.xml" Id="R8b1fdf02159f496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b1fdf02159f49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af3c27fa7174bee" /><Relationship Type="http://schemas.openxmlformats.org/officeDocument/2006/relationships/image" Target="/ppt/media/image.jpeg" Id="Rf64a5118827944d3" /><Relationship Type="http://schemas.openxmlformats.org/officeDocument/2006/relationships/notesSlide" Target="/ppt/notesSlides/notesSlide1.xml" Id="R8d074156c8bb49c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cbc31b469ca4c7e" /><Relationship Type="http://schemas.openxmlformats.org/officeDocument/2006/relationships/image" Target="/ppt/media/image.png" Id="Rdaf6513fd1514ff2" /><Relationship Type="http://schemas.openxmlformats.org/officeDocument/2006/relationships/notesSlide" Target="/ppt/notesSlides/notesSlide2.xml" Id="R24aa30d2d0c146a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cc13c1c25084a41" /><Relationship Type="http://schemas.openxmlformats.org/officeDocument/2006/relationships/image" Target="/ppt/media/image2.png" Id="R5c29b05a5ecb48e2" /><Relationship Type="http://schemas.openxmlformats.org/officeDocument/2006/relationships/notesSlide" Target="/ppt/notesSlides/notesSlide3.xml" Id="R07915b49b18f435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615cbc648a6446e" /><Relationship Type="http://schemas.openxmlformats.org/officeDocument/2006/relationships/image" Target="/ppt/media/image3.png" Id="R34b94db085ad4739" /><Relationship Type="http://schemas.openxmlformats.org/officeDocument/2006/relationships/notesSlide" Target="/ppt/notesSlides/notesSlide4.xml" Id="Rfd3b1eba2f0847c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c68e3ec22ed4a15" /><Relationship Type="http://schemas.openxmlformats.org/officeDocument/2006/relationships/image" Target="/ppt/media/image4.png" Id="R5e690301ee8548f1" /><Relationship Type="http://schemas.openxmlformats.org/officeDocument/2006/relationships/image" Target="/ppt/media/image5.png" Id="R07bffb2fa35249b1" /><Relationship Type="http://schemas.openxmlformats.org/officeDocument/2006/relationships/image" Target="/ppt/media/image6.png" Id="Ra98e257fa6334099" /><Relationship Type="http://schemas.openxmlformats.org/officeDocument/2006/relationships/notesSlide" Target="/ppt/notesSlides/notesSlide5.xml" Id="Rb7b731b8598e4ac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bd1a9e35bc54edd" /><Relationship Type="http://schemas.openxmlformats.org/officeDocument/2006/relationships/image" Target="/ppt/media/image7.png" Id="Rd0f3df9b29a44fbd" /><Relationship Type="http://schemas.openxmlformats.org/officeDocument/2006/relationships/notesSlide" Target="/ppt/notesSlides/notesSlide6.xml" Id="R1a1e0ea6967d44b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4987c518bd341ad" /><Relationship Type="http://schemas.openxmlformats.org/officeDocument/2006/relationships/image" Target="/ppt/media/image8.png" Id="Rce524b50e1de456a" /><Relationship Type="http://schemas.openxmlformats.org/officeDocument/2006/relationships/image" Target="/ppt/media/image9.png" Id="R0614f87654614f65" /><Relationship Type="http://schemas.openxmlformats.org/officeDocument/2006/relationships/notesSlide" Target="/ppt/notesSlides/notesSlide7.xml" Id="Rb2991308e8c0489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b0102be2c784eb4" /><Relationship Type="http://schemas.openxmlformats.org/officeDocument/2006/relationships/image" Target="/ppt/media/image10.png" Id="R0268a1a1cbd04916" /><Relationship Type="http://schemas.openxmlformats.org/officeDocument/2006/relationships/image" Target="/ppt/media/image11.png" Id="Rd4b875ce645646ed" /><Relationship Type="http://schemas.openxmlformats.org/officeDocument/2006/relationships/notesSlide" Target="/ppt/notesSlides/notesSlide8.xml" Id="R1e1954a12aef4e8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2696388bf874e15" /><Relationship Type="http://schemas.openxmlformats.org/officeDocument/2006/relationships/notesSlide" Target="/ppt/notesSlides/notesSlide9.xml" Id="Rb0b63702201c477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9d6e8a982794d00" /><Relationship Type="http://schemas.openxmlformats.org/officeDocument/2006/relationships/hyperlink" Target="mailto:JonathanKyleHobson@gmail.com" TargetMode="External" Id="Rb4095553e1e94d1f" /><Relationship Type="http://schemas.openxmlformats.org/officeDocument/2006/relationships/hyperlink" Target="https://jonathankhobson.github.io/application-portfolios/smartasset-product-designer/" TargetMode="External" Id="R360eb789ded249ac" /><Relationship Type="http://schemas.openxmlformats.org/officeDocument/2006/relationships/notesSlide" Target="/ppt/notesSlides/notesSlide10.xml" Id="R1d65e7d9b48d44d9" /></Relationships>
</file>

<file path=ppt/slides/slide1.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lide-number">
            <a:extLst xmlns:a="http://schemas.openxmlformats.org/drawingml/2006/main">
              <a:ext uri="{FF2B5EF4-FFF2-40B4-BE49-F238E27FC236}">
                <a16:creationId xmlns:a16="http://schemas.microsoft.com/office/drawing/2014/main" id="{E5E72EBE-7F93-430B-9763-CFCDE4F6EE79}"/>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01</a:t>
            </a:r>
          </a:p>
        </p:txBody>
      </p:sp>
      <p:sp>
        <p:nvSpPr>
          <p:cNvPr id="2" name="section-label">
            <a:extLst xmlns:a="http://schemas.openxmlformats.org/drawingml/2006/main">
              <a:ext uri="{FF2B5EF4-FFF2-40B4-BE49-F238E27FC236}">
                <a16:creationId xmlns:a16="http://schemas.microsoft.com/office/drawing/2014/main" id="{5AE5D08D-3229-4D9E-A51E-532AF2668805}"/>
              </a:ext>
            </a:extLst>
          </p:cNvPr>
          <p:cNvSpPr>
            <a:spLocks xmlns:a="http://schemas.openxmlformats.org/drawingml/2006/main" noGrp="1"/>
          </p:cNvSpPr>
          <p:nvPr/>
        </p:nvSpPr>
        <p:spPr>
          <a:xfrm xmlns:a="http://schemas.openxmlformats.org/drawingml/2006/main">
            <a:off x="609600" y="5143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SMARTASSET PRODUCT DESIGNER APPLICATION</a:t>
            </a:r>
          </a:p>
        </p:txBody>
      </p:sp>
      <p:sp>
        <p:nvSpPr>
          <p:cNvPr id="3" name="headline">
            <a:extLst xmlns:a="http://schemas.openxmlformats.org/drawingml/2006/main">
              <a:ext uri="{FF2B5EF4-FFF2-40B4-BE49-F238E27FC236}">
                <a16:creationId xmlns:a16="http://schemas.microsoft.com/office/drawing/2014/main" id="{BAB24061-CBF7-4E75-8AD4-C4A8514EEC67}"/>
              </a:ext>
            </a:extLst>
          </p:cNvPr>
          <p:cNvSpPr>
            <a:spLocks xmlns:a="http://schemas.openxmlformats.org/drawingml/2006/main" noGrp="1"/>
          </p:cNvSpPr>
          <p:nvPr/>
        </p:nvSpPr>
        <p:spPr>
          <a:xfrm xmlns:a="http://schemas.openxmlformats.org/drawingml/2006/main">
            <a:off x="609600" y="1695450"/>
            <a:ext cx="7429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875" b="1">
                <a:solidFill>
                  <a:srgbClr val="F4F2E9"/>
                </a:solidFill>
                <a:latin typeface="Helvetica Neue"/>
                <a:ea typeface="Helvetica Neue"/>
                <a:cs typeface="Helvetica Neue"/>
              </a:defRPr>
            </a:pPr>
            <a:r>
              <a:rPr sz="4875" b="1">
                <a:solidFill>
                  <a:srgbClr val="F4F2E9"/>
                </a:solidFill>
                <a:latin typeface="Helvetica Neue"/>
                <a:ea typeface="Helvetica Neue"/>
                <a:cs typeface="Helvetica Neue"/>
              </a:rPr>
              <a:t>Clear decisions</a:t>
            </a:r>
          </a:p>
          <a:p xmlns:a="http://schemas.openxmlformats.org/drawingml/2006/main">
            <a:pPr>
              <a:lnSpc>
                <a:spcPct val="110000"/>
              </a:lnSpc>
              <a:buNone/>
              <a:defRPr sz="4875" b="1">
                <a:solidFill>
                  <a:srgbClr val="F4F2E9"/>
                </a:solidFill>
                <a:latin typeface="Helvetica Neue"/>
                <a:ea typeface="Helvetica Neue"/>
                <a:cs typeface="Helvetica Neue"/>
              </a:defRPr>
            </a:pPr>
            <a:r>
              <a:rPr sz="4875" b="1">
                <a:solidFill>
                  <a:srgbClr val="F4F2E9"/>
                </a:solidFill>
                <a:latin typeface="Helvetica Neue"/>
                <a:ea typeface="Helvetica Neue"/>
                <a:cs typeface="Helvetica Neue"/>
              </a:rPr>
              <a:t>Usable interfaces</a:t>
            </a:r>
          </a:p>
        </p:txBody>
      </p:sp>
      <p:sp>
        <p:nvSpPr>
          <p:cNvPr id="4" name="cover-intro">
            <a:extLst xmlns:a="http://schemas.openxmlformats.org/drawingml/2006/main">
              <a:ext uri="{FF2B5EF4-FFF2-40B4-BE49-F238E27FC236}">
                <a16:creationId xmlns:a16="http://schemas.microsoft.com/office/drawing/2014/main" id="{93192548-AE14-4C1F-A037-A488DAB5A279}"/>
              </a:ext>
            </a:extLst>
          </p:cNvPr>
          <p:cNvSpPr>
            <a:spLocks xmlns:a="http://schemas.openxmlformats.org/drawingml/2006/main" noGrp="1"/>
          </p:cNvSpPr>
          <p:nvPr/>
        </p:nvSpPr>
        <p:spPr>
          <a:xfrm xmlns:a="http://schemas.openxmlformats.org/drawingml/2006/main">
            <a:off x="647700" y="4448175"/>
            <a:ext cx="69342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0">
                <a:solidFill>
                  <a:srgbClr val="F4F2E9"/>
                </a:solidFill>
                <a:latin typeface="Helvetica Neue"/>
                <a:ea typeface="Helvetica Neue"/>
                <a:cs typeface="Helvetica Neue"/>
              </a:defRPr>
            </a:pPr>
            <a:r>
              <a:rPr sz="2175" b="0">
                <a:solidFill>
                  <a:srgbClr val="F4F2E9"/>
                </a:solidFill>
                <a:latin typeface="Helvetica Neue"/>
                <a:ea typeface="Helvetica Neue"/>
                <a:cs typeface="Helvetica Neue"/>
              </a:rPr>
              <a:t>Selected work in information hierarchy,</a:t>
            </a:r>
          </a:p>
          <a:p xmlns:a="http://schemas.openxmlformats.org/drawingml/2006/main">
            <a:pPr>
              <a:lnSpc>
                <a:spcPct val="110000"/>
              </a:lnSpc>
              <a:buNone/>
              <a:defRPr sz="2175" b="0">
                <a:solidFill>
                  <a:srgbClr val="F4F2E9"/>
                </a:solidFill>
                <a:latin typeface="Helvetica Neue"/>
                <a:ea typeface="Helvetica Neue"/>
                <a:cs typeface="Helvetica Neue"/>
              </a:defRPr>
            </a:pPr>
            <a:r>
              <a:rPr sz="2175" b="0">
                <a:solidFill>
                  <a:srgbClr val="F4F2E9"/>
                </a:solidFill>
                <a:latin typeface="Helvetica Neue"/>
                <a:ea typeface="Helvetica Neue"/>
                <a:cs typeface="Helvetica Neue"/>
              </a:rPr>
              <a:t>interface patterns, and usable flows.</a:t>
            </a:r>
          </a:p>
        </p:txBody>
      </p:sp>
      <p:sp>
        <p:nvSpPr>
          <p:cNvPr id="5" name="cover-date">
            <a:extLst xmlns:a="http://schemas.openxmlformats.org/drawingml/2006/main">
              <a:ext uri="{FF2B5EF4-FFF2-40B4-BE49-F238E27FC236}">
                <a16:creationId xmlns:a16="http://schemas.microsoft.com/office/drawing/2014/main" id="{84E77BF3-8551-474A-A2AC-EB210B2EF603}"/>
              </a:ext>
            </a:extLst>
          </p:cNvPr>
          <p:cNvSpPr>
            <a:spLocks xmlns:a="http://schemas.openxmlformats.org/drawingml/2006/main" noGrp="1"/>
          </p:cNvSpPr>
          <p:nvPr/>
        </p:nvSpPr>
        <p:spPr>
          <a:xfrm xmlns:a="http://schemas.openxmlformats.org/drawingml/2006/main">
            <a:off x="647700" y="6181725"/>
            <a:ext cx="647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F4F2E9"/>
                </a:solidFill>
                <a:latin typeface="Helvetica Neue"/>
                <a:ea typeface="Helvetica Neue"/>
                <a:cs typeface="Helvetica Neue"/>
              </a:defRPr>
            </a:pPr>
            <a:r>
              <a:rPr sz="1350" b="0">
                <a:solidFill>
                  <a:srgbClr val="F4F2E9"/>
                </a:solidFill>
                <a:latin typeface="Helvetica Neue"/>
                <a:ea typeface="Helvetica Neue"/>
                <a:cs typeface="Helvetica Neue"/>
              </a:rPr>
              <a:t>September 2026</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64a5118827944d3"/>
          <a:stretch xmlns:a="http://schemas.openxmlformats.org/drawingml/2006/main"/>
        </p:blipFill>
        <p:spPr>
          <a:xfrm xmlns:a="http://schemas.openxmlformats.org/drawingml/2006/main">
            <a:off x="8524875" y="2057400"/>
            <a:ext cx="2952750" cy="2952750"/>
          </a:xfrm>
          <a:prstGeom xmlns:a="http://schemas.openxmlformats.org/drawingml/2006/main" prst="rect">
            <a:avLst/>
          </a:prstGeom>
        </p:spPr>
      </p:pic>
    </p:spTree>
    <p:extLst>
      <p:ext uri="{BB962C8B-B14F-4D97-AF65-F5344CB8AC3E}">
        <p14:creationId xmlns:p14="http://schemas.microsoft.com/office/powerpoint/2010/main" val="962586795"/>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1F4C69F7-8C65-4380-A7EF-4DAE6FEA0906}"/>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
        <p:nvSpPr>
          <p:cNvPr id="2" name="section-label">
            <a:extLst xmlns:a="http://schemas.openxmlformats.org/drawingml/2006/main">
              <a:ext uri="{FF2B5EF4-FFF2-40B4-BE49-F238E27FC236}">
                <a16:creationId xmlns:a16="http://schemas.microsoft.com/office/drawing/2014/main" id="{1F70998F-00F4-49D7-B230-9CF99D71C9A7}"/>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ABOUT ME   /   SMARTTAGIT, FACTORLAB</a:t>
            </a:r>
          </a:p>
        </p:txBody>
      </p:sp>
      <p:sp>
        <p:nvSpPr>
          <p:cNvPr id="3" name="headline">
            <a:extLst xmlns:a="http://schemas.openxmlformats.org/drawingml/2006/main">
              <a:ext uri="{FF2B5EF4-FFF2-40B4-BE49-F238E27FC236}">
                <a16:creationId xmlns:a16="http://schemas.microsoft.com/office/drawing/2014/main" id="{F6B4F1C9-71E5-4EBF-BE6A-0178197DCC72}"/>
              </a:ext>
            </a:extLst>
          </p:cNvPr>
          <p:cNvSpPr>
            <a:spLocks xmlns:a="http://schemas.openxmlformats.org/drawingml/2006/main" noGrp="1"/>
          </p:cNvSpPr>
          <p:nvPr/>
        </p:nvSpPr>
        <p:spPr>
          <a:xfrm xmlns:a="http://schemas.openxmlformats.org/drawingml/2006/main">
            <a:off x="609600" y="1095375"/>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050" b="1">
                <a:solidFill>
                  <a:srgbClr val="192B25"/>
                </a:solidFill>
                <a:latin typeface="Helvetica Neue"/>
                <a:ea typeface="Helvetica Neue"/>
                <a:cs typeface="Helvetica Neue"/>
              </a:defRPr>
            </a:pPr>
            <a:r>
              <a:rPr sz="4050" b="1">
                <a:solidFill>
                  <a:srgbClr val="192B25"/>
                </a:solidFill>
                <a:latin typeface="Helvetica Neue"/>
                <a:ea typeface="Helvetica Neue"/>
                <a:cs typeface="Helvetica Neue"/>
              </a:rPr>
              <a:t>Feedback</a:t>
            </a:r>
          </a:p>
          <a:p xmlns:a="http://schemas.openxmlformats.org/drawingml/2006/main">
            <a:pPr>
              <a:lnSpc>
                <a:spcPct val="110000"/>
              </a:lnSpc>
              <a:buNone/>
              <a:defRPr sz="4050" b="1">
                <a:solidFill>
                  <a:srgbClr val="192B25"/>
                </a:solidFill>
                <a:latin typeface="Helvetica Neue"/>
                <a:ea typeface="Helvetica Neue"/>
                <a:cs typeface="Helvetica Neue"/>
              </a:defRPr>
            </a:pPr>
            <a:r>
              <a:rPr sz="4050" b="1">
                <a:solidFill>
                  <a:srgbClr val="192B25"/>
                </a:solidFill>
                <a:latin typeface="Helvetica Neue"/>
                <a:ea typeface="Helvetica Neue"/>
                <a:cs typeface="Helvetica Neue"/>
              </a:rPr>
              <a:t>with context</a:t>
            </a:r>
          </a:p>
        </p:txBody>
      </p:sp>
      <p:sp>
        <p:nvSpPr>
          <p:cNvPr id="4" name="role">
            <a:extLst xmlns:a="http://schemas.openxmlformats.org/drawingml/2006/main">
              <a:ext uri="{FF2B5EF4-FFF2-40B4-BE49-F238E27FC236}">
                <a16:creationId xmlns:a16="http://schemas.microsoft.com/office/drawing/2014/main" id="{0D72DD01-6800-46E2-9EA2-78EAC54B3037}"/>
              </a:ext>
            </a:extLst>
          </p:cNvPr>
          <p:cNvSpPr>
            <a:spLocks xmlns:a="http://schemas.openxmlformats.org/drawingml/2006/main" noGrp="1"/>
          </p:cNvSpPr>
          <p:nvPr/>
        </p:nvSpPr>
        <p:spPr>
          <a:xfrm xmlns:a="http://schemas.openxmlformats.org/drawingml/2006/main">
            <a:off x="609600" y="2724150"/>
            <a:ext cx="52673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1">
                <a:solidFill>
                  <a:srgbClr val="244D3C"/>
                </a:solidFill>
                <a:latin typeface="Helvetica Neue"/>
                <a:ea typeface="Helvetica Neue"/>
                <a:cs typeface="Helvetica Neue"/>
              </a:defRPr>
            </a:pPr>
            <a:r>
              <a:rPr sz="1425" b="1">
                <a:solidFill>
                  <a:srgbClr val="244D3C"/>
                </a:solidFill>
                <a:latin typeface="Helvetica Neue"/>
                <a:ea typeface="Helvetica Neue"/>
                <a:cs typeface="Helvetica Neue"/>
              </a:rPr>
              <a:t>UX Designer &amp; Researcher (Contract), 2026</a:t>
            </a:r>
          </a:p>
        </p:txBody>
      </p:sp>
      <p:sp>
        <p:nvSpPr>
          <p:cNvPr id="5" name="about-decision">
            <a:extLst xmlns:a="http://schemas.openxmlformats.org/drawingml/2006/main">
              <a:ext uri="{FF2B5EF4-FFF2-40B4-BE49-F238E27FC236}">
                <a16:creationId xmlns:a16="http://schemas.microsoft.com/office/drawing/2014/main" id="{A4B99777-CE62-4926-BEA2-B1837914B925}"/>
              </a:ext>
            </a:extLst>
          </p:cNvPr>
          <p:cNvSpPr>
            <a:spLocks xmlns:a="http://schemas.openxmlformats.org/drawingml/2006/main" noGrp="1"/>
          </p:cNvSpPr>
          <p:nvPr/>
        </p:nvSpPr>
        <p:spPr>
          <a:xfrm xmlns:a="http://schemas.openxmlformats.org/drawingml/2006/main">
            <a:off x="609600" y="3429000"/>
            <a:ext cx="467677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connected a personal summary to its supporting observations and a useful next action.</a:t>
            </a:r>
          </a:p>
        </p:txBody>
      </p:sp>
      <p:sp>
        <p:nvSpPr>
          <p:cNvPr id="6" name="about-stage">
            <a:extLst xmlns:a="http://schemas.openxmlformats.org/drawingml/2006/main">
              <a:ext uri="{FF2B5EF4-FFF2-40B4-BE49-F238E27FC236}">
                <a16:creationId xmlns:a16="http://schemas.microsoft.com/office/drawing/2014/main" id="{F7D1BA4F-46B8-48A6-B8DC-223596804999}"/>
              </a:ext>
            </a:extLst>
          </p:cNvPr>
          <p:cNvSpPr>
            <a:spLocks xmlns:a="http://schemas.openxmlformats.org/drawingml/2006/main" noGrp="1"/>
          </p:cNvSpPr>
          <p:nvPr/>
        </p:nvSpPr>
        <p:spPr>
          <a:xfrm xmlns:a="http://schemas.openxmlformats.org/drawingml/2006/main">
            <a:off x="609600" y="5314950"/>
            <a:ext cx="52101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Design iterations shown with sample content.</a:t>
            </a:r>
          </a:p>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Web/server release confirmed September 2, 2026.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af6513fd1514ff2"/>
          <a:stretch xmlns:a="http://schemas.openxmlformats.org/drawingml/2006/main"/>
        </p:blipFill>
        <p:spPr>
          <a:xfrm xmlns:a="http://schemas.openxmlformats.org/drawingml/2006/main">
            <a:off x="6410325" y="1546021"/>
            <a:ext cx="4857750" cy="4737509"/>
          </a:xfrm>
          <a:prstGeom xmlns:a="http://schemas.openxmlformats.org/drawingml/2006/main" prst="rect">
            <a:avLst/>
          </a:prstGeom>
        </p:spPr>
      </p:pic>
    </p:spTree>
    <p:extLst>
      <p:ext uri="{BB962C8B-B14F-4D97-AF65-F5344CB8AC3E}">
        <p14:creationId xmlns:p14="http://schemas.microsoft.com/office/powerpoint/2010/main" val="1585633952"/>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849A7E84-858A-41E1-B66B-28BED4E4C185}"/>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
        <p:nvSpPr>
          <p:cNvPr id="2" name="section-label">
            <a:extLst xmlns:a="http://schemas.openxmlformats.org/drawingml/2006/main">
              <a:ext uri="{FF2B5EF4-FFF2-40B4-BE49-F238E27FC236}">
                <a16:creationId xmlns:a16="http://schemas.microsoft.com/office/drawing/2014/main" id="{FDA98F08-E7C3-434B-A06D-040ED6A1B906}"/>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ABOUT ME   /   NEUTRAL COMPARISON</a:t>
            </a:r>
          </a:p>
        </p:txBody>
      </p:sp>
      <p:sp>
        <p:nvSpPr>
          <p:cNvPr id="3" name="headline">
            <a:extLst xmlns:a="http://schemas.openxmlformats.org/drawingml/2006/main">
              <a:ext uri="{FF2B5EF4-FFF2-40B4-BE49-F238E27FC236}">
                <a16:creationId xmlns:a16="http://schemas.microsoft.com/office/drawing/2014/main" id="{9BF1AA9C-5007-42CF-AEB5-572A44C61158}"/>
              </a:ext>
            </a:extLst>
          </p:cNvPr>
          <p:cNvSpPr>
            <a:spLocks xmlns:a="http://schemas.openxmlformats.org/drawingml/2006/main" noGrp="1"/>
          </p:cNvSpPr>
          <p:nvPr/>
        </p:nvSpPr>
        <p:spPr>
          <a:xfrm xmlns:a="http://schemas.openxmlformats.org/drawingml/2006/main">
            <a:off x="609600" y="1114425"/>
            <a:ext cx="557212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 comparison needs</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an interpretation</a:t>
            </a:r>
          </a:p>
        </p:txBody>
      </p:sp>
      <p:sp>
        <p:nvSpPr>
          <p:cNvPr id="4" name="comparison-decision">
            <a:extLst xmlns:a="http://schemas.openxmlformats.org/drawingml/2006/main">
              <a:ext uri="{FF2B5EF4-FFF2-40B4-BE49-F238E27FC236}">
                <a16:creationId xmlns:a16="http://schemas.microsoft.com/office/drawing/2014/main" id="{11C7AF3C-A6F2-4276-AB12-0616496C740B}"/>
              </a:ext>
            </a:extLst>
          </p:cNvPr>
          <p:cNvSpPr>
            <a:spLocks xmlns:a="http://schemas.openxmlformats.org/drawingml/2006/main" noGrp="1"/>
          </p:cNvSpPr>
          <p:nvPr/>
        </p:nvSpPr>
        <p:spPr>
          <a:xfrm xmlns:a="http://schemas.openxmlformats.org/drawingml/2006/main">
            <a:off x="609600" y="3181350"/>
            <a:ext cx="44005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Mentioning fatigue less often is a comparison. Whether that is good depends on the context.</a:t>
            </a:r>
          </a:p>
        </p:txBody>
      </p:sp>
      <p:sp>
        <p:nvSpPr>
          <p:cNvPr id="5" name="comparison-outcome">
            <a:extLst xmlns:a="http://schemas.openxmlformats.org/drawingml/2006/main">
              <a:ext uri="{FF2B5EF4-FFF2-40B4-BE49-F238E27FC236}">
                <a16:creationId xmlns:a16="http://schemas.microsoft.com/office/drawing/2014/main" id="{70011E6E-6083-4274-8133-1408AF6B2B92}"/>
              </a:ext>
            </a:extLst>
          </p:cNvPr>
          <p:cNvSpPr>
            <a:spLocks xmlns:a="http://schemas.openxmlformats.org/drawingml/2006/main" noGrp="1"/>
          </p:cNvSpPr>
          <p:nvPr/>
        </p:nvSpPr>
        <p:spPr>
          <a:xfrm xmlns:a="http://schemas.openxmlformats.org/drawingml/2006/main">
            <a:off x="609600" y="5010150"/>
            <a:ext cx="44005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I raised the cohort, percentile and wording questions before they became interface rules.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c29b05a5ecb48e2"/>
          <a:stretch xmlns:a="http://schemas.openxmlformats.org/drawingml/2006/main"/>
        </p:blipFill>
        <p:spPr>
          <a:xfrm xmlns:a="http://schemas.openxmlformats.org/drawingml/2006/main">
            <a:off x="5876925" y="2249327"/>
            <a:ext cx="5572125" cy="3692847"/>
          </a:xfrm>
          <a:prstGeom xmlns:a="http://schemas.openxmlformats.org/drawingml/2006/main" prst="rect">
            <a:avLst/>
          </a:prstGeom>
        </p:spPr>
      </p:pic>
      <p:sp>
        <p:nvSpPr>
          <p:cNvPr id="7" name="sample-label">
            <a:extLst xmlns:a="http://schemas.openxmlformats.org/drawingml/2006/main">
              <a:ext uri="{FF2B5EF4-FFF2-40B4-BE49-F238E27FC236}">
                <a16:creationId xmlns:a16="http://schemas.microsoft.com/office/drawing/2014/main" id="{8FAEA881-5C42-4D74-AA7B-5516AAE61F2C}"/>
              </a:ext>
            </a:extLst>
          </p:cNvPr>
          <p:cNvSpPr>
            <a:spLocks xmlns:a="http://schemas.openxmlformats.org/drawingml/2006/main" noGrp="1"/>
          </p:cNvSpPr>
          <p:nvPr/>
        </p:nvSpPr>
        <p:spPr>
          <a:xfrm xmlns:a="http://schemas.openxmlformats.org/drawingml/2006/main">
            <a:off x="5915025" y="6153150"/>
            <a:ext cx="5505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Original widget, illustrative values</a:t>
            </a:r>
          </a:p>
        </p:txBody>
      </p:sp>
    </p:spTree>
    <p:extLst>
      <p:ext uri="{BB962C8B-B14F-4D97-AF65-F5344CB8AC3E}">
        <p14:creationId xmlns:p14="http://schemas.microsoft.com/office/powerpoint/2010/main" val="681504158"/>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4CCAC1F4-F484-41F7-BE68-BC4FB99F6D19}"/>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
        <p:nvSpPr>
          <p:cNvPr id="2" name="section-label">
            <a:extLst xmlns:a="http://schemas.openxmlformats.org/drawingml/2006/main">
              <a:ext uri="{FF2B5EF4-FFF2-40B4-BE49-F238E27FC236}">
                <a16:creationId xmlns:a16="http://schemas.microsoft.com/office/drawing/2014/main" id="{48FE4361-E852-489C-9E77-F21131AC5150}"/>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LEAD UX RESEARCHER, 2023–2025</a:t>
            </a:r>
          </a:p>
        </p:txBody>
      </p:sp>
      <p:sp>
        <p:nvSpPr>
          <p:cNvPr id="3" name="headline">
            <a:extLst xmlns:a="http://schemas.openxmlformats.org/drawingml/2006/main">
              <a:ext uri="{FF2B5EF4-FFF2-40B4-BE49-F238E27FC236}">
                <a16:creationId xmlns:a16="http://schemas.microsoft.com/office/drawing/2014/main" id="{80A08CAB-3C3D-4430-8079-567216A16254}"/>
              </a:ext>
            </a:extLst>
          </p:cNvPr>
          <p:cNvSpPr>
            <a:spLocks xmlns:a="http://schemas.openxmlformats.org/drawingml/2006/main" noGrp="1"/>
          </p:cNvSpPr>
          <p:nvPr/>
        </p:nvSpPr>
        <p:spPr>
          <a:xfrm xmlns:a="http://schemas.openxmlformats.org/drawingml/2006/main">
            <a:off x="609600" y="1104900"/>
            <a:ext cx="42481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Competing</a:t>
            </a:r>
          </a:p>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entry points</a:t>
            </a:r>
          </a:p>
        </p:txBody>
      </p:sp>
      <p:sp>
        <p:nvSpPr>
          <p:cNvPr id="4" name="oak-observation">
            <a:extLst xmlns:a="http://schemas.openxmlformats.org/drawingml/2006/main">
              <a:ext uri="{FF2B5EF4-FFF2-40B4-BE49-F238E27FC236}">
                <a16:creationId xmlns:a16="http://schemas.microsoft.com/office/drawing/2014/main" id="{6910D82D-4091-4892-AA5F-D8FB92155269}"/>
              </a:ext>
            </a:extLst>
          </p:cNvPr>
          <p:cNvSpPr>
            <a:spLocks xmlns:a="http://schemas.openxmlformats.org/drawingml/2006/main" noGrp="1"/>
          </p:cNvSpPr>
          <p:nvPr/>
        </p:nvSpPr>
        <p:spPr>
          <a:xfrm xmlns:a="http://schemas.openxmlformats.org/drawingml/2006/main">
            <a:off x="609600" y="2981325"/>
            <a:ext cx="405765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Training an assistant, starting a Vibecheck and requesting support competed at the same entry point.</a:t>
            </a:r>
          </a:p>
        </p:txBody>
      </p:sp>
      <p:sp>
        <p:nvSpPr>
          <p:cNvPr id="5" name="oak-rationale">
            <a:extLst xmlns:a="http://schemas.openxmlformats.org/drawingml/2006/main">
              <a:ext uri="{FF2B5EF4-FFF2-40B4-BE49-F238E27FC236}">
                <a16:creationId xmlns:a16="http://schemas.microsoft.com/office/drawing/2014/main" id="{7734E6B5-64D5-4339-84AA-03C86886C23E}"/>
              </a:ext>
            </a:extLst>
          </p:cNvPr>
          <p:cNvSpPr>
            <a:spLocks xmlns:a="http://schemas.openxmlformats.org/drawingml/2006/main" noGrp="1"/>
          </p:cNvSpPr>
          <p:nvPr/>
        </p:nvSpPr>
        <p:spPr>
          <a:xfrm xmlns:a="http://schemas.openxmlformats.org/drawingml/2006/main">
            <a:off x="609600" y="5038725"/>
            <a:ext cx="40576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I used the audit to make these choices explicit for the team’s review.</a:t>
            </a:r>
          </a:p>
        </p:txBody>
      </p:sp>
      <p:sp>
        <p:nvSpPr>
          <p:cNvPr id="6" name="oak-stage">
            <a:extLst xmlns:a="http://schemas.openxmlformats.org/drawingml/2006/main">
              <a:ext uri="{FF2B5EF4-FFF2-40B4-BE49-F238E27FC236}">
                <a16:creationId xmlns:a16="http://schemas.microsoft.com/office/drawing/2014/main" id="{A892A23F-7EA0-46A4-8D0A-C1B81BBA866F}"/>
              </a:ext>
            </a:extLst>
          </p:cNvPr>
          <p:cNvSpPr>
            <a:spLocks xmlns:a="http://schemas.openxmlformats.org/drawingml/2006/main" noGrp="1"/>
          </p:cNvSpPr>
          <p:nvPr/>
        </p:nvSpPr>
        <p:spPr>
          <a:xfrm xmlns:a="http://schemas.openxmlformats.org/drawingml/2006/main">
            <a:off x="609600" y="6096000"/>
            <a:ext cx="4248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Usability evaluation and design recommendations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4b94db085ad4739"/>
          <a:stretch xmlns:a="http://schemas.openxmlformats.org/drawingml/2006/main"/>
        </p:blipFill>
        <p:spPr>
          <a:xfrm xmlns:a="http://schemas.openxmlformats.org/drawingml/2006/main">
            <a:off x="5147971" y="1438275"/>
            <a:ext cx="6429958" cy="5048250"/>
          </a:xfrm>
          <a:prstGeom xmlns:a="http://schemas.openxmlformats.org/drawingml/2006/main" prst="rect">
            <a:avLst/>
          </a:prstGeom>
        </p:spPr>
      </p:pic>
    </p:spTree>
    <p:extLst>
      <p:ext uri="{BB962C8B-B14F-4D97-AF65-F5344CB8AC3E}">
        <p14:creationId xmlns:p14="http://schemas.microsoft.com/office/powerpoint/2010/main" val="2004074241"/>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3" name="slide-number">
            <a:extLst xmlns:a="http://schemas.openxmlformats.org/drawingml/2006/main">
              <a:ext uri="{FF2B5EF4-FFF2-40B4-BE49-F238E27FC236}">
                <a16:creationId xmlns:a16="http://schemas.microsoft.com/office/drawing/2014/main" id="{2301CF7A-12EB-4189-B6A8-1417DE8F836F}"/>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
        <p:nvSpPr>
          <p:cNvPr id="2" name="section-label">
            <a:extLst xmlns:a="http://schemas.openxmlformats.org/drawingml/2006/main">
              <a:ext uri="{FF2B5EF4-FFF2-40B4-BE49-F238E27FC236}">
                <a16:creationId xmlns:a16="http://schemas.microsoft.com/office/drawing/2014/main" id="{12D76170-A616-470C-BE45-3B9F93312355}"/>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LOGIN FEEDBACK</a:t>
            </a:r>
          </a:p>
        </p:txBody>
      </p:sp>
      <p:sp>
        <p:nvSpPr>
          <p:cNvPr id="3" name="headline">
            <a:extLst xmlns:a="http://schemas.openxmlformats.org/drawingml/2006/main">
              <a:ext uri="{FF2B5EF4-FFF2-40B4-BE49-F238E27FC236}">
                <a16:creationId xmlns:a16="http://schemas.microsoft.com/office/drawing/2014/main" id="{85795885-6E26-4D0F-88F5-4A16337BFCA4}"/>
              </a:ext>
            </a:extLst>
          </p:cNvPr>
          <p:cNvSpPr>
            <a:spLocks xmlns:a="http://schemas.openxmlformats.org/drawingml/2006/main" noGrp="1"/>
          </p:cNvSpPr>
          <p:nvPr/>
        </p:nvSpPr>
        <p:spPr>
          <a:xfrm xmlns:a="http://schemas.openxmlformats.org/drawingml/2006/main">
            <a:off x="609600" y="1143000"/>
            <a:ext cx="42100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Error feedback</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beside the field</a:t>
            </a:r>
          </a:p>
        </p:txBody>
      </p:sp>
      <p:sp>
        <p:nvSpPr>
          <p:cNvPr id="4" name="oak-error-decision">
            <a:extLst xmlns:a="http://schemas.openxmlformats.org/drawingml/2006/main">
              <a:ext uri="{FF2B5EF4-FFF2-40B4-BE49-F238E27FC236}">
                <a16:creationId xmlns:a16="http://schemas.microsoft.com/office/drawing/2014/main" id="{9AD04C8E-BF78-4EFB-9813-762EF7D9C966}"/>
              </a:ext>
            </a:extLst>
          </p:cNvPr>
          <p:cNvSpPr>
            <a:spLocks xmlns:a="http://schemas.openxmlformats.org/drawingml/2006/main" noGrp="1"/>
          </p:cNvSpPr>
          <p:nvPr/>
        </p:nvSpPr>
        <p:spPr>
          <a:xfrm xmlns:a="http://schemas.openxmlformats.org/drawingml/2006/main">
            <a:off x="609600" y="3276600"/>
            <a:ext cx="34956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made the problem field visible where a person could act on it.</a:t>
            </a:r>
          </a:p>
        </p:txBody>
      </p:sp>
      <p:sp>
        <p:nvSpPr>
          <p:cNvPr id="5" name="oak-error-outcome">
            <a:extLst xmlns:a="http://schemas.openxmlformats.org/drawingml/2006/main">
              <a:ext uri="{FF2B5EF4-FFF2-40B4-BE49-F238E27FC236}">
                <a16:creationId xmlns:a16="http://schemas.microsoft.com/office/drawing/2014/main" id="{E83CE98D-800F-4370-9B4A-1D4BDCB3CDEB}"/>
              </a:ext>
            </a:extLst>
          </p:cNvPr>
          <p:cNvSpPr>
            <a:spLocks xmlns:a="http://schemas.openxmlformats.org/drawingml/2006/main" noGrp="1"/>
          </p:cNvSpPr>
          <p:nvPr/>
        </p:nvSpPr>
        <p:spPr>
          <a:xfrm xmlns:a="http://schemas.openxmlformats.org/drawingml/2006/main">
            <a:off x="609600" y="4848225"/>
            <a:ext cx="34956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The recommendation gave the team a specific behavior to discuss and prioritize.</a:t>
            </a:r>
          </a:p>
        </p:txBody>
      </p:sp>
      <p:sp>
        <p:nvSpPr>
          <p:cNvPr id="6" name="before-label">
            <a:extLst xmlns:a="http://schemas.openxmlformats.org/drawingml/2006/main">
              <a:ext uri="{FF2B5EF4-FFF2-40B4-BE49-F238E27FC236}">
                <a16:creationId xmlns:a16="http://schemas.microsoft.com/office/drawing/2014/main" id="{30656CD8-7141-4A9F-8109-27F97E6AB41C}"/>
              </a:ext>
            </a:extLst>
          </p:cNvPr>
          <p:cNvSpPr>
            <a:spLocks xmlns:a="http://schemas.openxmlformats.org/drawingml/2006/main" noGrp="1"/>
          </p:cNvSpPr>
          <p:nvPr/>
        </p:nvSpPr>
        <p:spPr>
          <a:xfrm xmlns:a="http://schemas.openxmlformats.org/drawingml/2006/main">
            <a:off x="4495800"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a:t>
            </a:r>
          </a:p>
        </p:txBody>
      </p:sp>
      <p:sp>
        <p:nvSpPr>
          <p:cNvPr id="7" name="after-label">
            <a:extLst xmlns:a="http://schemas.openxmlformats.org/drawingml/2006/main">
              <a:ext uri="{FF2B5EF4-FFF2-40B4-BE49-F238E27FC236}">
                <a16:creationId xmlns:a16="http://schemas.microsoft.com/office/drawing/2014/main" id="{A40F3777-5CBA-42DC-BBA7-064584B05A18}"/>
              </a:ext>
            </a:extLst>
          </p:cNvPr>
          <p:cNvSpPr>
            <a:spLocks xmlns:a="http://schemas.openxmlformats.org/drawingml/2006/main" noGrp="1"/>
          </p:cNvSpPr>
          <p:nvPr/>
        </p:nvSpPr>
        <p:spPr>
          <a:xfrm xmlns:a="http://schemas.openxmlformats.org/drawingml/2006/main">
            <a:off x="8124825"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Proposed</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5e690301ee8548f1"/>
          <a:stretch xmlns:a="http://schemas.openxmlformats.org/drawingml/2006/main"/>
        </p:blipFill>
        <p:spPr>
          <a:xfrm xmlns:a="http://schemas.openxmlformats.org/drawingml/2006/main">
            <a:off x="4495800" y="2517745"/>
            <a:ext cx="3314700" cy="2689285"/>
          </a:xfrm>
          <a:prstGeom xmlns:a="http://schemas.openxmlformats.org/drawingml/2006/main" prst="rect">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07bffb2fa35249b1"/>
          <a:stretch xmlns:a="http://schemas.openxmlformats.org/drawingml/2006/main"/>
        </p:blipFill>
        <p:spPr>
          <a:xfrm xmlns:a="http://schemas.openxmlformats.org/drawingml/2006/main">
            <a:off x="8124825" y="2674620"/>
            <a:ext cx="3314700" cy="2375535"/>
          </a:xfrm>
          <a:prstGeom xmlns:a="http://schemas.openxmlformats.org/drawingml/2006/main" prst="rect">
            <a:avLst/>
          </a:prstGeom>
        </p:spPr>
      </p:pic>
      <p:sp>
        <p:nvSpPr>
          <p:cNvPr id="10" name="footer-label">
            <a:extLst xmlns:a="http://schemas.openxmlformats.org/drawingml/2006/main">
              <a:ext uri="{FF2B5EF4-FFF2-40B4-BE49-F238E27FC236}">
                <a16:creationId xmlns:a16="http://schemas.microsoft.com/office/drawing/2014/main" id="{7F8854E6-56D3-4D6B-A61B-1132C8171608}"/>
              </a:ext>
            </a:extLst>
          </p:cNvPr>
          <p:cNvSpPr>
            <a:spLocks xmlns:a="http://schemas.openxmlformats.org/drawingml/2006/main" noGrp="1"/>
          </p:cNvSpPr>
          <p:nvPr/>
        </p:nvSpPr>
        <p:spPr>
          <a:xfrm xmlns:a="http://schemas.openxmlformats.org/drawingml/2006/main">
            <a:off x="4495800" y="5514975"/>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error at the page footer</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a98e257fa6334099"/>
          <a:stretch xmlns:a="http://schemas.openxmlformats.org/drawingml/2006/main"/>
        </p:blipFill>
        <p:spPr>
          <a:xfrm xmlns:a="http://schemas.openxmlformats.org/drawingml/2006/main">
            <a:off x="4495800" y="5918026"/>
            <a:ext cx="3314700" cy="317848"/>
          </a:xfrm>
          <a:prstGeom xmlns:a="http://schemas.openxmlformats.org/drawingml/2006/main" prst="rect">
            <a:avLst/>
          </a:prstGeom>
        </p:spPr>
      </p:pic>
      <p:sp>
        <p:nvSpPr>
          <p:cNvPr id="12" name="field-label">
            <a:extLst xmlns:a="http://schemas.openxmlformats.org/drawingml/2006/main">
              <a:ext uri="{FF2B5EF4-FFF2-40B4-BE49-F238E27FC236}">
                <a16:creationId xmlns:a16="http://schemas.microsoft.com/office/drawing/2014/main" id="{C4E6C6EB-D85C-4B33-ACB7-159322F94AA2}"/>
              </a:ext>
            </a:extLst>
          </p:cNvPr>
          <p:cNvSpPr>
            <a:spLocks xmlns:a="http://schemas.openxmlformats.org/drawingml/2006/main" noGrp="1"/>
          </p:cNvSpPr>
          <p:nvPr/>
        </p:nvSpPr>
        <p:spPr>
          <a:xfrm xmlns:a="http://schemas.openxmlformats.org/drawingml/2006/main">
            <a:off x="8124825" y="5514975"/>
            <a:ext cx="3314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Proposed feedback beside the field</a:t>
            </a:r>
          </a:p>
        </p:txBody>
      </p:sp>
    </p:spTree>
    <p:extLst>
      <p:ext uri="{BB962C8B-B14F-4D97-AF65-F5344CB8AC3E}">
        <p14:creationId xmlns:p14="http://schemas.microsoft.com/office/powerpoint/2010/main" val="1494124557"/>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lide-number">
            <a:extLst xmlns:a="http://schemas.openxmlformats.org/drawingml/2006/main">
              <a:ext uri="{FF2B5EF4-FFF2-40B4-BE49-F238E27FC236}">
                <a16:creationId xmlns:a16="http://schemas.microsoft.com/office/drawing/2014/main" id="{38A9006F-82BE-4364-8D67-A17D90C706FC}"/>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
        <p:nvSpPr>
          <p:cNvPr id="2" name="section-label">
            <a:extLst xmlns:a="http://schemas.openxmlformats.org/drawingml/2006/main">
              <a:ext uri="{FF2B5EF4-FFF2-40B4-BE49-F238E27FC236}">
                <a16:creationId xmlns:a16="http://schemas.microsoft.com/office/drawing/2014/main" id="{0E191433-3ED2-46AA-B119-192A6179D7B2}"/>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SMARTTAGIT, FACTORLAB</a:t>
            </a:r>
          </a:p>
        </p:txBody>
      </p:sp>
      <p:sp>
        <p:nvSpPr>
          <p:cNvPr id="3" name="headline">
            <a:extLst xmlns:a="http://schemas.openxmlformats.org/drawingml/2006/main">
              <a:ext uri="{FF2B5EF4-FFF2-40B4-BE49-F238E27FC236}">
                <a16:creationId xmlns:a16="http://schemas.microsoft.com/office/drawing/2014/main" id="{2E8B83D4-FDDD-4D22-85AA-1CA6992E9EFF}"/>
              </a:ext>
            </a:extLst>
          </p:cNvPr>
          <p:cNvSpPr>
            <a:spLocks xmlns:a="http://schemas.openxmlformats.org/drawingml/2006/main" noGrp="1"/>
          </p:cNvSpPr>
          <p:nvPr/>
        </p:nvSpPr>
        <p:spPr>
          <a:xfrm xmlns:a="http://schemas.openxmlformats.org/drawingml/2006/main">
            <a:off x="609600" y="1104900"/>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900" b="1">
                <a:solidFill>
                  <a:srgbClr val="192B25"/>
                </a:solidFill>
                <a:latin typeface="Helvetica Neue"/>
                <a:ea typeface="Helvetica Neue"/>
                <a:cs typeface="Helvetica Neue"/>
              </a:defRPr>
            </a:pPr>
            <a:r>
              <a:rPr sz="3900" b="1">
                <a:solidFill>
                  <a:srgbClr val="192B25"/>
                </a:solidFill>
                <a:latin typeface="Helvetica Neue"/>
                <a:ea typeface="Helvetica Neue"/>
                <a:cs typeface="Helvetica Neue"/>
              </a:rPr>
              <a:t>A useful</a:t>
            </a:r>
          </a:p>
          <a:p xmlns:a="http://schemas.openxmlformats.org/drawingml/2006/main">
            <a:pPr>
              <a:lnSpc>
                <a:spcPct val="110000"/>
              </a:lnSpc>
              <a:buNone/>
              <a:defRPr sz="3900" b="1">
                <a:solidFill>
                  <a:srgbClr val="192B25"/>
                </a:solidFill>
                <a:latin typeface="Helvetica Neue"/>
                <a:ea typeface="Helvetica Neue"/>
                <a:cs typeface="Helvetica Neue"/>
              </a:defRPr>
            </a:pPr>
            <a:r>
              <a:rPr sz="3900" b="1">
                <a:solidFill>
                  <a:srgbClr val="192B25"/>
                </a:solidFill>
                <a:latin typeface="Helvetica Neue"/>
                <a:ea typeface="Helvetica Neue"/>
                <a:cs typeface="Helvetica Neue"/>
              </a:rPr>
              <a:t>first question</a:t>
            </a:r>
          </a:p>
        </p:txBody>
      </p:sp>
      <p:sp>
        <p:nvSpPr>
          <p:cNvPr id="4" name="role">
            <a:extLst xmlns:a="http://schemas.openxmlformats.org/drawingml/2006/main">
              <a:ext uri="{FF2B5EF4-FFF2-40B4-BE49-F238E27FC236}">
                <a16:creationId xmlns:a16="http://schemas.microsoft.com/office/drawing/2014/main" id="{D46733A7-9D24-4A26-A96E-5E9AEAD92F9E}"/>
              </a:ext>
            </a:extLst>
          </p:cNvPr>
          <p:cNvSpPr>
            <a:spLocks xmlns:a="http://schemas.openxmlformats.org/drawingml/2006/main" noGrp="1"/>
          </p:cNvSpPr>
          <p:nvPr/>
        </p:nvSpPr>
        <p:spPr>
          <a:xfrm xmlns:a="http://schemas.openxmlformats.org/drawingml/2006/main">
            <a:off x="609600" y="2705100"/>
            <a:ext cx="5334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1">
                <a:solidFill>
                  <a:srgbClr val="244D3C"/>
                </a:solidFill>
                <a:latin typeface="Helvetica Neue"/>
                <a:ea typeface="Helvetica Neue"/>
                <a:cs typeface="Helvetica Neue"/>
              </a:defRPr>
            </a:pPr>
            <a:r>
              <a:rPr sz="1500" b="1">
                <a:solidFill>
                  <a:srgbClr val="244D3C"/>
                </a:solidFill>
                <a:latin typeface="Helvetica Neue"/>
                <a:ea typeface="Helvetica Neue"/>
                <a:cs typeface="Helvetica Neue"/>
              </a:rPr>
              <a:t>UX Designer &amp; Researcher (Contract)</a:t>
            </a:r>
          </a:p>
          <a:p xmlns:a="http://schemas.openxmlformats.org/drawingml/2006/main">
            <a:pPr>
              <a:lnSpc>
                <a:spcPct val="110000"/>
              </a:lnSpc>
              <a:buNone/>
              <a:defRPr sz="1500" b="1">
                <a:solidFill>
                  <a:srgbClr val="244D3C"/>
                </a:solidFill>
                <a:latin typeface="Helvetica Neue"/>
                <a:ea typeface="Helvetica Neue"/>
                <a:cs typeface="Helvetica Neue"/>
              </a:defRPr>
            </a:pPr>
            <a:r>
              <a:rPr sz="1500" b="1">
                <a:solidFill>
                  <a:srgbClr val="244D3C"/>
                </a:solidFill>
                <a:latin typeface="Helvetica Neue"/>
                <a:ea typeface="Helvetica Neue"/>
                <a:cs typeface="Helvetica Neue"/>
              </a:rPr>
              <a:t>2025–2026</a:t>
            </a:r>
          </a:p>
        </p:txBody>
      </p:sp>
      <p:sp>
        <p:nvSpPr>
          <p:cNvPr id="5" name="entry-decision">
            <a:extLst xmlns:a="http://schemas.openxmlformats.org/drawingml/2006/main">
              <a:ext uri="{FF2B5EF4-FFF2-40B4-BE49-F238E27FC236}">
                <a16:creationId xmlns:a16="http://schemas.microsoft.com/office/drawing/2014/main" id="{1B5A549B-72E4-43A0-8293-D5E9750D369A}"/>
              </a:ext>
            </a:extLst>
          </p:cNvPr>
          <p:cNvSpPr>
            <a:spLocks xmlns:a="http://schemas.openxmlformats.org/drawingml/2006/main" noGrp="1"/>
          </p:cNvSpPr>
          <p:nvPr/>
        </p:nvSpPr>
        <p:spPr>
          <a:xfrm xmlns:a="http://schemas.openxmlformats.org/drawingml/2006/main">
            <a:off x="609600" y="3676650"/>
            <a:ext cx="46672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explored suggested questions and a question library while keeping a person’s own question close at hand.</a:t>
            </a:r>
          </a:p>
        </p:txBody>
      </p:sp>
      <p:sp>
        <p:nvSpPr>
          <p:cNvPr id="6" name="stage">
            <a:extLst xmlns:a="http://schemas.openxmlformats.org/drawingml/2006/main">
              <a:ext uri="{FF2B5EF4-FFF2-40B4-BE49-F238E27FC236}">
                <a16:creationId xmlns:a16="http://schemas.microsoft.com/office/drawing/2014/main" id="{E3F6F701-6EA6-4F2C-9CCB-A30C8E250600}"/>
              </a:ext>
            </a:extLst>
          </p:cNvPr>
          <p:cNvSpPr>
            <a:spLocks xmlns:a="http://schemas.openxmlformats.org/drawingml/2006/main" noGrp="1"/>
          </p:cNvSpPr>
          <p:nvPr/>
        </p:nvSpPr>
        <p:spPr>
          <a:xfrm xmlns:a="http://schemas.openxmlformats.org/drawingml/2006/main">
            <a:off x="609600" y="5486400"/>
            <a:ext cx="5219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Design deliverables and engineering handoff</a:t>
            </a:r>
          </a:p>
        </p:txBody>
      </p:sp>
      <p:sp>
        <p:nvSpPr>
          <p:cNvPr id="7" name="entry-scope">
            <a:extLst xmlns:a="http://schemas.openxmlformats.org/drawingml/2006/main">
              <a:ext uri="{FF2B5EF4-FFF2-40B4-BE49-F238E27FC236}">
                <a16:creationId xmlns:a16="http://schemas.microsoft.com/office/drawing/2014/main" id="{BFCAA7A9-ABAA-4B84-9DEA-C80EB581F971}"/>
              </a:ext>
            </a:extLst>
          </p:cNvPr>
          <p:cNvSpPr>
            <a:spLocks xmlns:a="http://schemas.openxmlformats.org/drawingml/2006/main" noGrp="1"/>
          </p:cNvSpPr>
          <p:nvPr/>
        </p:nvSpPr>
        <p:spPr>
          <a:xfrm xmlns:a="http://schemas.openxmlformats.org/drawingml/2006/main">
            <a:off x="609600" y="594360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Mobile and desktop conversation flows</a:t>
            </a:r>
          </a:p>
        </p:txBody>
      </p:sp>
      <p:sp>
        <p:nvSpPr>
          <p:cNvPr id="8" name="phone-surface">
            <a:extLst xmlns:a="http://schemas.openxmlformats.org/drawingml/2006/main">
              <a:ext uri="{FF2B5EF4-FFF2-40B4-BE49-F238E27FC236}">
                <a16:creationId xmlns:a16="http://schemas.microsoft.com/office/drawing/2014/main" id="{E2CE2C5D-34EB-46DF-9024-E92FA296B583}"/>
              </a:ext>
            </a:extLst>
          </p:cNvPr>
          <p:cNvSpPr>
            <a:spLocks xmlns:a="http://schemas.openxmlformats.org/drawingml/2006/main" noGrp="1"/>
          </p:cNvSpPr>
          <p:nvPr/>
        </p:nvSpPr>
        <p:spPr>
          <a:xfrm xmlns:a="http://schemas.openxmlformats.org/drawingml/2006/main">
            <a:off x="7372350" y="847725"/>
            <a:ext cx="3657600" cy="5514975"/>
          </a:xfrm>
          <a:prstGeom xmlns:a="http://schemas.openxmlformats.org/drawingml/2006/main" prst="rect">
            <a:avLst/>
          </a:prstGeom>
          <a:solidFill xmlns:a="http://schemas.openxmlformats.org/drawingml/2006/main">
            <a:srgbClr val="E1E8DB"/>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d0f3df9b29a44fbd"/>
          <a:stretch xmlns:a="http://schemas.openxmlformats.org/drawingml/2006/main"/>
        </p:blipFill>
        <p:spPr>
          <a:xfrm xmlns:a="http://schemas.openxmlformats.org/drawingml/2006/main">
            <a:off x="7982069" y="895350"/>
            <a:ext cx="2542936" cy="5448300"/>
          </a:xfrm>
          <a:prstGeom xmlns:a="http://schemas.openxmlformats.org/drawingml/2006/main" prst="rect">
            <a:avLst/>
          </a:prstGeom>
        </p:spPr>
      </p:pic>
    </p:spTree>
    <p:extLst>
      <p:ext uri="{BB962C8B-B14F-4D97-AF65-F5344CB8AC3E}">
        <p14:creationId xmlns:p14="http://schemas.microsoft.com/office/powerpoint/2010/main" val="1695022742"/>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slide-number">
            <a:extLst xmlns:a="http://schemas.openxmlformats.org/drawingml/2006/main">
              <a:ext uri="{FF2B5EF4-FFF2-40B4-BE49-F238E27FC236}">
                <a16:creationId xmlns:a16="http://schemas.microsoft.com/office/drawing/2014/main" id="{6F0B3814-F2CF-4E30-8782-91901E149C03}"/>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
        <p:nvSpPr>
          <p:cNvPr id="2" name="section-label">
            <a:extLst xmlns:a="http://schemas.openxmlformats.org/drawingml/2006/main">
              <a:ext uri="{FF2B5EF4-FFF2-40B4-BE49-F238E27FC236}">
                <a16:creationId xmlns:a16="http://schemas.microsoft.com/office/drawing/2014/main" id="{6E7F9A6B-E79B-438B-A4FD-54B4DA888873}"/>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RESPONSE IN PROGRESS</a:t>
            </a:r>
          </a:p>
        </p:txBody>
      </p:sp>
      <p:sp>
        <p:nvSpPr>
          <p:cNvPr id="3" name="headline">
            <a:extLst xmlns:a="http://schemas.openxmlformats.org/drawingml/2006/main">
              <a:ext uri="{FF2B5EF4-FFF2-40B4-BE49-F238E27FC236}">
                <a16:creationId xmlns:a16="http://schemas.microsoft.com/office/drawing/2014/main" id="{87FEAB98-BA75-42D4-A51C-B7DA31B7D07D}"/>
              </a:ext>
            </a:extLst>
          </p:cNvPr>
          <p:cNvSpPr>
            <a:spLocks xmlns:a="http://schemas.openxmlformats.org/drawingml/2006/main" noGrp="1"/>
          </p:cNvSpPr>
          <p:nvPr/>
        </p:nvSpPr>
        <p:spPr>
          <a:xfrm xmlns:a="http://schemas.openxmlformats.org/drawingml/2006/main">
            <a:off x="609600" y="1123950"/>
            <a:ext cx="56769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Waiting is part of</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conversation</a:t>
            </a:r>
          </a:p>
        </p:txBody>
      </p:sp>
      <p:sp>
        <p:nvSpPr>
          <p:cNvPr id="4" name="waiting-decision">
            <a:extLst xmlns:a="http://schemas.openxmlformats.org/drawingml/2006/main">
              <a:ext uri="{FF2B5EF4-FFF2-40B4-BE49-F238E27FC236}">
                <a16:creationId xmlns:a16="http://schemas.microsoft.com/office/drawing/2014/main" id="{B289CF21-D190-4EDC-A9B3-7A09048886A2}"/>
              </a:ext>
            </a:extLst>
          </p:cNvPr>
          <p:cNvSpPr>
            <a:spLocks xmlns:a="http://schemas.openxmlformats.org/drawingml/2006/main" noGrp="1"/>
          </p:cNvSpPr>
          <p:nvPr/>
        </p:nvSpPr>
        <p:spPr>
          <a:xfrm xmlns:a="http://schemas.openxmlformats.org/drawingml/2006/main">
            <a:off x="609600" y="3124200"/>
            <a:ext cx="4619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kept the question visible and gave the response a distinct waiting state.</a:t>
            </a:r>
          </a:p>
        </p:txBody>
      </p:sp>
      <p:sp>
        <p:nvSpPr>
          <p:cNvPr id="5" name="waiting-constraint">
            <a:extLst xmlns:a="http://schemas.openxmlformats.org/drawingml/2006/main">
              <a:ext uri="{FF2B5EF4-FFF2-40B4-BE49-F238E27FC236}">
                <a16:creationId xmlns:a16="http://schemas.microsoft.com/office/drawing/2014/main" id="{138E8F6F-9F1F-4802-90FC-DE749A83C795}"/>
              </a:ext>
            </a:extLst>
          </p:cNvPr>
          <p:cNvSpPr>
            <a:spLocks xmlns:a="http://schemas.openxmlformats.org/drawingml/2006/main" noGrp="1"/>
          </p:cNvSpPr>
          <p:nvPr/>
        </p:nvSpPr>
        <p:spPr>
          <a:xfrm xmlns:a="http://schemas.openxmlformats.org/drawingml/2006/main">
            <a:off x="609600" y="4543425"/>
            <a:ext cx="4619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Animation was an implementation question to resolve with engineering.</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e524b50e1de456a"/>
          <a:stretch xmlns:a="http://schemas.openxmlformats.org/drawingml/2006/main"/>
        </p:blipFill>
        <p:spPr>
          <a:xfrm xmlns:a="http://schemas.openxmlformats.org/drawingml/2006/main">
            <a:off x="5850211" y="2362200"/>
            <a:ext cx="2872828" cy="1219200"/>
          </a:xfrm>
          <a:prstGeom xmlns:a="http://schemas.openxmlformats.org/drawingml/2006/main" prst="rect">
            <a:avLst/>
          </a:prstGeom>
        </p:spPr>
      </p:pic>
      <p:sp>
        <p:nvSpPr>
          <p:cNvPr id="7" name="detail-caption">
            <a:extLst xmlns:a="http://schemas.openxmlformats.org/drawingml/2006/main">
              <a:ext uri="{FF2B5EF4-FFF2-40B4-BE49-F238E27FC236}">
                <a16:creationId xmlns:a16="http://schemas.microsoft.com/office/drawing/2014/main" id="{70A87CAC-E7C9-4F28-91A0-070B01AA5CB1}"/>
              </a:ext>
            </a:extLst>
          </p:cNvPr>
          <p:cNvSpPr>
            <a:spLocks xmlns:a="http://schemas.openxmlformats.org/drawingml/2006/main" noGrp="1"/>
          </p:cNvSpPr>
          <p:nvPr/>
        </p:nvSpPr>
        <p:spPr>
          <a:xfrm xmlns:a="http://schemas.openxmlformats.org/drawingml/2006/main">
            <a:off x="5905500" y="3810000"/>
            <a:ext cx="2686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Original state detail</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614f87654614f65"/>
          <a:stretch xmlns:a="http://schemas.openxmlformats.org/drawingml/2006/main"/>
        </p:blipFill>
        <p:spPr>
          <a:xfrm xmlns:a="http://schemas.openxmlformats.org/drawingml/2006/main">
            <a:off x="9087302" y="1076325"/>
            <a:ext cx="2351771" cy="5038725"/>
          </a:xfrm>
          <a:prstGeom xmlns:a="http://schemas.openxmlformats.org/drawingml/2006/main" prst="rect">
            <a:avLst/>
          </a:prstGeom>
        </p:spPr>
      </p:pic>
    </p:spTree>
    <p:extLst>
      <p:ext uri="{BB962C8B-B14F-4D97-AF65-F5344CB8AC3E}">
        <p14:creationId xmlns:p14="http://schemas.microsoft.com/office/powerpoint/2010/main" val="723090733"/>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lide-number">
            <a:extLst xmlns:a="http://schemas.openxmlformats.org/drawingml/2006/main">
              <a:ext uri="{FF2B5EF4-FFF2-40B4-BE49-F238E27FC236}">
                <a16:creationId xmlns:a16="http://schemas.microsoft.com/office/drawing/2014/main" id="{A05EF9DF-7946-4ECD-AFBD-5349BD19D463}"/>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
        <p:nvSpPr>
          <p:cNvPr id="2" name="section-label">
            <a:extLst xmlns:a="http://schemas.openxmlformats.org/drawingml/2006/main">
              <a:ext uri="{FF2B5EF4-FFF2-40B4-BE49-F238E27FC236}">
                <a16:creationId xmlns:a16="http://schemas.microsoft.com/office/drawing/2014/main" id="{ECFA5E5C-6CD0-44E3-96A8-BC05CEA5E8CD}"/>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INTERRUPTED AND OFFLINE STATES</a:t>
            </a:r>
          </a:p>
        </p:txBody>
      </p:sp>
      <p:sp>
        <p:nvSpPr>
          <p:cNvPr id="3" name="headline">
            <a:extLst xmlns:a="http://schemas.openxmlformats.org/drawingml/2006/main">
              <a:ext uri="{FF2B5EF4-FFF2-40B4-BE49-F238E27FC236}">
                <a16:creationId xmlns:a16="http://schemas.microsoft.com/office/drawing/2014/main" id="{B73B4325-F41B-467D-B77E-70065B6F1C08}"/>
              </a:ext>
            </a:extLst>
          </p:cNvPr>
          <p:cNvSpPr>
            <a:spLocks xmlns:a="http://schemas.openxmlformats.org/drawingml/2006/main" noGrp="1"/>
          </p:cNvSpPr>
          <p:nvPr/>
        </p:nvSpPr>
        <p:spPr>
          <a:xfrm xmlns:a="http://schemas.openxmlformats.org/drawingml/2006/main">
            <a:off x="609600" y="1133475"/>
            <a:ext cx="46672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Recovery follows</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failure</a:t>
            </a:r>
          </a:p>
        </p:txBody>
      </p:sp>
      <p:sp>
        <p:nvSpPr>
          <p:cNvPr id="4" name="recovery-decision">
            <a:extLst xmlns:a="http://schemas.openxmlformats.org/drawingml/2006/main">
              <a:ext uri="{FF2B5EF4-FFF2-40B4-BE49-F238E27FC236}">
                <a16:creationId xmlns:a16="http://schemas.microsoft.com/office/drawing/2014/main" id="{70849048-43BA-420C-908E-03EE3EC17490}"/>
              </a:ext>
            </a:extLst>
          </p:cNvPr>
          <p:cNvSpPr>
            <a:spLocks xmlns:a="http://schemas.openxmlformats.org/drawingml/2006/main" noGrp="1"/>
          </p:cNvSpPr>
          <p:nvPr/>
        </p:nvSpPr>
        <p:spPr>
          <a:xfrm xmlns:a="http://schemas.openxmlformats.org/drawingml/2006/main">
            <a:off x="609600" y="3209925"/>
            <a:ext cx="43529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An incomplete answer and a lost connection need different next actions.</a:t>
            </a:r>
          </a:p>
        </p:txBody>
      </p:sp>
      <p:sp>
        <p:nvSpPr>
          <p:cNvPr id="5" name="recovery-outcome">
            <a:extLst xmlns:a="http://schemas.openxmlformats.org/drawingml/2006/main">
              <a:ext uri="{FF2B5EF4-FFF2-40B4-BE49-F238E27FC236}">
                <a16:creationId xmlns:a16="http://schemas.microsoft.com/office/drawing/2014/main" id="{C5C424C4-F07C-4CBB-8DFB-D7D8F08519FC}"/>
              </a:ext>
            </a:extLst>
          </p:cNvPr>
          <p:cNvSpPr>
            <a:spLocks xmlns:a="http://schemas.openxmlformats.org/drawingml/2006/main" noGrp="1"/>
          </p:cNvSpPr>
          <p:nvPr/>
        </p:nvSpPr>
        <p:spPr>
          <a:xfrm xmlns:a="http://schemas.openxmlformats.org/drawingml/2006/main">
            <a:off x="609600" y="4772025"/>
            <a:ext cx="43529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assembled the flows and their next actions into an annotated handoff for engineering.</a:t>
            </a:r>
          </a:p>
        </p:txBody>
      </p:sp>
      <p:sp>
        <p:nvSpPr>
          <p:cNvPr id="6" name="incomplete-label">
            <a:extLst xmlns:a="http://schemas.openxmlformats.org/drawingml/2006/main">
              <a:ext uri="{FF2B5EF4-FFF2-40B4-BE49-F238E27FC236}">
                <a16:creationId xmlns:a16="http://schemas.microsoft.com/office/drawing/2014/main" id="{E71343CE-3944-4182-92E4-2AFEE91B59EA}"/>
              </a:ext>
            </a:extLst>
          </p:cNvPr>
          <p:cNvSpPr>
            <a:spLocks xmlns:a="http://schemas.openxmlformats.org/drawingml/2006/main" noGrp="1"/>
          </p:cNvSpPr>
          <p:nvPr/>
        </p:nvSpPr>
        <p:spPr>
          <a:xfrm xmlns:a="http://schemas.openxmlformats.org/drawingml/2006/main">
            <a:off x="563880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Incomplete answer</a:t>
            </a:r>
          </a:p>
        </p:txBody>
      </p:sp>
      <p:sp>
        <p:nvSpPr>
          <p:cNvPr id="7" name="offline-label">
            <a:extLst xmlns:a="http://schemas.openxmlformats.org/drawingml/2006/main">
              <a:ext uri="{FF2B5EF4-FFF2-40B4-BE49-F238E27FC236}">
                <a16:creationId xmlns:a16="http://schemas.microsoft.com/office/drawing/2014/main" id="{62CE38C3-0B14-4218-ABCC-55E5AF1C4A87}"/>
              </a:ext>
            </a:extLst>
          </p:cNvPr>
          <p:cNvSpPr>
            <a:spLocks xmlns:a="http://schemas.openxmlformats.org/drawingml/2006/main" noGrp="1"/>
          </p:cNvSpPr>
          <p:nvPr/>
        </p:nvSpPr>
        <p:spPr>
          <a:xfrm xmlns:a="http://schemas.openxmlformats.org/drawingml/2006/main">
            <a:off x="870585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Connection lost</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268a1a1cbd04916"/>
          <a:stretch xmlns:a="http://schemas.openxmlformats.org/drawingml/2006/main"/>
        </p:blipFill>
        <p:spPr>
          <a:xfrm xmlns:a="http://schemas.openxmlformats.org/drawingml/2006/main">
            <a:off x="5706555" y="1181100"/>
            <a:ext cx="2436239" cy="52197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d4b875ce645646ed"/>
          <a:stretch xmlns:a="http://schemas.openxmlformats.org/drawingml/2006/main"/>
        </p:blipFill>
        <p:spPr>
          <a:xfrm xmlns:a="http://schemas.openxmlformats.org/drawingml/2006/main">
            <a:off x="8773605" y="1181100"/>
            <a:ext cx="2436239" cy="5219700"/>
          </a:xfrm>
          <a:prstGeom xmlns:a="http://schemas.openxmlformats.org/drawingml/2006/main" prst="rect">
            <a:avLst/>
          </a:prstGeom>
        </p:spPr>
      </p:pic>
    </p:spTree>
    <p:extLst>
      <p:ext uri="{BB962C8B-B14F-4D97-AF65-F5344CB8AC3E}">
        <p14:creationId xmlns:p14="http://schemas.microsoft.com/office/powerpoint/2010/main" val="1719807824"/>
      </p:ext>
    </p:extLst>
  </p:cSld>
</p:sld>
</file>

<file path=ppt/slides/slide9.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1" name="slide-number">
            <a:extLst xmlns:a="http://schemas.openxmlformats.org/drawingml/2006/main">
              <a:ext uri="{FF2B5EF4-FFF2-40B4-BE49-F238E27FC236}">
                <a16:creationId xmlns:a16="http://schemas.microsoft.com/office/drawing/2014/main" id="{6329DB24-249B-4C34-8B8C-7C5F34580448}"/>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09</a:t>
            </a:r>
          </a:p>
        </p:txBody>
      </p:sp>
      <p:sp>
        <p:nvSpPr>
          <p:cNvPr id="2" name="section-label">
            <a:extLst xmlns:a="http://schemas.openxmlformats.org/drawingml/2006/main">
              <a:ext uri="{FF2B5EF4-FFF2-40B4-BE49-F238E27FC236}">
                <a16:creationId xmlns:a16="http://schemas.microsoft.com/office/drawing/2014/main" id="{203625CC-6CBC-4135-91AF-48F52995E94C}"/>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SMARTASSET · PROPOSED APPROACH</a:t>
            </a:r>
          </a:p>
        </p:txBody>
      </p:sp>
      <p:sp>
        <p:nvSpPr>
          <p:cNvPr id="3" name="headline">
            <a:extLst xmlns:a="http://schemas.openxmlformats.org/drawingml/2006/main">
              <a:ext uri="{FF2B5EF4-FFF2-40B4-BE49-F238E27FC236}">
                <a16:creationId xmlns:a16="http://schemas.microsoft.com/office/drawing/2014/main" id="{4DB0A71B-1FE5-47C2-891F-C6CC3EED0D26}"/>
              </a:ext>
            </a:extLst>
          </p:cNvPr>
          <p:cNvSpPr>
            <a:spLocks xmlns:a="http://schemas.openxmlformats.org/drawingml/2006/main" noGrp="1"/>
          </p:cNvSpPr>
          <p:nvPr/>
        </p:nvSpPr>
        <p:spPr>
          <a:xfrm xmlns:a="http://schemas.openxmlformats.org/drawingml/2006/main">
            <a:off x="609600" y="1104900"/>
            <a:ext cx="109728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A focused consumer-flow iteration</a:t>
            </a:r>
          </a:p>
        </p:txBody>
      </p:sp>
      <p:sp>
        <p:nvSpPr>
          <p:cNvPr id="4" name="proposal-intro">
            <a:extLst xmlns:a="http://schemas.openxmlformats.org/drawingml/2006/main">
              <a:ext uri="{FF2B5EF4-FFF2-40B4-BE49-F238E27FC236}">
                <a16:creationId xmlns:a16="http://schemas.microsoft.com/office/drawing/2014/main" id="{927323C7-C2DD-43B3-B373-C3D5C7135DE7}"/>
              </a:ext>
            </a:extLst>
          </p:cNvPr>
          <p:cNvSpPr>
            <a:spLocks xmlns:a="http://schemas.openxmlformats.org/drawingml/2006/main" noGrp="1"/>
          </p:cNvSpPr>
          <p:nvPr/>
        </p:nvSpPr>
        <p:spPr>
          <a:xfrm xmlns:a="http://schemas.openxmlformats.org/drawingml/2006/main">
            <a:off x="609600" y="2667000"/>
            <a:ext cx="103251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250" b="0">
                <a:solidFill>
                  <a:srgbClr val="192B25"/>
                </a:solidFill>
                <a:latin typeface="Helvetica Neue"/>
                <a:ea typeface="Helvetica Neue"/>
                <a:cs typeface="Helvetica Neue"/>
              </a:defRPr>
            </a:pPr>
            <a:r>
              <a:rPr sz="2250" b="0">
                <a:solidFill>
                  <a:srgbClr val="192B25"/>
                </a:solidFill>
                <a:latin typeface="Helvetica Neue"/>
                <a:ea typeface="Helvetica Neue"/>
                <a:cs typeface="Helvetica Neue"/>
              </a:rPr>
              <a:t>Choose a point where a person needs to understand an offer, enter information, or recover from an error.</a:t>
            </a:r>
          </a:p>
        </p:txBody>
      </p:sp>
      <p:sp>
        <p:nvSpPr>
          <p:cNvPr id="5" name="first-title">
            <a:extLst xmlns:a="http://schemas.openxmlformats.org/drawingml/2006/main">
              <a:ext uri="{FF2B5EF4-FFF2-40B4-BE49-F238E27FC236}">
                <a16:creationId xmlns:a16="http://schemas.microsoft.com/office/drawing/2014/main" id="{DFFC3915-4F97-4B03-90BF-8A6A2F663047}"/>
              </a:ext>
            </a:extLst>
          </p:cNvPr>
          <p:cNvSpPr>
            <a:spLocks xmlns:a="http://schemas.openxmlformats.org/drawingml/2006/main" noGrp="1"/>
          </p:cNvSpPr>
          <p:nvPr/>
        </p:nvSpPr>
        <p:spPr>
          <a:xfrm xmlns:a="http://schemas.openxmlformats.org/drawingml/2006/main">
            <a:off x="609600" y="4410075"/>
            <a:ext cx="33242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1">
                <a:solidFill>
                  <a:srgbClr val="244D3C"/>
                </a:solidFill>
                <a:latin typeface="Helvetica Neue"/>
                <a:ea typeface="Helvetica Neue"/>
                <a:cs typeface="Helvetica Neue"/>
              </a:defRPr>
            </a:pPr>
            <a:r>
              <a:rPr sz="2025" b="1">
                <a:solidFill>
                  <a:srgbClr val="244D3C"/>
                </a:solidFill>
                <a:latin typeface="Helvetica Neue"/>
                <a:ea typeface="Helvetica Neue"/>
                <a:cs typeface="Helvetica Neue"/>
              </a:rPr>
              <a:t>Inspect the current flow</a:t>
            </a:r>
          </a:p>
        </p:txBody>
      </p:sp>
      <p:sp>
        <p:nvSpPr>
          <p:cNvPr id="6" name="first-body">
            <a:extLst xmlns:a="http://schemas.openxmlformats.org/drawingml/2006/main">
              <a:ext uri="{FF2B5EF4-FFF2-40B4-BE49-F238E27FC236}">
                <a16:creationId xmlns:a16="http://schemas.microsoft.com/office/drawing/2014/main" id="{42DE5C56-0380-4EF1-86B1-9CF632E8E7CB}"/>
              </a:ext>
            </a:extLst>
          </p:cNvPr>
          <p:cNvSpPr>
            <a:spLocks xmlns:a="http://schemas.openxmlformats.org/drawingml/2006/main" noGrp="1"/>
          </p:cNvSpPr>
          <p:nvPr/>
        </p:nvSpPr>
        <p:spPr>
          <a:xfrm xmlns:a="http://schemas.openxmlformats.org/drawingml/2006/main">
            <a:off x="609600" y="5314950"/>
            <a:ext cx="320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Use existing research and behavior data to define the question.</a:t>
            </a:r>
          </a:p>
        </p:txBody>
      </p:sp>
      <p:sp>
        <p:nvSpPr>
          <p:cNvPr id="7" name="second-title">
            <a:extLst xmlns:a="http://schemas.openxmlformats.org/drawingml/2006/main">
              <a:ext uri="{FF2B5EF4-FFF2-40B4-BE49-F238E27FC236}">
                <a16:creationId xmlns:a16="http://schemas.microsoft.com/office/drawing/2014/main" id="{FFAFCDE5-298E-4B06-81BF-AD3F38033571}"/>
              </a:ext>
            </a:extLst>
          </p:cNvPr>
          <p:cNvSpPr>
            <a:spLocks xmlns:a="http://schemas.openxmlformats.org/drawingml/2006/main" noGrp="1"/>
          </p:cNvSpPr>
          <p:nvPr/>
        </p:nvSpPr>
        <p:spPr>
          <a:xfrm xmlns:a="http://schemas.openxmlformats.org/drawingml/2006/main">
            <a:off x="4343400" y="4410075"/>
            <a:ext cx="33242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1">
                <a:solidFill>
                  <a:srgbClr val="244D3C"/>
                </a:solidFill>
                <a:latin typeface="Helvetica Neue"/>
                <a:ea typeface="Helvetica Neue"/>
                <a:cs typeface="Helvetica Neue"/>
              </a:defRPr>
            </a:pPr>
            <a:r>
              <a:rPr sz="2025" b="1">
                <a:solidFill>
                  <a:srgbClr val="244D3C"/>
                </a:solidFill>
                <a:latin typeface="Helvetica Neue"/>
                <a:ea typeface="Helvetica Neue"/>
                <a:cs typeface="Helvetica Neue"/>
              </a:rPr>
              <a:t>Try a focused change</a:t>
            </a:r>
          </a:p>
        </p:txBody>
      </p:sp>
      <p:sp>
        <p:nvSpPr>
          <p:cNvPr id="8" name="second-body">
            <a:extLst xmlns:a="http://schemas.openxmlformats.org/drawingml/2006/main">
              <a:ext uri="{FF2B5EF4-FFF2-40B4-BE49-F238E27FC236}">
                <a16:creationId xmlns:a16="http://schemas.microsoft.com/office/drawing/2014/main" id="{E2E7A4D1-1D14-4D83-BFEE-FC88235F7523}"/>
              </a:ext>
            </a:extLst>
          </p:cNvPr>
          <p:cNvSpPr>
            <a:spLocks xmlns:a="http://schemas.openxmlformats.org/drawingml/2006/main" noGrp="1"/>
          </p:cNvSpPr>
          <p:nvPr/>
        </p:nvSpPr>
        <p:spPr>
          <a:xfrm xmlns:a="http://schemas.openxmlformats.org/drawingml/2006/main">
            <a:off x="4343400" y="5314950"/>
            <a:ext cx="319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Prototype within the component library and review with the pod.</a:t>
            </a:r>
          </a:p>
        </p:txBody>
      </p:sp>
      <p:sp>
        <p:nvSpPr>
          <p:cNvPr id="9" name="third-title">
            <a:extLst xmlns:a="http://schemas.openxmlformats.org/drawingml/2006/main">
              <a:ext uri="{FF2B5EF4-FFF2-40B4-BE49-F238E27FC236}">
                <a16:creationId xmlns:a16="http://schemas.microsoft.com/office/drawing/2014/main" id="{0A346C08-9E36-47AB-8ECA-2BBD37AFD5D6}"/>
              </a:ext>
            </a:extLst>
          </p:cNvPr>
          <p:cNvSpPr>
            <a:spLocks xmlns:a="http://schemas.openxmlformats.org/drawingml/2006/main" noGrp="1"/>
          </p:cNvSpPr>
          <p:nvPr/>
        </p:nvSpPr>
        <p:spPr>
          <a:xfrm xmlns:a="http://schemas.openxmlformats.org/drawingml/2006/main">
            <a:off x="8086725" y="4410075"/>
            <a:ext cx="34956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1">
                <a:solidFill>
                  <a:srgbClr val="244D3C"/>
                </a:solidFill>
                <a:latin typeface="Helvetica Neue"/>
                <a:ea typeface="Helvetica Neue"/>
                <a:cs typeface="Helvetica Neue"/>
              </a:defRPr>
            </a:pPr>
            <a:r>
              <a:rPr sz="2025" b="1">
                <a:solidFill>
                  <a:srgbClr val="244D3C"/>
                </a:solidFill>
                <a:latin typeface="Helvetica Neue"/>
                <a:ea typeface="Helvetica Neue"/>
                <a:cs typeface="Helvetica Neue"/>
              </a:rPr>
              <a:t>Learn from the next attempt</a:t>
            </a:r>
          </a:p>
        </p:txBody>
      </p:sp>
      <p:sp>
        <p:nvSpPr>
          <p:cNvPr id="10" name="third-body">
            <a:extLst xmlns:a="http://schemas.openxmlformats.org/drawingml/2006/main">
              <a:ext uri="{FF2B5EF4-FFF2-40B4-BE49-F238E27FC236}">
                <a16:creationId xmlns:a16="http://schemas.microsoft.com/office/drawing/2014/main" id="{E3EE7731-F023-4600-9BD8-D5997FBC70B8}"/>
              </a:ext>
            </a:extLst>
          </p:cNvPr>
          <p:cNvSpPr>
            <a:spLocks xmlns:a="http://schemas.openxmlformats.org/drawingml/2006/main" noGrp="1"/>
          </p:cNvSpPr>
          <p:nvPr/>
        </p:nvSpPr>
        <p:spPr>
          <a:xfrm xmlns:a="http://schemas.openxmlformats.org/drawingml/2006/main">
            <a:off x="8086725" y="5314950"/>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Use testing and experiment results to guide the next revision.</a:t>
            </a:r>
          </a:p>
        </p:txBody>
      </p:sp>
    </p:spTree>
    <p:extLst>
      <p:ext uri="{BB962C8B-B14F-4D97-AF65-F5344CB8AC3E}">
        <p14:creationId xmlns:p14="http://schemas.microsoft.com/office/powerpoint/2010/main" val="792389060"/>
      </p:ext>
    </p:extLst>
  </p:cSld>
</p:sld>
</file>

<file path=ppt/slides/slide10.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D092B25D-494C-42AE-973A-AF484C91C97B}"/>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10</a:t>
            </a:r>
          </a:p>
        </p:txBody>
      </p:sp>
      <p:sp>
        <p:nvSpPr>
          <p:cNvPr id="2" name="section-label">
            <a:extLst xmlns:a="http://schemas.openxmlformats.org/drawingml/2006/main">
              <a:ext uri="{FF2B5EF4-FFF2-40B4-BE49-F238E27FC236}">
                <a16:creationId xmlns:a16="http://schemas.microsoft.com/office/drawing/2014/main" id="{EB22D88B-8CCC-4A8F-A1AC-C369FB2E856D}"/>
              </a:ext>
            </a:extLst>
          </p:cNvPr>
          <p:cNvSpPr>
            <a:spLocks xmlns:a="http://schemas.openxmlformats.org/drawingml/2006/main" noGrp="1"/>
          </p:cNvSpPr>
          <p:nvPr/>
        </p:nvSpPr>
        <p:spPr>
          <a:xfrm xmlns:a="http://schemas.openxmlformats.org/drawingml/2006/main">
            <a:off x="609600" y="52387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SMARTASSET PRODUCT DESIGNER APPLICATION</a:t>
            </a:r>
          </a:p>
        </p:txBody>
      </p:sp>
      <p:sp>
        <p:nvSpPr>
          <p:cNvPr id="3" name="headline">
            <a:extLst xmlns:a="http://schemas.openxmlformats.org/drawingml/2006/main">
              <a:ext uri="{FF2B5EF4-FFF2-40B4-BE49-F238E27FC236}">
                <a16:creationId xmlns:a16="http://schemas.microsoft.com/office/drawing/2014/main" id="{AB8903C4-45FB-4F73-8350-4AB706DD4C1B}"/>
              </a:ext>
            </a:extLst>
          </p:cNvPr>
          <p:cNvSpPr>
            <a:spLocks xmlns:a="http://schemas.openxmlformats.org/drawingml/2006/main" noGrp="1"/>
          </p:cNvSpPr>
          <p:nvPr/>
        </p:nvSpPr>
        <p:spPr>
          <a:xfrm xmlns:a="http://schemas.openxmlformats.org/drawingml/2006/main">
            <a:off x="609600" y="168592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5400" b="1">
                <a:solidFill>
                  <a:srgbClr val="F4F2E9"/>
                </a:solidFill>
                <a:latin typeface="Helvetica Neue"/>
                <a:ea typeface="Helvetica Neue"/>
                <a:cs typeface="Helvetica Neue"/>
              </a:defRPr>
            </a:pPr>
            <a:r>
              <a:rPr sz="5400" b="1">
                <a:solidFill>
                  <a:srgbClr val="F4F2E9"/>
                </a:solidFill>
                <a:latin typeface="Helvetica Neue"/>
                <a:ea typeface="Helvetica Neue"/>
                <a:cs typeface="Helvetica Neue"/>
              </a:rPr>
              <a:t>Kyle Hobson</a:t>
            </a:r>
          </a:p>
        </p:txBody>
      </p:sp>
      <p:sp>
        <p:nvSpPr>
          <p:cNvPr id="4" name="contact-intent">
            <a:extLst xmlns:a="http://schemas.openxmlformats.org/drawingml/2006/main">
              <a:ext uri="{FF2B5EF4-FFF2-40B4-BE49-F238E27FC236}">
                <a16:creationId xmlns:a16="http://schemas.microsoft.com/office/drawing/2014/main" id="{F4BDC852-F1CC-48C0-B0C0-8AEFF5F30E84}"/>
              </a:ext>
            </a:extLst>
          </p:cNvPr>
          <p:cNvSpPr>
            <a:spLocks xmlns:a="http://schemas.openxmlformats.org/drawingml/2006/main" noGrp="1"/>
          </p:cNvSpPr>
          <p:nvPr/>
        </p:nvSpPr>
        <p:spPr>
          <a:xfrm xmlns:a="http://schemas.openxmlformats.org/drawingml/2006/main">
            <a:off x="647700" y="3476625"/>
            <a:ext cx="10191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325" b="0">
                <a:solidFill>
                  <a:srgbClr val="F4F2E9"/>
                </a:solidFill>
                <a:latin typeface="Helvetica Neue"/>
                <a:ea typeface="Helvetica Neue"/>
                <a:cs typeface="Helvetica Neue"/>
              </a:defRPr>
            </a:pPr>
            <a:r>
              <a:rPr sz="2325" b="0">
                <a:solidFill>
                  <a:srgbClr val="F4F2E9"/>
                </a:solidFill>
                <a:latin typeface="Helvetica Neue"/>
                <a:ea typeface="Helvetica Neue"/>
                <a:cs typeface="Helvetica Neue"/>
              </a:rPr>
              <a:t>Product design informed by research.</a:t>
            </a:r>
          </a:p>
          <a:p xmlns:a="http://schemas.openxmlformats.org/drawingml/2006/main">
            <a:pPr>
              <a:lnSpc>
                <a:spcPct val="110000"/>
              </a:lnSpc>
              <a:buNone/>
              <a:defRPr sz="2325" b="0">
                <a:solidFill>
                  <a:srgbClr val="F4F2E9"/>
                </a:solidFill>
                <a:latin typeface="Helvetica Neue"/>
                <a:ea typeface="Helvetica Neue"/>
                <a:cs typeface="Helvetica Neue"/>
              </a:defRPr>
            </a:pPr>
            <a:r>
              <a:rPr sz="2325" b="0">
                <a:solidFill>
                  <a:srgbClr val="F4F2E9"/>
                </a:solidFill>
                <a:latin typeface="Helvetica Neue"/>
                <a:ea typeface="Helvetica Neue"/>
                <a:cs typeface="Helvetica Neue"/>
              </a:rPr>
              <a:t>Clear artifacts for a team to build and review.</a:t>
            </a:r>
          </a:p>
        </p:txBody>
      </p:sp>
      <p:sp>
        <p:nvSpPr>
          <p:cNvPr id="5" name="contact-availability">
            <a:extLst xmlns:a="http://schemas.openxmlformats.org/drawingml/2006/main">
              <a:ext uri="{FF2B5EF4-FFF2-40B4-BE49-F238E27FC236}">
                <a16:creationId xmlns:a16="http://schemas.microsoft.com/office/drawing/2014/main" id="{EE693344-233A-47AC-9674-2F33ACBCB505}"/>
              </a:ext>
            </a:extLst>
          </p:cNvPr>
          <p:cNvSpPr>
            <a:spLocks xmlns:a="http://schemas.openxmlformats.org/drawingml/2006/main" noGrp="1"/>
          </p:cNvSpPr>
          <p:nvPr/>
        </p:nvSpPr>
        <p:spPr>
          <a:xfrm xmlns:a="http://schemas.openxmlformats.org/drawingml/2006/main">
            <a:off x="647700" y="49053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F4F2E9"/>
                </a:solidFill>
                <a:latin typeface="Helvetica Neue"/>
                <a:ea typeface="Helvetica Neue"/>
                <a:cs typeface="Helvetica Neue"/>
              </a:defRPr>
            </a:pPr>
            <a:r>
              <a:rPr sz="1800" b="0">
                <a:solidFill>
                  <a:srgbClr val="F4F2E9"/>
                </a:solidFill>
                <a:latin typeface="Helvetica Neue"/>
                <a:ea typeface="Helvetica Neue"/>
                <a:cs typeface="Helvetica Neue"/>
              </a:rPr>
              <a:t>Mesa, Arizona · U.S. remote work · Available ASAP</a:t>
            </a:r>
          </a:p>
        </p:txBody>
      </p:sp>
      <p:sp>
        <p:nvSpPr>
          <p:cNvPr id="6" name="email">
            <a:extLst xmlns:a="http://schemas.openxmlformats.org/drawingml/2006/main">
              <a:ext uri="{FF2B5EF4-FFF2-40B4-BE49-F238E27FC236}">
                <a16:creationId xmlns:a16="http://schemas.microsoft.com/office/drawing/2014/main" id="{BD4B9305-E7C8-474F-A12E-F681A0A05980}"/>
              </a:ext>
            </a:extLst>
          </p:cNvPr>
          <p:cNvSpPr>
            <a:spLocks xmlns:a="http://schemas.openxmlformats.org/drawingml/2006/main" noGrp="1"/>
          </p:cNvSpPr>
          <p:nvPr/>
        </p:nvSpPr>
        <p:spPr>
          <a:xfrm xmlns:a="http://schemas.openxmlformats.org/drawingml/2006/main">
            <a:off x="647700" y="55626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b4095553e1e94d1f"/>
              </a:rPr>
              <a:t>JonathanKyleHobson@gmail.com</a:t>
            </a:r>
          </a:p>
        </p:txBody>
      </p:sp>
      <p:sp>
        <p:nvSpPr>
          <p:cNvPr id="7" name="portfolio">
            <a:extLst xmlns:a="http://schemas.openxmlformats.org/drawingml/2006/main">
              <a:ext uri="{FF2B5EF4-FFF2-40B4-BE49-F238E27FC236}">
                <a16:creationId xmlns:a16="http://schemas.microsoft.com/office/drawing/2014/main" id="{D6BCAEAC-D24E-4D9B-B8B1-1E0C7482B3A1}"/>
              </a:ext>
            </a:extLst>
          </p:cNvPr>
          <p:cNvSpPr>
            <a:spLocks xmlns:a="http://schemas.openxmlformats.org/drawingml/2006/main" noGrp="1"/>
          </p:cNvSpPr>
          <p:nvPr/>
        </p:nvSpPr>
        <p:spPr>
          <a:xfrm xmlns:a="http://schemas.openxmlformats.org/drawingml/2006/main">
            <a:off x="647700" y="611505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u="sng">
                <a:solidFill>
                  <a:srgbClr val="F4F2E9"/>
                </a:solidFill>
                <a:latin typeface="Helvetica Neue"/>
                <a:ea typeface="Helvetica Neue"/>
                <a:cs typeface="Helvetica Neue"/>
              </a:defRPr>
            </a:pPr>
            <a:r>
              <a:rPr sz="1725" b="0" u="sng">
                <a:solidFill>
                  <a:srgbClr val="F4F2E9"/>
                </a:solidFill>
                <a:latin typeface="Helvetica Neue"/>
                <a:ea typeface="Helvetica Neue"/>
                <a:cs typeface="Helvetica Neue"/>
                <a:hlinkClick xmlns:r="http://schemas.openxmlformats.org/officeDocument/2006/relationships" r:id="R360eb789ded249ac"/>
              </a:rPr>
              <a:t>Portfolio selected for SmartAsset</a:t>
            </a:r>
          </a:p>
        </p:txBody>
      </p:sp>
    </p:spTree>
    <p:extLst>
      <p:ext uri="{BB962C8B-B14F-4D97-AF65-F5344CB8AC3E}">
        <p14:creationId xmlns:p14="http://schemas.microsoft.com/office/powerpoint/2010/main" val="224696457"/>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2026-09-08T17:18:20.9960000Z</dcterms:created>
  <dcterms:modified xsi:type="dcterms:W3CDTF">2026-09-08T17:18:20.9960000Z</dcterms:modified>
</coreProperties>
</file>