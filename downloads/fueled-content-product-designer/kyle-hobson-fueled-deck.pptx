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22392dd13459c" /><Relationship Type="http://schemas.openxmlformats.org/officeDocument/2006/relationships/extended-properties" Target="/docProps/app.xml" Id="R7a9ee7652c2a40b8" /><Relationship Type="http://schemas.openxmlformats.org/officeDocument/2006/relationships/officeDocument" Target="/ppt/presentation.xml" Id="Rfb97826f18df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597d62ab94525"/>
  </p:sldMasterIdLst>
  <p:notesMasterIdLst>
    <p:notesMasterId xmlns:r="http://schemas.openxmlformats.org/officeDocument/2006/relationships" r:id="R36dc3cd8796b4ae4"/>
  </p:notesMasterIdLst>
  <p:sldIdLst>
    <p:sldId xmlns:r="http://schemas.openxmlformats.org/officeDocument/2006/relationships" id="256" r:id="Rc797db9648074cfe"/>
    <p:sldId xmlns:r="http://schemas.openxmlformats.org/officeDocument/2006/relationships" id="257" r:id="R8fa9e022ba2d463d"/>
    <p:sldId xmlns:r="http://schemas.openxmlformats.org/officeDocument/2006/relationships" id="258" r:id="R632e1ad050144b86"/>
    <p:sldId xmlns:r="http://schemas.openxmlformats.org/officeDocument/2006/relationships" id="259" r:id="R58135fd0938f41b1"/>
    <p:sldId xmlns:r="http://schemas.openxmlformats.org/officeDocument/2006/relationships" id="260" r:id="R97c1cdff68f741aa"/>
    <p:sldId xmlns:r="http://schemas.openxmlformats.org/officeDocument/2006/relationships" id="261" r:id="R9553647f299c4d72"/>
    <p:sldId xmlns:r="http://schemas.openxmlformats.org/officeDocument/2006/relationships" id="262" r:id="R2f051dbcf9c14e78"/>
    <p:sldId xmlns:r="http://schemas.openxmlformats.org/officeDocument/2006/relationships" id="263" r:id="R10dc4682b9974036"/>
    <p:sldId xmlns:r="http://schemas.openxmlformats.org/officeDocument/2006/relationships" id="264" r:id="R06b5e1acd56843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f5744d85b496d" /><Relationship Type="http://schemas.openxmlformats.org/officeDocument/2006/relationships/slideMaster" Target="/ppt/slideMasters/slideMaster1.xml" Id="Raa0597d62ab94525" /><Relationship Type="http://schemas.openxmlformats.org/officeDocument/2006/relationships/notesMaster" Target="/ppt/notesMasters/notesMaster1.xml" Id="R36dc3cd8796b4ae4" /><Relationship Type="http://schemas.openxmlformats.org/officeDocument/2006/relationships/presProps" Target="/ppt/presProps.xml" Id="R929eb1118389470b" /><Relationship Type="http://schemas.openxmlformats.org/officeDocument/2006/relationships/tableStyles" Target="/ppt/tableStyles.xml" Id="R1c6daa3fa6154665" /><Relationship Type="http://schemas.openxmlformats.org/officeDocument/2006/relationships/slide" Target="/ppt/slides/slide1.xml" Id="Rc797db9648074cfe" /><Relationship Type="http://schemas.openxmlformats.org/officeDocument/2006/relationships/slide" Target="/ppt/slides/slide2.xml" Id="R8fa9e022ba2d463d" /><Relationship Type="http://schemas.openxmlformats.org/officeDocument/2006/relationships/slide" Target="/ppt/slides/slide3.xml" Id="R632e1ad050144b86" /><Relationship Type="http://schemas.openxmlformats.org/officeDocument/2006/relationships/slide" Target="/ppt/slides/slide4.xml" Id="R58135fd0938f41b1" /><Relationship Type="http://schemas.openxmlformats.org/officeDocument/2006/relationships/slide" Target="/ppt/slides/slide5.xml" Id="R97c1cdff68f741aa" /><Relationship Type="http://schemas.openxmlformats.org/officeDocument/2006/relationships/slide" Target="/ppt/slides/slide6.xml" Id="R9553647f299c4d72" /><Relationship Type="http://schemas.openxmlformats.org/officeDocument/2006/relationships/slide" Target="/ppt/slides/slide7.xml" Id="R2f051dbcf9c14e78" /><Relationship Type="http://schemas.openxmlformats.org/officeDocument/2006/relationships/slide" Target="/ppt/slides/slide8.xml" Id="R10dc4682b9974036" /><Relationship Type="http://schemas.openxmlformats.org/officeDocument/2006/relationships/slide" Target="/ppt/slides/slide9.xml" Id="R06b5e1acd568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ff4855a7ba43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9e7ea3f6f4568" /><Relationship Type="http://schemas.openxmlformats.org/officeDocument/2006/relationships/notesMaster" Target="/ppt/notesMasters/notesMaster1.xml" Id="R4086a5550ab344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f746e50704bf9" /><Relationship Type="http://schemas.openxmlformats.org/officeDocument/2006/relationships/notesMaster" Target="/ppt/notesMasters/notesMaster1.xml" Id="R9a5f223fafba41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bd88e0edc48ab" /><Relationship Type="http://schemas.openxmlformats.org/officeDocument/2006/relationships/notesMaster" Target="/ppt/notesMasters/notesMaster1.xml" Id="R05e7c78e9786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dcbaddc5e54f9c" /><Relationship Type="http://schemas.openxmlformats.org/officeDocument/2006/relationships/notesMaster" Target="/ppt/notesMasters/notesMaster1.xml" Id="R63dc878a8f3843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48e1d7f55c4119" /><Relationship Type="http://schemas.openxmlformats.org/officeDocument/2006/relationships/notesMaster" Target="/ppt/notesMasters/notesMaster1.xml" Id="Ra2b35ff528a8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20bcd0014d4c88" /><Relationship Type="http://schemas.openxmlformats.org/officeDocument/2006/relationships/notesMaster" Target="/ppt/notesMasters/notesMaster1.xml" Id="R19a90a775fb04e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7d5bc563d64244" /><Relationship Type="http://schemas.openxmlformats.org/officeDocument/2006/relationships/notesMaster" Target="/ppt/notesMasters/notesMaster1.xml" Id="R21606dbed7d745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e655f6248e42bb" /><Relationship Type="http://schemas.openxmlformats.org/officeDocument/2006/relationships/notesMaster" Target="/ppt/notesMasters/notesMaster1.xml" Id="Radd9d6bab3444b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1f4a570a294ea2" /><Relationship Type="http://schemas.openxmlformats.org/officeDocument/2006/relationships/notesMaster" Target="/ppt/notesMasters/notesMaster1.xml" Id="R8c2a7fbb472e4e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Fueled Product Designer, 5173502008. Employer source: https://job-boards.greenhouse.io/fueledcareers/jobs/5173502008, verified September 8, 2026. Selected information-hierarchy, reusable-interface, interaction and handoff artifacts. No prior Fueled work, CMS implementation or enterprise design-system ownership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Me April–May 2026 design walkthroughs, especially May 15. The five groups are summaries, recommendations, Simple 7, comparisons and accomplishments. This native diagram summarizes the reviewed organization; it is not an original screenshot. Customization and final policy remained open in the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About Me comparison widget and April–May 2026 walkthroughs. The web/server team release was confirmed September 2, 2026, but the exact pictured layout and completed mobile rollout are not established. Illustrative values are not measured customer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Flint mobile design and design walkthroughs. These are designed states and handoff artifacts, not confirmation that every pictured variant shipped. Interface content is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SmartTagIt Flint interrupted-response and offline variants, including the March 27, 2026 error-state handoff. This documents design decisions and annotations for developers, not measured task-success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Oak original heuristic evaluation and design recommendations. The original small bottom banner reported invalid login credentials; the proposed treatment added a password-field outline and Incorrect Password message. Kyle led the evaluation and recommendations and collaborated with the lead UX designer on mockups. No measured result or exact released variant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of reviewed FactorLab design walkthroughs and Oak recommendations/handoff. The list describes an approach supported by those artifacts. It does not establish platform-release ownership, quantified handoff efficiency, or work for Fueled.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 based on Fueled Product Designer role 5173502008. CMS-specific structures, client requirements, research access and measures would need to be established with the team. This is a proposed approach, not evidence of prior CMS implementation or Fueled client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contact and travel availability are confirmed. Intended isolated portfolio route: https://jonathankhobson.github.io/application-portfolios/fueled-content-product-designer/. Publication is a separate campaign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f4076ef75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103f8da95d4655" /><Relationship Type="http://schemas.openxmlformats.org/officeDocument/2006/relationships/slideLayout" Target="/ppt/slideLayouts/slideLayout1.xml" Id="R95aec347dd2347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aec347dd2347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48e21de804663" /><Relationship Type="http://schemas.openxmlformats.org/officeDocument/2006/relationships/image" Target="/ppt/media/image.png" Id="Rd0f6095daecc40f0" /><Relationship Type="http://schemas.openxmlformats.org/officeDocument/2006/relationships/notesSlide" Target="/ppt/notesSlides/notesSlide1.xml" Id="R0bb1a884c2634d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2e93fcaf54e7d" /><Relationship Type="http://schemas.openxmlformats.org/officeDocument/2006/relationships/notesSlide" Target="/ppt/notesSlides/notesSlide2.xml" Id="R6e8e2d0ba0844c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cbebf30e4162" /><Relationship Type="http://schemas.openxmlformats.org/officeDocument/2006/relationships/image" Target="/ppt/media/image2.png" Id="Rae8a14bfcafa4d92" /><Relationship Type="http://schemas.openxmlformats.org/officeDocument/2006/relationships/notesSlide" Target="/ppt/notesSlides/notesSlide3.xml" Id="R93608b4d36ef42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b8d5da22347bd" /><Relationship Type="http://schemas.openxmlformats.org/officeDocument/2006/relationships/image" Target="/ppt/media/image3.png" Id="R9b3755ae02334c16" /><Relationship Type="http://schemas.openxmlformats.org/officeDocument/2006/relationships/notesSlide" Target="/ppt/notesSlides/notesSlide4.xml" Id="Rfc669d6c5f35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7f56b3419415c" /><Relationship Type="http://schemas.openxmlformats.org/officeDocument/2006/relationships/image" Target="/ppt/media/image4.png" Id="R701b4c2859c14725" /><Relationship Type="http://schemas.openxmlformats.org/officeDocument/2006/relationships/image" Target="/ppt/media/image5.png" Id="R77d9d5446a724819" /><Relationship Type="http://schemas.openxmlformats.org/officeDocument/2006/relationships/notesSlide" Target="/ppt/notesSlides/notesSlide5.xml" Id="R9d1217f1c5f54b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3b610c1b543c4" /><Relationship Type="http://schemas.openxmlformats.org/officeDocument/2006/relationships/image" Target="/ppt/media/image6.png" Id="R75fa726a75cc4796" /><Relationship Type="http://schemas.openxmlformats.org/officeDocument/2006/relationships/notesSlide" Target="/ppt/notesSlides/notesSlide6.xml" Id="Rf34392c6ba6a4e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ead03d4ef455a" /><Relationship Type="http://schemas.openxmlformats.org/officeDocument/2006/relationships/notesSlide" Target="/ppt/notesSlides/notesSlide7.xml" Id="Rb63e95736d854f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97f95b9d4751" /><Relationship Type="http://schemas.openxmlformats.org/officeDocument/2006/relationships/notesSlide" Target="/ppt/notesSlides/notesSlide8.xml" Id="R252811e7614143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345e596f94299" /><Relationship Type="http://schemas.openxmlformats.org/officeDocument/2006/relationships/hyperlink" Target="mailto:JonathanKyleHobson@gmail.com" TargetMode="External" Id="R2519f96570a04e71" /><Relationship Type="http://schemas.openxmlformats.org/officeDocument/2006/relationships/hyperlink" Target="https://jonathankhobson.github.io/application-portfolios/fueled-content-product-designer/" TargetMode="External" Id="R315599f1625c4f73" /><Relationship Type="http://schemas.openxmlformats.org/officeDocument/2006/relationships/notesSlide" Target="/ppt/notesSlides/notesSlide9.xml" Id="R87962ab146d940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9E877A-321E-4552-99CC-603B3F95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E7DCA71-E2FF-4CB7-9E11-B915F9C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/ FUELED CONTENT SOLUTIONS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EFC95053-C1D4-4AA5-BB45-402B9BB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620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Content people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can use.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A615D8DB-6DD8-4FA4-9AA0-9F127FA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700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Information hierarchy, reusable patterns,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the details behind an interaction.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E286C33-2C1A-483D-8053-942308A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702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Selected work for Fueled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6095daecc40f0"/>
          <a:stretch xmlns:a="http://schemas.openxmlformats.org/drawingml/2006/main"/>
        </p:blipFill>
        <p:spPr>
          <a:xfrm xmlns:a="http://schemas.openxmlformats.org/drawingml/2006/main">
            <a:off x="8867775" y="644039"/>
            <a:ext cx="2524125" cy="540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84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012706-F833-44DC-8246-1F66FD9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6CAE33-C729-45A1-A8F6-FBCD376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866DF4F3-0FE2-43A7-AECE-F890FA52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Give each insight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clear job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E177F8A6-02B2-4689-9272-0F9AAFF9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714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developed five widget groups, then explored their information order and content density.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9AD0882B-61E2-4861-BD57-60E8BEFD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4905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Editable summary of the reviewed structure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screen iterations in the linked case</a:t>
            </a:r>
          </a:p>
        </p:txBody>
      </p:sp>
      <p:sp>
        <p:nvSpPr>
          <p:cNvPr id="6" name="family-number-0">
            <a:extLst xmlns:a="http://schemas.openxmlformats.org/drawingml/2006/main">
              <a:ext uri="{FF2B5EF4-FFF2-40B4-BE49-F238E27FC236}">
                <a16:creationId xmlns:a16="http://schemas.microsoft.com/office/drawing/2014/main" id="{BDA13D5E-F7FC-4278-A6CE-A0AB235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family-0">
            <a:extLst xmlns:a="http://schemas.openxmlformats.org/drawingml/2006/main">
              <a:ext uri="{FF2B5EF4-FFF2-40B4-BE49-F238E27FC236}">
                <a16:creationId xmlns:a16="http://schemas.microsoft.com/office/drawing/2014/main" id="{836CA198-BEE3-4979-94B7-5B0BD883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1906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Summaries</a:t>
            </a:r>
          </a:p>
        </p:txBody>
      </p:sp>
      <p:sp>
        <p:nvSpPr>
          <p:cNvPr id="8" name="family-number-1">
            <a:extLst xmlns:a="http://schemas.openxmlformats.org/drawingml/2006/main">
              <a:ext uri="{FF2B5EF4-FFF2-40B4-BE49-F238E27FC236}">
                <a16:creationId xmlns:a16="http://schemas.microsoft.com/office/drawing/2014/main" id="{D06D6686-D18B-4DDD-83A2-5456FF85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amily-1">
            <a:extLst xmlns:a="http://schemas.openxmlformats.org/drawingml/2006/main">
              <a:ext uri="{FF2B5EF4-FFF2-40B4-BE49-F238E27FC236}">
                <a16:creationId xmlns:a16="http://schemas.microsoft.com/office/drawing/2014/main" id="{06E8CAC9-2ACA-4EFF-A07C-817E2CE1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621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Recommendations</a:t>
            </a:r>
          </a:p>
        </p:txBody>
      </p:sp>
      <p:sp>
        <p:nvSpPr>
          <p:cNvPr id="10" name="family-number-2">
            <a:extLst xmlns:a="http://schemas.openxmlformats.org/drawingml/2006/main">
              <a:ext uri="{FF2B5EF4-FFF2-40B4-BE49-F238E27FC236}">
                <a16:creationId xmlns:a16="http://schemas.microsoft.com/office/drawing/2014/main" id="{A993324D-583D-45E1-B047-0ED9009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family-2">
            <a:extLst xmlns:a="http://schemas.openxmlformats.org/drawingml/2006/main">
              <a:ext uri="{FF2B5EF4-FFF2-40B4-BE49-F238E27FC236}">
                <a16:creationId xmlns:a16="http://schemas.microsoft.com/office/drawing/2014/main" id="{9F1643A6-27B0-4539-B906-04E4DE1B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337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Simple 7</a:t>
            </a:r>
          </a:p>
        </p:txBody>
      </p:sp>
      <p:sp>
        <p:nvSpPr>
          <p:cNvPr id="12" name="family-number-3">
            <a:extLst xmlns:a="http://schemas.openxmlformats.org/drawingml/2006/main">
              <a:ext uri="{FF2B5EF4-FFF2-40B4-BE49-F238E27FC236}">
                <a16:creationId xmlns:a16="http://schemas.microsoft.com/office/drawing/2014/main" id="{ECF64E20-C37A-40AC-9969-036F9DF3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family-3">
            <a:extLst xmlns:a="http://schemas.openxmlformats.org/drawingml/2006/main">
              <a:ext uri="{FF2B5EF4-FFF2-40B4-BE49-F238E27FC236}">
                <a16:creationId xmlns:a16="http://schemas.microsoft.com/office/drawing/2014/main" id="{DA837E20-98AD-46C9-8630-7CAF556F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052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Comparisons</a:t>
            </a:r>
          </a:p>
        </p:txBody>
      </p:sp>
      <p:sp>
        <p:nvSpPr>
          <p:cNvPr id="14" name="family-number-4">
            <a:extLst xmlns:a="http://schemas.openxmlformats.org/drawingml/2006/main">
              <a:ext uri="{FF2B5EF4-FFF2-40B4-BE49-F238E27FC236}">
                <a16:creationId xmlns:a16="http://schemas.microsoft.com/office/drawing/2014/main" id="{F89EB386-FD21-49EA-AAD2-B34B99F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family-4">
            <a:extLst xmlns:a="http://schemas.openxmlformats.org/drawingml/2006/main">
              <a:ext uri="{FF2B5EF4-FFF2-40B4-BE49-F238E27FC236}">
                <a16:creationId xmlns:a16="http://schemas.microsoft.com/office/drawing/2014/main" id="{FDD66BFD-8869-476A-BCE8-7CC0FBCB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768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Accomplishments</a:t>
            </a:r>
          </a:p>
        </p:txBody>
      </p:sp>
    </p:spTree>
    <p:extLst>
      <p:ext uri="{BB962C8B-B14F-4D97-AF65-F5344CB8AC3E}">
        <p14:creationId xmlns:p14="http://schemas.microsoft.com/office/powerpoint/2010/main" val="1591821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4AD8CD-E04D-498E-AD94-FE3F9444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C51B26E-97F0-4D2C-9782-F7CD46A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INFORMATION AND INTERPRETATION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AF42EC2-858F-47E2-B004-4B22A2A6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1530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needs context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70B102EC-B77C-47B3-8BE7-E4E51791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333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Mentioning fatigue less often is a comparison. Whether that is good depends on the context.</a:t>
            </a:r>
          </a:p>
        </p:txBody>
      </p:sp>
      <p:sp>
        <p:nvSpPr>
          <p:cNvPr id="5" name="outcome">
            <a:extLst xmlns:a="http://schemas.openxmlformats.org/drawingml/2006/main">
              <a:ext uri="{FF2B5EF4-FFF2-40B4-BE49-F238E27FC236}">
                <a16:creationId xmlns:a16="http://schemas.microsoft.com/office/drawing/2014/main" id="{0B9BD838-4B56-463D-840B-775D96D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333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raised the cohort and wording questions while developing reusable insight widgets.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a14bfcafa4d92"/>
          <a:stretch xmlns:a="http://schemas.openxmlformats.org/drawingml/2006/main"/>
        </p:blipFill>
        <p:spPr>
          <a:xfrm xmlns:a="http://schemas.openxmlformats.org/drawingml/2006/main">
            <a:off x="5876925" y="2201702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B0CBD033-1E86-4339-972B-CB973DC3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1531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 with sample values</a:t>
            </a:r>
          </a:p>
        </p:txBody>
      </p:sp>
    </p:spTree>
    <p:extLst>
      <p:ext uri="{BB962C8B-B14F-4D97-AF65-F5344CB8AC3E}">
        <p14:creationId xmlns:p14="http://schemas.microsoft.com/office/powerpoint/2010/main" val="753741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7D2C4D-1F82-4465-86DE-2CC83692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7872ABB-5C5E-46CA-BB64-B91F961D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4A99C0E0-9416-4BFE-95E1-96E80B5B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useful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first question</a:t>
            </a:r>
          </a:p>
        </p:txBody>
      </p:sp>
      <p:sp>
        <p:nvSpPr>
          <p:cNvPr id="4" name="role">
            <a:extLst xmlns:a="http://schemas.openxmlformats.org/drawingml/2006/main">
              <a:ext uri="{FF2B5EF4-FFF2-40B4-BE49-F238E27FC236}">
                <a16:creationId xmlns:a16="http://schemas.microsoft.com/office/drawing/2014/main" id="{772ED269-B0D9-43CA-8819-EBAC8F1F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UX Designer &amp; Researcher (Contract)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2025–2026</a:t>
            </a:r>
          </a:p>
        </p:txBody>
      </p:sp>
      <p:sp>
        <p:nvSpPr>
          <p:cNvPr id="5" name="choice">
            <a:extLst xmlns:a="http://schemas.openxmlformats.org/drawingml/2006/main">
              <a:ext uri="{FF2B5EF4-FFF2-40B4-BE49-F238E27FC236}">
                <a16:creationId xmlns:a16="http://schemas.microsoft.com/office/drawing/2014/main" id="{D279254B-5759-43FC-B46E-EA0EFFE6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suggested questions and a question library while keeping a person’s own question close at hand.</a:t>
            </a:r>
          </a:p>
        </p:txBody>
      </p:sp>
      <p:sp>
        <p:nvSpPr>
          <p:cNvPr id="6" name="stage">
            <a:extLst xmlns:a="http://schemas.openxmlformats.org/drawingml/2006/main">
              <a:ext uri="{FF2B5EF4-FFF2-40B4-BE49-F238E27FC236}">
                <a16:creationId xmlns:a16="http://schemas.microsoft.com/office/drawing/2014/main" id="{5210413F-69B0-45FC-8B49-BC3B1B04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Mobile design states and engineering handoff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755ae02334c16"/>
          <a:stretch xmlns:a="http://schemas.openxmlformats.org/drawingml/2006/main"/>
        </p:blipFill>
        <p:spPr>
          <a:xfrm xmlns:a="http://schemas.openxmlformats.org/drawingml/2006/main">
            <a:off x="7953494" y="914400"/>
            <a:ext cx="2542936" cy="544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23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574386-FFE4-4BE0-9845-6D41CBB9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0BF370D-8D58-43E0-AED2-8F2C33ED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INTERRUPTED AND OFFLINE STATES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0973F6B6-ED48-4C3D-A7D3-8B5E0154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follows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39D9C9A8-5AAD-464C-831A-928B2113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3148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incomplete answer and a lost connection need different next actions.</a:t>
            </a:r>
          </a:p>
        </p:txBody>
      </p:sp>
      <p:sp>
        <p:nvSpPr>
          <p:cNvPr id="5" name="handoff">
            <a:extLst xmlns:a="http://schemas.openxmlformats.org/drawingml/2006/main">
              <a:ext uri="{FF2B5EF4-FFF2-40B4-BE49-F238E27FC236}">
                <a16:creationId xmlns:a16="http://schemas.microsoft.com/office/drawing/2014/main" id="{A55C27FD-3866-4A83-A15E-D25B13C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314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connected the flows and their recovery actions in an annotated walkthrough for engineering.</a:t>
            </a:r>
          </a:p>
        </p:txBody>
      </p:sp>
      <p:sp>
        <p:nvSpPr>
          <p:cNvPr id="6" name="partial-label">
            <a:extLst xmlns:a="http://schemas.openxmlformats.org/drawingml/2006/main">
              <a:ext uri="{FF2B5EF4-FFF2-40B4-BE49-F238E27FC236}">
                <a16:creationId xmlns:a16="http://schemas.microsoft.com/office/drawing/2014/main" id="{CE3D7BD9-59C0-46C2-BAB9-19596750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Incomplete answer</a:t>
            </a:r>
          </a:p>
        </p:txBody>
      </p:sp>
      <p:sp>
        <p:nvSpPr>
          <p:cNvPr id="7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E9FF6F68-E8A9-4397-9246-1130B54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Connection lost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b4c2859c14725"/>
          <a:stretch xmlns:a="http://schemas.openxmlformats.org/drawingml/2006/main"/>
        </p:blipFill>
        <p:spPr>
          <a:xfrm xmlns:a="http://schemas.openxmlformats.org/drawingml/2006/main">
            <a:off x="5711001" y="1190625"/>
            <a:ext cx="2427348" cy="52006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9d5446a724819"/>
          <a:stretch xmlns:a="http://schemas.openxmlformats.org/drawingml/2006/main"/>
        </p:blipFill>
        <p:spPr>
          <a:xfrm xmlns:a="http://schemas.openxmlformats.org/drawingml/2006/main">
            <a:off x="8778051" y="1190625"/>
            <a:ext cx="2427348" cy="520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1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80ACC8-8045-4B19-A3C2-6AC371E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39D3C-E355-447B-8E6F-CA8290EF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/ RESEARCH TO DESIGN, 2023–2025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F48F3C5A-2F0B-4D72-9A1C-B8F11883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10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Put a visible choice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beside the finding</a:t>
            </a:r>
          </a:p>
        </p:txBody>
      </p:sp>
      <p:sp>
        <p:nvSpPr>
          <p:cNvPr id="4" name="finding">
            <a:extLst xmlns:a="http://schemas.openxmlformats.org/drawingml/2006/main">
              <a:ext uri="{FF2B5EF4-FFF2-40B4-BE49-F238E27FC236}">
                <a16:creationId xmlns:a16="http://schemas.microsoft.com/office/drawing/2014/main" id="{024B6B37-B9E5-4FD5-97CF-6C91AAE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857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original login error sat below the form. The recommendation connected the feedback to the password field.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7A530746-BA34-4C87-AF54-C5DD41A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857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developed recommendations and collaborated with the lead UX designer. Fuller recovery guidance still needed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a726a75cc4796"/>
          <a:stretch xmlns:a="http://schemas.openxmlformats.org/drawingml/2006/main"/>
        </p:blipFill>
        <p:spPr>
          <a:xfrm xmlns:a="http://schemas.openxmlformats.org/drawingml/2006/main">
            <a:off x="6870958" y="3009900"/>
            <a:ext cx="3774558" cy="2705100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8CC7AAA7-9A32-4E8E-8AEF-6CECA81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674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interface · implementation unverified</a:t>
            </a:r>
          </a:p>
        </p:txBody>
      </p:sp>
    </p:spTree>
    <p:extLst>
      <p:ext uri="{BB962C8B-B14F-4D97-AF65-F5344CB8AC3E}">
        <p14:creationId xmlns:p14="http://schemas.microsoft.com/office/powerpoint/2010/main" val="1816824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2B9829-2D74-4F79-88B3-F47914A0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EEDF1A9-CE5B-446E-A52D-BA3AC0F0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+ OAK / TEAM COLLABORATION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8BA61510-1FDF-4EA8-B477-E55C874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handoff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design conversation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8DAAE6E4-08E3-4B73-8850-DBB55B40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334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walkthroughs put the state, the next action, and the unresolved choice where a team can review them.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C1F9112C-3BFD-4464-9B4A-B5751C8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Connect the normal path to waiting and recovery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8974A107-F30E-4BF8-93B7-6D334352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Explain the alternative and its tradeoff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6A1019F3-BFAE-438E-BC11-754919DA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Revise with developers as constraints become clear</a:t>
            </a:r>
          </a:p>
        </p:txBody>
      </p:sp>
    </p:spTree>
    <p:extLst>
      <p:ext uri="{BB962C8B-B14F-4D97-AF65-F5344CB8AC3E}">
        <p14:creationId xmlns:p14="http://schemas.microsoft.com/office/powerpoint/2010/main" val="594767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23F1D13-5571-4B90-89EB-B3862CF3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13B3A25-1ED1-4D77-AE8C-350FFEA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FUELED / PROPOSED APPROACH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CE43D94-68F7-4916-90C0-CDE45AD6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Start with the content and its task</a:t>
            </a:r>
          </a:p>
        </p:txBody>
      </p:sp>
      <p:sp>
        <p:nvSpPr>
          <p:cNvPr id="4" name="proposed-intro">
            <a:extLst xmlns:a="http://schemas.openxmlformats.org/drawingml/2006/main">
              <a:ext uri="{FF2B5EF4-FFF2-40B4-BE49-F238E27FC236}">
                <a16:creationId xmlns:a16="http://schemas.microsoft.com/office/drawing/2014/main" id="{380171D2-AF78-4258-B7A4-74767BC8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14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learn how the audience uses the content and how the team creates, structures, and publishes it.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0C47F598-3DFF-457D-97EB-6A5FC638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Review content models, templates, and publishing constraints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86DF8898-FFC6-4221-B49D-091195F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Prototype the hierarchy with representative content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8E9AA67F-7DA2-49EC-89F1-61C91F2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Review with users, editors, and engineering; then refine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A7352E72-FB8A-4F9D-9299-F232981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collaboration approach; no prior Fueled client work is claimed.</a:t>
            </a:r>
          </a:p>
        </p:txBody>
      </p:sp>
    </p:spTree>
    <p:extLst>
      <p:ext uri="{BB962C8B-B14F-4D97-AF65-F5344CB8AC3E}">
        <p14:creationId xmlns:p14="http://schemas.microsoft.com/office/powerpoint/2010/main" val="1073518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F3F33A8-E355-407F-A59F-899B9E5E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E669C4C-6572-469B-8C72-18A7A94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FUELED / PRODUCT DESIGNER – CONTENT SOLUTIONS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848DEEA2-42C1-4470-943C-DE441389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Kyle Hobson</a:t>
            </a:r>
          </a:p>
        </p:txBody>
      </p:sp>
      <p:sp>
        <p:nvSpPr>
          <p:cNvPr id="4" name="background">
            <a:extLst xmlns:a="http://schemas.openxmlformats.org/drawingml/2006/main">
              <a:ext uri="{FF2B5EF4-FFF2-40B4-BE49-F238E27FC236}">
                <a16:creationId xmlns:a16="http://schemas.microsoft.com/office/drawing/2014/main" id="{FB88E7F0-87F3-4B18-AE78-FC793A5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28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Content hierarchy, reusable interfaces,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clear interaction decisions.</a:t>
            </a:r>
          </a:p>
        </p:txBody>
      </p:sp>
      <p:sp>
        <p:nvSpPr>
          <p:cNvPr id="5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E1912A8F-1761-4750-9F37-7C094CE8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/ U.S. business hours / Contract and full-time opportunities</a:t>
            </a:r>
          </a:p>
        </p:txBody>
      </p:sp>
      <p:sp>
        <p:nvSpPr>
          <p:cNvPr id="6" name="email">
            <a:extLst xmlns:a="http://schemas.openxmlformats.org/drawingml/2006/main">
              <a:ext uri="{FF2B5EF4-FFF2-40B4-BE49-F238E27FC236}">
                <a16:creationId xmlns:a16="http://schemas.microsoft.com/office/drawing/2014/main" id="{07674B9C-99C3-4A2E-87B7-B83B7569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519f96570a04e71"/>
              </a:rPr>
              <a:t>JonathanKyleHobson@gmail.com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BD2A6583-3A2E-4AAA-952D-6E8A00B8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15599f1625c4f73"/>
              </a:rPr>
              <a:t>Portfolio selected for Fueled</a:t>
            </a:r>
          </a:p>
        </p:txBody>
      </p:sp>
    </p:spTree>
    <p:extLst>
      <p:ext uri="{BB962C8B-B14F-4D97-AF65-F5344CB8AC3E}">
        <p14:creationId xmlns:p14="http://schemas.microsoft.com/office/powerpoint/2010/main" val="789285734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2026-09-08T21:10:16.7830000Z</dcterms:created>
  <dcterms:modified xsi:type="dcterms:W3CDTF">2026-09-08T21:10:16.7830000Z</dcterms:modified>
</coreProperties>
</file>