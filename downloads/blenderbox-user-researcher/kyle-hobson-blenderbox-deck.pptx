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c6d4cf0e634c5c" /><Relationship Type="http://schemas.openxmlformats.org/officeDocument/2006/relationships/extended-properties" Target="/docProps/app.xml" Id="Reb04aaded85d4049" /><Relationship Type="http://schemas.openxmlformats.org/officeDocument/2006/relationships/officeDocument" Target="/ppt/presentation.xml" Id="R8f8390e4206c4477" /></Relationships>
</file>

<file path=ppt/presentation.xml><?xml version="1.0" encoding="utf-8"?>
<p:presentation xmlns:p="http://schemas.openxmlformats.org/presentationml/2006/main">
  <p:sldMasterIdLst>
    <p:sldMasterId xmlns:r="http://schemas.openxmlformats.org/officeDocument/2006/relationships" id="2147483648" r:id="Rc30367e7b7314b47"/>
  </p:sldMasterIdLst>
  <p:notesMasterIdLst>
    <p:notesMasterId xmlns:r="http://schemas.openxmlformats.org/officeDocument/2006/relationships" r:id="R9a21921a39ff40b1"/>
  </p:notesMasterIdLst>
  <p:sldIdLst>
    <p:sldId xmlns:r="http://schemas.openxmlformats.org/officeDocument/2006/relationships" id="256" r:id="Rbd0f9f898c2f47a5"/>
    <p:sldId xmlns:r="http://schemas.openxmlformats.org/officeDocument/2006/relationships" id="257" r:id="Rfed6954ffa6e408c"/>
    <p:sldId xmlns:r="http://schemas.openxmlformats.org/officeDocument/2006/relationships" id="258" r:id="Rec939d7b270041b2"/>
    <p:sldId xmlns:r="http://schemas.openxmlformats.org/officeDocument/2006/relationships" id="259" r:id="Re7120f0504024b9d"/>
    <p:sldId xmlns:r="http://schemas.openxmlformats.org/officeDocument/2006/relationships" id="260" r:id="R95e655488f6143f5"/>
    <p:sldId xmlns:r="http://schemas.openxmlformats.org/officeDocument/2006/relationships" id="261" r:id="Rad52f28a5eee4378"/>
    <p:sldId xmlns:r="http://schemas.openxmlformats.org/officeDocument/2006/relationships" id="262" r:id="R48ace116644249f0"/>
    <p:sldId xmlns:r="http://schemas.openxmlformats.org/officeDocument/2006/relationships" id="263" r:id="R16281924d1fc4254"/>
    <p:sldId xmlns:r="http://schemas.openxmlformats.org/officeDocument/2006/relationships" id="264" r:id="Raf92beb93e4a4f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a1890aab864cd1" /><Relationship Type="http://schemas.openxmlformats.org/officeDocument/2006/relationships/slideMaster" Target="/ppt/slideMasters/slideMaster1.xml" Id="Rc30367e7b7314b47" /><Relationship Type="http://schemas.openxmlformats.org/officeDocument/2006/relationships/notesMaster" Target="/ppt/notesMasters/notesMaster1.xml" Id="R9a21921a39ff40b1" /><Relationship Type="http://schemas.openxmlformats.org/officeDocument/2006/relationships/presProps" Target="/ppt/presProps.xml" Id="R7c8d0d58b38b4afc" /><Relationship Type="http://schemas.openxmlformats.org/officeDocument/2006/relationships/tableStyles" Target="/ppt/tableStyles.xml" Id="R81591aa8dd5a4cfd" /><Relationship Type="http://schemas.openxmlformats.org/officeDocument/2006/relationships/slide" Target="/ppt/slides/slide1.xml" Id="Rbd0f9f898c2f47a5" /><Relationship Type="http://schemas.openxmlformats.org/officeDocument/2006/relationships/slide" Target="/ppt/slides/slide2.xml" Id="Rfed6954ffa6e408c" /><Relationship Type="http://schemas.openxmlformats.org/officeDocument/2006/relationships/slide" Target="/ppt/slides/slide3.xml" Id="Rec939d7b270041b2" /><Relationship Type="http://schemas.openxmlformats.org/officeDocument/2006/relationships/slide" Target="/ppt/slides/slide4.xml" Id="Re7120f0504024b9d" /><Relationship Type="http://schemas.openxmlformats.org/officeDocument/2006/relationships/slide" Target="/ppt/slides/slide5.xml" Id="R95e655488f6143f5" /><Relationship Type="http://schemas.openxmlformats.org/officeDocument/2006/relationships/slide" Target="/ppt/slides/slide6.xml" Id="Rad52f28a5eee4378" /><Relationship Type="http://schemas.openxmlformats.org/officeDocument/2006/relationships/slide" Target="/ppt/slides/slide7.xml" Id="R48ace116644249f0" /><Relationship Type="http://schemas.openxmlformats.org/officeDocument/2006/relationships/slide" Target="/ppt/slides/slide8.xml" Id="R16281924d1fc4254" /><Relationship Type="http://schemas.openxmlformats.org/officeDocument/2006/relationships/slide" Target="/ppt/slides/slide9.xml" Id="Raf92beb93e4a4f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289f89f87941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86ceacfd7549a4" /><Relationship Type="http://schemas.openxmlformats.org/officeDocument/2006/relationships/notesMaster" Target="/ppt/notesMasters/notesMaster1.xml" Id="R63fd2a4923f14f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ff7bac1ddd4267" /><Relationship Type="http://schemas.openxmlformats.org/officeDocument/2006/relationships/notesMaster" Target="/ppt/notesMasters/notesMaster1.xml" Id="R7ecf35c0675047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034e5bb10b492c" /><Relationship Type="http://schemas.openxmlformats.org/officeDocument/2006/relationships/notesMaster" Target="/ppt/notesMasters/notesMaster1.xml" Id="Ra2ee31e98c2d4a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87e763bdc24c7a" /><Relationship Type="http://schemas.openxmlformats.org/officeDocument/2006/relationships/notesMaster" Target="/ppt/notesMasters/notesMaster1.xml" Id="Ree89b45925494e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1b372843c042df" /><Relationship Type="http://schemas.openxmlformats.org/officeDocument/2006/relationships/notesMaster" Target="/ppt/notesMasters/notesMaster1.xml" Id="R225e6df78e8f4b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ce83baa4ed40c4" /><Relationship Type="http://schemas.openxmlformats.org/officeDocument/2006/relationships/notesMaster" Target="/ppt/notesMasters/notesMaster1.xml" Id="Ra68d58f33edc48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9ccda9b1d249fb" /><Relationship Type="http://schemas.openxmlformats.org/officeDocument/2006/relationships/notesMaster" Target="/ppt/notesMasters/notesMaster1.xml" Id="R17aaca4641774d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b5a2d14819432c" /><Relationship Type="http://schemas.openxmlformats.org/officeDocument/2006/relationships/notesMaster" Target="/ppt/notesMasters/notesMaster1.xml" Id="R15ee48528c1e4c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73f2dbd9e2489e" /><Relationship Type="http://schemas.openxmlformats.org/officeDocument/2006/relationships/notesMaster" Target="/ppt/notesMasters/notesMaster1.xml" Id="Rc8fab51bdf094d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Blenderbox Researcher, 8649c9a243d7. Employer listing https://blenderbox.breezy.hr/p/8649c9a243d7-user-researcher-contract verified September 8, 2026. Professional UX/research roles begin 2023; no 5–8-year claim. This is an evergreen contractor talent pool, not an immediate project guarantee. Photo is the reviewed supplied candidate portrait.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Oak + Qasim March 2025 findings report page 4 records 1,459 completed submissions, 282 incomplete and 1,741 total at March 14 while the survey was still live. This slide uses completed submissions only, not unique validated participants or a final cleaned sample. Leadership role is supported by the reviewed portfolio retrospective; the original report is a team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native chart. Source: original Oak + Qasim March 2025 findings report, page 14. Exact reported percentages: decision fatigue 60%, financial constraints 40%, time limitations 38%, unclear action steps 35%, trust issues 20%. Values are stored as 0.60, 0.40, 0.38, 0.35 and 0.20 with percentage format. Response bases, overlap and question logic are unavailable. Do not add values or convert them into participant counts. Proposed support is analyst interpretation, not tested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pages 14–15 contain reported barriers and requested support. Pairing those findings and framing the next task are Kyle’s analytical interpretation; the report does not establish that the same people supplied both. The Action Hub is a proposed direction. No original participant quotes, response records, frequency of requested templates, or implemented outcome is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September 2024 Oak qualitative coding export and reviewed retrospective. Kyle examined community discussions and coded material in Dovetail. Source tags and retained synthesis support data security, corporate accountability and personal control. These questions are retrospective portfolio interpretation, not a verbatim interview guide, participant quotation, prevalence estimate or claim of completed deeper interviews. The retained export is partial.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November 22, 2023 Oak desktop heuristic workbook, November recommendation report and December 3 contribution record. The workbook has 94 rated desktop items, not participants or 94 distinct user problems; its composite formulas have denominator issues, so no composite is reported. Proposed field-specific feedback and recovery remain design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Flint original mobile design states and March 27, 2026 error-state walkthrough. Design/prototype and engineering-handoff evidence; not confirmation of every pictured release or a measured task-success improvement. Interface content is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Approach based on Blenderbox User Researcher Contract roster: https://blenderbox.breezy.hr/p/8649c9a243d7-user-researcher-contract. U.S. remote, project-dependent duration and hours. ASU instructional-design and AI-analyst roles plus technical communication and UX degrees are reviewed evidence. Research users, recruiting access, privacy needs, accessibility support, schedule and client decision authority would be established for each engagement.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candidate identity and availability. Intended isolated route: https://jonathankhobson.github.io/application-portfolios/blenderbox-user-researcher/. Publication is a separate campaign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00c672dda344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544e03d9c94905" /><Relationship Type="http://schemas.openxmlformats.org/officeDocument/2006/relationships/slideLayout" Target="/ppt/slideLayouts/slideLayout1.xml" Id="Re0ccb55d176144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ccb55d176144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21fba7913a4c1f" /><Relationship Type="http://schemas.openxmlformats.org/officeDocument/2006/relationships/image" Target="/ppt/media/image.jpeg" Id="R3422ce662fa946a2" /><Relationship Type="http://schemas.openxmlformats.org/officeDocument/2006/relationships/notesSlide" Target="/ppt/notesSlides/notesSlide1.xml" Id="R010fa05c5ee34f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36dc17311a41a8" /><Relationship Type="http://schemas.openxmlformats.org/officeDocument/2006/relationships/notesSlide" Target="/ppt/notesSlides/notesSlide2.xml" Id="R0cfd348594fd45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a836f74b964133" /><Relationship Type="http://schemas.openxmlformats.org/officeDocument/2006/relationships/chart" Target="/ppt/slides/charts/chart1.xml" Id="Rf93e8604008a4bc1" /><Relationship Type="http://schemas.openxmlformats.org/officeDocument/2006/relationships/notesSlide" Target="/ppt/notesSlides/notesSlide3.xml" Id="R41ca809fb45a45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77df9c4e764051" /><Relationship Type="http://schemas.openxmlformats.org/officeDocument/2006/relationships/notesSlide" Target="/ppt/notesSlides/notesSlide4.xml" Id="R60212c2646284f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d54264b1854a35" /><Relationship Type="http://schemas.openxmlformats.org/officeDocument/2006/relationships/notesSlide" Target="/ppt/notesSlides/notesSlide5.xml" Id="R756704757be147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1f5fa43d134ae8" /><Relationship Type="http://schemas.openxmlformats.org/officeDocument/2006/relationships/image" Target="/ppt/media/image.png" Id="R48a8029dc1a74259" /><Relationship Type="http://schemas.openxmlformats.org/officeDocument/2006/relationships/notesSlide" Target="/ppt/notesSlides/notesSlide6.xml" Id="Raf884571c6494f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d69deae0fa4330" /><Relationship Type="http://schemas.openxmlformats.org/officeDocument/2006/relationships/image" Target="/ppt/media/image2.png" Id="Refe8a510c43e4423" /><Relationship Type="http://schemas.openxmlformats.org/officeDocument/2006/relationships/image" Target="/ppt/media/image3.png" Id="R63a0c69c3da1493e" /><Relationship Type="http://schemas.openxmlformats.org/officeDocument/2006/relationships/notesSlide" Target="/ppt/notesSlides/notesSlide7.xml" Id="R3aab400d7ae24c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7ea438f7374f0f" /><Relationship Type="http://schemas.openxmlformats.org/officeDocument/2006/relationships/notesSlide" Target="/ppt/notesSlides/notesSlide8.xml" Id="R971c2749470c46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9599fea5314cd4" /><Relationship Type="http://schemas.openxmlformats.org/officeDocument/2006/relationships/hyperlink" Target="mailto:JonathanKyleHobson@gmail.com" TargetMode="External" Id="R82152e5fd9194241" /><Relationship Type="http://schemas.openxmlformats.org/officeDocument/2006/relationships/hyperlink" Target="https://jonathankhobson.github.io/application-portfolios/blenderbox-user-researcher/" TargetMode="External" Id="R96ccb2d7e3694ee4" /><Relationship Type="http://schemas.openxmlformats.org/officeDocument/2006/relationships/notesSlide" Target="/ppt/notesSlides/notesSlide9.xml" Id="R6519a115e2f04b4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percentage</c:v>
          </c:tx>
          <c:spPr>
            <a:solidFill xmlns:a="http://schemas.openxmlformats.org/drawingml/2006/main">
              <a:srgbClr val="244D3C"/>
            </a:solidFill>
            <a:ln xmlns:a="http://schemas.openxmlformats.org/drawingml/2006/main" w="0">
              <a:noFill/>
            </a:ln>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92B2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8645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7F22BC6E-B9D1-499D-BA50-4B67849E41AF}"/>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45A8179F-86B9-448E-9B49-01C0C7781379}"/>
              </a:ext>
            </a:extLst>
          </p:cNvPr>
          <p:cNvSpPr>
            <a:spLocks xmlns:a="http://schemas.openxmlformats.org/drawingml/2006/main" noGrp="1"/>
          </p:cNvSpPr>
          <p:nvPr/>
        </p:nvSpPr>
        <p:spPr>
          <a:xfrm xmlns:a="http://schemas.openxmlformats.org/drawingml/2006/main">
            <a:off x="609600" y="5143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BLENDERBOX / USER RESEARCHER CONTRACT ROSTER</a:t>
            </a:r>
          </a:p>
        </p:txBody>
      </p:sp>
      <p:sp>
        <p:nvSpPr>
          <p:cNvPr id="3" name="headline">
            <a:extLst xmlns:a="http://schemas.openxmlformats.org/drawingml/2006/main">
              <a:ext uri="{FF2B5EF4-FFF2-40B4-BE49-F238E27FC236}">
                <a16:creationId xmlns:a16="http://schemas.microsoft.com/office/drawing/2014/main" id="{BE65C3B5-2A28-44CB-8A8E-B8F1FDD689DC}"/>
              </a:ext>
            </a:extLst>
          </p:cNvPr>
          <p:cNvSpPr>
            <a:spLocks xmlns:a="http://schemas.openxmlformats.org/drawingml/2006/main" noGrp="1"/>
          </p:cNvSpPr>
          <p:nvPr/>
        </p:nvSpPr>
        <p:spPr>
          <a:xfrm xmlns:a="http://schemas.openxmlformats.org/drawingml/2006/main">
            <a:off x="609600" y="1628775"/>
            <a:ext cx="800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F4F2E9"/>
                </a:solidFill>
                <a:latin typeface="Helvetica Neue"/>
                <a:ea typeface="Helvetica Neue"/>
                <a:cs typeface="Helvetica Neue"/>
              </a:defRPr>
            </a:pPr>
            <a:r>
              <a:rPr sz="4500" b="1">
                <a:solidFill>
                  <a:srgbClr val="F4F2E9"/>
                </a:solidFill>
                <a:latin typeface="Helvetica Neue"/>
                <a:ea typeface="Helvetica Neue"/>
                <a:cs typeface="Helvetica Neue"/>
              </a:rPr>
              <a:t>Research that</a:t>
            </a:r>
          </a:p>
          <a:p xmlns:a="http://schemas.openxmlformats.org/drawingml/2006/main">
            <a:pPr>
              <a:lnSpc>
                <a:spcPct val="110000"/>
              </a:lnSpc>
              <a:buNone/>
              <a:defRPr sz="4500" b="1">
                <a:solidFill>
                  <a:srgbClr val="F4F2E9"/>
                </a:solidFill>
                <a:latin typeface="Helvetica Neue"/>
                <a:ea typeface="Helvetica Neue"/>
                <a:cs typeface="Helvetica Neue"/>
              </a:defRPr>
            </a:pPr>
            <a:r>
              <a:rPr sz="4500" b="1">
                <a:solidFill>
                  <a:srgbClr val="F4F2E9"/>
                </a:solidFill>
                <a:latin typeface="Helvetica Neue"/>
                <a:ea typeface="Helvetica Neue"/>
                <a:cs typeface="Helvetica Neue"/>
              </a:rPr>
              <a:t>gives teams direction.</a:t>
            </a:r>
          </a:p>
        </p:txBody>
      </p:sp>
      <p:sp>
        <p:nvSpPr>
          <p:cNvPr id="4" name="cover-intro">
            <a:extLst xmlns:a="http://schemas.openxmlformats.org/drawingml/2006/main">
              <a:ext uri="{FF2B5EF4-FFF2-40B4-BE49-F238E27FC236}">
                <a16:creationId xmlns:a16="http://schemas.microsoft.com/office/drawing/2014/main" id="{311E20E7-97A1-406C-A82D-94A4D75CF929}"/>
              </a:ext>
            </a:extLst>
          </p:cNvPr>
          <p:cNvSpPr>
            <a:spLocks xmlns:a="http://schemas.openxmlformats.org/drawingml/2006/main" noGrp="1"/>
          </p:cNvSpPr>
          <p:nvPr/>
        </p:nvSpPr>
        <p:spPr>
          <a:xfrm xmlns:a="http://schemas.openxmlformats.org/drawingml/2006/main">
            <a:off x="647700" y="4295775"/>
            <a:ext cx="72961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F4F2E9"/>
                </a:solidFill>
                <a:latin typeface="Helvetica Neue"/>
                <a:ea typeface="Helvetica Neue"/>
                <a:cs typeface="Helvetica Neue"/>
              </a:defRPr>
            </a:pPr>
            <a:r>
              <a:rPr sz="2250" b="0">
                <a:solidFill>
                  <a:srgbClr val="F4F2E9"/>
                </a:solidFill>
                <a:latin typeface="Helvetica Neue"/>
                <a:ea typeface="Helvetica Neue"/>
                <a:cs typeface="Helvetica Neue"/>
              </a:rPr>
              <a:t>Survey research, qualitative synthesis,</a:t>
            </a:r>
          </a:p>
          <a:p xmlns:a="http://schemas.openxmlformats.org/drawingml/2006/main">
            <a:pPr>
              <a:lnSpc>
                <a:spcPct val="110000"/>
              </a:lnSpc>
              <a:buNone/>
              <a:defRPr sz="2250" b="0">
                <a:solidFill>
                  <a:srgbClr val="F4F2E9"/>
                </a:solidFill>
                <a:latin typeface="Helvetica Neue"/>
                <a:ea typeface="Helvetica Neue"/>
                <a:cs typeface="Helvetica Neue"/>
              </a:defRPr>
            </a:pPr>
            <a:r>
              <a:rPr sz="2250" b="0">
                <a:solidFill>
                  <a:srgbClr val="F4F2E9"/>
                </a:solidFill>
                <a:latin typeface="Helvetica Neue"/>
                <a:ea typeface="Helvetica Neue"/>
                <a:cs typeface="Helvetica Neue"/>
              </a:rPr>
              <a:t>and usability recommendations.</a:t>
            </a:r>
          </a:p>
        </p:txBody>
      </p:sp>
      <p:sp>
        <p:nvSpPr>
          <p:cNvPr id="5" name="cover-date">
            <a:extLst xmlns:a="http://schemas.openxmlformats.org/drawingml/2006/main">
              <a:ext uri="{FF2B5EF4-FFF2-40B4-BE49-F238E27FC236}">
                <a16:creationId xmlns:a16="http://schemas.microsoft.com/office/drawing/2014/main" id="{DA00309A-211A-468C-85EB-20A82766CE12}"/>
              </a:ext>
            </a:extLst>
          </p:cNvPr>
          <p:cNvSpPr>
            <a:spLocks xmlns:a="http://schemas.openxmlformats.org/drawingml/2006/main" noGrp="1"/>
          </p:cNvSpPr>
          <p:nvPr/>
        </p:nvSpPr>
        <p:spPr>
          <a:xfrm xmlns:a="http://schemas.openxmlformats.org/drawingml/2006/main">
            <a:off x="647700" y="5962650"/>
            <a:ext cx="702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Blenderbox</a:t>
            </a:r>
          </a:p>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September 2026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422ce662fa946a2"/>
          <a:stretch xmlns:a="http://schemas.openxmlformats.org/drawingml/2006/main"/>
        </p:blipFill>
        <p:spPr>
          <a:xfrm xmlns:a="http://schemas.openxmlformats.org/drawingml/2006/main">
            <a:off x="9096375" y="2128838"/>
            <a:ext cx="2505075" cy="2505075"/>
          </a:xfrm>
          <a:prstGeom xmlns:a="http://schemas.openxmlformats.org/drawingml/2006/main" prst="rect">
            <a:avLst/>
          </a:prstGeom>
        </p:spPr>
      </p:pic>
    </p:spTree>
    <p:extLst>
      <p:ext uri="{BB962C8B-B14F-4D97-AF65-F5344CB8AC3E}">
        <p14:creationId xmlns:p14="http://schemas.microsoft.com/office/powerpoint/2010/main" val="1296066"/>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E46FDAE9-2275-4382-99F1-D103F830B94A}"/>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127BDDF5-3DAE-48F0-B809-CF3B52589BF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CREATOR AUDIENCE RESEARCH / MARCH 2025</a:t>
            </a:r>
          </a:p>
        </p:txBody>
      </p:sp>
      <p:sp>
        <p:nvSpPr>
          <p:cNvPr id="3" name="headline">
            <a:extLst xmlns:a="http://schemas.openxmlformats.org/drawingml/2006/main">
              <a:ext uri="{FF2B5EF4-FFF2-40B4-BE49-F238E27FC236}">
                <a16:creationId xmlns:a16="http://schemas.microsoft.com/office/drawing/2014/main" id="{A4374532-223D-4E42-A1BE-F908E6F788B6}"/>
              </a:ext>
            </a:extLst>
          </p:cNvPr>
          <p:cNvSpPr>
            <a:spLocks xmlns:a="http://schemas.openxmlformats.org/drawingml/2006/main" noGrp="1"/>
          </p:cNvSpPr>
          <p:nvPr/>
        </p:nvSpPr>
        <p:spPr>
          <a:xfrm xmlns:a="http://schemas.openxmlformats.org/drawingml/2006/main">
            <a:off x="609600" y="110490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Interest leaves a</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question unanswered</a:t>
            </a:r>
          </a:p>
        </p:txBody>
      </p:sp>
      <p:sp>
        <p:nvSpPr>
          <p:cNvPr id="4" name="question">
            <a:extLst xmlns:a="http://schemas.openxmlformats.org/drawingml/2006/main">
              <a:ext uri="{FF2B5EF4-FFF2-40B4-BE49-F238E27FC236}">
                <a16:creationId xmlns:a16="http://schemas.microsoft.com/office/drawing/2014/main" id="{D196D809-7B58-4C0C-A6AE-FCE5ADB4F52B}"/>
              </a:ext>
            </a:extLst>
          </p:cNvPr>
          <p:cNvSpPr>
            <a:spLocks xmlns:a="http://schemas.openxmlformats.org/drawingml/2006/main" noGrp="1"/>
          </p:cNvSpPr>
          <p:nvPr/>
        </p:nvSpPr>
        <p:spPr>
          <a:xfrm xmlns:a="http://schemas.openxmlformats.org/drawingml/2006/main">
            <a:off x="609600" y="2924175"/>
            <a:ext cx="5619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75" b="0">
                <a:solidFill>
                  <a:srgbClr val="192B25"/>
                </a:solidFill>
                <a:latin typeface="Helvetica Neue"/>
                <a:ea typeface="Helvetica Neue"/>
                <a:cs typeface="Helvetica Neue"/>
              </a:defRPr>
            </a:pPr>
            <a:r>
              <a:rPr sz="2475" b="0">
                <a:solidFill>
                  <a:srgbClr val="192B25"/>
                </a:solidFill>
                <a:latin typeface="Helvetica Neue"/>
                <a:ea typeface="Helvetica Neue"/>
                <a:cs typeface="Helvetica Neue"/>
              </a:rPr>
              <a:t>What makes it difficult for an engaged audience to take the next step?</a:t>
            </a:r>
          </a:p>
        </p:txBody>
      </p:sp>
      <p:sp>
        <p:nvSpPr>
          <p:cNvPr id="5" name="role">
            <a:extLst xmlns:a="http://schemas.openxmlformats.org/drawingml/2006/main">
              <a:ext uri="{FF2B5EF4-FFF2-40B4-BE49-F238E27FC236}">
                <a16:creationId xmlns:a16="http://schemas.microsoft.com/office/drawing/2014/main" id="{8F6EC4BF-92AD-4503-9B83-568988149B08}"/>
              </a:ext>
            </a:extLst>
          </p:cNvPr>
          <p:cNvSpPr>
            <a:spLocks xmlns:a="http://schemas.openxmlformats.org/drawingml/2006/main" noGrp="1"/>
          </p:cNvSpPr>
          <p:nvPr/>
        </p:nvSpPr>
        <p:spPr>
          <a:xfrm xmlns:a="http://schemas.openxmlformats.org/drawingml/2006/main">
            <a:off x="609600" y="4857750"/>
            <a:ext cx="561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led survey creation, launch, and analysis, combining quantitative questions with open responses.</a:t>
            </a:r>
          </a:p>
        </p:txBody>
      </p:sp>
      <p:sp>
        <p:nvSpPr>
          <p:cNvPr id="6" name="count">
            <a:extLst xmlns:a="http://schemas.openxmlformats.org/drawingml/2006/main">
              <a:ext uri="{FF2B5EF4-FFF2-40B4-BE49-F238E27FC236}">
                <a16:creationId xmlns:a16="http://schemas.microsoft.com/office/drawing/2014/main" id="{41F86B12-B0A4-4C39-9F58-4372F1E43194}"/>
              </a:ext>
            </a:extLst>
          </p:cNvPr>
          <p:cNvSpPr>
            <a:spLocks xmlns:a="http://schemas.openxmlformats.org/drawingml/2006/main" noGrp="1"/>
          </p:cNvSpPr>
          <p:nvPr/>
        </p:nvSpPr>
        <p:spPr>
          <a:xfrm xmlns:a="http://schemas.openxmlformats.org/drawingml/2006/main">
            <a:off x="7600950" y="3009900"/>
            <a:ext cx="37242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7050" b="1">
                <a:solidFill>
                  <a:srgbClr val="244D3C"/>
                </a:solidFill>
                <a:latin typeface="Helvetica Neue"/>
                <a:ea typeface="Helvetica Neue"/>
                <a:cs typeface="Helvetica Neue"/>
              </a:defRPr>
            </a:pPr>
            <a:r>
              <a:rPr sz="7050" b="1">
                <a:solidFill>
                  <a:srgbClr val="244D3C"/>
                </a:solidFill>
                <a:latin typeface="Helvetica Neue"/>
                <a:ea typeface="Helvetica Neue"/>
                <a:cs typeface="Helvetica Neue"/>
              </a:rPr>
              <a:t>1,459</a:t>
            </a:r>
          </a:p>
        </p:txBody>
      </p:sp>
      <p:sp>
        <p:nvSpPr>
          <p:cNvPr id="7" name="count-label">
            <a:extLst xmlns:a="http://schemas.openxmlformats.org/drawingml/2006/main">
              <a:ext uri="{FF2B5EF4-FFF2-40B4-BE49-F238E27FC236}">
                <a16:creationId xmlns:a16="http://schemas.microsoft.com/office/drawing/2014/main" id="{AC81CB4E-1E46-40B7-AC9E-EF8E5093590F}"/>
              </a:ext>
            </a:extLst>
          </p:cNvPr>
          <p:cNvSpPr>
            <a:spLocks xmlns:a="http://schemas.openxmlformats.org/drawingml/2006/main" noGrp="1"/>
          </p:cNvSpPr>
          <p:nvPr/>
        </p:nvSpPr>
        <p:spPr>
          <a:xfrm xmlns:a="http://schemas.openxmlformats.org/drawingml/2006/main">
            <a:off x="7620000" y="4495800"/>
            <a:ext cx="3781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244D3C"/>
                </a:solidFill>
                <a:latin typeface="Helvetica Neue"/>
                <a:ea typeface="Helvetica Neue"/>
                <a:cs typeface="Helvetica Neue"/>
              </a:defRPr>
            </a:pPr>
            <a:r>
              <a:rPr sz="2175" b="1">
                <a:solidFill>
                  <a:srgbClr val="244D3C"/>
                </a:solidFill>
                <a:latin typeface="Helvetica Neue"/>
                <a:ea typeface="Helvetica Neue"/>
                <a:cs typeface="Helvetica Neue"/>
              </a:rPr>
              <a:t>completed submissions</a:t>
            </a:r>
          </a:p>
        </p:txBody>
      </p:sp>
      <p:sp>
        <p:nvSpPr>
          <p:cNvPr id="8" name="count-date">
            <a:extLst xmlns:a="http://schemas.openxmlformats.org/drawingml/2006/main">
              <a:ext uri="{FF2B5EF4-FFF2-40B4-BE49-F238E27FC236}">
                <a16:creationId xmlns:a16="http://schemas.microsoft.com/office/drawing/2014/main" id="{634CF228-434B-4122-84D9-9B5FA26B520A}"/>
              </a:ext>
            </a:extLst>
          </p:cNvPr>
          <p:cNvSpPr>
            <a:spLocks xmlns:a="http://schemas.openxmlformats.org/drawingml/2006/main" noGrp="1"/>
          </p:cNvSpPr>
          <p:nvPr/>
        </p:nvSpPr>
        <p:spPr>
          <a:xfrm xmlns:a="http://schemas.openxmlformats.org/drawingml/2006/main">
            <a:off x="7620000" y="5219700"/>
            <a:ext cx="37814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March 14, 2025 report snapshot</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Voluntary audience; survey still live</a:t>
            </a:r>
          </a:p>
        </p:txBody>
      </p:sp>
    </p:spTree>
    <p:extLst>
      <p:ext uri="{BB962C8B-B14F-4D97-AF65-F5344CB8AC3E}">
        <p14:creationId xmlns:p14="http://schemas.microsoft.com/office/powerpoint/2010/main" val="1276993731"/>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0EA2F2A4-738A-4F0C-B9F7-CF9219BB7C08}"/>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EFB4DD23-9A57-451B-8D55-38FC7F571EA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SURVEY / REPORTED BARRIERS</a:t>
            </a:r>
          </a:p>
        </p:txBody>
      </p:sp>
      <p:sp>
        <p:nvSpPr>
          <p:cNvPr id="3" name="headline">
            <a:extLst xmlns:a="http://schemas.openxmlformats.org/drawingml/2006/main">
              <a:ext uri="{FF2B5EF4-FFF2-40B4-BE49-F238E27FC236}">
                <a16:creationId xmlns:a16="http://schemas.microsoft.com/office/drawing/2014/main" id="{FAD0613A-7E83-48E0-B520-7A9BDD6C05F2}"/>
              </a:ext>
            </a:extLst>
          </p:cNvPr>
          <p:cNvSpPr>
            <a:spLocks xmlns:a="http://schemas.openxmlformats.org/drawingml/2006/main" noGrp="1"/>
          </p:cNvSpPr>
          <p:nvPr/>
        </p:nvSpPr>
        <p:spPr>
          <a:xfrm xmlns:a="http://schemas.openxmlformats.org/drawingml/2006/main">
            <a:off x="609600" y="1085850"/>
            <a:ext cx="1095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Different barriers need different support</a:t>
            </a:r>
          </a:p>
        </p:txBody>
      </p:sp>
      <p:sp>
        <p:nvSpPr>
          <p:cNvPr id="4" name="chart-intro">
            <a:extLst xmlns:a="http://schemas.openxmlformats.org/drawingml/2006/main">
              <a:ext uri="{FF2B5EF4-FFF2-40B4-BE49-F238E27FC236}">
                <a16:creationId xmlns:a16="http://schemas.microsoft.com/office/drawing/2014/main" id="{5A48C1F2-921B-4A75-B41E-174A3EFB92DC}"/>
              </a:ext>
            </a:extLst>
          </p:cNvPr>
          <p:cNvSpPr>
            <a:spLocks xmlns:a="http://schemas.openxmlformats.org/drawingml/2006/main" noGrp="1"/>
          </p:cNvSpPr>
          <p:nvPr/>
        </p:nvSpPr>
        <p:spPr>
          <a:xfrm xmlns:a="http://schemas.openxmlformats.org/drawingml/2006/main">
            <a:off x="609600" y="20955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Five reported percentages from the original findings report</a:t>
            </a:r>
          </a:p>
        </p:txBody>
      </p:sp>
      <p:graphicFrame>
        <p:nvGraphicFramePr>
          <p:cNvPr id="12" name="Chart"/>
          <p:cNvGraphicFramePr/>
          <p:nvPr/>
        </p:nvGraphicFramePr>
        <p:xfrm>
          <a:off xmlns:a="http://schemas.openxmlformats.org/drawingml/2006/main" x="609600" y="2714625"/>
          <a:ext xmlns:a="http://schemas.openxmlformats.org/drawingml/2006/main" cx="10953750" cy="2895600"/>
        </p:xfrm>
        <a:graphic xmlns:a="http://schemas.openxmlformats.org/drawingml/2006/main">
          <a:graphicData uri="http://schemas.openxmlformats.org/drawingml/2006/chart">
            <c:chart xmlns:r="http://schemas.openxmlformats.org/officeDocument/2006/relationships" xmlns:c="http://schemas.openxmlformats.org/drawingml/2006/chart" r:id="Rf93e8604008a4bc1"/>
          </a:graphicData>
        </a:graphic>
      </p:graphicFrame>
      <p:sp>
        <p:nvSpPr>
          <p:cNvPr id="6" name="interpretation">
            <a:extLst xmlns:a="http://schemas.openxmlformats.org/drawingml/2006/main">
              <a:ext uri="{FF2B5EF4-FFF2-40B4-BE49-F238E27FC236}">
                <a16:creationId xmlns:a16="http://schemas.microsoft.com/office/drawing/2014/main" id="{A4ED9785-3393-42AC-A5E5-4092ECE176EE}"/>
              </a:ext>
            </a:extLst>
          </p:cNvPr>
          <p:cNvSpPr>
            <a:spLocks xmlns:a="http://schemas.openxmlformats.org/drawingml/2006/main" noGrp="1"/>
          </p:cNvSpPr>
          <p:nvPr/>
        </p:nvSpPr>
        <p:spPr>
          <a:xfrm xmlns:a="http://schemas.openxmlformats.org/drawingml/2006/main">
            <a:off x="609600" y="58197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pattern suggested smaller starting actions and concrete support.</a:t>
            </a:r>
          </a:p>
        </p:txBody>
      </p:sp>
      <p:sp>
        <p:nvSpPr>
          <p:cNvPr id="7" name="boundary">
            <a:extLst xmlns:a="http://schemas.openxmlformats.org/drawingml/2006/main">
              <a:ext uri="{FF2B5EF4-FFF2-40B4-BE49-F238E27FC236}">
                <a16:creationId xmlns:a16="http://schemas.microsoft.com/office/drawing/2014/main" id="{F4C18B55-37A0-44F7-A550-B31D2661CD86}"/>
              </a:ext>
            </a:extLst>
          </p:cNvPr>
          <p:cNvSpPr>
            <a:spLocks xmlns:a="http://schemas.openxmlformats.org/drawingml/2006/main" noGrp="1"/>
          </p:cNvSpPr>
          <p:nvPr/>
        </p:nvSpPr>
        <p:spPr>
          <a:xfrm xmlns:a="http://schemas.openxmlformats.org/drawingml/2006/main">
            <a:off x="609600" y="6410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March 2025 report, p. 14. Per-item bases unavailable; voluntary self-report, not population estimates.</a:t>
            </a:r>
          </a:p>
        </p:txBody>
      </p:sp>
    </p:spTree>
    <p:extLst>
      <p:ext uri="{BB962C8B-B14F-4D97-AF65-F5344CB8AC3E}">
        <p14:creationId xmlns:p14="http://schemas.microsoft.com/office/powerpoint/2010/main" val="1324517381"/>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1" name="slide-number">
            <a:extLst xmlns:a="http://schemas.openxmlformats.org/drawingml/2006/main">
              <a:ext uri="{FF2B5EF4-FFF2-40B4-BE49-F238E27FC236}">
                <a16:creationId xmlns:a16="http://schemas.microsoft.com/office/drawing/2014/main" id="{86958923-3A01-497E-A03A-33416900E9E6}"/>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A7CC1E66-9143-4E71-8405-9676E01A7F1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SURVEY / EVIDENCE TO PRODUCT DIRECTION</a:t>
            </a:r>
          </a:p>
        </p:txBody>
      </p:sp>
      <p:sp>
        <p:nvSpPr>
          <p:cNvPr id="3" name="headline">
            <a:extLst xmlns:a="http://schemas.openxmlformats.org/drawingml/2006/main">
              <a:ext uri="{FF2B5EF4-FFF2-40B4-BE49-F238E27FC236}">
                <a16:creationId xmlns:a16="http://schemas.microsoft.com/office/drawing/2014/main" id="{94477A06-44FA-43AC-8162-41FAA527EB94}"/>
              </a:ext>
            </a:extLst>
          </p:cNvPr>
          <p:cNvSpPr>
            <a:spLocks xmlns:a="http://schemas.openxmlformats.org/drawingml/2006/main" noGrp="1"/>
          </p:cNvSpPr>
          <p:nvPr/>
        </p:nvSpPr>
        <p:spPr>
          <a:xfrm xmlns:a="http://schemas.openxmlformats.org/drawingml/2006/main">
            <a:off x="609600" y="1104900"/>
            <a:ext cx="10763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Follow a finding</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into a testable proposal</a:t>
            </a:r>
          </a:p>
        </p:txBody>
      </p:sp>
      <p:sp>
        <p:nvSpPr>
          <p:cNvPr id="4" name="finding">
            <a:extLst xmlns:a="http://schemas.openxmlformats.org/drawingml/2006/main">
              <a:ext uri="{FF2B5EF4-FFF2-40B4-BE49-F238E27FC236}">
                <a16:creationId xmlns:a16="http://schemas.microsoft.com/office/drawing/2014/main" id="{520F3372-4734-4621-88F9-20F23FF75770}"/>
              </a:ext>
            </a:extLst>
          </p:cNvPr>
          <p:cNvSpPr>
            <a:spLocks xmlns:a="http://schemas.openxmlformats.org/drawingml/2006/main" noGrp="1"/>
          </p:cNvSpPr>
          <p:nvPr/>
        </p:nvSpPr>
        <p:spPr>
          <a:xfrm xmlns:a="http://schemas.openxmlformats.org/drawingml/2006/main">
            <a:off x="609600" y="30765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Reported obstacle</a:t>
            </a:r>
          </a:p>
        </p:txBody>
      </p:sp>
      <p:sp>
        <p:nvSpPr>
          <p:cNvPr id="5" name="finding-body">
            <a:extLst xmlns:a="http://schemas.openxmlformats.org/drawingml/2006/main">
              <a:ext uri="{FF2B5EF4-FFF2-40B4-BE49-F238E27FC236}">
                <a16:creationId xmlns:a16="http://schemas.microsoft.com/office/drawing/2014/main" id="{9CCA0285-38F4-4E05-AF0B-2EC19E2646B5}"/>
              </a:ext>
            </a:extLst>
          </p:cNvPr>
          <p:cNvSpPr>
            <a:spLocks xmlns:a="http://schemas.openxmlformats.org/drawingml/2006/main" noGrp="1"/>
          </p:cNvSpPr>
          <p:nvPr/>
        </p:nvSpPr>
        <p:spPr>
          <a:xfrm xmlns:a="http://schemas.openxmlformats.org/drawingml/2006/main">
            <a:off x="609600" y="3781425"/>
            <a:ext cx="32099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192B25"/>
                </a:solidFill>
                <a:latin typeface="Helvetica Neue"/>
                <a:ea typeface="Helvetica Neue"/>
                <a:cs typeface="Helvetica Neue"/>
              </a:defRPr>
            </a:pPr>
            <a:r>
              <a:rPr sz="2325" b="0">
                <a:solidFill>
                  <a:srgbClr val="192B25"/>
                </a:solidFill>
                <a:latin typeface="Helvetica Neue"/>
                <a:ea typeface="Helvetica Neue"/>
                <a:cs typeface="Helvetica Neue"/>
              </a:rPr>
              <a:t>Unclear action steps</a:t>
            </a:r>
          </a:p>
        </p:txBody>
      </p:sp>
      <p:sp>
        <p:nvSpPr>
          <p:cNvPr id="6" name="support">
            <a:extLst xmlns:a="http://schemas.openxmlformats.org/drawingml/2006/main">
              <a:ext uri="{FF2B5EF4-FFF2-40B4-BE49-F238E27FC236}">
                <a16:creationId xmlns:a16="http://schemas.microsoft.com/office/drawing/2014/main" id="{D0B67883-7ECB-484A-A427-428BAB0093BE}"/>
              </a:ext>
            </a:extLst>
          </p:cNvPr>
          <p:cNvSpPr>
            <a:spLocks xmlns:a="http://schemas.openxmlformats.org/drawingml/2006/main" noGrp="1"/>
          </p:cNvSpPr>
          <p:nvPr/>
        </p:nvSpPr>
        <p:spPr>
          <a:xfrm xmlns:a="http://schemas.openxmlformats.org/drawingml/2006/main">
            <a:off x="4333875" y="30765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Requested support</a:t>
            </a:r>
          </a:p>
        </p:txBody>
      </p:sp>
      <p:sp>
        <p:nvSpPr>
          <p:cNvPr id="7" name="support-body">
            <a:extLst xmlns:a="http://schemas.openxmlformats.org/drawingml/2006/main">
              <a:ext uri="{FF2B5EF4-FFF2-40B4-BE49-F238E27FC236}">
                <a16:creationId xmlns:a16="http://schemas.microsoft.com/office/drawing/2014/main" id="{3EC8F3F4-A4B6-41DD-B4C1-7000B2CC57AD}"/>
              </a:ext>
            </a:extLst>
          </p:cNvPr>
          <p:cNvSpPr>
            <a:spLocks xmlns:a="http://schemas.openxmlformats.org/drawingml/2006/main" noGrp="1"/>
          </p:cNvSpPr>
          <p:nvPr/>
        </p:nvSpPr>
        <p:spPr>
          <a:xfrm xmlns:a="http://schemas.openxmlformats.org/drawingml/2006/main">
            <a:off x="4333875" y="378142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192B25"/>
                </a:solidFill>
                <a:latin typeface="Helvetica Neue"/>
                <a:ea typeface="Helvetica Neue"/>
                <a:cs typeface="Helvetica Neue"/>
              </a:defRPr>
            </a:pPr>
            <a:r>
              <a:rPr sz="2325" b="0">
                <a:solidFill>
                  <a:srgbClr val="192B25"/>
                </a:solidFill>
                <a:latin typeface="Helvetica Neue"/>
                <a:ea typeface="Helvetica Neue"/>
                <a:cs typeface="Helvetica Neue"/>
              </a:rPr>
              <a:t>Templates and simpler instructions</a:t>
            </a:r>
          </a:p>
        </p:txBody>
      </p:sp>
      <p:sp>
        <p:nvSpPr>
          <p:cNvPr id="8" name="next">
            <a:extLst xmlns:a="http://schemas.openxmlformats.org/drawingml/2006/main">
              <a:ext uri="{FF2B5EF4-FFF2-40B4-BE49-F238E27FC236}">
                <a16:creationId xmlns:a16="http://schemas.microsoft.com/office/drawing/2014/main" id="{89A62CF5-F503-4763-ACE7-AC1115B73F57}"/>
              </a:ext>
            </a:extLst>
          </p:cNvPr>
          <p:cNvSpPr>
            <a:spLocks xmlns:a="http://schemas.openxmlformats.org/drawingml/2006/main" noGrp="1"/>
          </p:cNvSpPr>
          <p:nvPr/>
        </p:nvSpPr>
        <p:spPr>
          <a:xfrm xmlns:a="http://schemas.openxmlformats.org/drawingml/2006/main">
            <a:off x="8248650" y="30765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My proposed next test</a:t>
            </a:r>
          </a:p>
        </p:txBody>
      </p:sp>
      <p:sp>
        <p:nvSpPr>
          <p:cNvPr id="9" name="next-body">
            <a:extLst xmlns:a="http://schemas.openxmlformats.org/drawingml/2006/main">
              <a:ext uri="{FF2B5EF4-FFF2-40B4-BE49-F238E27FC236}">
                <a16:creationId xmlns:a16="http://schemas.microsoft.com/office/drawing/2014/main" id="{4FDC44B1-4CB4-4DCE-8974-AB474C4D4DC3}"/>
              </a:ext>
            </a:extLst>
          </p:cNvPr>
          <p:cNvSpPr>
            <a:spLocks xmlns:a="http://schemas.openxmlformats.org/drawingml/2006/main" noGrp="1"/>
          </p:cNvSpPr>
          <p:nvPr/>
        </p:nvSpPr>
        <p:spPr>
          <a:xfrm xmlns:a="http://schemas.openxmlformats.org/drawingml/2006/main">
            <a:off x="8248650" y="3781425"/>
            <a:ext cx="33337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192B25"/>
                </a:solidFill>
                <a:latin typeface="Helvetica Neue"/>
                <a:ea typeface="Helvetica Neue"/>
                <a:cs typeface="Helvetica Neue"/>
              </a:defRPr>
            </a:pPr>
            <a:r>
              <a:rPr sz="2250" b="0">
                <a:solidFill>
                  <a:srgbClr val="192B25"/>
                </a:solidFill>
                <a:latin typeface="Helvetica Neue"/>
                <a:ea typeface="Helvetica Neue"/>
                <a:cs typeface="Helvetica Neue"/>
              </a:rPr>
              <a:t>Can someone adapt a template and complete the first step?</a:t>
            </a:r>
          </a:p>
        </p:txBody>
      </p:sp>
      <p:sp>
        <p:nvSpPr>
          <p:cNvPr id="10" name="outcome">
            <a:extLst xmlns:a="http://schemas.openxmlformats.org/drawingml/2006/main">
              <a:ext uri="{FF2B5EF4-FFF2-40B4-BE49-F238E27FC236}">
                <a16:creationId xmlns:a16="http://schemas.microsoft.com/office/drawing/2014/main" id="{1166A666-80FE-4932-B20D-4D0DA810A4A9}"/>
              </a:ext>
            </a:extLst>
          </p:cNvPr>
          <p:cNvSpPr>
            <a:spLocks xmlns:a="http://schemas.openxmlformats.org/drawingml/2006/main" noGrp="1"/>
          </p:cNvSpPr>
          <p:nvPr/>
        </p:nvSpPr>
        <p:spPr>
          <a:xfrm xmlns:a="http://schemas.openxmlformats.org/drawingml/2006/main">
            <a:off x="609600" y="57721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The findings informed a proposed Action Hub. Adoption and business impact were not measured.</a:t>
            </a:r>
          </a:p>
        </p:txBody>
      </p:sp>
    </p:spTree>
    <p:extLst>
      <p:ext uri="{BB962C8B-B14F-4D97-AF65-F5344CB8AC3E}">
        <p14:creationId xmlns:p14="http://schemas.microsoft.com/office/powerpoint/2010/main" val="1493341111"/>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lide-number">
            <a:extLst xmlns:a="http://schemas.openxmlformats.org/drawingml/2006/main">
              <a:ext uri="{FF2B5EF4-FFF2-40B4-BE49-F238E27FC236}">
                <a16:creationId xmlns:a16="http://schemas.microsoft.com/office/drawing/2014/main" id="{56D39CDE-418B-4B97-8BFA-38A4A1F6941E}"/>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B0D30001-D936-49CE-ADD1-546F279FC2D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QUALITATIVE RESEARCH, SEPTEMBER 2024</a:t>
            </a:r>
          </a:p>
        </p:txBody>
      </p:sp>
      <p:sp>
        <p:nvSpPr>
          <p:cNvPr id="3" name="headline">
            <a:extLst xmlns:a="http://schemas.openxmlformats.org/drawingml/2006/main">
              <a:ext uri="{FF2B5EF4-FFF2-40B4-BE49-F238E27FC236}">
                <a16:creationId xmlns:a16="http://schemas.microsoft.com/office/drawing/2014/main" id="{EEB8202F-528F-4978-B750-E15A9445C644}"/>
              </a:ext>
            </a:extLst>
          </p:cNvPr>
          <p:cNvSpPr>
            <a:spLocks xmlns:a="http://schemas.openxmlformats.org/drawingml/2006/main" noGrp="1"/>
          </p:cNvSpPr>
          <p:nvPr/>
        </p:nvSpPr>
        <p:spPr>
          <a:xfrm xmlns:a="http://schemas.openxmlformats.org/drawingml/2006/main">
            <a:off x="609600" y="1095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Make trust a concrete research question</a:t>
            </a:r>
          </a:p>
        </p:txBody>
      </p:sp>
      <p:sp>
        <p:nvSpPr>
          <p:cNvPr id="4" name="method">
            <a:extLst xmlns:a="http://schemas.openxmlformats.org/drawingml/2006/main">
              <a:ext uri="{FF2B5EF4-FFF2-40B4-BE49-F238E27FC236}">
                <a16:creationId xmlns:a16="http://schemas.microsoft.com/office/drawing/2014/main" id="{8D7E91DD-3A06-4FC8-B555-3E331C3F4C6C}"/>
              </a:ext>
            </a:extLst>
          </p:cNvPr>
          <p:cNvSpPr>
            <a:spLocks xmlns:a="http://schemas.openxmlformats.org/drawingml/2006/main" noGrp="1"/>
          </p:cNvSpPr>
          <p:nvPr/>
        </p:nvSpPr>
        <p:spPr>
          <a:xfrm xmlns:a="http://schemas.openxmlformats.org/drawingml/2006/main">
            <a:off x="609600" y="23241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I coded privacy-community material in Dovetail and used the themes to reconsider an audience assumption.</a:t>
            </a:r>
          </a:p>
        </p:txBody>
      </p:sp>
      <p:sp>
        <p:nvSpPr>
          <p:cNvPr id="5" name="theme-one">
            <a:extLst xmlns:a="http://schemas.openxmlformats.org/drawingml/2006/main">
              <a:ext uri="{FF2B5EF4-FFF2-40B4-BE49-F238E27FC236}">
                <a16:creationId xmlns:a16="http://schemas.microsoft.com/office/drawing/2014/main" id="{6EC768EA-6679-4C69-8AA4-877D0DBCA90D}"/>
              </a:ext>
            </a:extLst>
          </p:cNvPr>
          <p:cNvSpPr>
            <a:spLocks xmlns:a="http://schemas.openxmlformats.org/drawingml/2006/main" noGrp="1"/>
          </p:cNvSpPr>
          <p:nvPr/>
        </p:nvSpPr>
        <p:spPr>
          <a:xfrm xmlns:a="http://schemas.openxmlformats.org/drawingml/2006/main">
            <a:off x="609600" y="3676650"/>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Data security</a:t>
            </a:r>
          </a:p>
        </p:txBody>
      </p:sp>
      <p:sp>
        <p:nvSpPr>
          <p:cNvPr id="6" name="question-one">
            <a:extLst xmlns:a="http://schemas.openxmlformats.org/drawingml/2006/main">
              <a:ext uri="{FF2B5EF4-FFF2-40B4-BE49-F238E27FC236}">
                <a16:creationId xmlns:a16="http://schemas.microsoft.com/office/drawing/2014/main" id="{EF50940E-70D0-4C9B-95D4-4D571C9AD488}"/>
              </a:ext>
            </a:extLst>
          </p:cNvPr>
          <p:cNvSpPr>
            <a:spLocks xmlns:a="http://schemas.openxmlformats.org/drawingml/2006/main" noGrp="1"/>
          </p:cNvSpPr>
          <p:nvPr/>
        </p:nvSpPr>
        <p:spPr>
          <a:xfrm xmlns:a="http://schemas.openxmlformats.org/drawingml/2006/main">
            <a:off x="609600" y="437197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How is personal information protected?</a:t>
            </a:r>
          </a:p>
        </p:txBody>
      </p:sp>
      <p:sp>
        <p:nvSpPr>
          <p:cNvPr id="7" name="theme-two">
            <a:extLst xmlns:a="http://schemas.openxmlformats.org/drawingml/2006/main">
              <a:ext uri="{FF2B5EF4-FFF2-40B4-BE49-F238E27FC236}">
                <a16:creationId xmlns:a16="http://schemas.microsoft.com/office/drawing/2014/main" id="{4059D0CB-817E-48F2-8EE4-76FCC1894439}"/>
              </a:ext>
            </a:extLst>
          </p:cNvPr>
          <p:cNvSpPr>
            <a:spLocks xmlns:a="http://schemas.openxmlformats.org/drawingml/2006/main" noGrp="1"/>
          </p:cNvSpPr>
          <p:nvPr/>
        </p:nvSpPr>
        <p:spPr>
          <a:xfrm xmlns:a="http://schemas.openxmlformats.org/drawingml/2006/main">
            <a:off x="4448175" y="3676650"/>
            <a:ext cx="3381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Accountability</a:t>
            </a:r>
          </a:p>
        </p:txBody>
      </p:sp>
      <p:sp>
        <p:nvSpPr>
          <p:cNvPr id="8" name="question-two">
            <a:extLst xmlns:a="http://schemas.openxmlformats.org/drawingml/2006/main">
              <a:ext uri="{FF2B5EF4-FFF2-40B4-BE49-F238E27FC236}">
                <a16:creationId xmlns:a16="http://schemas.microsoft.com/office/drawing/2014/main" id="{35860074-1983-410B-AD67-9440F698446C}"/>
              </a:ext>
            </a:extLst>
          </p:cNvPr>
          <p:cNvSpPr>
            <a:spLocks xmlns:a="http://schemas.openxmlformats.org/drawingml/2006/main" noGrp="1"/>
          </p:cNvSpPr>
          <p:nvPr/>
        </p:nvSpPr>
        <p:spPr>
          <a:xfrm xmlns:a="http://schemas.openxmlformats.org/drawingml/2006/main">
            <a:off x="4448175" y="4371975"/>
            <a:ext cx="3276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What can someone do about an organization’s practices?</a:t>
            </a:r>
          </a:p>
        </p:txBody>
      </p:sp>
      <p:sp>
        <p:nvSpPr>
          <p:cNvPr id="9" name="theme-three">
            <a:extLst xmlns:a="http://schemas.openxmlformats.org/drawingml/2006/main">
              <a:ext uri="{FF2B5EF4-FFF2-40B4-BE49-F238E27FC236}">
                <a16:creationId xmlns:a16="http://schemas.microsoft.com/office/drawing/2014/main" id="{075582EE-B34A-4B56-8D98-0CDFEA65C58B}"/>
              </a:ext>
            </a:extLst>
          </p:cNvPr>
          <p:cNvSpPr>
            <a:spLocks xmlns:a="http://schemas.openxmlformats.org/drawingml/2006/main" noGrp="1"/>
          </p:cNvSpPr>
          <p:nvPr/>
        </p:nvSpPr>
        <p:spPr>
          <a:xfrm xmlns:a="http://schemas.openxmlformats.org/drawingml/2006/main">
            <a:off x="8362950" y="3676650"/>
            <a:ext cx="3257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Personal control</a:t>
            </a:r>
          </a:p>
        </p:txBody>
      </p:sp>
      <p:sp>
        <p:nvSpPr>
          <p:cNvPr id="10" name="question-three">
            <a:extLst xmlns:a="http://schemas.openxmlformats.org/drawingml/2006/main">
              <a:ext uri="{FF2B5EF4-FFF2-40B4-BE49-F238E27FC236}">
                <a16:creationId xmlns:a16="http://schemas.microsoft.com/office/drawing/2014/main" id="{D934F0EA-75BB-4C4A-890A-E0D48F4A11C8}"/>
              </a:ext>
            </a:extLst>
          </p:cNvPr>
          <p:cNvSpPr>
            <a:spLocks xmlns:a="http://schemas.openxmlformats.org/drawingml/2006/main" noGrp="1"/>
          </p:cNvSpPr>
          <p:nvPr/>
        </p:nvSpPr>
        <p:spPr>
          <a:xfrm xmlns:a="http://schemas.openxmlformats.org/drawingml/2006/main">
            <a:off x="8362950" y="4371975"/>
            <a:ext cx="319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Can an explanation lead to a usable choice?</a:t>
            </a:r>
          </a:p>
        </p:txBody>
      </p:sp>
      <p:sp>
        <p:nvSpPr>
          <p:cNvPr id="11" name="boundary">
            <a:extLst xmlns:a="http://schemas.openxmlformats.org/drawingml/2006/main">
              <a:ext uri="{FF2B5EF4-FFF2-40B4-BE49-F238E27FC236}">
                <a16:creationId xmlns:a16="http://schemas.microsoft.com/office/drawing/2014/main" id="{F52423A7-D27A-4823-8EF7-57EC7C92B7D0}"/>
              </a:ext>
            </a:extLst>
          </p:cNvPr>
          <p:cNvSpPr>
            <a:spLocks xmlns:a="http://schemas.openxmlformats.org/drawingml/2006/main" noGrp="1"/>
          </p:cNvSpPr>
          <p:nvPr/>
        </p:nvSpPr>
        <p:spPr>
          <a:xfrm xmlns:a="http://schemas.openxmlformats.org/drawingml/2006/main">
            <a:off x="609600" y="602932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Questions paraphrase the retained themes. Community observations identify a risk; they do not establish market fit.</a:t>
            </a:r>
          </a:p>
        </p:txBody>
      </p:sp>
    </p:spTree>
    <p:extLst>
      <p:ext uri="{BB962C8B-B14F-4D97-AF65-F5344CB8AC3E}">
        <p14:creationId xmlns:p14="http://schemas.microsoft.com/office/powerpoint/2010/main" val="22577336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4A489D72-1F2E-47E6-8C9E-5D5A29B30B14}"/>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A06C55B2-CD03-495B-9544-37127AD9EA8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DESKTOP EVALUATION / NOVEMBER–DECEMBER 2023</a:t>
            </a:r>
          </a:p>
        </p:txBody>
      </p:sp>
      <p:sp>
        <p:nvSpPr>
          <p:cNvPr id="3" name="headline">
            <a:extLst xmlns:a="http://schemas.openxmlformats.org/drawingml/2006/main">
              <a:ext uri="{FF2B5EF4-FFF2-40B4-BE49-F238E27FC236}">
                <a16:creationId xmlns:a16="http://schemas.microsoft.com/office/drawing/2014/main" id="{B98473FF-3A7B-44E3-B48D-F0163046D9C9}"/>
              </a:ext>
            </a:extLst>
          </p:cNvPr>
          <p:cNvSpPr>
            <a:spLocks xmlns:a="http://schemas.openxmlformats.org/drawingml/2006/main" noGrp="1"/>
          </p:cNvSpPr>
          <p:nvPr/>
        </p:nvSpPr>
        <p:spPr>
          <a:xfrm xmlns:a="http://schemas.openxmlformats.org/drawingml/2006/main">
            <a:off x="609600" y="1104900"/>
            <a:ext cx="10810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Name the risk.</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Show the alternative.</a:t>
            </a:r>
          </a:p>
        </p:txBody>
      </p:sp>
      <p:sp>
        <p:nvSpPr>
          <p:cNvPr id="4" name="finding">
            <a:extLst xmlns:a="http://schemas.openxmlformats.org/drawingml/2006/main">
              <a:ext uri="{FF2B5EF4-FFF2-40B4-BE49-F238E27FC236}">
                <a16:creationId xmlns:a16="http://schemas.microsoft.com/office/drawing/2014/main" id="{6752A8A3-1003-41B8-ACCF-7F48FF8762A4}"/>
              </a:ext>
            </a:extLst>
          </p:cNvPr>
          <p:cNvSpPr>
            <a:spLocks xmlns:a="http://schemas.openxmlformats.org/drawingml/2006/main" noGrp="1"/>
          </p:cNvSpPr>
          <p:nvPr/>
        </p:nvSpPr>
        <p:spPr>
          <a:xfrm xmlns:a="http://schemas.openxmlformats.org/drawingml/2006/main">
            <a:off x="609600" y="3067050"/>
            <a:ext cx="4857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I connected navigation and feedback findings to visual recommendations, then presented them for backlog discussion.</a:t>
            </a:r>
          </a:p>
        </p:txBody>
      </p:sp>
      <p:sp>
        <p:nvSpPr>
          <p:cNvPr id="5" name="boundary">
            <a:extLst xmlns:a="http://schemas.openxmlformats.org/drawingml/2006/main">
              <a:ext uri="{FF2B5EF4-FFF2-40B4-BE49-F238E27FC236}">
                <a16:creationId xmlns:a16="http://schemas.microsoft.com/office/drawing/2014/main" id="{37BA9E16-479F-46AA-BEC7-D2841D46E2CF}"/>
              </a:ext>
            </a:extLst>
          </p:cNvPr>
          <p:cNvSpPr>
            <a:spLocks xmlns:a="http://schemas.openxmlformats.org/drawingml/2006/main" noGrp="1"/>
          </p:cNvSpPr>
          <p:nvPr/>
        </p:nvSpPr>
        <p:spPr>
          <a:xfrm xmlns:a="http://schemas.openxmlformats.org/drawingml/2006/main">
            <a:off x="609600" y="4981575"/>
            <a:ext cx="4857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An expert evaluation informed the proposal. I collaborated with the lead UX designer; implementation and measured improvement remain unverified.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8a8029dc1a74259"/>
          <a:stretch xmlns:a="http://schemas.openxmlformats.org/drawingml/2006/main"/>
        </p:blipFill>
        <p:spPr>
          <a:xfrm xmlns:a="http://schemas.openxmlformats.org/drawingml/2006/main">
            <a:off x="6870958" y="3009900"/>
            <a:ext cx="3774558" cy="2705100"/>
          </a:xfrm>
          <a:prstGeom xmlns:a="http://schemas.openxmlformats.org/drawingml/2006/main" prst="rect">
            <a:avLst/>
          </a:prstGeom>
        </p:spPr>
      </p:pic>
      <p:sp>
        <p:nvSpPr>
          <p:cNvPr id="7" name="caption">
            <a:extLst xmlns:a="http://schemas.openxmlformats.org/drawingml/2006/main">
              <a:ext uri="{FF2B5EF4-FFF2-40B4-BE49-F238E27FC236}">
                <a16:creationId xmlns:a16="http://schemas.microsoft.com/office/drawing/2014/main" id="{DF938127-312A-4A02-9531-69982712BF89}"/>
              </a:ext>
            </a:extLst>
          </p:cNvPr>
          <p:cNvSpPr>
            <a:spLocks xmlns:a="http://schemas.openxmlformats.org/drawingml/2006/main" noGrp="1"/>
          </p:cNvSpPr>
          <p:nvPr/>
        </p:nvSpPr>
        <p:spPr>
          <a:xfrm xmlns:a="http://schemas.openxmlformats.org/drawingml/2006/main">
            <a:off x="6076950" y="606742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proposed login-feedback treatment</a:t>
            </a:r>
          </a:p>
        </p:txBody>
      </p:sp>
    </p:spTree>
    <p:extLst>
      <p:ext uri="{BB962C8B-B14F-4D97-AF65-F5344CB8AC3E}">
        <p14:creationId xmlns:p14="http://schemas.microsoft.com/office/powerpoint/2010/main" val="233881010"/>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3E24417C-0C5E-40F0-A333-D2E70714CF86}"/>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5AAFC7E4-DBBB-412F-8079-939CECB0702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RESEARCH INTO DESIGN AND HANDOFF</a:t>
            </a:r>
          </a:p>
        </p:txBody>
      </p:sp>
      <p:sp>
        <p:nvSpPr>
          <p:cNvPr id="3" name="headline">
            <a:extLst xmlns:a="http://schemas.openxmlformats.org/drawingml/2006/main">
              <a:ext uri="{FF2B5EF4-FFF2-40B4-BE49-F238E27FC236}">
                <a16:creationId xmlns:a16="http://schemas.microsoft.com/office/drawing/2014/main" id="{E4BA4B32-1F35-45E4-8D1F-9C8C1DA9E73A}"/>
              </a:ext>
            </a:extLst>
          </p:cNvPr>
          <p:cNvSpPr>
            <a:spLocks xmlns:a="http://schemas.openxmlformats.org/drawingml/2006/main" noGrp="1"/>
          </p:cNvSpPr>
          <p:nvPr/>
        </p:nvSpPr>
        <p:spPr>
          <a:xfrm xmlns:a="http://schemas.openxmlformats.org/drawingml/2006/main">
            <a:off x="609600" y="1171575"/>
            <a:ext cx="45529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Carry the decision</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into the flow</a:t>
            </a:r>
          </a:p>
        </p:txBody>
      </p:sp>
      <p:sp>
        <p:nvSpPr>
          <p:cNvPr id="4" name="decision">
            <a:extLst xmlns:a="http://schemas.openxmlformats.org/drawingml/2006/main">
              <a:ext uri="{FF2B5EF4-FFF2-40B4-BE49-F238E27FC236}">
                <a16:creationId xmlns:a16="http://schemas.microsoft.com/office/drawing/2014/main" id="{157E8F12-37A0-4CC2-9BA2-EC48B40D902F}"/>
              </a:ext>
            </a:extLst>
          </p:cNvPr>
          <p:cNvSpPr>
            <a:spLocks xmlns:a="http://schemas.openxmlformats.org/drawingml/2006/main" noGrp="1"/>
          </p:cNvSpPr>
          <p:nvPr/>
        </p:nvSpPr>
        <p:spPr>
          <a:xfrm xmlns:a="http://schemas.openxmlformats.org/drawingml/2006/main">
            <a:off x="609600" y="3219450"/>
            <a:ext cx="43148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interrupted AI answer and a lost connection need different next actions.</a:t>
            </a:r>
          </a:p>
        </p:txBody>
      </p:sp>
      <p:sp>
        <p:nvSpPr>
          <p:cNvPr id="5" name="handoff">
            <a:extLst xmlns:a="http://schemas.openxmlformats.org/drawingml/2006/main">
              <a:ext uri="{FF2B5EF4-FFF2-40B4-BE49-F238E27FC236}">
                <a16:creationId xmlns:a16="http://schemas.microsoft.com/office/drawing/2014/main" id="{6C669295-5BF7-4D13-B54A-87A817EB9F73}"/>
              </a:ext>
            </a:extLst>
          </p:cNvPr>
          <p:cNvSpPr>
            <a:spLocks xmlns:a="http://schemas.openxmlformats.org/drawingml/2006/main" noGrp="1"/>
          </p:cNvSpPr>
          <p:nvPr/>
        </p:nvSpPr>
        <p:spPr>
          <a:xfrm xmlns:a="http://schemas.openxmlformats.org/drawingml/2006/main">
            <a:off x="609600" y="4943475"/>
            <a:ext cx="43148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designed connected states and used annotated walkthroughs to resolve the behavior with engineering.</a:t>
            </a:r>
          </a:p>
        </p:txBody>
      </p:sp>
      <p:sp>
        <p:nvSpPr>
          <p:cNvPr id="6" name="partial-label">
            <a:extLst xmlns:a="http://schemas.openxmlformats.org/drawingml/2006/main">
              <a:ext uri="{FF2B5EF4-FFF2-40B4-BE49-F238E27FC236}">
                <a16:creationId xmlns:a16="http://schemas.microsoft.com/office/drawing/2014/main" id="{DD9DFBCA-FBB3-439B-88C7-B44E6B44D5A7}"/>
              </a:ext>
            </a:extLst>
          </p:cNvPr>
          <p:cNvSpPr>
            <a:spLocks xmlns:a="http://schemas.openxmlformats.org/drawingml/2006/main" noGrp="1"/>
          </p:cNvSpPr>
          <p:nvPr/>
        </p:nvSpPr>
        <p:spPr>
          <a:xfrm xmlns:a="http://schemas.openxmlformats.org/drawingml/2006/main">
            <a:off x="5638800" y="82867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DCA2ACC2-E679-426B-B09E-BFB8E7BB74B1}"/>
              </a:ext>
            </a:extLst>
          </p:cNvPr>
          <p:cNvSpPr>
            <a:spLocks xmlns:a="http://schemas.openxmlformats.org/drawingml/2006/main" noGrp="1"/>
          </p:cNvSpPr>
          <p:nvPr/>
        </p:nvSpPr>
        <p:spPr>
          <a:xfrm xmlns:a="http://schemas.openxmlformats.org/drawingml/2006/main">
            <a:off x="8705850" y="82867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fe8a510c43e4423"/>
          <a:stretch xmlns:a="http://schemas.openxmlformats.org/drawingml/2006/main"/>
        </p:blipFill>
        <p:spPr>
          <a:xfrm xmlns:a="http://schemas.openxmlformats.org/drawingml/2006/main">
            <a:off x="5711001" y="1190625"/>
            <a:ext cx="2427348" cy="52006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3a0c69c3da1493e"/>
          <a:stretch xmlns:a="http://schemas.openxmlformats.org/drawingml/2006/main"/>
        </p:blipFill>
        <p:spPr>
          <a:xfrm xmlns:a="http://schemas.openxmlformats.org/drawingml/2006/main">
            <a:off x="8778051" y="1190625"/>
            <a:ext cx="2427348" cy="5200650"/>
          </a:xfrm>
          <a:prstGeom xmlns:a="http://schemas.openxmlformats.org/drawingml/2006/main" prst="rect">
            <a:avLst/>
          </a:prstGeom>
        </p:spPr>
      </p:pic>
    </p:spTree>
    <p:extLst>
      <p:ext uri="{BB962C8B-B14F-4D97-AF65-F5344CB8AC3E}">
        <p14:creationId xmlns:p14="http://schemas.microsoft.com/office/powerpoint/2010/main" val="2094344439"/>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7C454BD0-5DB1-4F76-9162-6AF40BE8A0AA}"/>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3A325212-523A-4709-BC5C-A30D7282823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BLENDERBOX / PROPOSED RESEARCH APPROACH</a:t>
            </a:r>
          </a:p>
        </p:txBody>
      </p:sp>
      <p:sp>
        <p:nvSpPr>
          <p:cNvPr id="3" name="headline">
            <a:extLst xmlns:a="http://schemas.openxmlformats.org/drawingml/2006/main">
              <a:ext uri="{FF2B5EF4-FFF2-40B4-BE49-F238E27FC236}">
                <a16:creationId xmlns:a16="http://schemas.microsoft.com/office/drawing/2014/main" id="{7BCA8413-F7D8-4D09-A5BC-8661CB8923B2}"/>
              </a:ext>
            </a:extLst>
          </p:cNvPr>
          <p:cNvSpPr>
            <a:spLocks xmlns:a="http://schemas.openxmlformats.org/drawingml/2006/main" noGrp="1"/>
          </p:cNvSpPr>
          <p:nvPr/>
        </p:nvSpPr>
        <p:spPr>
          <a:xfrm xmlns:a="http://schemas.openxmlformats.org/drawingml/2006/main">
            <a:off x="609600" y="1104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Give a client team a clear next step</a:t>
            </a:r>
          </a:p>
        </p:txBody>
      </p:sp>
      <p:sp>
        <p:nvSpPr>
          <p:cNvPr id="4" name="context">
            <a:extLst xmlns:a="http://schemas.openxmlformats.org/drawingml/2006/main">
              <a:ext uri="{FF2B5EF4-FFF2-40B4-BE49-F238E27FC236}">
                <a16:creationId xmlns:a16="http://schemas.microsoft.com/office/drawing/2014/main" id="{68C48817-D154-48B7-98D3-412388E73955}"/>
              </a:ext>
            </a:extLst>
          </p:cNvPr>
          <p:cNvSpPr>
            <a:spLocks xmlns:a="http://schemas.openxmlformats.org/drawingml/2006/main" noGrp="1"/>
          </p:cNvSpPr>
          <p:nvPr/>
        </p:nvSpPr>
        <p:spPr>
          <a:xfrm xmlns:a="http://schemas.openxmlformats.org/drawingml/2006/main">
            <a:off x="609600" y="2286000"/>
            <a:ext cx="10363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My university learning work and technical communication background help me explain findings across different roles and constraints.</a:t>
            </a:r>
          </a:p>
        </p:txBody>
      </p:sp>
      <p:sp>
        <p:nvSpPr>
          <p:cNvPr id="5" name="step1">
            <a:extLst xmlns:a="http://schemas.openxmlformats.org/drawingml/2006/main">
              <a:ext uri="{FF2B5EF4-FFF2-40B4-BE49-F238E27FC236}">
                <a16:creationId xmlns:a16="http://schemas.microsoft.com/office/drawing/2014/main" id="{2FA606FD-2C58-4103-BEDC-77747600E864}"/>
              </a:ext>
            </a:extLst>
          </p:cNvPr>
          <p:cNvSpPr>
            <a:spLocks xmlns:a="http://schemas.openxmlformats.org/drawingml/2006/main" noGrp="1"/>
          </p:cNvSpPr>
          <p:nvPr/>
        </p:nvSpPr>
        <p:spPr>
          <a:xfrm xmlns:a="http://schemas.openxmlformats.org/drawingml/2006/main">
            <a:off x="609600" y="38100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01  Agree on the service task, users, and decision</a:t>
            </a:r>
          </a:p>
        </p:txBody>
      </p:sp>
      <p:sp>
        <p:nvSpPr>
          <p:cNvPr id="6" name="step2">
            <a:extLst xmlns:a="http://schemas.openxmlformats.org/drawingml/2006/main">
              <a:ext uri="{FF2B5EF4-FFF2-40B4-BE49-F238E27FC236}">
                <a16:creationId xmlns:a16="http://schemas.microsoft.com/office/drawing/2014/main" id="{F153E1B3-3B08-4FA6-B643-F5E5F738ECE5}"/>
              </a:ext>
            </a:extLst>
          </p:cNvPr>
          <p:cNvSpPr>
            <a:spLocks xmlns:a="http://schemas.openxmlformats.org/drawingml/2006/main" noGrp="1"/>
          </p:cNvSpPr>
          <p:nvPr/>
        </p:nvSpPr>
        <p:spPr>
          <a:xfrm xmlns:a="http://schemas.openxmlformats.org/drawingml/2006/main">
            <a:off x="609600" y="459105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02  Plan focused research and document its limits</a:t>
            </a:r>
          </a:p>
        </p:txBody>
      </p:sp>
      <p:sp>
        <p:nvSpPr>
          <p:cNvPr id="7" name="step3">
            <a:extLst xmlns:a="http://schemas.openxmlformats.org/drawingml/2006/main">
              <a:ext uri="{FF2B5EF4-FFF2-40B4-BE49-F238E27FC236}">
                <a16:creationId xmlns:a16="http://schemas.microsoft.com/office/drawing/2014/main" id="{2C6214A8-2E70-4297-AF25-9227F378853F}"/>
              </a:ext>
            </a:extLst>
          </p:cNvPr>
          <p:cNvSpPr>
            <a:spLocks xmlns:a="http://schemas.openxmlformats.org/drawingml/2006/main" noGrp="1"/>
          </p:cNvSpPr>
          <p:nvPr/>
        </p:nvSpPr>
        <p:spPr>
          <a:xfrm xmlns:a="http://schemas.openxmlformats.org/drawingml/2006/main">
            <a:off x="609600" y="53721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03  Discuss the finding and the next design check</a:t>
            </a:r>
          </a:p>
        </p:txBody>
      </p:sp>
      <p:sp>
        <p:nvSpPr>
          <p:cNvPr id="8" name="boundary">
            <a:extLst xmlns:a="http://schemas.openxmlformats.org/drawingml/2006/main">
              <a:ext uri="{FF2B5EF4-FFF2-40B4-BE49-F238E27FC236}">
                <a16:creationId xmlns:a16="http://schemas.microsoft.com/office/drawing/2014/main" id="{01D36E45-1CFB-43EC-89E3-12670B55A648}"/>
              </a:ext>
            </a:extLst>
          </p:cNvPr>
          <p:cNvSpPr>
            <a:spLocks xmlns:a="http://schemas.openxmlformats.org/drawingml/2006/main" noGrp="1"/>
          </p:cNvSpPr>
          <p:nvPr/>
        </p:nvSpPr>
        <p:spPr>
          <a:xfrm xmlns:a="http://schemas.openxmlformats.org/drawingml/2006/main">
            <a:off x="609600" y="62198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for a future project; no previous Blenderbox or government-service engagement is claimed.</a:t>
            </a:r>
          </a:p>
        </p:txBody>
      </p:sp>
    </p:spTree>
    <p:extLst>
      <p:ext uri="{BB962C8B-B14F-4D97-AF65-F5344CB8AC3E}">
        <p14:creationId xmlns:p14="http://schemas.microsoft.com/office/powerpoint/2010/main" val="1328859259"/>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487C8EC6-AE49-4F69-A4A8-88EBC01B2D86}"/>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0BAD563C-1393-4F6D-8F43-4250C916471F}"/>
              </a:ext>
            </a:extLst>
          </p:cNvPr>
          <p:cNvSpPr>
            <a:spLocks xmlns:a="http://schemas.openxmlformats.org/drawingml/2006/main" noGrp="1"/>
          </p:cNvSpPr>
          <p:nvPr/>
        </p:nvSpPr>
        <p:spPr>
          <a:xfrm xmlns:a="http://schemas.openxmlformats.org/drawingml/2006/main">
            <a:off x="609600" y="5238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BLENDERBOX / USER RESEARCHER CONTRACT ROSTER</a:t>
            </a:r>
          </a:p>
        </p:txBody>
      </p:sp>
      <p:sp>
        <p:nvSpPr>
          <p:cNvPr id="3" name="headline">
            <a:extLst xmlns:a="http://schemas.openxmlformats.org/drawingml/2006/main">
              <a:ext uri="{FF2B5EF4-FFF2-40B4-BE49-F238E27FC236}">
                <a16:creationId xmlns:a16="http://schemas.microsoft.com/office/drawing/2014/main" id="{976D08DE-338F-4671-884F-0CA54DF20FDC}"/>
              </a:ext>
            </a:extLst>
          </p:cNvPr>
          <p:cNvSpPr>
            <a:spLocks xmlns:a="http://schemas.openxmlformats.org/drawingml/2006/main" noGrp="1"/>
          </p:cNvSpPr>
          <p:nvPr/>
        </p:nvSpPr>
        <p:spPr>
          <a:xfrm xmlns:a="http://schemas.openxmlformats.org/drawingml/2006/main">
            <a:off x="609600" y="16573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400" b="1">
                <a:solidFill>
                  <a:srgbClr val="F4F2E9"/>
                </a:solidFill>
                <a:latin typeface="Helvetica Neue"/>
                <a:ea typeface="Helvetica Neue"/>
                <a:cs typeface="Helvetica Neue"/>
              </a:defRPr>
            </a:pPr>
            <a:r>
              <a:rPr sz="5400" b="1">
                <a:solidFill>
                  <a:srgbClr val="F4F2E9"/>
                </a:solidFill>
                <a:latin typeface="Helvetica Neue"/>
                <a:ea typeface="Helvetica Neue"/>
                <a:cs typeface="Helvetica Neue"/>
              </a:rPr>
              <a:t>Kyle Hobson</a:t>
            </a:r>
          </a:p>
        </p:txBody>
      </p:sp>
      <p:sp>
        <p:nvSpPr>
          <p:cNvPr id="4" name="background">
            <a:extLst xmlns:a="http://schemas.openxmlformats.org/drawingml/2006/main">
              <a:ext uri="{FF2B5EF4-FFF2-40B4-BE49-F238E27FC236}">
                <a16:creationId xmlns:a16="http://schemas.microsoft.com/office/drawing/2014/main" id="{014C1E99-852D-456C-AE2E-7DDAFFEB8F16}"/>
              </a:ext>
            </a:extLst>
          </p:cNvPr>
          <p:cNvSpPr>
            <a:spLocks xmlns:a="http://schemas.openxmlformats.org/drawingml/2006/main" noGrp="1"/>
          </p:cNvSpPr>
          <p:nvPr/>
        </p:nvSpPr>
        <p:spPr>
          <a:xfrm xmlns:a="http://schemas.openxmlformats.org/drawingml/2006/main">
            <a:off x="647700" y="3476625"/>
            <a:ext cx="1028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Survey research, qualitative synthesis,</a:t>
            </a:r>
          </a:p>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and usable next steps.</a:t>
            </a:r>
          </a:p>
        </p:txBody>
      </p:sp>
      <p:sp>
        <p:nvSpPr>
          <p:cNvPr id="5" name="availability">
            <a:extLst xmlns:a="http://schemas.openxmlformats.org/drawingml/2006/main">
              <a:ext uri="{FF2B5EF4-FFF2-40B4-BE49-F238E27FC236}">
                <a16:creationId xmlns:a16="http://schemas.microsoft.com/office/drawing/2014/main" id="{2D3AA3EF-8E3F-4A35-B84C-E50B6E841CD4}"/>
              </a:ext>
            </a:extLst>
          </p:cNvPr>
          <p:cNvSpPr>
            <a:spLocks xmlns:a="http://schemas.openxmlformats.org/drawingml/2006/main" noGrp="1"/>
          </p:cNvSpPr>
          <p:nvPr/>
        </p:nvSpPr>
        <p:spPr>
          <a:xfrm xmlns:a="http://schemas.openxmlformats.org/drawingml/2006/main">
            <a:off x="647700" y="49339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F4F2E9"/>
                </a:solidFill>
                <a:latin typeface="Helvetica Neue"/>
                <a:ea typeface="Helvetica Neue"/>
                <a:cs typeface="Helvetica Neue"/>
              </a:defRPr>
            </a:pPr>
            <a:r>
              <a:rPr sz="1800" b="0">
                <a:solidFill>
                  <a:srgbClr val="F4F2E9"/>
                </a:solidFill>
                <a:latin typeface="Helvetica Neue"/>
                <a:ea typeface="Helvetica Neue"/>
                <a:cs typeface="Helvetica Neue"/>
              </a:rPr>
              <a:t>Mesa, Arizona / U.S. remote contracts / Available for project work</a:t>
            </a:r>
          </a:p>
        </p:txBody>
      </p:sp>
      <p:sp>
        <p:nvSpPr>
          <p:cNvPr id="6" name="email">
            <a:extLst xmlns:a="http://schemas.openxmlformats.org/drawingml/2006/main">
              <a:ext uri="{FF2B5EF4-FFF2-40B4-BE49-F238E27FC236}">
                <a16:creationId xmlns:a16="http://schemas.microsoft.com/office/drawing/2014/main" id="{C3819AFD-4D8E-4EC8-B52D-D987D640A515}"/>
              </a:ext>
            </a:extLst>
          </p:cNvPr>
          <p:cNvSpPr>
            <a:spLocks xmlns:a="http://schemas.openxmlformats.org/drawingml/2006/main" noGrp="1"/>
          </p:cNvSpPr>
          <p:nvPr/>
        </p:nvSpPr>
        <p:spPr>
          <a:xfrm xmlns:a="http://schemas.openxmlformats.org/drawingml/2006/main">
            <a:off x="647700" y="557212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82152e5fd9194241"/>
              </a:rPr>
              <a:t>JonathanKyleHobson@gmail.com</a:t>
            </a:r>
          </a:p>
        </p:txBody>
      </p:sp>
      <p:sp>
        <p:nvSpPr>
          <p:cNvPr id="7" name="portfolio">
            <a:extLst xmlns:a="http://schemas.openxmlformats.org/drawingml/2006/main">
              <a:ext uri="{FF2B5EF4-FFF2-40B4-BE49-F238E27FC236}">
                <a16:creationId xmlns:a16="http://schemas.microsoft.com/office/drawing/2014/main" id="{63C99ECD-0EDD-405D-9424-6F6E46FF5992}"/>
              </a:ext>
            </a:extLst>
          </p:cNvPr>
          <p:cNvSpPr>
            <a:spLocks xmlns:a="http://schemas.openxmlformats.org/drawingml/2006/main" noGrp="1"/>
          </p:cNvSpPr>
          <p:nvPr/>
        </p:nvSpPr>
        <p:spPr>
          <a:xfrm xmlns:a="http://schemas.openxmlformats.org/drawingml/2006/main">
            <a:off x="647700" y="61245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F4F2E9"/>
                </a:solidFill>
                <a:latin typeface="Helvetica Neue"/>
                <a:ea typeface="Helvetica Neue"/>
                <a:cs typeface="Helvetica Neue"/>
              </a:defRPr>
            </a:pPr>
            <a:r>
              <a:rPr sz="1725" b="0" u="sng">
                <a:solidFill>
                  <a:srgbClr val="F4F2E9"/>
                </a:solidFill>
                <a:latin typeface="Helvetica Neue"/>
                <a:ea typeface="Helvetica Neue"/>
                <a:cs typeface="Helvetica Neue"/>
                <a:hlinkClick xmlns:r="http://schemas.openxmlformats.org/officeDocument/2006/relationships" r:id="R96ccb2d7e3694ee4"/>
              </a:rPr>
              <a:t>Portfolio selected for Blenderbox</a:t>
            </a:r>
          </a:p>
        </p:txBody>
      </p:sp>
    </p:spTree>
    <p:extLst>
      <p:ext uri="{BB962C8B-B14F-4D97-AF65-F5344CB8AC3E}">
        <p14:creationId xmlns:p14="http://schemas.microsoft.com/office/powerpoint/2010/main" val="855780865"/>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2026-09-08T20:54:38.6400000Z</dcterms:created>
  <dcterms:modified xsi:type="dcterms:W3CDTF">2026-09-08T20:54:38.6400000Z</dcterms:modified>
</coreProperties>
</file>