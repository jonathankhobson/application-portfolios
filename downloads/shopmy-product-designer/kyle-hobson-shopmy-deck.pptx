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11fff808314589" /><Relationship Type="http://schemas.openxmlformats.org/officeDocument/2006/relationships/extended-properties" Target="/docProps/app.xml" Id="R762b63a40c5b49c4" /><Relationship Type="http://schemas.openxmlformats.org/officeDocument/2006/relationships/officeDocument" Target="/ppt/presentation.xml" Id="R34dd0c8a0aea45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e3224a4a684332"/>
  </p:sldMasterIdLst>
  <p:notesMasterIdLst>
    <p:notesMasterId xmlns:r="http://schemas.openxmlformats.org/officeDocument/2006/relationships" r:id="R0c29513fd8ae40fb"/>
  </p:notesMasterIdLst>
  <p:sldIdLst>
    <p:sldId xmlns:r="http://schemas.openxmlformats.org/officeDocument/2006/relationships" id="256" r:id="Rdbaa654872b7441f"/>
    <p:sldId xmlns:r="http://schemas.openxmlformats.org/officeDocument/2006/relationships" id="257" r:id="R245211ea17034e3f"/>
    <p:sldId xmlns:r="http://schemas.openxmlformats.org/officeDocument/2006/relationships" id="258" r:id="R35e221f23e634457"/>
    <p:sldId xmlns:r="http://schemas.openxmlformats.org/officeDocument/2006/relationships" id="259" r:id="R9a0ba04f31a24d1d"/>
    <p:sldId xmlns:r="http://schemas.openxmlformats.org/officeDocument/2006/relationships" id="260" r:id="R7da3256218b54bf7"/>
    <p:sldId xmlns:r="http://schemas.openxmlformats.org/officeDocument/2006/relationships" id="261" r:id="R78fabe32c9f9412e"/>
    <p:sldId xmlns:r="http://schemas.openxmlformats.org/officeDocument/2006/relationships" id="262" r:id="R1ef524b055524692"/>
    <p:sldId xmlns:r="http://schemas.openxmlformats.org/officeDocument/2006/relationships" id="263" r:id="Ra3ae935a24c24308"/>
    <p:sldId xmlns:r="http://schemas.openxmlformats.org/officeDocument/2006/relationships" id="264" r:id="R263e5ebc8136411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a18a5940b44fb4" /><Relationship Type="http://schemas.openxmlformats.org/officeDocument/2006/relationships/slideMaster" Target="/ppt/slideMasters/slideMaster1.xml" Id="R8be3224a4a684332" /><Relationship Type="http://schemas.openxmlformats.org/officeDocument/2006/relationships/notesMaster" Target="/ppt/notesMasters/notesMaster1.xml" Id="R0c29513fd8ae40fb" /><Relationship Type="http://schemas.openxmlformats.org/officeDocument/2006/relationships/presProps" Target="/ppt/presProps.xml" Id="R43230b8635ca47e6" /><Relationship Type="http://schemas.openxmlformats.org/officeDocument/2006/relationships/tableStyles" Target="/ppt/tableStyles.xml" Id="Rf274c2e3869a48a5" /><Relationship Type="http://schemas.openxmlformats.org/officeDocument/2006/relationships/slide" Target="/ppt/slides/slide1.xml" Id="Rdbaa654872b7441f" /><Relationship Type="http://schemas.openxmlformats.org/officeDocument/2006/relationships/slide" Target="/ppt/slides/slide2.xml" Id="R245211ea17034e3f" /><Relationship Type="http://schemas.openxmlformats.org/officeDocument/2006/relationships/slide" Target="/ppt/slides/slide3.xml" Id="R35e221f23e634457" /><Relationship Type="http://schemas.openxmlformats.org/officeDocument/2006/relationships/slide" Target="/ppt/slides/slide4.xml" Id="R9a0ba04f31a24d1d" /><Relationship Type="http://schemas.openxmlformats.org/officeDocument/2006/relationships/slide" Target="/ppt/slides/slide5.xml" Id="R7da3256218b54bf7" /><Relationship Type="http://schemas.openxmlformats.org/officeDocument/2006/relationships/slide" Target="/ppt/slides/slide6.xml" Id="R78fabe32c9f9412e" /><Relationship Type="http://schemas.openxmlformats.org/officeDocument/2006/relationships/slide" Target="/ppt/slides/slide7.xml" Id="R1ef524b055524692" /><Relationship Type="http://schemas.openxmlformats.org/officeDocument/2006/relationships/slide" Target="/ppt/slides/slide8.xml" Id="Ra3ae935a24c24308" /><Relationship Type="http://schemas.openxmlformats.org/officeDocument/2006/relationships/slide" Target="/ppt/slides/slide9.xml" Id="R263e5ebc813641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a5111b81d04f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Kyle Portfolio">
      <a:dk1>
        <a:srgbClr val="192B25"/>
      </a:dk1>
      <a:lt1>
        <a:srgbClr val="FFFFFF"/>
      </a:lt1>
      <a:dk2>
        <a:srgbClr val="244D3C"/>
      </a:dk2>
      <a:lt2>
        <a:srgbClr val="F4F2E9"/>
      </a:lt2>
      <a:accent1>
        <a:srgbClr val="244D3C"/>
      </a:accent1>
      <a:accent2>
        <a:srgbClr val="DBEB89"/>
      </a:accent2>
      <a:accent3>
        <a:srgbClr val="E1E8DB"/>
      </a:accent3>
      <a:accent4>
        <a:srgbClr val="58645D"/>
      </a:accent4>
      <a:accent5>
        <a:srgbClr val="192B25"/>
      </a:accent5>
      <a:accent6>
        <a:srgbClr val="F4F2E9"/>
      </a:accent6>
      <a:hlink>
        <a:srgbClr val="DBEB89"/>
      </a:hlink>
      <a:folHlink>
        <a:srgbClr val="DBEB8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Kyle Portfoli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a8fb0fd2104715" /><Relationship Type="http://schemas.openxmlformats.org/officeDocument/2006/relationships/notesMaster" Target="/ppt/notesMasters/notesMaster1.xml" Id="R6876e99b9cf341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e5d54489f54e18" /><Relationship Type="http://schemas.openxmlformats.org/officeDocument/2006/relationships/notesMaster" Target="/ppt/notesMasters/notesMaster1.xml" Id="Ra8063643a86f46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176796b1cc400e" /><Relationship Type="http://schemas.openxmlformats.org/officeDocument/2006/relationships/notesMaster" Target="/ppt/notesMasters/notesMaster1.xml" Id="Rb2847f9c464b41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5dd571d74747ff" /><Relationship Type="http://schemas.openxmlformats.org/officeDocument/2006/relationships/notesMaster" Target="/ppt/notesMasters/notesMaster1.xml" Id="R13b1fa43a29d42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c46627aad14bdb" /><Relationship Type="http://schemas.openxmlformats.org/officeDocument/2006/relationships/notesMaster" Target="/ppt/notesMasters/notesMaster1.xml" Id="R0f76ab5b5eba43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01d6e8dded34879" /><Relationship Type="http://schemas.openxmlformats.org/officeDocument/2006/relationships/notesMaster" Target="/ppt/notesMasters/notesMaster1.xml" Id="R1a44079e792b47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211bc1ce2c4e23" /><Relationship Type="http://schemas.openxmlformats.org/officeDocument/2006/relationships/notesMaster" Target="/ppt/notesMasters/notesMaster1.xml" Id="Rbff4c3ee1804447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4f1a45c217b4527" /><Relationship Type="http://schemas.openxmlformats.org/officeDocument/2006/relationships/notesMaster" Target="/ppt/notesMasters/notesMaster1.xml" Id="R7f689fe4aeaf40a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6a4b93db69048dc" /><Relationship Type="http://schemas.openxmlformats.org/officeDocument/2006/relationships/notesMaster" Target="/ppt/notesMasters/notesMaster1.xml" Id="R0428471da71541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ShopMy Product Designer, 4893334008. Employer source: https://job-boards.greenhouse.io/shopmy/jobs/4893334008, verified September 8, 2026. Selected information-hierarchy, reusable-interface, interaction and handoff artifacts. No prior ShopMy work, commerce-domain expertise or enterprise design-system ownership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About Me April–May 2026 design walkthroughs, especially May 15. The five groups are summaries, recommendations, Simple 7, comparisons and accomplishments. This native diagram summarizes the reviewed organization; it is not an original screenshot. Customization and final policy remained open in the walkthrough.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About Me comparison widget and April–May 2026 walkthroughs. The web/server team release was confirmed September 2, 2026, but the exact pictured layout and completed mobile rollout are not established. Illustrative values are not measured customer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FactorLab Flint mobile design and design walkthroughs. These are designed states and handoff artifacts, not confirmation that every pictured variant shipped. Interface content is sample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SmartTagIt Flint interrupted-response and offline variants, including the March 27, 2026 error-state handoff. This documents design decisions and annotations for developers, not measured task-success improvement.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Reviewed Oak / creator-audience survey report, March 2025, page 15. Original crop shows summarized feature requests. The report example is not a participant quotation and gives no request frequencies. This voluntary advocacy/creator audience is not a commerce sample. The Action Hub was a proposal, not a measured product outcome. See the linked case for reported barriers, sample-count checkpoint and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Synthesis of reviewed FactorLab design walkthroughs and Oak recommendations/handoff. The list describes an approach supported by those artifacts. It does not establish platform-release ownership, quantified handoff efficiency, or work for ShopMy.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approach based on ShopMy Product Designer role 4893334008. Creator/brand task ownership, available research and measures would need to be established with the team. This is a proposed approach, not evidence of prior ShopMy product work or commerce-domain specialization.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Candidate contact and travel availability are confirmed. Intended isolated portfolio route: https://jonathankhobson.github.io/application-portfolios/shopmy-product-designer/. Publication is a separate campaign 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3db751139249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9f9861666d4b1d" /><Relationship Type="http://schemas.openxmlformats.org/officeDocument/2006/relationships/slideLayout" Target="/ppt/slideLayouts/slideLayout1.xml" Id="R5e17a446e4dd49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17a446e4dd49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Kyle Portfolio">
      <a:dk1>
        <a:srgbClr val="192B25"/>
      </a:dk1>
      <a:lt1>
        <a:srgbClr val="FFFFFF"/>
      </a:lt1>
      <a:dk2>
        <a:srgbClr val="244D3C"/>
      </a:dk2>
      <a:lt2>
        <a:srgbClr val="F4F2E9"/>
      </a:lt2>
      <a:accent1>
        <a:srgbClr val="244D3C"/>
      </a:accent1>
      <a:accent2>
        <a:srgbClr val="DBEB89"/>
      </a:accent2>
      <a:accent3>
        <a:srgbClr val="E1E8DB"/>
      </a:accent3>
      <a:accent4>
        <a:srgbClr val="58645D"/>
      </a:accent4>
      <a:accent5>
        <a:srgbClr val="192B25"/>
      </a:accent5>
      <a:accent6>
        <a:srgbClr val="F4F2E9"/>
      </a:accent6>
      <a:hlink>
        <a:srgbClr val="DBEB89"/>
      </a:hlink>
      <a:folHlink>
        <a:srgbClr val="DBEB8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Kyle Portfoli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563bff29ca4baa" /><Relationship Type="http://schemas.openxmlformats.org/officeDocument/2006/relationships/image" Target="/ppt/media/image.png" Id="R510329b3ce08472f" /><Relationship Type="http://schemas.openxmlformats.org/officeDocument/2006/relationships/notesSlide" Target="/ppt/notesSlides/notesSlide1.xml" Id="R48865063e4954e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9450a775d946c8" /><Relationship Type="http://schemas.openxmlformats.org/officeDocument/2006/relationships/notesSlide" Target="/ppt/notesSlides/notesSlide2.xml" Id="Rdf5f2d80631c4e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8e98c7085477f" /><Relationship Type="http://schemas.openxmlformats.org/officeDocument/2006/relationships/image" Target="/ppt/media/image2.png" Id="R7df4fc548f0746aa" /><Relationship Type="http://schemas.openxmlformats.org/officeDocument/2006/relationships/notesSlide" Target="/ppt/notesSlides/notesSlide3.xml" Id="Rf962b4fd29bf4f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d246fe554c479b" /><Relationship Type="http://schemas.openxmlformats.org/officeDocument/2006/relationships/image" Target="/ppt/media/image3.png" Id="R0f932cd2d6344416" /><Relationship Type="http://schemas.openxmlformats.org/officeDocument/2006/relationships/notesSlide" Target="/ppt/notesSlides/notesSlide4.xml" Id="Rc8533e2d3f6c42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334fb1359a4b7f" /><Relationship Type="http://schemas.openxmlformats.org/officeDocument/2006/relationships/image" Target="/ppt/media/image4.png" Id="R0b0da664616d45ba" /><Relationship Type="http://schemas.openxmlformats.org/officeDocument/2006/relationships/image" Target="/ppt/media/image5.png" Id="R8f096ca859dd4b15" /><Relationship Type="http://schemas.openxmlformats.org/officeDocument/2006/relationships/notesSlide" Target="/ppt/notesSlides/notesSlide5.xml" Id="R964a853435d64d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37c86d6eca470d" /><Relationship Type="http://schemas.openxmlformats.org/officeDocument/2006/relationships/image" Target="/ppt/media/image6.png" Id="Rc09493c2fdba430d" /><Relationship Type="http://schemas.openxmlformats.org/officeDocument/2006/relationships/notesSlide" Target="/ppt/notesSlides/notesSlide6.xml" Id="R1a6a3cc09d8b4fe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d6d069b74c4aad" /><Relationship Type="http://schemas.openxmlformats.org/officeDocument/2006/relationships/notesSlide" Target="/ppt/notesSlides/notesSlide7.xml" Id="Rfca5d864741641e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db862e8acb4041" /><Relationship Type="http://schemas.openxmlformats.org/officeDocument/2006/relationships/notesSlide" Target="/ppt/notesSlides/notesSlide8.xml" Id="R6befaef8b70947e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ad89a746ba4eb9" /><Relationship Type="http://schemas.openxmlformats.org/officeDocument/2006/relationships/hyperlink" Target="mailto:JonathanKyleHobson@gmail.com" TargetMode="External" Id="R9e616a2b87094595" /><Relationship Type="http://schemas.openxmlformats.org/officeDocument/2006/relationships/hyperlink" Target="https://jonathankhobson.github.io/application-portfolios/shopmy-product-designer/" TargetMode="External" Id="R1080924445b84c8c" /><Relationship Type="http://schemas.openxmlformats.org/officeDocument/2006/relationships/notesSlide" Target="/ppt/notesSlides/notesSlide9.xml" Id="R253d6c20febd437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44D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1F37B70-1EA6-48AA-96BE-0BBE3D4B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DBEB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DBEB8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1C72E3B-CCB2-47C9-9A8D-520FA433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DBEB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BEB89"/>
                </a:solidFill>
                <a:latin typeface="Helvetica Neue"/>
                <a:ea typeface="Helvetica Neue"/>
                <a:cs typeface="Helvetica Neue"/>
              </a:rPr>
              <a:t>KYLE HOBSON / SHOPMY SENIOR PRODUCT DESIGNER APPLICATION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028291D5-765E-4C18-A81D-4F9E664F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620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4725" b="1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4725" b="1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Useful choices.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4725" b="1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4725" b="1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Clear next steps.</a:t>
            </a:r>
          </a:p>
        </p:txBody>
      </p:sp>
      <p:sp>
        <p:nvSpPr>
          <p:cNvPr id="4" name="cover-intro">
            <a:extLst xmlns:a="http://schemas.openxmlformats.org/drawingml/2006/main">
              <a:ext uri="{FF2B5EF4-FFF2-40B4-BE49-F238E27FC236}">
                <a16:creationId xmlns:a16="http://schemas.microsoft.com/office/drawing/2014/main" id="{2C84594E-4DDA-4CA9-B8ED-3C889DE4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38650"/>
            <a:ext cx="7000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250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Interface craft, resilient flows,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250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and research that informs the next decision.</a:t>
            </a:r>
          </a:p>
        </p:txBody>
      </p:sp>
      <p:sp>
        <p:nvSpPr>
          <p:cNvPr id="5" name="cover-date">
            <a:extLst xmlns:a="http://schemas.openxmlformats.org/drawingml/2006/main">
              <a:ext uri="{FF2B5EF4-FFF2-40B4-BE49-F238E27FC236}">
                <a16:creationId xmlns:a16="http://schemas.microsoft.com/office/drawing/2014/main" id="{1D230C25-FE6A-4BF3-B2F8-70326BA6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62650"/>
            <a:ext cx="7029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Selected work for ShopMy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350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September 2026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0329b3ce08472f"/>
          <a:stretch xmlns:a="http://schemas.openxmlformats.org/drawingml/2006/main"/>
        </p:blipFill>
        <p:spPr>
          <a:xfrm xmlns:a="http://schemas.openxmlformats.org/drawingml/2006/main">
            <a:off x="8867775" y="644039"/>
            <a:ext cx="2524125" cy="540799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0083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EAA625E-2CC2-4EF0-A0B5-9633E33A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46CE27F-4F13-4975-BAC0-66AADE05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ABOUT ME / SMARTTAGIT, FACTORLAB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815E0C61-398E-4B50-963D-4054D290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5429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8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Give each insight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38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 clear job</a:t>
            </a:r>
          </a:p>
        </p:txBody>
      </p:sp>
      <p:sp>
        <p:nvSpPr>
          <p:cNvPr id="4" name="context">
            <a:extLst xmlns:a="http://schemas.openxmlformats.org/drawingml/2006/main">
              <a:ext uri="{FF2B5EF4-FFF2-40B4-BE49-F238E27FC236}">
                <a16:creationId xmlns:a16="http://schemas.microsoft.com/office/drawing/2014/main" id="{8E1E8159-1194-4341-9791-03D11EAC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4714875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10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I developed five widget groups, then explored their information order and content density.</a:t>
            </a:r>
          </a:p>
        </p:txBody>
      </p:sp>
      <p:sp>
        <p:nvSpPr>
          <p:cNvPr id="5" name="stage">
            <a:extLst xmlns:a="http://schemas.openxmlformats.org/drawingml/2006/main">
              <a:ext uri="{FF2B5EF4-FFF2-40B4-BE49-F238E27FC236}">
                <a16:creationId xmlns:a16="http://schemas.microsoft.com/office/drawing/2014/main" id="{7C190212-1F91-4D0C-BEE9-9249B48E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0225"/>
            <a:ext cx="49053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4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Editable summary of the reviewed structure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4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Original screen iterations in the linked case</a:t>
            </a:r>
          </a:p>
        </p:txBody>
      </p:sp>
      <p:sp>
        <p:nvSpPr>
          <p:cNvPr id="6" name="family-number-0">
            <a:extLst xmlns:a="http://schemas.openxmlformats.org/drawingml/2006/main">
              <a:ext uri="{FF2B5EF4-FFF2-40B4-BE49-F238E27FC236}">
                <a16:creationId xmlns:a16="http://schemas.microsoft.com/office/drawing/2014/main" id="{D3BE35B1-C9CB-4893-8921-3F8B604A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219200"/>
            <a:ext cx="5619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6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family-0">
            <a:extLst xmlns:a="http://schemas.openxmlformats.org/drawingml/2006/main">
              <a:ext uri="{FF2B5EF4-FFF2-40B4-BE49-F238E27FC236}">
                <a16:creationId xmlns:a16="http://schemas.microsoft.com/office/drawing/2014/main" id="{3CC6AE33-1879-4BF6-8BD9-468A83FB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190625"/>
            <a:ext cx="39719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4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Summaries</a:t>
            </a:r>
          </a:p>
        </p:txBody>
      </p:sp>
      <p:sp>
        <p:nvSpPr>
          <p:cNvPr id="8" name="family-number-1">
            <a:extLst xmlns:a="http://schemas.openxmlformats.org/drawingml/2006/main">
              <a:ext uri="{FF2B5EF4-FFF2-40B4-BE49-F238E27FC236}">
                <a16:creationId xmlns:a16="http://schemas.microsoft.com/office/drawing/2014/main" id="{58B1A022-CC86-47CA-8439-B832642D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5619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6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family-1">
            <a:extLst xmlns:a="http://schemas.openxmlformats.org/drawingml/2006/main">
              <a:ext uri="{FF2B5EF4-FFF2-40B4-BE49-F238E27FC236}">
                <a16:creationId xmlns:a16="http://schemas.microsoft.com/office/drawing/2014/main" id="{EED77D03-8B9F-46BA-A7BC-99389A05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162175"/>
            <a:ext cx="39719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4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Recommendations</a:t>
            </a:r>
          </a:p>
        </p:txBody>
      </p:sp>
      <p:sp>
        <p:nvSpPr>
          <p:cNvPr id="10" name="family-number-2">
            <a:extLst xmlns:a="http://schemas.openxmlformats.org/drawingml/2006/main">
              <a:ext uri="{FF2B5EF4-FFF2-40B4-BE49-F238E27FC236}">
                <a16:creationId xmlns:a16="http://schemas.microsoft.com/office/drawing/2014/main" id="{7C9029CE-0745-4906-9671-1CFE264D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62300"/>
            <a:ext cx="5619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6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family-2">
            <a:extLst xmlns:a="http://schemas.openxmlformats.org/drawingml/2006/main">
              <a:ext uri="{FF2B5EF4-FFF2-40B4-BE49-F238E27FC236}">
                <a16:creationId xmlns:a16="http://schemas.microsoft.com/office/drawing/2014/main" id="{C4F171C4-8CCA-4DEA-B447-3D4D2290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133725"/>
            <a:ext cx="39719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4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Simple 7</a:t>
            </a:r>
          </a:p>
        </p:txBody>
      </p:sp>
      <p:sp>
        <p:nvSpPr>
          <p:cNvPr id="12" name="family-number-3">
            <a:extLst xmlns:a="http://schemas.openxmlformats.org/drawingml/2006/main">
              <a:ext uri="{FF2B5EF4-FFF2-40B4-BE49-F238E27FC236}">
                <a16:creationId xmlns:a16="http://schemas.microsoft.com/office/drawing/2014/main" id="{5DE058C3-9B28-472E-8CC9-EB78E1CD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33850"/>
            <a:ext cx="5619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6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3" name="family-3">
            <a:extLst xmlns:a="http://schemas.openxmlformats.org/drawingml/2006/main">
              <a:ext uri="{FF2B5EF4-FFF2-40B4-BE49-F238E27FC236}">
                <a16:creationId xmlns:a16="http://schemas.microsoft.com/office/drawing/2014/main" id="{553AB1F6-CAA9-4B21-B1B5-F181D597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105275"/>
            <a:ext cx="39719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4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Comparisons</a:t>
            </a:r>
          </a:p>
        </p:txBody>
      </p:sp>
      <p:sp>
        <p:nvSpPr>
          <p:cNvPr id="14" name="family-number-4">
            <a:extLst xmlns:a="http://schemas.openxmlformats.org/drawingml/2006/main">
              <a:ext uri="{FF2B5EF4-FFF2-40B4-BE49-F238E27FC236}">
                <a16:creationId xmlns:a16="http://schemas.microsoft.com/office/drawing/2014/main" id="{8A2B2674-CB87-4423-8BAE-1B4779CA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05400"/>
            <a:ext cx="5619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6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15" name="family-4">
            <a:extLst xmlns:a="http://schemas.openxmlformats.org/drawingml/2006/main">
              <a:ext uri="{FF2B5EF4-FFF2-40B4-BE49-F238E27FC236}">
                <a16:creationId xmlns:a16="http://schemas.microsoft.com/office/drawing/2014/main" id="{A2778EFD-194B-40DD-AA99-EA715AA5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076825"/>
            <a:ext cx="39719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4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Accomplishments</a:t>
            </a:r>
          </a:p>
        </p:txBody>
      </p:sp>
    </p:spTree>
    <p:extLst>
      <p:ext uri="{BB962C8B-B14F-4D97-AF65-F5344CB8AC3E}">
        <p14:creationId xmlns:p14="http://schemas.microsoft.com/office/powerpoint/2010/main" val="12033636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EB78D86-1A94-4717-8DF0-4C64F56B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5A39FAD-C8C7-472A-A70C-9E0AED92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ABOUT ME / INFORMATION AND INTERPRETATION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A65DFA4D-8863-48FD-A61E-D3AE2F71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51530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7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 comparison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37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needs context</a:t>
            </a:r>
          </a:p>
        </p:txBody>
      </p:sp>
      <p:sp>
        <p:nvSpPr>
          <p:cNvPr id="4" name="choice">
            <a:extLst xmlns:a="http://schemas.openxmlformats.org/drawingml/2006/main">
              <a:ext uri="{FF2B5EF4-FFF2-40B4-BE49-F238E27FC236}">
                <a16:creationId xmlns:a16="http://schemas.microsoft.com/office/drawing/2014/main" id="{6BC769F5-B7CD-426D-8FFC-45DD55B9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4333875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Mentioning fatigue less often is a comparison. Whether that is good depends on the context.</a:t>
            </a:r>
          </a:p>
        </p:txBody>
      </p:sp>
      <p:sp>
        <p:nvSpPr>
          <p:cNvPr id="5" name="outcome">
            <a:extLst xmlns:a="http://schemas.openxmlformats.org/drawingml/2006/main">
              <a:ext uri="{FF2B5EF4-FFF2-40B4-BE49-F238E27FC236}">
                <a16:creationId xmlns:a16="http://schemas.microsoft.com/office/drawing/2014/main" id="{CBFEB371-033E-451F-A612-44F9E6119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43338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0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I raised the cohort and wording questions while developing reusable insight widgets.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f4fc548f0746aa"/>
          <a:stretch xmlns:a="http://schemas.openxmlformats.org/drawingml/2006/main"/>
        </p:blipFill>
        <p:spPr>
          <a:xfrm xmlns:a="http://schemas.openxmlformats.org/drawingml/2006/main">
            <a:off x="5876925" y="2201702"/>
            <a:ext cx="5572125" cy="3692847"/>
          </a:xfrm>
          <a:prstGeom xmlns:a="http://schemas.openxmlformats.org/drawingml/2006/main" prst="rect">
            <a:avLst/>
          </a:prstGeom>
        </p:spPr>
      </p:pic>
      <p:sp>
        <p:nvSpPr>
          <p:cNvPr id="7" name="caption">
            <a:extLst xmlns:a="http://schemas.openxmlformats.org/drawingml/2006/main">
              <a:ext uri="{FF2B5EF4-FFF2-40B4-BE49-F238E27FC236}">
                <a16:creationId xmlns:a16="http://schemas.microsoft.com/office/drawing/2014/main" id="{B109448C-F70A-48AF-97D7-6B651C76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6153150"/>
            <a:ext cx="550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Original design iteration with sample values</a:t>
            </a:r>
          </a:p>
        </p:txBody>
      </p:sp>
    </p:spTree>
    <p:extLst>
      <p:ext uri="{BB962C8B-B14F-4D97-AF65-F5344CB8AC3E}">
        <p14:creationId xmlns:p14="http://schemas.microsoft.com/office/powerpoint/2010/main" val="2577748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2105B25-BC85-4209-9A63-F9927FFF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3E5482B-F86B-4294-B6A2-7E017117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FLINT / SMARTTAGIT, FACTORLAB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2F2EA593-C7BD-4DD3-AB5D-32AA93A2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571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9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 useful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39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first question</a:t>
            </a:r>
          </a:p>
        </p:txBody>
      </p:sp>
      <p:sp>
        <p:nvSpPr>
          <p:cNvPr id="4" name="role">
            <a:extLst xmlns:a="http://schemas.openxmlformats.org/drawingml/2006/main">
              <a:ext uri="{FF2B5EF4-FFF2-40B4-BE49-F238E27FC236}">
                <a16:creationId xmlns:a16="http://schemas.microsoft.com/office/drawing/2014/main" id="{C9996ED1-5FC9-42C4-A576-7F35788F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523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UX Designer &amp; Researcher (Contract)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5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2025–2026</a:t>
            </a:r>
          </a:p>
        </p:txBody>
      </p:sp>
      <p:sp>
        <p:nvSpPr>
          <p:cNvPr id="5" name="choice">
            <a:extLst xmlns:a="http://schemas.openxmlformats.org/drawingml/2006/main">
              <a:ext uri="{FF2B5EF4-FFF2-40B4-BE49-F238E27FC236}">
                <a16:creationId xmlns:a16="http://schemas.microsoft.com/office/drawing/2014/main" id="{ABB13F76-C2CF-4A9D-B0FF-AF17E2B0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4667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I explored suggested questions and a question library while keeping a person’s own question close at hand.</a:t>
            </a:r>
          </a:p>
        </p:txBody>
      </p:sp>
      <p:sp>
        <p:nvSpPr>
          <p:cNvPr id="6" name="stage">
            <a:extLst xmlns:a="http://schemas.openxmlformats.org/drawingml/2006/main">
              <a:ext uri="{FF2B5EF4-FFF2-40B4-BE49-F238E27FC236}">
                <a16:creationId xmlns:a16="http://schemas.microsoft.com/office/drawing/2014/main" id="{8B2A01BF-343E-42CF-80B6-5E6DF460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523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4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Mobile design states and engineering handoff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932cd2d6344416"/>
          <a:stretch xmlns:a="http://schemas.openxmlformats.org/drawingml/2006/main"/>
        </p:blipFill>
        <p:spPr>
          <a:xfrm xmlns:a="http://schemas.openxmlformats.org/drawingml/2006/main">
            <a:off x="7953494" y="914400"/>
            <a:ext cx="2542936" cy="5448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554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2207CEA-E9B6-4981-9611-5B06ED4E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E8ACC7C-6D9A-4CFF-87EA-6D9D6FAB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FLINT / INTERRUPTED AND OFFLINE STATES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DE4FB221-A12E-43FD-BA53-F4283F1E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45529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5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Recovery follows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35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the failure</a:t>
            </a:r>
          </a:p>
        </p:txBody>
      </p:sp>
      <p:sp>
        <p:nvSpPr>
          <p:cNvPr id="4" name="decision">
            <a:extLst xmlns:a="http://schemas.openxmlformats.org/drawingml/2006/main">
              <a:ext uri="{FF2B5EF4-FFF2-40B4-BE49-F238E27FC236}">
                <a16:creationId xmlns:a16="http://schemas.microsoft.com/office/drawing/2014/main" id="{47AD6260-F2FA-44DF-AF4E-ED125887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431482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An incomplete answer and a lost connection need different next actions.</a:t>
            </a:r>
          </a:p>
        </p:txBody>
      </p:sp>
      <p:sp>
        <p:nvSpPr>
          <p:cNvPr id="5" name="handoff">
            <a:extLst xmlns:a="http://schemas.openxmlformats.org/drawingml/2006/main">
              <a:ext uri="{FF2B5EF4-FFF2-40B4-BE49-F238E27FC236}">
                <a16:creationId xmlns:a16="http://schemas.microsoft.com/office/drawing/2014/main" id="{25629DF5-8A46-4FE5-BA42-8E8D7D68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431482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0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I connected the flows and their recovery actions in an annotated walkthrough for engineering.</a:t>
            </a:r>
          </a:p>
        </p:txBody>
      </p:sp>
      <p:sp>
        <p:nvSpPr>
          <p:cNvPr id="6" name="partial-label">
            <a:extLst xmlns:a="http://schemas.openxmlformats.org/drawingml/2006/main">
              <a:ext uri="{FF2B5EF4-FFF2-40B4-BE49-F238E27FC236}">
                <a16:creationId xmlns:a16="http://schemas.microsoft.com/office/drawing/2014/main" id="{59A6549E-7EFF-440A-93D3-7DA36EFD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828675"/>
            <a:ext cx="257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Incomplete answer</a:t>
            </a:r>
          </a:p>
        </p:txBody>
      </p:sp>
      <p:sp>
        <p:nvSpPr>
          <p:cNvPr id="7" name="offline-label">
            <a:extLst xmlns:a="http://schemas.openxmlformats.org/drawingml/2006/main">
              <a:ext uri="{FF2B5EF4-FFF2-40B4-BE49-F238E27FC236}">
                <a16:creationId xmlns:a16="http://schemas.microsoft.com/office/drawing/2014/main" id="{6537EA6E-F974-4CA5-955B-A22CD1F5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28675"/>
            <a:ext cx="257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Connection lost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0da664616d45ba"/>
          <a:stretch xmlns:a="http://schemas.openxmlformats.org/drawingml/2006/main"/>
        </p:blipFill>
        <p:spPr>
          <a:xfrm xmlns:a="http://schemas.openxmlformats.org/drawingml/2006/main">
            <a:off x="5711001" y="1190625"/>
            <a:ext cx="2427348" cy="520065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096ca859dd4b15"/>
          <a:stretch xmlns:a="http://schemas.openxmlformats.org/drawingml/2006/main"/>
        </p:blipFill>
        <p:spPr>
          <a:xfrm xmlns:a="http://schemas.openxmlformats.org/drawingml/2006/main">
            <a:off x="8778051" y="1190625"/>
            <a:ext cx="2427348" cy="52006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8695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F138144-391B-48FB-95C0-0D878939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CE59662-5E22-4BFD-9968-923550C5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OAK AI / CREATOR-AUDIENCE RESEARCH, MARCH 2025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BDF060D5-CDE6-44DB-B1EF-621DCC5E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53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Turn audience needs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into a testable step</a:t>
            </a:r>
          </a:p>
        </p:txBody>
      </p:sp>
      <p:sp>
        <p:nvSpPr>
          <p:cNvPr id="4" name="finding">
            <a:extLst xmlns:a="http://schemas.openxmlformats.org/drawingml/2006/main">
              <a:ext uri="{FF2B5EF4-FFF2-40B4-BE49-F238E27FC236}">
                <a16:creationId xmlns:a16="http://schemas.microsoft.com/office/drawing/2014/main" id="{562DC472-1253-4BC2-9331-9E3CF82F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4857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I led survey creation, launch, and analysis for a creator and advocacy audience. The report included requests for templates and clearer steps.</a:t>
            </a:r>
          </a:p>
        </p:txBody>
      </p:sp>
      <p:sp>
        <p:nvSpPr>
          <p:cNvPr id="5" name="boundary">
            <a:extLst xmlns:a="http://schemas.openxmlformats.org/drawingml/2006/main">
              <a:ext uri="{FF2B5EF4-FFF2-40B4-BE49-F238E27FC236}">
                <a16:creationId xmlns:a16="http://schemas.microsoft.com/office/drawing/2014/main" id="{3F937D61-99F9-42F4-9E3C-9EB8118B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48577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6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Those requests informed a proposed Action Hub. Product adoption and business impact were not measured.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9493c2fdba430d"/>
          <a:stretch xmlns:a="http://schemas.openxmlformats.org/drawingml/2006/main"/>
        </p:blipFill>
        <p:spPr>
          <a:xfrm xmlns:a="http://schemas.openxmlformats.org/drawingml/2006/main">
            <a:off x="6000750" y="4006705"/>
            <a:ext cx="5476875" cy="816265"/>
          </a:xfrm>
          <a:prstGeom xmlns:a="http://schemas.openxmlformats.org/drawingml/2006/main" prst="rect">
            <a:avLst/>
          </a:prstGeom>
        </p:spPr>
      </p:pic>
      <p:sp>
        <p:nvSpPr>
          <p:cNvPr id="7" name="caption">
            <a:extLst xmlns:a="http://schemas.openxmlformats.org/drawingml/2006/main">
              <a:ext uri="{FF2B5EF4-FFF2-40B4-BE49-F238E27FC236}">
                <a16:creationId xmlns:a16="http://schemas.microsoft.com/office/drawing/2014/main" id="{375576B8-9E56-4187-9822-39612866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086475"/>
            <a:ext cx="547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Original report excerpt · page 15</a:t>
            </a:r>
          </a:p>
        </p:txBody>
      </p:sp>
    </p:spTree>
    <p:extLst>
      <p:ext uri="{BB962C8B-B14F-4D97-AF65-F5344CB8AC3E}">
        <p14:creationId xmlns:p14="http://schemas.microsoft.com/office/powerpoint/2010/main" val="3362628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03DC890-DFB3-495A-BFB9-8489CC8C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6444E5E-EBE6-45D9-9005-909CE66F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FACTORLAB + OAK / TEAM COLLABORATION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465FA482-9253-41F5-8201-8A412B4D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5375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Make the handoff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 design conversation</a:t>
            </a:r>
          </a:p>
        </p:txBody>
      </p:sp>
      <p:sp>
        <p:nvSpPr>
          <p:cNvPr id="4" name="intro">
            <a:extLst xmlns:a="http://schemas.openxmlformats.org/drawingml/2006/main">
              <a:ext uri="{FF2B5EF4-FFF2-40B4-BE49-F238E27FC236}">
                <a16:creationId xmlns:a16="http://schemas.microsoft.com/office/drawing/2014/main" id="{A42BFABA-AC4B-4B84-8530-04EEEF68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03346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2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My walkthroughs put the state, the next action, and the unresolved choice where a team can review them.</a:t>
            </a:r>
          </a:p>
        </p:txBody>
      </p:sp>
      <p:sp>
        <p:nvSpPr>
          <p:cNvPr id="5" name="step1">
            <a:extLst xmlns:a="http://schemas.openxmlformats.org/drawingml/2006/main">
              <a:ext uri="{FF2B5EF4-FFF2-40B4-BE49-F238E27FC236}">
                <a16:creationId xmlns:a16="http://schemas.microsoft.com/office/drawing/2014/main" id="{983C467B-6BFF-4C22-B740-7DC0553B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175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01  Connect the normal path to waiting and recovery</a:t>
            </a:r>
          </a:p>
        </p:txBody>
      </p:sp>
      <p:sp>
        <p:nvSpPr>
          <p:cNvPr id="6" name="step2">
            <a:extLst xmlns:a="http://schemas.openxmlformats.org/drawingml/2006/main">
              <a:ext uri="{FF2B5EF4-FFF2-40B4-BE49-F238E27FC236}">
                <a16:creationId xmlns:a16="http://schemas.microsoft.com/office/drawing/2014/main" id="{9AFFACCD-AD4C-42C7-8B36-3FBDD1CE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175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02  Explain the alternative and its tradeoff</a:t>
            </a:r>
          </a:p>
        </p:txBody>
      </p:sp>
      <p:sp>
        <p:nvSpPr>
          <p:cNvPr id="7" name="step3">
            <a:extLst xmlns:a="http://schemas.openxmlformats.org/drawingml/2006/main">
              <a:ext uri="{FF2B5EF4-FFF2-40B4-BE49-F238E27FC236}">
                <a16:creationId xmlns:a16="http://schemas.microsoft.com/office/drawing/2014/main" id="{09F0DA1F-2566-4EAB-8D6D-8A439CD6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175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03  Revise with developers as constraints become clear</a:t>
            </a:r>
          </a:p>
        </p:txBody>
      </p:sp>
    </p:spTree>
    <p:extLst>
      <p:ext uri="{BB962C8B-B14F-4D97-AF65-F5344CB8AC3E}">
        <p14:creationId xmlns:p14="http://schemas.microsoft.com/office/powerpoint/2010/main" val="16122258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C6AD59F-B53C-4A37-B704-A91CB5D9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FC81805-EBD1-42A1-8F42-D4646558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SHOPMY / PROPOSED APPROACH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6E74C003-0CF2-4D39-A79D-A2366749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3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Follow one creator task end to end</a:t>
            </a:r>
          </a:p>
        </p:txBody>
      </p:sp>
      <p:sp>
        <p:nvSpPr>
          <p:cNvPr id="4" name="proposed-intro">
            <a:extLst xmlns:a="http://schemas.openxmlformats.org/drawingml/2006/main">
              <a:ext uri="{FF2B5EF4-FFF2-40B4-BE49-F238E27FC236}">
                <a16:creationId xmlns:a16="http://schemas.microsoft.com/office/drawing/2014/main" id="{2C487F3E-8CFA-421F-948F-5272924C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144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2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I would work with Product, Design, and Engineering to understand one creator or brand task and what the next decision needs to resolve.</a:t>
            </a:r>
          </a:p>
        </p:txBody>
      </p:sp>
      <p:sp>
        <p:nvSpPr>
          <p:cNvPr id="5" name="step1">
            <a:extLst xmlns:a="http://schemas.openxmlformats.org/drawingml/2006/main">
              <a:ext uri="{FF2B5EF4-FFF2-40B4-BE49-F238E27FC236}">
                <a16:creationId xmlns:a16="http://schemas.microsoft.com/office/drawing/2014/main" id="{7086020D-5991-45B2-8D94-7827C682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1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01  Review the task and what research already tells us</a:t>
            </a:r>
          </a:p>
        </p:txBody>
      </p:sp>
      <p:sp>
        <p:nvSpPr>
          <p:cNvPr id="6" name="step2">
            <a:extLst xmlns:a="http://schemas.openxmlformats.org/drawingml/2006/main">
              <a:ext uri="{FF2B5EF4-FFF2-40B4-BE49-F238E27FC236}">
                <a16:creationId xmlns:a16="http://schemas.microsoft.com/office/drawing/2014/main" id="{C09FF49A-109F-45AE-94C1-1E13DCED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1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02  Prototype the decisions across web and mobile</a:t>
            </a:r>
          </a:p>
        </p:txBody>
      </p:sp>
      <p:sp>
        <p:nvSpPr>
          <p:cNvPr id="7" name="step3">
            <a:extLst xmlns:a="http://schemas.openxmlformats.org/drawingml/2006/main">
              <a:ext uri="{FF2B5EF4-FFF2-40B4-BE49-F238E27FC236}">
                <a16:creationId xmlns:a16="http://schemas.microsoft.com/office/drawing/2014/main" id="{0D35CC2C-847D-415F-B2C1-150C4AD4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1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03  Test comprehension and recovery, then iterate</a:t>
            </a:r>
          </a:p>
        </p:txBody>
      </p:sp>
      <p:sp>
        <p:nvSpPr>
          <p:cNvPr id="8" name="boundary">
            <a:extLst xmlns:a="http://schemas.openxmlformats.org/drawingml/2006/main">
              <a:ext uri="{FF2B5EF4-FFF2-40B4-BE49-F238E27FC236}">
                <a16:creationId xmlns:a16="http://schemas.microsoft.com/office/drawing/2014/main" id="{41C9D181-D108-4A05-A68B-08E812D6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4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Proposed collaboration approach; no prior ShopMy client work is claimed.</a:t>
            </a:r>
          </a:p>
        </p:txBody>
      </p:sp>
    </p:spTree>
    <p:extLst>
      <p:ext uri="{BB962C8B-B14F-4D97-AF65-F5344CB8AC3E}">
        <p14:creationId xmlns:p14="http://schemas.microsoft.com/office/powerpoint/2010/main" val="8345478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44D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61F535D-D04D-448C-855E-9E780FFE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DBEB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DBEB89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9D2B3F12-55D1-4DFF-A32C-7D4C4469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DBEB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BEB89"/>
                </a:solidFill>
                <a:latin typeface="Helvetica Neue"/>
                <a:ea typeface="Helvetica Neue"/>
                <a:cs typeface="Helvetica Neue"/>
              </a:rPr>
              <a:t>SHOPMY / SENIOR PRODUCT DESIGNER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B24FDF14-9C9D-4688-8B7B-AF7C4948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5400" b="1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Kyle Hobson</a:t>
            </a:r>
          </a:p>
        </p:txBody>
      </p:sp>
      <p:sp>
        <p:nvSpPr>
          <p:cNvPr id="4" name="background">
            <a:extLst xmlns:a="http://schemas.openxmlformats.org/drawingml/2006/main">
              <a:ext uri="{FF2B5EF4-FFF2-40B4-BE49-F238E27FC236}">
                <a16:creationId xmlns:a16="http://schemas.microsoft.com/office/drawing/2014/main" id="{BBF6F68C-622D-4C38-A357-07B4F570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76625"/>
            <a:ext cx="1028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325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Reusable interfaces, complete flows,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325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and research-informed design decisions.</a:t>
            </a:r>
          </a:p>
        </p:txBody>
      </p:sp>
      <p:sp>
        <p:nvSpPr>
          <p:cNvPr id="5" name="availability">
            <a:extLst xmlns:a="http://schemas.openxmlformats.org/drawingml/2006/main">
              <a:ext uri="{FF2B5EF4-FFF2-40B4-BE49-F238E27FC236}">
                <a16:creationId xmlns:a16="http://schemas.microsoft.com/office/drawing/2014/main" id="{56C08CBD-6597-43ED-90FE-820D3747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3395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00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Mesa, Arizona / Available for U.S. remote work</a:t>
            </a:r>
          </a:p>
        </p:txBody>
      </p:sp>
      <p:sp>
        <p:nvSpPr>
          <p:cNvPr id="6" name="email">
            <a:extLst xmlns:a="http://schemas.openxmlformats.org/drawingml/2006/main">
              <a:ext uri="{FF2B5EF4-FFF2-40B4-BE49-F238E27FC236}">
                <a16:creationId xmlns:a16="http://schemas.microsoft.com/office/drawing/2014/main" id="{048018CE-AE66-4D9A-8C97-395AAEF2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1057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75" b="0" u="sng">
                <a:solidFill>
                  <a:srgbClr val="DBEB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u="sng">
                <a:solidFill>
                  <a:srgbClr val="DBEB89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9e616a2b87094595"/>
              </a:rPr>
              <a:t>JonathanKyleHobson@gmail.com</a:t>
            </a:r>
          </a:p>
        </p:txBody>
      </p:sp>
      <p:sp>
        <p:nvSpPr>
          <p:cNvPr id="7" name="portfolio">
            <a:extLst xmlns:a="http://schemas.openxmlformats.org/drawingml/2006/main">
              <a:ext uri="{FF2B5EF4-FFF2-40B4-BE49-F238E27FC236}">
                <a16:creationId xmlns:a16="http://schemas.microsoft.com/office/drawing/2014/main" id="{793991DC-0739-48B1-B9A8-6929B92F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245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725" b="0" u="sng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u="sng">
                <a:solidFill>
                  <a:srgbClr val="F4F2E9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1080924445b84c8c"/>
              </a:rPr>
              <a:t>Portfolio selected for ShopMy</a:t>
            </a:r>
          </a:p>
        </p:txBody>
      </p:sp>
    </p:spTree>
    <p:extLst>
      <p:ext uri="{BB962C8B-B14F-4D97-AF65-F5344CB8AC3E}">
        <p14:creationId xmlns:p14="http://schemas.microsoft.com/office/powerpoint/2010/main" val="1486940433"/>
      </p:ext>
    </p:extLst>
  </p:cSld>
</p:sld>
</file>

<file path=ppt/theme/theme1.xml><?xml version="1.0" encoding="utf-8"?>
<a:theme xmlns:a="http://schemas.openxmlformats.org/drawingml/2006/main" name="ChatGPT">
  <a:themeElements>
    <a:clrScheme name="Kyle Portfolio">
      <a:dk1>
        <a:srgbClr val="192B25"/>
      </a:dk1>
      <a:lt1>
        <a:srgbClr val="FFFFFF"/>
      </a:lt1>
      <a:dk2>
        <a:srgbClr val="244D3C"/>
      </a:dk2>
      <a:lt2>
        <a:srgbClr val="F4F2E9"/>
      </a:lt2>
      <a:accent1>
        <a:srgbClr val="244D3C"/>
      </a:accent1>
      <a:accent2>
        <a:srgbClr val="DBEB89"/>
      </a:accent2>
      <a:accent3>
        <a:srgbClr val="E1E8DB"/>
      </a:accent3>
      <a:accent4>
        <a:srgbClr val="58645D"/>
      </a:accent4>
      <a:accent5>
        <a:srgbClr val="192B25"/>
      </a:accent5>
      <a:accent6>
        <a:srgbClr val="F4F2E9"/>
      </a:accent6>
      <a:hlink>
        <a:srgbClr val="DBEB89"/>
      </a:hlink>
      <a:folHlink>
        <a:srgbClr val="DBEB8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Kyle Portfoli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2026-09-08T21:34:31.1230000Z</dcterms:created>
  <dcterms:modified xsi:type="dcterms:W3CDTF">2026-09-08T21:34:31.1230000Z</dcterms:modified>
</coreProperties>
</file>