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82a2370d804ea9" /><Relationship Type="http://schemas.openxmlformats.org/officeDocument/2006/relationships/extended-properties" Target="/docProps/app.xml" Id="R1b1da7a25ed7487c" /><Relationship Type="http://schemas.openxmlformats.org/officeDocument/2006/relationships/officeDocument" Target="/ppt/presentation.xml" Id="R97a884c66af44740" /></Relationships>
</file>

<file path=ppt/presentation.xml><?xml version="1.0" encoding="utf-8"?>
<p:presentation xmlns:p="http://schemas.openxmlformats.org/presentationml/2006/main">
  <p:sldMasterIdLst>
    <p:sldMasterId xmlns:r="http://schemas.openxmlformats.org/officeDocument/2006/relationships" id="2147483648" r:id="R610cdd753a664ce8"/>
  </p:sldMasterIdLst>
  <p:notesMasterIdLst>
    <p:notesMasterId xmlns:r="http://schemas.openxmlformats.org/officeDocument/2006/relationships" r:id="R87df2974ed8d4c83"/>
  </p:notesMasterIdLst>
  <p:sldIdLst>
    <p:sldId xmlns:r="http://schemas.openxmlformats.org/officeDocument/2006/relationships" id="256" r:id="R1f9a2203994344cc"/>
    <p:sldId xmlns:r="http://schemas.openxmlformats.org/officeDocument/2006/relationships" id="257" r:id="R7f521dc4f3a144b5"/>
    <p:sldId xmlns:r="http://schemas.openxmlformats.org/officeDocument/2006/relationships" id="258" r:id="R52f94eae79d74bd1"/>
    <p:sldId xmlns:r="http://schemas.openxmlformats.org/officeDocument/2006/relationships" id="259" r:id="R558a4a7c83c043fc"/>
    <p:sldId xmlns:r="http://schemas.openxmlformats.org/officeDocument/2006/relationships" id="260" r:id="Rd00611a645704127"/>
    <p:sldId xmlns:r="http://schemas.openxmlformats.org/officeDocument/2006/relationships" id="261" r:id="R894a267b91ff4c3a"/>
    <p:sldId xmlns:r="http://schemas.openxmlformats.org/officeDocument/2006/relationships" id="262" r:id="R1d615bba5d6a4d83"/>
    <p:sldId xmlns:r="http://schemas.openxmlformats.org/officeDocument/2006/relationships" id="263" r:id="Rd82ef08c74614200"/>
    <p:sldId xmlns:r="http://schemas.openxmlformats.org/officeDocument/2006/relationships" id="264" r:id="Rd1d338111d7c4e37"/>
    <p:sldId xmlns:r="http://schemas.openxmlformats.org/officeDocument/2006/relationships" id="265" r:id="R664caecc108040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50ede22c1948fa" /><Relationship Type="http://schemas.openxmlformats.org/officeDocument/2006/relationships/slideMaster" Target="/ppt/slideMasters/slideMaster1.xml" Id="R610cdd753a664ce8" /><Relationship Type="http://schemas.openxmlformats.org/officeDocument/2006/relationships/notesMaster" Target="/ppt/notesMasters/notesMaster1.xml" Id="R87df2974ed8d4c83" /><Relationship Type="http://schemas.openxmlformats.org/officeDocument/2006/relationships/presProps" Target="/ppt/presProps.xml" Id="R7784d33ce3c645fb" /><Relationship Type="http://schemas.openxmlformats.org/officeDocument/2006/relationships/tableStyles" Target="/ppt/tableStyles.xml" Id="R9d0f4fdb20704299" /><Relationship Type="http://schemas.openxmlformats.org/officeDocument/2006/relationships/slide" Target="/ppt/slides/slide1.xml" Id="R1f9a2203994344cc" /><Relationship Type="http://schemas.openxmlformats.org/officeDocument/2006/relationships/slide" Target="/ppt/slides/slide2.xml" Id="R7f521dc4f3a144b5" /><Relationship Type="http://schemas.openxmlformats.org/officeDocument/2006/relationships/slide" Target="/ppt/slides/slide3.xml" Id="R52f94eae79d74bd1" /><Relationship Type="http://schemas.openxmlformats.org/officeDocument/2006/relationships/slide" Target="/ppt/slides/slide4.xml" Id="R558a4a7c83c043fc" /><Relationship Type="http://schemas.openxmlformats.org/officeDocument/2006/relationships/slide" Target="/ppt/slides/slide5.xml" Id="Rd00611a645704127" /><Relationship Type="http://schemas.openxmlformats.org/officeDocument/2006/relationships/slide" Target="/ppt/slides/slide6.xml" Id="R894a267b91ff4c3a" /><Relationship Type="http://schemas.openxmlformats.org/officeDocument/2006/relationships/slide" Target="/ppt/slides/slide7.xml" Id="R1d615bba5d6a4d83" /><Relationship Type="http://schemas.openxmlformats.org/officeDocument/2006/relationships/slide" Target="/ppt/slides/slide8.xml" Id="Rd82ef08c74614200" /><Relationship Type="http://schemas.openxmlformats.org/officeDocument/2006/relationships/slide" Target="/ppt/slides/slide9.xml" Id="Rd1d338111d7c4e37" /><Relationship Type="http://schemas.openxmlformats.org/officeDocument/2006/relationships/slide" Target="/ppt/slides/slide10.xml" Id="R664caecc108040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7642f25ec644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b50f464b414502" /><Relationship Type="http://schemas.openxmlformats.org/officeDocument/2006/relationships/notesMaster" Target="/ppt/notesMasters/notesMaster1.xml" Id="Reba6f33649704b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3edd2aa4df474d" /><Relationship Type="http://schemas.openxmlformats.org/officeDocument/2006/relationships/notesMaster" Target="/ppt/notesMasters/notesMaster1.xml" Id="R7edba59351da43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c50ee50dd94b5f" /><Relationship Type="http://schemas.openxmlformats.org/officeDocument/2006/relationships/notesMaster" Target="/ppt/notesMasters/notesMaster1.xml" Id="R1050cce4b6bf4e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3e3dd1e3994db4" /><Relationship Type="http://schemas.openxmlformats.org/officeDocument/2006/relationships/notesMaster" Target="/ppt/notesMasters/notesMaster1.xml" Id="R035560d3bce144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0ebc42231f4704" /><Relationship Type="http://schemas.openxmlformats.org/officeDocument/2006/relationships/notesMaster" Target="/ppt/notesMasters/notesMaster1.xml" Id="Ra58c5739fa5e46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38d9ce51234be2" /><Relationship Type="http://schemas.openxmlformats.org/officeDocument/2006/relationships/notesMaster" Target="/ppt/notesMasters/notesMaster1.xml" Id="R7725f313941e4b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775d93e51245aa" /><Relationship Type="http://schemas.openxmlformats.org/officeDocument/2006/relationships/notesMaster" Target="/ppt/notesMasters/notesMaster1.xml" Id="Rc7f6c91bb7664a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a34661a08f4e72" /><Relationship Type="http://schemas.openxmlformats.org/officeDocument/2006/relationships/notesMaster" Target="/ppt/notesMasters/notesMaster1.xml" Id="Rd1123a7d66374b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6cce5151f6b4cb2" /><Relationship Type="http://schemas.openxmlformats.org/officeDocument/2006/relationships/notesMaster" Target="/ppt/notesMasters/notesMaster1.xml" Id="Ra7492346aa374d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34020f806f4026" /><Relationship Type="http://schemas.openxmlformats.org/officeDocument/2006/relationships/notesMaster" Target="/ppt/notesMasters/notesMaster1.xml" Id="R25440757241a42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Interest in Blue State Contract UX Designer (Evergreen), https://www.bluestate.co/careers/job/?gh_jid=5476293 . Employer explicitly says this is not an active vacancy. Blue State is a prospective client/employer. Work examples are prior Oak and FactorLab projects. Cover art is decorative canonical portfolio imagery.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canonical Oak case, original November 22, 2023 evaluation, December contribution log and original screenshot with identity area omitted. Kyle developed two concise sitemap alternatives and contributed to shared header/footer refinement. Card sorting and comparative sitemap testing were future proposals; a validated winning sitemap is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SiteMap Outlines: Oak, authored Jonathan Hobson, PDF creation date December 20, 2023. Original page 8 and 14 excerpts preserve wording and structure. Version 1 moves from login/consent/onboarding to VibeCheck; Version 2 adds a homepage linking features. These are text sitemap outlines, not wireframe screenshots or a reconstructed diagram. Comparative usability testing remained future work in the document; no winning sitemap is claimed. Public excerpts contain no private identities or URLs.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About Me original Figma design and April–May 2026 walkthroughs, canonical design.json. Kyle developed page directions, content families and visual alternatives. Product lead and engineering clarified data availability, existing capabilities and routes into detail. Team release of web/server changes is confirmed September 2, 2026; the exact pictured layout is unverified. The crop preserves original source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discussion with Blue State, based on the evergreen UX role at https://www.bluestate.co/careers/job/?gh_jid=5476293 . Not prior Blue State work, committed scope or a tested nonprofit campaign. The client context and appropriate methods would be established at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Blue State’s evergreen listing is a future contractor pool, not a current job. The body describes remote freelance work and USD85–110/hour, while the location header lists NY/DC/Oakland. Kyle lives in Mesa; Arizona engagement eligibility, project availability, schedule and exact terms remain for discussion. No offer or compensation acceptance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9eab7069724f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edf48f832a4fca" /><Relationship Type="http://schemas.openxmlformats.org/officeDocument/2006/relationships/slideLayout" Target="/ppt/slideLayouts/slideLayout1.xml" Id="R80d9c7f5ad654c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9c7f5ad654c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9373a211b14842" /><Relationship Type="http://schemas.openxmlformats.org/officeDocument/2006/relationships/image" Target="/ppt/media/image.png" Id="R5d037aadb5654f9f" /><Relationship Type="http://schemas.openxmlformats.org/officeDocument/2006/relationships/notesSlide" Target="/ppt/notesSlides/notesSlide1.xml" Id="Red551259aea145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e2ff016e1c4a0f" /><Relationship Type="http://schemas.openxmlformats.org/officeDocument/2006/relationships/image" Target="/ppt/media/image2.png" Id="R517e55789a584397" /><Relationship Type="http://schemas.openxmlformats.org/officeDocument/2006/relationships/notesSlide" Target="/ppt/notesSlides/notesSlide2.xml" Id="R4acc733191a444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edb72354a34a78" /><Relationship Type="http://schemas.openxmlformats.org/officeDocument/2006/relationships/image" Target="/ppt/media/image3.png" Id="Reca6661aa52d4caa" /><Relationship Type="http://schemas.openxmlformats.org/officeDocument/2006/relationships/chart" Target="/ppt/slides/charts/chart1.xml" Id="R467e745c29e64aae" /><Relationship Type="http://schemas.openxmlformats.org/officeDocument/2006/relationships/notesSlide" Target="/ppt/notesSlides/notesSlide3.xml" Id="R9144f7e4495d43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e3755666874f99" /><Relationship Type="http://schemas.openxmlformats.org/officeDocument/2006/relationships/notesSlide" Target="/ppt/notesSlides/notesSlide4.xml" Id="R8694ef63fbc34f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ee47d4b30646c7" /><Relationship Type="http://schemas.openxmlformats.org/officeDocument/2006/relationships/image" Target="/ppt/media/image4.png" Id="Rf738cfd38b7c4842" /><Relationship Type="http://schemas.openxmlformats.org/officeDocument/2006/relationships/notesSlide" Target="/ppt/notesSlides/notesSlide5.xml" Id="Re3229a0d6bba40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eb8c1f988946be" /><Relationship Type="http://schemas.openxmlformats.org/officeDocument/2006/relationships/image" Target="/ppt/media/image5.png" Id="R040ed3273dd241d4" /><Relationship Type="http://schemas.openxmlformats.org/officeDocument/2006/relationships/image" Target="/ppt/media/image6.png" Id="Rc664e6d19cde40bb" /><Relationship Type="http://schemas.openxmlformats.org/officeDocument/2006/relationships/notesSlide" Target="/ppt/notesSlides/notesSlide6.xml" Id="Ra6193b1f0e8e43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56457357bc4d6f" /><Relationship Type="http://schemas.openxmlformats.org/officeDocument/2006/relationships/image" Target="/ppt/media/image7.png" Id="R2d2cc31011c0406f" /><Relationship Type="http://schemas.openxmlformats.org/officeDocument/2006/relationships/image" Target="/ppt/media/image8.png" Id="R4a0b3eaa1c324808" /><Relationship Type="http://schemas.openxmlformats.org/officeDocument/2006/relationships/image" Target="/ppt/media/image9.png" Id="R6ebcb53ea08d43f9" /><Relationship Type="http://schemas.openxmlformats.org/officeDocument/2006/relationships/notesSlide" Target="/ppt/notesSlides/notesSlide7.xml" Id="R59013c38b0ef41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8009c6888f431a" /><Relationship Type="http://schemas.openxmlformats.org/officeDocument/2006/relationships/image" Target="/ppt/media/image10.png" Id="Rea4b12666a994a65" /><Relationship Type="http://schemas.openxmlformats.org/officeDocument/2006/relationships/notesSlide" Target="/ppt/notesSlides/notesSlide8.xml" Id="R17ebef0adff745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5ae3ce7d0d4d16" /><Relationship Type="http://schemas.openxmlformats.org/officeDocument/2006/relationships/notesSlide" Target="/ppt/notesSlides/notesSlide9.xml" Id="Rea9a0443b40045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eaa81f00834d61" /><Relationship Type="http://schemas.openxmlformats.org/officeDocument/2006/relationships/hyperlink" Target="mailto:JonathanKyleHobson@gmail.com" TargetMode="External" Id="Rc4ed8ef3bae042be" /><Relationship Type="http://schemas.openxmlformats.org/officeDocument/2006/relationships/hyperlink" Target="https://jonathankhobson.github.io/application-portfolios/bluestate-ux-designer/" TargetMode="External" Id="Rb207ceab565b46d1" /><Relationship Type="http://schemas.openxmlformats.org/officeDocument/2006/relationships/notesSlide" Target="/ppt/notesSlides/notesSlide10.xml" Id="R7cd24dd21f6e4c5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d037aadb5654f9f"/>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3C54E551-F340-4DBE-9ABF-DCC0C43096E1}"/>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BLUE STATE · FREELANCE UX</a:t>
            </a:r>
          </a:p>
        </p:txBody>
      </p:sp>
      <p:sp>
        <p:nvSpPr>
          <p:cNvPr id="3" name="headline">
            <a:extLst xmlns:a="http://schemas.openxmlformats.org/drawingml/2006/main">
              <a:ext uri="{FF2B5EF4-FFF2-40B4-BE49-F238E27FC236}">
                <a16:creationId xmlns:a16="http://schemas.microsoft.com/office/drawing/2014/main" id="{AE289FB3-1B4F-4A50-B246-BA6DD199674E}"/>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Find the friction.</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Clarify the next step.</a:t>
            </a:r>
          </a:p>
        </p:txBody>
      </p:sp>
      <p:sp>
        <p:nvSpPr>
          <p:cNvPr id="4" name="cover-intro">
            <a:extLst xmlns:a="http://schemas.openxmlformats.org/drawingml/2006/main">
              <a:ext uri="{FF2B5EF4-FFF2-40B4-BE49-F238E27FC236}">
                <a16:creationId xmlns:a16="http://schemas.microsoft.com/office/drawing/2014/main" id="{B466BA2E-CF4A-432F-9A2B-2ACF2D4C3AA0}"/>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Research, information architecture and design</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for useful audience experiences.</a:t>
            </a:r>
          </a:p>
        </p:txBody>
      </p:sp>
      <p:sp>
        <p:nvSpPr>
          <p:cNvPr id="5" name="cover-role">
            <a:extLst xmlns:a="http://schemas.openxmlformats.org/drawingml/2006/main">
              <a:ext uri="{FF2B5EF4-FFF2-40B4-BE49-F238E27FC236}">
                <a16:creationId xmlns:a16="http://schemas.microsoft.com/office/drawing/2014/main" id="{82CD21A2-A17E-4FD4-B158-E0664A8D440C}"/>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Future contractor pool · Contract UX Designer (Evergreen) · September 2026</a:t>
            </a:r>
          </a:p>
        </p:txBody>
      </p:sp>
      <p:sp>
        <p:nvSpPr>
          <p:cNvPr id="6" name="slide-number">
            <a:extLst xmlns:a="http://schemas.openxmlformats.org/drawingml/2006/main">
              <a:ext uri="{FF2B5EF4-FFF2-40B4-BE49-F238E27FC236}">
                <a16:creationId xmlns:a16="http://schemas.microsoft.com/office/drawing/2014/main" id="{ADC5EAA4-110C-44E5-8E1D-D8D56D4E8A7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836314965"/>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FEE782D6-4103-44E9-B4D9-B6DA44C89C0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A6A0D848-033E-4404-A167-33A3FF22FF9C}"/>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6CC95563-0E12-4FC8-AA2C-52DE03EDDCBD}"/>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9BA698B9-94B2-49BD-A099-085BD381E999}"/>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C2BA592D-7DB2-4A30-B0ED-B7B2B30E1791}"/>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7e55789a584397"/>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E411D9DA-E08D-4783-ADF5-16C18EF81154}"/>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070DAC0E-7CBC-4EAF-8BED-D8926BEEE3E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211071138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FE6ADD3-6379-452C-8B42-2F196C6DE04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2119BFF6-953C-47F7-8472-B1067EB6783D}"/>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ca6661aa52d4caa"/>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77E8903C-52B3-4F53-95AF-D17A409B4A8D}"/>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467e745c29e64aae"/>
          </a:graphicData>
        </a:graphic>
      </p:graphicFrame>
      <p:sp>
        <p:nvSpPr>
          <p:cNvPr id="6" name="barrier-limit">
            <a:extLst xmlns:a="http://schemas.openxmlformats.org/drawingml/2006/main">
              <a:ext uri="{FF2B5EF4-FFF2-40B4-BE49-F238E27FC236}">
                <a16:creationId xmlns:a16="http://schemas.microsoft.com/office/drawing/2014/main" id="{F3EB779A-C912-4256-BF1F-026720DC2327}"/>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D13489FF-E852-4834-95B8-1B799B3D78E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493869083"/>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0F639A7-1973-4DED-94C3-341C846006D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84606AB9-86A1-4B65-AAB7-88961E587F99}"/>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2A2D65A3-8EDC-45BB-B2D4-18AFFB72AC6C}"/>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C6317263-7131-496A-BDF1-9B2EC5A64A0C}"/>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71938523-7C21-4A1B-AA80-C33E86E15A64}"/>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8865B4E2-D8C9-4CEA-9399-1C225419E9EE}"/>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3708E92B-011E-43E9-8B2F-D32EE5D7AA1D}"/>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B03EB398-0540-4EFB-BE5B-BFA3B3078EC2}"/>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a:t>
            </a:r>
          </a:p>
        </p:txBody>
      </p:sp>
      <p:sp>
        <p:nvSpPr>
          <p:cNvPr id="9" name="direction-1">
            <a:extLst xmlns:a="http://schemas.openxmlformats.org/drawingml/2006/main">
              <a:ext uri="{FF2B5EF4-FFF2-40B4-BE49-F238E27FC236}">
                <a16:creationId xmlns:a16="http://schemas.microsoft.com/office/drawing/2014/main" id="{00754C1F-14FE-4C71-83B6-51333ACD589E}"/>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524DCA50-0557-41DD-9B8C-80FE0A0788EA}"/>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15C48545-5843-4532-ACAD-9F8DEF7D9490}"/>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7E4B3039-DC30-4C8C-A75E-C47D71F9BC6B}"/>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125036EB-11DC-483E-834E-3CA325B8275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32857737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BC0951AF-E163-4BB7-BF6C-180735FA6F5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2" name="headline">
            <a:extLst xmlns:a="http://schemas.openxmlformats.org/drawingml/2006/main">
              <a:ext uri="{FF2B5EF4-FFF2-40B4-BE49-F238E27FC236}">
                <a16:creationId xmlns:a16="http://schemas.microsoft.com/office/drawing/2014/main" id="{BF518147-B6BF-44B2-9CFD-E2B3F4FE61FB}"/>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Make the starting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choices clear</a:t>
            </a:r>
          </a:p>
        </p:txBody>
      </p:sp>
      <p:sp>
        <p:nvSpPr>
          <p:cNvPr id="3" name="oak-observation">
            <a:extLst xmlns:a="http://schemas.openxmlformats.org/drawingml/2006/main">
              <a:ext uri="{FF2B5EF4-FFF2-40B4-BE49-F238E27FC236}">
                <a16:creationId xmlns:a16="http://schemas.microsoft.com/office/drawing/2014/main" id="{A4493404-5038-49F3-8705-3E9A1B72516C}"/>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4" name="oak-rationale">
            <a:extLst xmlns:a="http://schemas.openxmlformats.org/drawingml/2006/main">
              <a:ext uri="{FF2B5EF4-FFF2-40B4-BE49-F238E27FC236}">
                <a16:creationId xmlns:a16="http://schemas.microsoft.com/office/drawing/2014/main" id="{B3E55E15-CB8C-40E3-BE28-820DC5CEA584}"/>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compared labels and sitemap alternatives, then collaborated on shared navigation with the lead designer.</a:t>
            </a:r>
          </a:p>
        </p:txBody>
      </p:sp>
      <p:sp>
        <p:nvSpPr>
          <p:cNvPr id="5" name="oak-stage">
            <a:extLst xmlns:a="http://schemas.openxmlformats.org/drawingml/2006/main">
              <a:ext uri="{FF2B5EF4-FFF2-40B4-BE49-F238E27FC236}">
                <a16:creationId xmlns:a16="http://schemas.microsoft.com/office/drawing/2014/main" id="{D0C3F765-483B-4F13-8F98-6B8C1A62A7CF}"/>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Expert evaluation and design recommendations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738cfd38b7c4842"/>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1418934E-22D9-4FEA-B8CA-4B76615BFE7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172613422"/>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44CA85D8-6D01-489D-97A2-F27BD54106C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ORIGINAL SITEMAP DOCUMENT · DECEMBER 2023</a:t>
            </a:r>
          </a:p>
        </p:txBody>
      </p:sp>
      <p:sp>
        <p:nvSpPr>
          <p:cNvPr id="2" name="headline">
            <a:extLst xmlns:a="http://schemas.openxmlformats.org/drawingml/2006/main">
              <a:ext uri="{FF2B5EF4-FFF2-40B4-BE49-F238E27FC236}">
                <a16:creationId xmlns:a16="http://schemas.microsoft.com/office/drawing/2014/main" id="{C7694E83-57E3-4FAA-95C8-82D94E952B97}"/>
              </a:ext>
            </a:extLst>
          </p:cNvPr>
          <p:cNvSpPr>
            <a:spLocks xmlns:a="http://schemas.openxmlformats.org/drawingml/2006/main" noGrp="1"/>
          </p:cNvSpPr>
          <p:nvPr/>
        </p:nvSpPr>
        <p:spPr>
          <a:xfrm xmlns:a="http://schemas.openxmlformats.org/drawingml/2006/main">
            <a:off x="609600" y="10763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Two outlines, different entry points</a:t>
            </a:r>
          </a:p>
        </p:txBody>
      </p:sp>
      <p:sp>
        <p:nvSpPr>
          <p:cNvPr id="3" name="v1-label">
            <a:extLst xmlns:a="http://schemas.openxmlformats.org/drawingml/2006/main">
              <a:ext uri="{FF2B5EF4-FFF2-40B4-BE49-F238E27FC236}">
                <a16:creationId xmlns:a16="http://schemas.microsoft.com/office/drawing/2014/main" id="{A223CF2C-B4FA-4717-81CC-3307A81F02A2}"/>
              </a:ext>
            </a:extLst>
          </p:cNvPr>
          <p:cNvSpPr>
            <a:spLocks xmlns:a="http://schemas.openxmlformats.org/drawingml/2006/main" noGrp="1"/>
          </p:cNvSpPr>
          <p:nvPr/>
        </p:nvSpPr>
        <p:spPr>
          <a:xfrm xmlns:a="http://schemas.openxmlformats.org/drawingml/2006/main">
            <a:off x="609600" y="2305050"/>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Version 1: VibeCheck first</a:t>
            </a:r>
          </a:p>
        </p:txBody>
      </p:sp>
      <p:sp>
        <p:nvSpPr>
          <p:cNvPr id="4" name="v2-label">
            <a:extLst xmlns:a="http://schemas.openxmlformats.org/drawingml/2006/main">
              <a:ext uri="{FF2B5EF4-FFF2-40B4-BE49-F238E27FC236}">
                <a16:creationId xmlns:a16="http://schemas.microsoft.com/office/drawing/2014/main" id="{726D1BC0-5D20-4E58-B285-B07DB64461B2}"/>
              </a:ext>
            </a:extLst>
          </p:cNvPr>
          <p:cNvSpPr>
            <a:spLocks xmlns:a="http://schemas.openxmlformats.org/drawingml/2006/main" noGrp="1"/>
          </p:cNvSpPr>
          <p:nvPr/>
        </p:nvSpPr>
        <p:spPr>
          <a:xfrm xmlns:a="http://schemas.openxmlformats.org/drawingml/2006/main">
            <a:off x="6419850" y="2305050"/>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1">
                <a:solidFill>
                  <a:srgbClr val="244D3C"/>
                </a:solidFill>
                <a:latin typeface="Helvetica Neue"/>
                <a:ea typeface="Helvetica Neue"/>
                <a:cs typeface="Helvetica Neue"/>
              </a:defRPr>
            </a:pPr>
            <a:r>
              <a:rPr sz="1725" b="1">
                <a:solidFill>
                  <a:srgbClr val="244D3C"/>
                </a:solidFill>
                <a:latin typeface="Helvetica Neue"/>
                <a:ea typeface="Helvetica Neue"/>
                <a:cs typeface="Helvetica Neue"/>
              </a:rPr>
              <a:t>Version 2: Homepage first</a:t>
            </a:r>
          </a:p>
        </p:txBody>
      </p:sp>
      <p:sp>
        <p:nvSpPr>
          <p:cNvPr id="5" name="v1-sequence">
            <a:extLst xmlns:a="http://schemas.openxmlformats.org/drawingml/2006/main">
              <a:ext uri="{FF2B5EF4-FFF2-40B4-BE49-F238E27FC236}">
                <a16:creationId xmlns:a16="http://schemas.microsoft.com/office/drawing/2014/main" id="{670CE69C-E74F-4D5A-92A3-265DBCAE59C8}"/>
              </a:ext>
            </a:extLst>
          </p:cNvPr>
          <p:cNvSpPr>
            <a:spLocks xmlns:a="http://schemas.openxmlformats.org/drawingml/2006/main" noGrp="1"/>
          </p:cNvSpPr>
          <p:nvPr/>
        </p:nvSpPr>
        <p:spPr>
          <a:xfrm xmlns:a="http://schemas.openxmlformats.org/drawingml/2006/main">
            <a:off x="609600" y="2819400"/>
            <a:ext cx="5219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After login, consent and optional onboarding.</a:t>
            </a:r>
          </a:p>
        </p:txBody>
      </p:sp>
      <p:sp>
        <p:nvSpPr>
          <p:cNvPr id="6" name="v2-sequence">
            <a:extLst xmlns:a="http://schemas.openxmlformats.org/drawingml/2006/main">
              <a:ext uri="{FF2B5EF4-FFF2-40B4-BE49-F238E27FC236}">
                <a16:creationId xmlns:a16="http://schemas.microsoft.com/office/drawing/2014/main" id="{96A4A474-4A94-449E-8690-32BC957F6011}"/>
              </a:ext>
            </a:extLst>
          </p:cNvPr>
          <p:cNvSpPr>
            <a:spLocks xmlns:a="http://schemas.openxmlformats.org/drawingml/2006/main" noGrp="1"/>
          </p:cNvSpPr>
          <p:nvPr/>
        </p:nvSpPr>
        <p:spPr>
          <a:xfrm xmlns:a="http://schemas.openxmlformats.org/drawingml/2006/main">
            <a:off x="6419850" y="281940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After login and consent.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40ed3273dd241d4"/>
          <a:stretch xmlns:a="http://schemas.openxmlformats.org/drawingml/2006/main"/>
        </p:blipFill>
        <p:spPr>
          <a:xfrm xmlns:a="http://schemas.openxmlformats.org/drawingml/2006/main">
            <a:off x="609600" y="4267722"/>
            <a:ext cx="5219700" cy="627607"/>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664e6d19cde40bb"/>
          <a:stretch xmlns:a="http://schemas.openxmlformats.org/drawingml/2006/main"/>
        </p:blipFill>
        <p:spPr>
          <a:xfrm xmlns:a="http://schemas.openxmlformats.org/drawingml/2006/main">
            <a:off x="6419850" y="3772777"/>
            <a:ext cx="5143500" cy="1617495"/>
          </a:xfrm>
          <a:prstGeom xmlns:a="http://schemas.openxmlformats.org/drawingml/2006/main" prst="rect">
            <a:avLst/>
          </a:prstGeom>
        </p:spPr>
      </p:pic>
      <p:sp>
        <p:nvSpPr>
          <p:cNvPr id="9" name="sitemap-page1">
            <a:extLst xmlns:a="http://schemas.openxmlformats.org/drawingml/2006/main">
              <a:ext uri="{FF2B5EF4-FFF2-40B4-BE49-F238E27FC236}">
                <a16:creationId xmlns:a16="http://schemas.microsoft.com/office/drawing/2014/main" id="{FEA6AEE9-138C-4BBF-A189-023989F4D00E}"/>
              </a:ext>
            </a:extLst>
          </p:cNvPr>
          <p:cNvSpPr>
            <a:spLocks xmlns:a="http://schemas.openxmlformats.org/drawingml/2006/main" noGrp="1"/>
          </p:cNvSpPr>
          <p:nvPr/>
        </p:nvSpPr>
        <p:spPr>
          <a:xfrm xmlns:a="http://schemas.openxmlformats.org/drawingml/2006/main">
            <a:off x="609600" y="5572125"/>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page 8 · selected entry detail</a:t>
            </a:r>
          </a:p>
        </p:txBody>
      </p:sp>
      <p:sp>
        <p:nvSpPr>
          <p:cNvPr id="10" name="sitemap-page2">
            <a:extLst xmlns:a="http://schemas.openxmlformats.org/drawingml/2006/main">
              <a:ext uri="{FF2B5EF4-FFF2-40B4-BE49-F238E27FC236}">
                <a16:creationId xmlns:a16="http://schemas.microsoft.com/office/drawing/2014/main" id="{99191B11-D98A-4EFE-9AC5-D3F3712828D0}"/>
              </a:ext>
            </a:extLst>
          </p:cNvPr>
          <p:cNvSpPr>
            <a:spLocks xmlns:a="http://schemas.openxmlformats.org/drawingml/2006/main" noGrp="1"/>
          </p:cNvSpPr>
          <p:nvPr/>
        </p:nvSpPr>
        <p:spPr>
          <a:xfrm xmlns:a="http://schemas.openxmlformats.org/drawingml/2006/main">
            <a:off x="6419850" y="5572125"/>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page 14 · selected entry detail</a:t>
            </a:r>
          </a:p>
        </p:txBody>
      </p:sp>
      <p:sp>
        <p:nvSpPr>
          <p:cNvPr id="11" name="sitemap-scope">
            <a:extLst xmlns:a="http://schemas.openxmlformats.org/drawingml/2006/main">
              <a:ext uri="{FF2B5EF4-FFF2-40B4-BE49-F238E27FC236}">
                <a16:creationId xmlns:a16="http://schemas.microsoft.com/office/drawing/2014/main" id="{FB5F79E3-1EF0-45F5-9730-D21732BE09C4}"/>
              </a:ext>
            </a:extLst>
          </p:cNvPr>
          <p:cNvSpPr>
            <a:spLocks xmlns:a="http://schemas.openxmlformats.org/drawingml/2006/main" noGrp="1"/>
          </p:cNvSpPr>
          <p:nvPr/>
        </p:nvSpPr>
        <p:spPr>
          <a:xfrm xmlns:a="http://schemas.openxmlformats.org/drawingml/2006/main">
            <a:off x="609600" y="605790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Original text-outline excerpts · proposals, not a released or validated structure</a:t>
            </a:r>
          </a:p>
        </p:txBody>
      </p:sp>
      <p:sp>
        <p:nvSpPr>
          <p:cNvPr id="12" name="slide-number">
            <a:extLst xmlns:a="http://schemas.openxmlformats.org/drawingml/2006/main">
              <a:ext uri="{FF2B5EF4-FFF2-40B4-BE49-F238E27FC236}">
                <a16:creationId xmlns:a16="http://schemas.microsoft.com/office/drawing/2014/main" id="{366640C5-7D98-4C29-9C8F-FEB21F5CA08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044327653"/>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F7C86D01-1C28-4B77-9D85-303E29678D0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DEFABF1C-4133-4FDE-B668-8F710E65D4E4}"/>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2BC3A35F-C5C0-4B83-AB73-4FC492014261}"/>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584D2001-1719-4975-9247-E060056C26F6}"/>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070EB4FD-93C6-4429-AF92-28C09B94F247}"/>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3AE0305E-293D-4FB8-A946-46D10C40EF78}"/>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d2cc31011c0406f"/>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a0b3eaa1c324808"/>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511A9392-ACD8-4E7E-9E6D-926C45E3D1CC}"/>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ebcb53ea08d43f9"/>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34702B7E-B2C2-4DCA-956A-976150F39A4C}"/>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12E1353E-FF77-4004-AF96-04370F397A0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551896512"/>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5F873AE6-FA0A-4B1A-AF74-1AD80079C3F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INFORMATION ARCHITECTURE, 2026</a:t>
            </a:r>
          </a:p>
        </p:txBody>
      </p:sp>
      <p:sp>
        <p:nvSpPr>
          <p:cNvPr id="2" name="headline">
            <a:extLst xmlns:a="http://schemas.openxmlformats.org/drawingml/2006/main">
              <a:ext uri="{FF2B5EF4-FFF2-40B4-BE49-F238E27FC236}">
                <a16:creationId xmlns:a16="http://schemas.microsoft.com/office/drawing/2014/main" id="{D86ED706-96FA-4E64-90D5-1357E4D17524}"/>
              </a:ext>
            </a:extLst>
          </p:cNvPr>
          <p:cNvSpPr>
            <a:spLocks xmlns:a="http://schemas.openxmlformats.org/drawingml/2006/main" noGrp="1"/>
          </p:cNvSpPr>
          <p:nvPr/>
        </p:nvSpPr>
        <p:spPr>
          <a:xfrm xmlns:a="http://schemas.openxmlformats.org/drawingml/2006/main">
            <a:off x="609600" y="110490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Organize content by</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question it answers</a:t>
            </a:r>
          </a:p>
        </p:txBody>
      </p:sp>
      <p:sp>
        <p:nvSpPr>
          <p:cNvPr id="3" name="families">
            <a:extLst xmlns:a="http://schemas.openxmlformats.org/drawingml/2006/main">
              <a:ext uri="{FF2B5EF4-FFF2-40B4-BE49-F238E27FC236}">
                <a16:creationId xmlns:a16="http://schemas.microsoft.com/office/drawing/2014/main" id="{F59734E9-E963-48AD-8AFD-51E9ECAA7DDD}"/>
              </a:ext>
            </a:extLst>
          </p:cNvPr>
          <p:cNvSpPr>
            <a:spLocks xmlns:a="http://schemas.openxmlformats.org/drawingml/2006/main" noGrp="1"/>
          </p:cNvSpPr>
          <p:nvPr/>
        </p:nvSpPr>
        <p:spPr>
          <a:xfrm xmlns:a="http://schemas.openxmlformats.org/drawingml/2006/main">
            <a:off x="609600" y="3152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Summaries. Recommendations. Simple 7. Comparisons. Accomplishments.</a:t>
            </a:r>
          </a:p>
        </p:txBody>
      </p:sp>
      <p:sp>
        <p:nvSpPr>
          <p:cNvPr id="4" name="families-rationale">
            <a:extLst xmlns:a="http://schemas.openxmlformats.org/drawingml/2006/main">
              <a:ext uri="{FF2B5EF4-FFF2-40B4-BE49-F238E27FC236}">
                <a16:creationId xmlns:a16="http://schemas.microsoft.com/office/drawing/2014/main" id="{16348C06-EEFD-4A50-B7B6-CF857A3FAF5C}"/>
              </a:ext>
            </a:extLst>
          </p:cNvPr>
          <p:cNvSpPr>
            <a:spLocks xmlns:a="http://schemas.openxmlformats.org/drawingml/2006/main" noGrp="1"/>
          </p:cNvSpPr>
          <p:nvPr/>
        </p:nvSpPr>
        <p:spPr>
          <a:xfrm xmlns:a="http://schemas.openxmlformats.org/drawingml/2006/main">
            <a:off x="609600" y="461010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explored content density and reusable widget structures, then worked with engineers on what each action opened.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a4b12666a994a65"/>
          <a:stretch xmlns:a="http://schemas.openxmlformats.org/drawingml/2006/main"/>
        </p:blipFill>
        <p:spPr>
          <a:xfrm xmlns:a="http://schemas.openxmlformats.org/drawingml/2006/main">
            <a:off x="6896100" y="2241046"/>
            <a:ext cx="4648200" cy="2280659"/>
          </a:xfrm>
          <a:prstGeom xmlns:a="http://schemas.openxmlformats.org/drawingml/2006/main" prst="rect">
            <a:avLst/>
          </a:prstGeom>
        </p:spPr>
      </p:pic>
      <p:sp>
        <p:nvSpPr>
          <p:cNvPr id="6" name="families-caption">
            <a:extLst xmlns:a="http://schemas.openxmlformats.org/drawingml/2006/main">
              <a:ext uri="{FF2B5EF4-FFF2-40B4-BE49-F238E27FC236}">
                <a16:creationId xmlns:a16="http://schemas.microsoft.com/office/drawing/2014/main" id="{B778318A-C926-4352-8EB7-AB7221D326A9}"/>
              </a:ext>
            </a:extLst>
          </p:cNvPr>
          <p:cNvSpPr>
            <a:spLocks xmlns:a="http://schemas.openxmlformats.org/drawingml/2006/main" noGrp="1"/>
          </p:cNvSpPr>
          <p:nvPr/>
        </p:nvSpPr>
        <p:spPr>
          <a:xfrm xmlns:a="http://schemas.openxmlformats.org/drawingml/2006/main">
            <a:off x="6896100" y="4991100"/>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design detail · sample content</a:t>
            </a:r>
          </a:p>
        </p:txBody>
      </p:sp>
      <p:sp>
        <p:nvSpPr>
          <p:cNvPr id="7" name="slide-number">
            <a:extLst xmlns:a="http://schemas.openxmlformats.org/drawingml/2006/main">
              <a:ext uri="{FF2B5EF4-FFF2-40B4-BE49-F238E27FC236}">
                <a16:creationId xmlns:a16="http://schemas.microsoft.com/office/drawing/2014/main" id="{544670A6-D2C2-4B15-BAAD-F18B2E139CC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937285803"/>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BA587226-0AA9-455E-B5F6-3A7DB483CE5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A FUTURE BLUE STATE PROJECT</a:t>
            </a:r>
          </a:p>
        </p:txBody>
      </p:sp>
      <p:sp>
        <p:nvSpPr>
          <p:cNvPr id="2" name="headline">
            <a:extLst xmlns:a="http://schemas.openxmlformats.org/drawingml/2006/main">
              <a:ext uri="{FF2B5EF4-FFF2-40B4-BE49-F238E27FC236}">
                <a16:creationId xmlns:a16="http://schemas.microsoft.com/office/drawing/2014/main" id="{3CD79560-9326-4480-B7FB-CB375FD57661}"/>
              </a:ext>
            </a:extLst>
          </p:cNvPr>
          <p:cNvSpPr>
            <a:spLocks xmlns:a="http://schemas.openxmlformats.org/drawingml/2006/main" noGrp="1"/>
          </p:cNvSpPr>
          <p:nvPr/>
        </p:nvSpPr>
        <p:spPr>
          <a:xfrm xmlns:a="http://schemas.openxmlformats.org/drawingml/2006/main">
            <a:off x="609600" y="10763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focused first action to test</a:t>
            </a:r>
          </a:p>
        </p:txBody>
      </p:sp>
      <p:sp>
        <p:nvSpPr>
          <p:cNvPr id="3" name="purpose-heading">
            <a:extLst xmlns:a="http://schemas.openxmlformats.org/drawingml/2006/main">
              <a:ext uri="{FF2B5EF4-FFF2-40B4-BE49-F238E27FC236}">
                <a16:creationId xmlns:a16="http://schemas.microsoft.com/office/drawing/2014/main" id="{35BB10AB-8889-4207-8E83-1FC1ECA991F3}"/>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Understand the audience</a:t>
            </a:r>
          </a:p>
        </p:txBody>
      </p:sp>
      <p:sp>
        <p:nvSpPr>
          <p:cNvPr id="4" name="purpose-body">
            <a:extLst xmlns:a="http://schemas.openxmlformats.org/drawingml/2006/main">
              <a:ext uri="{FF2B5EF4-FFF2-40B4-BE49-F238E27FC236}">
                <a16:creationId xmlns:a16="http://schemas.microsoft.com/office/drawing/2014/main" id="{1F5A9C72-6411-4D94-99DC-EBC9952B612A}"/>
              </a:ext>
            </a:extLst>
          </p:cNvPr>
          <p:cNvSpPr>
            <a:spLocks xmlns:a="http://schemas.openxmlformats.org/drawingml/2006/main" noGrp="1"/>
          </p:cNvSpPr>
          <p:nvPr/>
        </p:nvSpPr>
        <p:spPr>
          <a:xfrm xmlns:a="http://schemas.openxmlformats.org/drawingml/2006/main">
            <a:off x="609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Agree on the user’s task and the client’s intended result. Review existing evidence and what is still unknown.</a:t>
            </a:r>
          </a:p>
        </p:txBody>
      </p:sp>
      <p:sp>
        <p:nvSpPr>
          <p:cNvPr id="5" name="structure-heading">
            <a:extLst xmlns:a="http://schemas.openxmlformats.org/drawingml/2006/main">
              <a:ext uri="{FF2B5EF4-FFF2-40B4-BE49-F238E27FC236}">
                <a16:creationId xmlns:a16="http://schemas.microsoft.com/office/drawing/2014/main" id="{845C7377-3BDF-49C6-B18C-469501302AC2}"/>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Map the useful content</a:t>
            </a:r>
          </a:p>
        </p:txBody>
      </p:sp>
      <p:sp>
        <p:nvSpPr>
          <p:cNvPr id="6" name="structure-body">
            <a:extLst xmlns:a="http://schemas.openxmlformats.org/drawingml/2006/main">
              <a:ext uri="{FF2B5EF4-FFF2-40B4-BE49-F238E27FC236}">
                <a16:creationId xmlns:a16="http://schemas.microsoft.com/office/drawing/2014/main" id="{B9BC732B-02AB-432E-B3F0-F66148E863F0}"/>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Compare labels, page relationships and the information people need before committing to an action.</a:t>
            </a:r>
          </a:p>
        </p:txBody>
      </p:sp>
      <p:sp>
        <p:nvSpPr>
          <p:cNvPr id="7" name="compare-heading">
            <a:extLst xmlns:a="http://schemas.openxmlformats.org/drawingml/2006/main">
              <a:ext uri="{FF2B5EF4-FFF2-40B4-BE49-F238E27FC236}">
                <a16:creationId xmlns:a16="http://schemas.microsoft.com/office/drawing/2014/main" id="{AECB7648-0AF3-4991-9F6D-DD04883B786E}"/>
              </a:ext>
            </a:extLst>
          </p:cNvPr>
          <p:cNvSpPr>
            <a:spLocks xmlns:a="http://schemas.openxmlformats.org/drawingml/2006/main" noGrp="1"/>
          </p:cNvSpPr>
          <p:nvPr/>
        </p:nvSpPr>
        <p:spPr>
          <a:xfrm xmlns:a="http://schemas.openxmlformats.org/drawingml/2006/main">
            <a:off x="609600" y="4857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Make a small prototype</a:t>
            </a:r>
          </a:p>
        </p:txBody>
      </p:sp>
      <p:sp>
        <p:nvSpPr>
          <p:cNvPr id="8" name="compare-body">
            <a:extLst xmlns:a="http://schemas.openxmlformats.org/drawingml/2006/main">
              <a:ext uri="{FF2B5EF4-FFF2-40B4-BE49-F238E27FC236}">
                <a16:creationId xmlns:a16="http://schemas.microsoft.com/office/drawing/2014/main" id="{A406CFE7-56C2-45A5-8E9C-57F6E165B63C}"/>
              </a:ext>
            </a:extLst>
          </p:cNvPr>
          <p:cNvSpPr>
            <a:spLocks xmlns:a="http://schemas.openxmlformats.org/drawingml/2006/main" noGrp="1"/>
          </p:cNvSpPr>
          <p:nvPr/>
        </p:nvSpPr>
        <p:spPr>
          <a:xfrm xmlns:a="http://schemas.openxmlformats.org/drawingml/2006/main">
            <a:off x="609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Use a concrete scenario to compare ideas</a:t>
            </a:r>
          </a:p>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with clients, designers and developers.</a:t>
            </a:r>
          </a:p>
        </p:txBody>
      </p:sp>
      <p:sp>
        <p:nvSpPr>
          <p:cNvPr id="9" name="handoff-heading">
            <a:extLst xmlns:a="http://schemas.openxmlformats.org/drawingml/2006/main">
              <a:ext uri="{FF2B5EF4-FFF2-40B4-BE49-F238E27FC236}">
                <a16:creationId xmlns:a16="http://schemas.microsoft.com/office/drawing/2014/main" id="{A58486B2-C0B4-4FB6-A8AB-05B5277221D2}"/>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Observe the next step</a:t>
            </a:r>
          </a:p>
        </p:txBody>
      </p:sp>
      <p:sp>
        <p:nvSpPr>
          <p:cNvPr id="10" name="handoff-body">
            <a:extLst xmlns:a="http://schemas.openxmlformats.org/drawingml/2006/main">
              <a:ext uri="{FF2B5EF4-FFF2-40B4-BE49-F238E27FC236}">
                <a16:creationId xmlns:a16="http://schemas.microsoft.com/office/drawing/2014/main" id="{3A0A0DEE-F882-42C2-A451-55063D54F853}"/>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Test comprehension and task completion.</a:t>
            </a:r>
          </a:p>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Record where content or structure needs</a:t>
            </a:r>
          </a:p>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revision.</a:t>
            </a:r>
          </a:p>
        </p:txBody>
      </p:sp>
      <p:sp>
        <p:nvSpPr>
          <p:cNvPr id="11" name="slide-number">
            <a:extLst xmlns:a="http://schemas.openxmlformats.org/drawingml/2006/main">
              <a:ext uri="{FF2B5EF4-FFF2-40B4-BE49-F238E27FC236}">
                <a16:creationId xmlns:a16="http://schemas.microsoft.com/office/drawing/2014/main" id="{DB0EAA78-C7AF-46CE-B869-90BFC43F30F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754720910"/>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8E6094C4-CB6F-4FA3-AE16-D2B31CC69B92}"/>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BLUE STATE · CONTRACTOR POOL</a:t>
            </a:r>
          </a:p>
        </p:txBody>
      </p:sp>
      <p:sp>
        <p:nvSpPr>
          <p:cNvPr id="2" name="headline">
            <a:extLst xmlns:a="http://schemas.openxmlformats.org/drawingml/2006/main">
              <a:ext uri="{FF2B5EF4-FFF2-40B4-BE49-F238E27FC236}">
                <a16:creationId xmlns:a16="http://schemas.microsoft.com/office/drawing/2014/main" id="{664057F0-E641-4AD9-BC9C-737965872DC1}"/>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Available for future</a:t>
            </a:r>
          </a:p>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freelance UX work</a:t>
            </a:r>
          </a:p>
        </p:txBody>
      </p:sp>
      <p:sp>
        <p:nvSpPr>
          <p:cNvPr id="3" name="contact-intent">
            <a:extLst xmlns:a="http://schemas.openxmlformats.org/drawingml/2006/main">
              <a:ext uri="{FF2B5EF4-FFF2-40B4-BE49-F238E27FC236}">
                <a16:creationId xmlns:a16="http://schemas.microsoft.com/office/drawing/2014/main" id="{E5E5D2A2-B859-4BA8-BBF4-0C1800CD4981}"/>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for remote projects as they arise.</a:t>
            </a:r>
          </a:p>
        </p:txBody>
      </p:sp>
      <p:sp>
        <p:nvSpPr>
          <p:cNvPr id="4" name="email">
            <a:extLst xmlns:a="http://schemas.openxmlformats.org/drawingml/2006/main">
              <a:ext uri="{FF2B5EF4-FFF2-40B4-BE49-F238E27FC236}">
                <a16:creationId xmlns:a16="http://schemas.microsoft.com/office/drawing/2014/main" id="{7CA5ABA9-5B5E-4453-8523-6783A4E03B01}"/>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c4ed8ef3bae042be"/>
              </a:rPr>
              <a:t>JonathanKyleHobson@gmail.com</a:t>
            </a:r>
          </a:p>
        </p:txBody>
      </p:sp>
      <p:sp>
        <p:nvSpPr>
          <p:cNvPr id="5" name="portfolio">
            <a:extLst xmlns:a="http://schemas.openxmlformats.org/drawingml/2006/main">
              <a:ext uri="{FF2B5EF4-FFF2-40B4-BE49-F238E27FC236}">
                <a16:creationId xmlns:a16="http://schemas.microsoft.com/office/drawing/2014/main" id="{760B3D20-3C84-4FF3-8F42-AF467A3CF1AB}"/>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b207ceab565b46d1"/>
              </a:rPr>
              <a:t>jonathankhobson.github.io/application-portfolios/bluestate-ux-designer</a:t>
            </a:r>
          </a:p>
        </p:txBody>
      </p:sp>
      <p:sp>
        <p:nvSpPr>
          <p:cNvPr id="6" name="slide-number">
            <a:extLst xmlns:a="http://schemas.openxmlformats.org/drawingml/2006/main">
              <a:ext uri="{FF2B5EF4-FFF2-40B4-BE49-F238E27FC236}">
                <a16:creationId xmlns:a16="http://schemas.microsoft.com/office/drawing/2014/main" id="{0F289106-7C11-4574-B634-3F3262F6C11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04300193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2026-09-09T02:26:59.9420000Z</dcterms:created>
  <dcterms:modified xsi:type="dcterms:W3CDTF">2026-09-09T02:26:59.9420000Z</dcterms:modified>
</coreProperties>
</file>