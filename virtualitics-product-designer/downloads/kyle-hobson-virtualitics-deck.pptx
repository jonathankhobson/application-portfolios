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355ff06736ce4307" /><Relationship Type="http://schemas.openxmlformats.org/officeDocument/2006/relationships/extended-properties" Target="/docProps/app.xml" Id="Rd04a01aa07fb4fc9" /><Relationship Type="http://schemas.openxmlformats.org/officeDocument/2006/relationships/officeDocument" Target="/ppt/presentation.xml" Id="R34c161dd4aeb4c42" /></Relationships>
</file>

<file path=ppt/presentation.xml><?xml version="1.0" encoding="utf-8"?>
<p:presentation xmlns:p="http://schemas.openxmlformats.org/presentationml/2006/main">
  <p:sldMasterIdLst>
    <p:sldMasterId xmlns:r="http://schemas.openxmlformats.org/officeDocument/2006/relationships" id="2147483648" r:id="R935417efcfac41ea"/>
  </p:sldMasterIdLst>
  <p:notesMasterIdLst>
    <p:notesMasterId xmlns:r="http://schemas.openxmlformats.org/officeDocument/2006/relationships" r:id="R27ba9e09a7474028"/>
  </p:notesMasterIdLst>
  <p:sldIdLst>
    <p:sldId xmlns:r="http://schemas.openxmlformats.org/officeDocument/2006/relationships" id="256" r:id="R2f90fe754d674d7f"/>
    <p:sldId xmlns:r="http://schemas.openxmlformats.org/officeDocument/2006/relationships" id="257" r:id="R64da425adb004f77"/>
    <p:sldId xmlns:r="http://schemas.openxmlformats.org/officeDocument/2006/relationships" id="258" r:id="R3a160b827fa34715"/>
    <p:sldId xmlns:r="http://schemas.openxmlformats.org/officeDocument/2006/relationships" id="259" r:id="Refa16b0ef0cf4482"/>
    <p:sldId xmlns:r="http://schemas.openxmlformats.org/officeDocument/2006/relationships" id="260" r:id="R036301ca9c5b44b1"/>
    <p:sldId xmlns:r="http://schemas.openxmlformats.org/officeDocument/2006/relationships" id="261" r:id="R9a2acdbcdf9f44eb"/>
    <p:sldId xmlns:r="http://schemas.openxmlformats.org/officeDocument/2006/relationships" id="262" r:id="Rc8673c8d02a14096"/>
    <p:sldId xmlns:r="http://schemas.openxmlformats.org/officeDocument/2006/relationships" id="263" r:id="R0efa88c789bd41bb"/>
    <p:sldId xmlns:r="http://schemas.openxmlformats.org/officeDocument/2006/relationships" id="264" r:id="R86aebbc687b445fb"/>
    <p:sldId xmlns:r="http://schemas.openxmlformats.org/officeDocument/2006/relationships" id="265" r:id="R49afa0ef6ce7488e"/>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bc70b5e94b374e80" /><Relationship Type="http://schemas.openxmlformats.org/officeDocument/2006/relationships/slideMaster" Target="/ppt/slideMasters/slideMaster1.xml" Id="R935417efcfac41ea" /><Relationship Type="http://schemas.openxmlformats.org/officeDocument/2006/relationships/notesMaster" Target="/ppt/notesMasters/notesMaster1.xml" Id="R27ba9e09a7474028" /><Relationship Type="http://schemas.openxmlformats.org/officeDocument/2006/relationships/presProps" Target="/ppt/presProps.xml" Id="R214ae160e683406c" /><Relationship Type="http://schemas.openxmlformats.org/officeDocument/2006/relationships/tableStyles" Target="/ppt/tableStyles.xml" Id="R3e5391af216b464e" /><Relationship Type="http://schemas.openxmlformats.org/officeDocument/2006/relationships/slide" Target="/ppt/slides/slide1.xml" Id="R2f90fe754d674d7f" /><Relationship Type="http://schemas.openxmlformats.org/officeDocument/2006/relationships/slide" Target="/ppt/slides/slide2.xml" Id="R64da425adb004f77" /><Relationship Type="http://schemas.openxmlformats.org/officeDocument/2006/relationships/slide" Target="/ppt/slides/slide3.xml" Id="R3a160b827fa34715" /><Relationship Type="http://schemas.openxmlformats.org/officeDocument/2006/relationships/slide" Target="/ppt/slides/slide4.xml" Id="Refa16b0ef0cf4482" /><Relationship Type="http://schemas.openxmlformats.org/officeDocument/2006/relationships/slide" Target="/ppt/slides/slide5.xml" Id="R036301ca9c5b44b1" /><Relationship Type="http://schemas.openxmlformats.org/officeDocument/2006/relationships/slide" Target="/ppt/slides/slide6.xml" Id="R9a2acdbcdf9f44eb" /><Relationship Type="http://schemas.openxmlformats.org/officeDocument/2006/relationships/slide" Target="/ppt/slides/slide7.xml" Id="Rc8673c8d02a14096" /><Relationship Type="http://schemas.openxmlformats.org/officeDocument/2006/relationships/slide" Target="/ppt/slides/slide8.xml" Id="R0efa88c789bd41bb" /><Relationship Type="http://schemas.openxmlformats.org/officeDocument/2006/relationships/slide" Target="/ppt/slides/slide9.xml" Id="R86aebbc687b445fb" /><Relationship Type="http://schemas.openxmlformats.org/officeDocument/2006/relationships/slide" Target="/ppt/slides/slide10.xml" Id="R49afa0ef6ce7488e"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0fc32d923a64563"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Kyle Portfolio">
      <a:dk1>
        <a:srgbClr val="192B25"/>
      </a:dk1>
      <a:lt1>
        <a:srgbClr val="FFFFFF"/>
      </a:lt1>
      <a:dk2>
        <a:srgbClr val="244D3C"/>
      </a:dk2>
      <a:lt2>
        <a:srgbClr val="F4F2E9"/>
      </a:lt2>
      <a:accent1>
        <a:srgbClr val="244D3C"/>
      </a:accent1>
      <a:accent2>
        <a:srgbClr val="DBEB89"/>
      </a:accent2>
      <a:accent3>
        <a:srgbClr val="E1E8DB"/>
      </a:accent3>
      <a:accent4>
        <a:srgbClr val="58645D"/>
      </a:accent4>
      <a:accent5>
        <a:srgbClr val="192B25"/>
      </a:accent5>
      <a:accent6>
        <a:srgbClr val="F4F2E9"/>
      </a:accent6>
      <a:hlink>
        <a:srgbClr val="DBEB89"/>
      </a:hlink>
      <a:folHlink>
        <a:srgbClr val="DBEB89"/>
      </a:folHlink>
    </a:clrScheme>
    <a:fontScheme name="Office">
      <a:majorFont>
        <a:latin typeface="Calibri Light"/>
        <a:ea typeface="Calibri Light"/>
        <a:cs typeface="Calibri Light"/>
      </a:majorFont>
      <a:minorFont>
        <a:latin typeface="Calibri"/>
        <a:ea typeface="Calibri"/>
        <a:cs typeface="Calibri"/>
      </a:minorFont>
    </a:fontScheme>
    <a:fmtScheme name="Kyle Portfolio">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1efe098f16043a1" /><Relationship Type="http://schemas.openxmlformats.org/officeDocument/2006/relationships/notesMaster" Target="/ppt/notesMasters/notesMaster1.xml" Id="R783f7777a60a41bd" /></Relationships>
</file>

<file path=ppt/notesSlides/_rels/notesSlide2.xml.rels>&#65279;<?xml version="1.0" encoding="utf-8"?><Relationships xmlns="http://schemas.openxmlformats.org/package/2006/relationships"><Relationship Type="http://schemas.openxmlformats.org/officeDocument/2006/relationships/slide" Target="/ppt/slides/slide2.xml" Id="R53b2ef2d8dcd4f43" /><Relationship Type="http://schemas.openxmlformats.org/officeDocument/2006/relationships/notesMaster" Target="/ppt/notesMasters/notesMaster1.xml" Id="R16b5c579673742f7" /></Relationships>
</file>

<file path=ppt/notesSlides/_rels/notesSlide3.xml.rels>&#65279;<?xml version="1.0" encoding="utf-8"?><Relationships xmlns="http://schemas.openxmlformats.org/package/2006/relationships"><Relationship Type="http://schemas.openxmlformats.org/officeDocument/2006/relationships/slide" Target="/ppt/slides/slide3.xml" Id="Racc1ab7c91bd4096" /><Relationship Type="http://schemas.openxmlformats.org/officeDocument/2006/relationships/notesMaster" Target="/ppt/notesMasters/notesMaster1.xml" Id="Rabb7a87c53b84c30" /></Relationships>
</file>

<file path=ppt/notesSlides/_rels/notesSlide4.xml.rels>&#65279;<?xml version="1.0" encoding="utf-8"?><Relationships xmlns="http://schemas.openxmlformats.org/package/2006/relationships"><Relationship Type="http://schemas.openxmlformats.org/officeDocument/2006/relationships/slide" Target="/ppt/slides/slide4.xml" Id="R11880347c9a1413f" /><Relationship Type="http://schemas.openxmlformats.org/officeDocument/2006/relationships/notesMaster" Target="/ppt/notesMasters/notesMaster1.xml" Id="Rfd9897e8f6d44873" /></Relationships>
</file>

<file path=ppt/notesSlides/_rels/notesSlide5.xml.rels>&#65279;<?xml version="1.0" encoding="utf-8"?><Relationships xmlns="http://schemas.openxmlformats.org/package/2006/relationships"><Relationship Type="http://schemas.openxmlformats.org/officeDocument/2006/relationships/slide" Target="/ppt/slides/slide5.xml" Id="R3ddb227a88954213" /><Relationship Type="http://schemas.openxmlformats.org/officeDocument/2006/relationships/notesMaster" Target="/ppt/notesMasters/notesMaster1.xml" Id="Rc43d476741404b83" /></Relationships>
</file>

<file path=ppt/notesSlides/_rels/notesSlide6.xml.rels>&#65279;<?xml version="1.0" encoding="utf-8"?><Relationships xmlns="http://schemas.openxmlformats.org/package/2006/relationships"><Relationship Type="http://schemas.openxmlformats.org/officeDocument/2006/relationships/slide" Target="/ppt/slides/slide6.xml" Id="Rd53558e0c0f64803" /><Relationship Type="http://schemas.openxmlformats.org/officeDocument/2006/relationships/notesMaster" Target="/ppt/notesMasters/notesMaster1.xml" Id="Rdfb8dd5bb025477a" /></Relationships>
</file>

<file path=ppt/notesSlides/_rels/notesSlide7.xml.rels>&#65279;<?xml version="1.0" encoding="utf-8"?><Relationships xmlns="http://schemas.openxmlformats.org/package/2006/relationships"><Relationship Type="http://schemas.openxmlformats.org/officeDocument/2006/relationships/slide" Target="/ppt/slides/slide7.xml" Id="R6e82e69f43cb4305" /><Relationship Type="http://schemas.openxmlformats.org/officeDocument/2006/relationships/notesMaster" Target="/ppt/notesMasters/notesMaster1.xml" Id="R146095ade1414db2" /></Relationships>
</file>

<file path=ppt/notesSlides/_rels/notesSlide8.xml.rels>&#65279;<?xml version="1.0" encoding="utf-8"?><Relationships xmlns="http://schemas.openxmlformats.org/package/2006/relationships"><Relationship Type="http://schemas.openxmlformats.org/officeDocument/2006/relationships/slide" Target="/ppt/slides/slide8.xml" Id="R7580d45d65cc4c38" /><Relationship Type="http://schemas.openxmlformats.org/officeDocument/2006/relationships/notesMaster" Target="/ppt/notesMasters/notesMaster1.xml" Id="R535a2217eb0e40a8" /></Relationships>
</file>

<file path=ppt/notesSlides/_rels/notesSlide9.xml.rels>&#65279;<?xml version="1.0" encoding="utf-8"?><Relationships xmlns="http://schemas.openxmlformats.org/package/2006/relationships"><Relationship Type="http://schemas.openxmlformats.org/officeDocument/2006/relationships/slide" Target="/ppt/slides/slide9.xml" Id="R03e8e6d6344d44b6" /><Relationship Type="http://schemas.openxmlformats.org/officeDocument/2006/relationships/notesMaster" Target="/ppt/notesMasters/notesMaster1.xml" Id="R78e1f8bc685a4a3b"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bde0bbf48380454b" /><Relationship Type="http://schemas.openxmlformats.org/officeDocument/2006/relationships/notesMaster" Target="/ppt/notesMasters/notesMaster1.xml" Id="R39b24b2c34b348b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Prepared for Sr Product Designer (Virtualitics), https://jobs.lever.co/virtualitics/aa051de1-736c-46f4-a7c9-701a14059bbf . Virtualitics is a prospective employer; the displayed projects are prior FactorLab and Oak work. Cover artwork is decorative; project screenshots provide the work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original Flint suggested-question state and project walkthroughs in the original portfolio case. Selecting a suggestion was intended to populate the input for review or editing. Design variant and engineering handoff; release of each variant is unverified.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Prompt Compass: https://github.com/JonathanKHobson/prompt-compass/releases/tag/v0.1.0-beta.3 . Public prerelease April 27, 2026, with later local evaluation examples in May. Displayed excerpt comes from an original example session; it is a feature proposal, not deployed enterprise adoption. This illustrates Kyle’s judgment about preserving requirements when working with AI.</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selected original Flint interrupted-response and offline design variants, including the March 27, 2026 error-state handoff. Distinct recovery actions follow the state: Ask again or Continue for a partial response, and retry after connection loss with the question preserved. Deliverable: connected flows, interaction states and engineering annotations.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original Prompt Compass local regression example, May 2026. The example checks whether a rewritten prompt preserves an explicit review condition. It is local tool evidence, not a claim of enterprise deployment, adoption or measured model accuracy.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original Prompt Compass workflow example. Prompt Compass is an independent project, separate from FactorLab and Oak employment. The screenshot shows an authored workflow concept and does not claim production engineering ownership or enterprise deployment.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original Oak error-message recommendation artifact containing Before and After panels. Displayed interface panels retain source pixels and are labeled Original and Proposed to clarify the work state. Kyle connected an evaluation finding to visual alternatives and implementation recommendations. No conversion or task-success percentage is asserted.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original Oak UI Kit V2 export tied to User Story 444 and the original portfolio case. Focused color specification; no complete design-system coverage or accessibility-compliance claim.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Proposed discussion approach for Virtualitics Sr Product Designer, https://jobs.lever.co/virtualitics/aa051de1-736c-46f4-a7c9-701a14059bbf . This is not prior Virtualitics delivery, a diagnosis of the product or a measured outcome. User needs and technical constraints require discovery with the team.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Selected work for Virtualitics Sr Product Designer. Kyle’s experience combines research, interface design, applied AI tools and engineering handoff. The shown work distinguishes design and engineering handoff, original recommendations and local tool development from enterprise deployment ownership. Mesa, Arizona; full U.S. work authorization and availability as soon as possible.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240ef7be66048c9"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7d0b3bd249a4eae" /><Relationship Type="http://schemas.openxmlformats.org/officeDocument/2006/relationships/slideLayout" Target="/ppt/slideLayouts/slideLayout1.xml" Id="Rdef76582689046b8"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ef76582689046b8"/>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Kyle Portfolio">
      <a:dk1>
        <a:srgbClr val="192B25"/>
      </a:dk1>
      <a:lt1>
        <a:srgbClr val="FFFFFF"/>
      </a:lt1>
      <a:dk2>
        <a:srgbClr val="244D3C"/>
      </a:dk2>
      <a:lt2>
        <a:srgbClr val="F4F2E9"/>
      </a:lt2>
      <a:accent1>
        <a:srgbClr val="244D3C"/>
      </a:accent1>
      <a:accent2>
        <a:srgbClr val="DBEB89"/>
      </a:accent2>
      <a:accent3>
        <a:srgbClr val="E1E8DB"/>
      </a:accent3>
      <a:accent4>
        <a:srgbClr val="58645D"/>
      </a:accent4>
      <a:accent5>
        <a:srgbClr val="192B25"/>
      </a:accent5>
      <a:accent6>
        <a:srgbClr val="F4F2E9"/>
      </a:accent6>
      <a:hlink>
        <a:srgbClr val="DBEB89"/>
      </a:hlink>
      <a:folHlink>
        <a:srgbClr val="DBEB89"/>
      </a:folHlink>
    </a:clrScheme>
    <a:fontScheme name="Office">
      <a:majorFont>
        <a:latin typeface="Calibri Light"/>
        <a:ea typeface="Calibri Light"/>
        <a:cs typeface="Calibri Light"/>
      </a:majorFont>
      <a:minorFont>
        <a:latin typeface="Calibri"/>
        <a:ea typeface="Calibri"/>
        <a:cs typeface="Calibri"/>
      </a:minorFont>
    </a:fontScheme>
    <a:fmtScheme name="Kyle Portfolio">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2672031175314c03" /><Relationship Type="http://schemas.openxmlformats.org/officeDocument/2006/relationships/image" Target="/ppt/media/image.png" Id="R9e9f802360ab43ee" /><Relationship Type="http://schemas.openxmlformats.org/officeDocument/2006/relationships/notesSlide" Target="/ppt/notesSlides/notesSlide1.xml" Id="Re383bfc8ea6444f1"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13eb3502ebed4d6f" /><Relationship Type="http://schemas.openxmlformats.org/officeDocument/2006/relationships/image" Target="/ppt/media/image2.png" Id="Rf3e028935989447d" /><Relationship Type="http://schemas.openxmlformats.org/officeDocument/2006/relationships/notesSlide" Target="/ppt/notesSlides/notesSlide2.xml" Id="Rd1e725186c2a4bfb"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5de74325021a4a5e" /><Relationship Type="http://schemas.openxmlformats.org/officeDocument/2006/relationships/image" Target="/ppt/media/image3.png" Id="R41077fd5a8a2449c" /><Relationship Type="http://schemas.openxmlformats.org/officeDocument/2006/relationships/notesSlide" Target="/ppt/notesSlides/notesSlide3.xml" Id="R9bc37ec5ca2349a5"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9b0546a96ffd4256" /><Relationship Type="http://schemas.openxmlformats.org/officeDocument/2006/relationships/image" Target="/ppt/media/image4.png" Id="R0273bf0325d647d2" /><Relationship Type="http://schemas.openxmlformats.org/officeDocument/2006/relationships/image" Target="/ppt/media/image5.png" Id="R4c8537fddbbe4a68" /><Relationship Type="http://schemas.openxmlformats.org/officeDocument/2006/relationships/notesSlide" Target="/ppt/notesSlides/notesSlide4.xml" Id="R99e7b81f9a434b28"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1a81cc7c14164e24" /><Relationship Type="http://schemas.openxmlformats.org/officeDocument/2006/relationships/image" Target="/ppt/media/image6.png" Id="Rf7b181ec267b422e" /><Relationship Type="http://schemas.openxmlformats.org/officeDocument/2006/relationships/notesSlide" Target="/ppt/notesSlides/notesSlide5.xml" Id="R3ddcc130582c4728"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160b920ae844452e" /><Relationship Type="http://schemas.openxmlformats.org/officeDocument/2006/relationships/image" Target="/ppt/media/image7.png" Id="R57d83e2e0fad4414" /><Relationship Type="http://schemas.openxmlformats.org/officeDocument/2006/relationships/notesSlide" Target="/ppt/notesSlides/notesSlide6.xml" Id="R54618e499e5444f4"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aa46d8f7921a4087" /><Relationship Type="http://schemas.openxmlformats.org/officeDocument/2006/relationships/image" Target="/ppt/media/image8.png" Id="R0d4758283ae64c7f" /><Relationship Type="http://schemas.openxmlformats.org/officeDocument/2006/relationships/image" Target="/ppt/media/image9.png" Id="R21ce4de1f3584d64" /><Relationship Type="http://schemas.openxmlformats.org/officeDocument/2006/relationships/image" Target="/ppt/media/image10.png" Id="Ref70de99fdc74b26" /><Relationship Type="http://schemas.openxmlformats.org/officeDocument/2006/relationships/notesSlide" Target="/ppt/notesSlides/notesSlide7.xml" Id="R7ec842815a5a4c45"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ca02df3412c348d0" /><Relationship Type="http://schemas.openxmlformats.org/officeDocument/2006/relationships/image" Target="/ppt/media/image11.png" Id="R72463be5c40f4d00" /><Relationship Type="http://schemas.openxmlformats.org/officeDocument/2006/relationships/notesSlide" Target="/ppt/notesSlides/notesSlide8.xml" Id="Re185ba950ba14a54"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43f0d2ea0e214cbd" /><Relationship Type="http://schemas.openxmlformats.org/officeDocument/2006/relationships/notesSlide" Target="/ppt/notesSlides/notesSlide9.xml" Id="R11cd8da8e84d4fbe"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83a29408cd914bf2" /><Relationship Type="http://schemas.openxmlformats.org/officeDocument/2006/relationships/hyperlink" Target="mailto:JonathanKyleHobson@gmail.com" TargetMode="External" Id="R443c20696eed410a" /><Relationship Type="http://schemas.openxmlformats.org/officeDocument/2006/relationships/hyperlink" Target="https://jonathankhobson.github.io/application-portfolios/virtualitics-product-designer/" TargetMode="External" Id="R21ec1a3bf082433f" /><Relationship Type="http://schemas.openxmlformats.org/officeDocument/2006/relationships/notesSlide" Target="/ppt/notesSlides/notesSlide10.xml" Id="Re0c3c79d691d44dd" /></Relationships>
</file>

<file path=ppt/slides/slide1.xml><?xml version="1.0" encoding="utf-8"?>
<p:sld xmlns:p="http://schemas.openxmlformats.org/presentationml/2006/main">
  <p:cSld>
    <p:bg>
      <p:bgPr>
        <a:solidFill xmlns:a="http://schemas.openxmlformats.org/drawingml/2006/main">
          <a:srgbClr val="F4F2E9"/>
        </a:solidFill>
      </p:bgPr>
    </p:bg>
    <p:spTree>
      <p:nvGrpSpPr>
        <p:cNvPr id="1" name=""/>
        <p:cNvGrpSpPr/>
        <p:nvPr/>
      </p:nvGrpSpPr>
      <p:grpSpPr>
        <a:xfrm xmlns:a="http://schemas.openxmlformats.org/drawingml/2006/main"/>
      </p:grpSpPr>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9e9f802360ab43ee"/>
          <a:srcRect xmlns:a="http://schemas.openxmlformats.org/drawingml/2006/main" l="0" t="7813" r="0" b="7813"/>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section-label">
            <a:extLst xmlns:a="http://schemas.openxmlformats.org/drawingml/2006/main">
              <a:ext uri="{FF2B5EF4-FFF2-40B4-BE49-F238E27FC236}">
                <a16:creationId xmlns:a16="http://schemas.microsoft.com/office/drawing/2014/main" id="{19B2A06B-63C2-42E6-A9FC-E1D40E8B047D}"/>
              </a:ext>
            </a:extLst>
          </p:cNvPr>
          <p:cNvSpPr>
            <a:spLocks xmlns:a="http://schemas.openxmlformats.org/drawingml/2006/main" noGrp="1"/>
          </p:cNvSpPr>
          <p:nvPr/>
        </p:nvSpPr>
        <p:spPr>
          <a:xfrm xmlns:a="http://schemas.openxmlformats.org/drawingml/2006/main">
            <a:off x="609600" y="514350"/>
            <a:ext cx="10858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KYLE HOBSON   /   VIRTUALITICS - SR PRODUCT DESIGNER</a:t>
            </a:r>
          </a:p>
        </p:txBody>
      </p:sp>
      <p:sp>
        <p:nvSpPr>
          <p:cNvPr id="3" name="headline">
            <a:extLst xmlns:a="http://schemas.openxmlformats.org/drawingml/2006/main">
              <a:ext uri="{FF2B5EF4-FFF2-40B4-BE49-F238E27FC236}">
                <a16:creationId xmlns:a16="http://schemas.microsoft.com/office/drawing/2014/main" id="{0A2898DA-FF9B-4272-ADF5-C8D8DCD9E354}"/>
              </a:ext>
            </a:extLst>
          </p:cNvPr>
          <p:cNvSpPr>
            <a:spLocks xmlns:a="http://schemas.openxmlformats.org/drawingml/2006/main" noGrp="1"/>
          </p:cNvSpPr>
          <p:nvPr/>
        </p:nvSpPr>
        <p:spPr>
          <a:xfrm xmlns:a="http://schemas.openxmlformats.org/drawingml/2006/main">
            <a:off x="609600" y="1581150"/>
            <a:ext cx="1057275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4350" b="1">
                <a:solidFill>
                  <a:srgbClr val="192B25"/>
                </a:solidFill>
                <a:latin typeface="Helvetica Neue"/>
                <a:ea typeface="Helvetica Neue"/>
                <a:cs typeface="Helvetica Neue"/>
              </a:defRPr>
            </a:pPr>
            <a:r>
              <a:rPr sz="4350" b="1">
                <a:solidFill>
                  <a:srgbClr val="192B25"/>
                </a:solidFill>
                <a:latin typeface="Helvetica Neue"/>
                <a:ea typeface="Helvetica Neue"/>
                <a:cs typeface="Helvetica Neue"/>
              </a:rPr>
              <a:t>Useful AI needs</a:t>
            </a:r>
          </a:p>
          <a:p xmlns:a="http://schemas.openxmlformats.org/drawingml/2006/main">
            <a:pPr>
              <a:lnSpc>
                <a:spcPct val="110000"/>
              </a:lnSpc>
              <a:buNone/>
              <a:defRPr sz="4350" b="1">
                <a:solidFill>
                  <a:srgbClr val="192B25"/>
                </a:solidFill>
                <a:latin typeface="Helvetica Neue"/>
                <a:ea typeface="Helvetica Neue"/>
                <a:cs typeface="Helvetica Neue"/>
              </a:defRPr>
            </a:pPr>
            <a:r>
              <a:rPr sz="4350" b="1">
                <a:solidFill>
                  <a:srgbClr val="192B25"/>
                </a:solidFill>
                <a:latin typeface="Helvetica Neue"/>
                <a:ea typeface="Helvetica Neue"/>
                <a:cs typeface="Helvetica Neue"/>
              </a:rPr>
              <a:t>clear interaction</a:t>
            </a:r>
          </a:p>
        </p:txBody>
      </p:sp>
      <p:sp>
        <p:nvSpPr>
          <p:cNvPr id="4" name="cover-intro">
            <a:extLst xmlns:a="http://schemas.openxmlformats.org/drawingml/2006/main">
              <a:ext uri="{FF2B5EF4-FFF2-40B4-BE49-F238E27FC236}">
                <a16:creationId xmlns:a16="http://schemas.microsoft.com/office/drawing/2014/main" id="{8CC1E82E-51C0-40C5-A17C-304F28225A1B}"/>
              </a:ext>
            </a:extLst>
          </p:cNvPr>
          <p:cNvSpPr>
            <a:spLocks xmlns:a="http://schemas.openxmlformats.org/drawingml/2006/main" noGrp="1"/>
          </p:cNvSpPr>
          <p:nvPr/>
        </p:nvSpPr>
        <p:spPr>
          <a:xfrm xmlns:a="http://schemas.openxmlformats.org/drawingml/2006/main">
            <a:off x="647700" y="4067175"/>
            <a:ext cx="10096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100" b="0">
                <a:solidFill>
                  <a:srgbClr val="192B25"/>
                </a:solidFill>
                <a:latin typeface="Helvetica Neue"/>
                <a:ea typeface="Helvetica Neue"/>
                <a:cs typeface="Helvetica Neue"/>
              </a:defRPr>
            </a:pPr>
            <a:r>
              <a:rPr sz="2100" b="0">
                <a:solidFill>
                  <a:srgbClr val="192B25"/>
                </a:solidFill>
                <a:latin typeface="Helvetica Neue"/>
                <a:ea typeface="Helvetica Neue"/>
                <a:cs typeface="Helvetica Neue"/>
              </a:rPr>
              <a:t>FactorLab interaction design, Oak research</a:t>
            </a:r>
          </a:p>
          <a:p xmlns:a="http://schemas.openxmlformats.org/drawingml/2006/main">
            <a:pPr>
              <a:lnSpc>
                <a:spcPct val="110000"/>
              </a:lnSpc>
              <a:buNone/>
              <a:defRPr sz="2100" b="0">
                <a:solidFill>
                  <a:srgbClr val="192B25"/>
                </a:solidFill>
                <a:latin typeface="Helvetica Neue"/>
                <a:ea typeface="Helvetica Neue"/>
                <a:cs typeface="Helvetica Neue"/>
              </a:defRPr>
            </a:pPr>
            <a:r>
              <a:rPr sz="2100" b="0">
                <a:solidFill>
                  <a:srgbClr val="192B25"/>
                </a:solidFill>
                <a:latin typeface="Helvetica Neue"/>
                <a:ea typeface="Helvetica Neue"/>
                <a:cs typeface="Helvetica Neue"/>
              </a:rPr>
              <a:t>and local AI tools.</a:t>
            </a:r>
          </a:p>
        </p:txBody>
      </p:sp>
      <p:sp>
        <p:nvSpPr>
          <p:cNvPr id="5" name="cover-role">
            <a:extLst xmlns:a="http://schemas.openxmlformats.org/drawingml/2006/main">
              <a:ext uri="{FF2B5EF4-FFF2-40B4-BE49-F238E27FC236}">
                <a16:creationId xmlns:a16="http://schemas.microsoft.com/office/drawing/2014/main" id="{6523E30A-15EA-4B7C-B651-3E7394A1832C}"/>
              </a:ext>
            </a:extLst>
          </p:cNvPr>
          <p:cNvSpPr>
            <a:spLocks xmlns:a="http://schemas.openxmlformats.org/drawingml/2006/main" noGrp="1"/>
          </p:cNvSpPr>
          <p:nvPr/>
        </p:nvSpPr>
        <p:spPr>
          <a:xfrm xmlns:a="http://schemas.openxmlformats.org/drawingml/2006/main">
            <a:off x="647700" y="6019800"/>
            <a:ext cx="10572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500" b="0">
                <a:solidFill>
                  <a:srgbClr val="192B25"/>
                </a:solidFill>
                <a:latin typeface="Helvetica Neue"/>
                <a:ea typeface="Helvetica Neue"/>
                <a:cs typeface="Helvetica Neue"/>
              </a:defRPr>
            </a:pPr>
            <a:r>
              <a:rPr sz="1500" b="0">
                <a:solidFill>
                  <a:srgbClr val="192B25"/>
                </a:solidFill>
                <a:latin typeface="Helvetica Neue"/>
                <a:ea typeface="Helvetica Neue"/>
                <a:cs typeface="Helvetica Neue"/>
              </a:rPr>
              <a:t>Sr Product Designer application - September 2026</a:t>
            </a:r>
          </a:p>
        </p:txBody>
      </p:sp>
      <p:sp>
        <p:nvSpPr>
          <p:cNvPr id="6" name="slide-number">
            <a:extLst xmlns:a="http://schemas.openxmlformats.org/drawingml/2006/main">
              <a:ext uri="{FF2B5EF4-FFF2-40B4-BE49-F238E27FC236}">
                <a16:creationId xmlns:a16="http://schemas.microsoft.com/office/drawing/2014/main" id="{47DFA42A-51BD-4E5F-8F0A-5FE2A2834A4B}"/>
              </a:ext>
            </a:extLst>
          </p:cNvPr>
          <p:cNvSpPr>
            <a:spLocks xmlns:a="http://schemas.openxmlformats.org/drawingml/2006/main" noGrp="1"/>
          </p:cNvSpPr>
          <p:nvPr/>
        </p:nvSpPr>
        <p:spPr>
          <a:xfrm xmlns:a="http://schemas.openxmlformats.org/drawingml/2006/main">
            <a:off x="11353800" y="6562725"/>
            <a:ext cx="323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58645D"/>
                </a:solidFill>
                <a:latin typeface="Helvetica Neue"/>
                <a:ea typeface="Helvetica Neue"/>
                <a:cs typeface="Helvetica Neue"/>
              </a:defRPr>
            </a:pPr>
            <a:r>
              <a:rPr sz="1050" b="0">
                <a:solidFill>
                  <a:srgbClr val="58645D"/>
                </a:solidFill>
                <a:latin typeface="Helvetica Neue"/>
                <a:ea typeface="Helvetica Neue"/>
                <a:cs typeface="Helvetica Neue"/>
              </a:rPr>
              <a:t>01</a:t>
            </a:r>
          </a:p>
        </p:txBody>
      </p:sp>
    </p:spTree>
    <p:extLst>
      <p:ext uri="{BB962C8B-B14F-4D97-AF65-F5344CB8AC3E}">
        <p14:creationId xmlns:p14="http://schemas.microsoft.com/office/powerpoint/2010/main" val="781542101"/>
      </p:ext>
    </p:extLst>
  </p:cSld>
</p:sld>
</file>

<file path=ppt/slides/slide2.xml><?xml version="1.0" encoding="utf-8"?>
<p:sld xmlns:p="http://schemas.openxmlformats.org/presentationml/2006/main">
  <p:cSld>
    <p:bg>
      <p:bgPr>
        <a:solidFill xmlns:a="http://schemas.openxmlformats.org/drawingml/2006/main">
          <a:srgbClr val="F4F2E9"/>
        </a:solidFill>
      </p:bgPr>
    </p:bg>
    <p:spTree>
      <p:nvGrpSpPr>
        <p:cNvPr id="1" name=""/>
        <p:cNvGrpSpPr/>
        <p:nvPr/>
      </p:nvGrpSpPr>
      <p:grpSpPr>
        <a:xfrm xmlns:a="http://schemas.openxmlformats.org/drawingml/2006/main"/>
      </p:grpSpPr>
      <p:sp>
        <p:nvSpPr>
          <p:cNvPr id="7" name="section-label">
            <a:extLst xmlns:a="http://schemas.openxmlformats.org/drawingml/2006/main">
              <a:ext uri="{FF2B5EF4-FFF2-40B4-BE49-F238E27FC236}">
                <a16:creationId xmlns:a16="http://schemas.microsoft.com/office/drawing/2014/main" id="{D53E36DA-BD5E-4A92-AC93-DCA900E82EF5}"/>
              </a:ext>
            </a:extLst>
          </p:cNvPr>
          <p:cNvSpPr>
            <a:spLocks xmlns:a="http://schemas.openxmlformats.org/drawingml/2006/main" noGrp="1"/>
          </p:cNvSpPr>
          <p:nvPr/>
        </p:nvSpPr>
        <p:spPr>
          <a:xfrm xmlns:a="http://schemas.openxmlformats.org/drawingml/2006/main">
            <a:off x="609600" y="49530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FACTORLAB · FLINT   /   INTERACTION DESIGN, 2026</a:t>
            </a:r>
          </a:p>
        </p:txBody>
      </p:sp>
      <p:sp>
        <p:nvSpPr>
          <p:cNvPr id="2" name="headline">
            <a:extLst xmlns:a="http://schemas.openxmlformats.org/drawingml/2006/main">
              <a:ext uri="{FF2B5EF4-FFF2-40B4-BE49-F238E27FC236}">
                <a16:creationId xmlns:a16="http://schemas.microsoft.com/office/drawing/2014/main" id="{444B365E-7CE7-46EA-9954-640F319481C9}"/>
              </a:ext>
            </a:extLst>
          </p:cNvPr>
          <p:cNvSpPr>
            <a:spLocks xmlns:a="http://schemas.openxmlformats.org/drawingml/2006/main" noGrp="1"/>
          </p:cNvSpPr>
          <p:nvPr/>
        </p:nvSpPr>
        <p:spPr>
          <a:xfrm xmlns:a="http://schemas.openxmlformats.org/drawingml/2006/main">
            <a:off x="609600" y="1104900"/>
            <a:ext cx="6724650" cy="1504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3675" b="1">
                <a:solidFill>
                  <a:srgbClr val="192B25"/>
                </a:solidFill>
                <a:latin typeface="Helvetica Neue"/>
                <a:ea typeface="Helvetica Neue"/>
                <a:cs typeface="Helvetica Neue"/>
              </a:defRPr>
            </a:pPr>
            <a:r>
              <a:rPr sz="3675" b="1">
                <a:solidFill>
                  <a:srgbClr val="192B25"/>
                </a:solidFill>
                <a:latin typeface="Helvetica Neue"/>
                <a:ea typeface="Helvetica Neue"/>
                <a:cs typeface="Helvetica Neue"/>
              </a:rPr>
              <a:t>Editable starting questions</a:t>
            </a:r>
          </a:p>
        </p:txBody>
      </p:sp>
      <p:sp>
        <p:nvSpPr>
          <p:cNvPr id="3" name="entry-decision">
            <a:extLst xmlns:a="http://schemas.openxmlformats.org/drawingml/2006/main">
              <a:ext uri="{FF2B5EF4-FFF2-40B4-BE49-F238E27FC236}">
                <a16:creationId xmlns:a16="http://schemas.microsoft.com/office/drawing/2014/main" id="{D0D904F9-4B80-4F1E-B465-D9D18E3C0209}"/>
              </a:ext>
            </a:extLst>
          </p:cNvPr>
          <p:cNvSpPr>
            <a:spLocks xmlns:a="http://schemas.openxmlformats.org/drawingml/2006/main" noGrp="1"/>
          </p:cNvSpPr>
          <p:nvPr/>
        </p:nvSpPr>
        <p:spPr>
          <a:xfrm xmlns:a="http://schemas.openxmlformats.org/drawingml/2006/main">
            <a:off x="609600" y="3152775"/>
            <a:ext cx="5905500" cy="1295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025" b="0">
                <a:solidFill>
                  <a:srgbClr val="192B25"/>
                </a:solidFill>
                <a:latin typeface="Helvetica Neue"/>
                <a:ea typeface="Helvetica Neue"/>
                <a:cs typeface="Helvetica Neue"/>
              </a:defRPr>
            </a:pPr>
            <a:r>
              <a:rPr sz="2025" b="0">
                <a:solidFill>
                  <a:srgbClr val="192B25"/>
                </a:solidFill>
                <a:latin typeface="Helvetica Neue"/>
                <a:ea typeface="Helvetica Neue"/>
                <a:cs typeface="Helvetica Neue"/>
              </a:rPr>
              <a:t>Suggested questions offered a starting point while leaving the person free to edit or ask something else.</a:t>
            </a:r>
          </a:p>
        </p:txBody>
      </p:sp>
      <p:sp>
        <p:nvSpPr>
          <p:cNvPr id="4" name="entry-scope">
            <a:extLst xmlns:a="http://schemas.openxmlformats.org/drawingml/2006/main">
              <a:ext uri="{FF2B5EF4-FFF2-40B4-BE49-F238E27FC236}">
                <a16:creationId xmlns:a16="http://schemas.microsoft.com/office/drawing/2014/main" id="{B0B433DF-97EE-42DA-9A07-C0CF23F41D2C}"/>
              </a:ext>
            </a:extLst>
          </p:cNvPr>
          <p:cNvSpPr>
            <a:spLocks xmlns:a="http://schemas.openxmlformats.org/drawingml/2006/main" noGrp="1"/>
          </p:cNvSpPr>
          <p:nvPr/>
        </p:nvSpPr>
        <p:spPr>
          <a:xfrm xmlns:a="http://schemas.openxmlformats.org/drawingml/2006/main">
            <a:off x="609600" y="4991100"/>
            <a:ext cx="5905500" cy="1114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800" b="0">
                <a:solidFill>
                  <a:srgbClr val="58645D"/>
                </a:solidFill>
                <a:latin typeface="Helvetica Neue"/>
                <a:ea typeface="Helvetica Neue"/>
                <a:cs typeface="Helvetica Neue"/>
              </a:defRPr>
            </a:pPr>
            <a:r>
              <a:rPr sz="1800" b="0">
                <a:solidFill>
                  <a:srgbClr val="58645D"/>
                </a:solidFill>
                <a:latin typeface="Helvetica Neue"/>
                <a:ea typeface="Helvetica Neue"/>
                <a:cs typeface="Helvetica Neue"/>
              </a:rPr>
              <a:t>I worked within the existing product, keeping the answer layout and agreed phase scope in view.</a:t>
            </a:r>
          </a:p>
        </p:txBody>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f3e028935989447d"/>
          <a:stretch xmlns:a="http://schemas.openxmlformats.org/drawingml/2006/main"/>
        </p:blipFill>
        <p:spPr>
          <a:xfrm xmlns:a="http://schemas.openxmlformats.org/drawingml/2006/main">
            <a:off x="8143875" y="857695"/>
            <a:ext cx="2667000" cy="5714110"/>
          </a:xfrm>
          <a:prstGeom xmlns:a="http://schemas.openxmlformats.org/drawingml/2006/main" prst="rect">
            <a:avLst/>
          </a:prstGeom>
        </p:spPr>
      </p:pic>
      <p:sp>
        <p:nvSpPr>
          <p:cNvPr id="6" name="slide-number">
            <a:extLst xmlns:a="http://schemas.openxmlformats.org/drawingml/2006/main">
              <a:ext uri="{FF2B5EF4-FFF2-40B4-BE49-F238E27FC236}">
                <a16:creationId xmlns:a16="http://schemas.microsoft.com/office/drawing/2014/main" id="{24E18DBF-A61A-4282-845A-17D795092FF5}"/>
              </a:ext>
            </a:extLst>
          </p:cNvPr>
          <p:cNvSpPr>
            <a:spLocks xmlns:a="http://schemas.openxmlformats.org/drawingml/2006/main" noGrp="1"/>
          </p:cNvSpPr>
          <p:nvPr/>
        </p:nvSpPr>
        <p:spPr>
          <a:xfrm xmlns:a="http://schemas.openxmlformats.org/drawingml/2006/main">
            <a:off x="11353800" y="6562725"/>
            <a:ext cx="323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58645D"/>
                </a:solidFill>
                <a:latin typeface="Helvetica Neue"/>
                <a:ea typeface="Helvetica Neue"/>
                <a:cs typeface="Helvetica Neue"/>
              </a:defRPr>
            </a:pPr>
            <a:r>
              <a:rPr sz="1050" b="0">
                <a:solidFill>
                  <a:srgbClr val="58645D"/>
                </a:solidFill>
                <a:latin typeface="Helvetica Neue"/>
                <a:ea typeface="Helvetica Neue"/>
                <a:cs typeface="Helvetica Neue"/>
              </a:rPr>
              <a:t>02</a:t>
            </a:r>
          </a:p>
        </p:txBody>
      </p:sp>
    </p:spTree>
    <p:extLst>
      <p:ext uri="{BB962C8B-B14F-4D97-AF65-F5344CB8AC3E}">
        <p14:creationId xmlns:p14="http://schemas.microsoft.com/office/powerpoint/2010/main" val="261868251"/>
      </p:ext>
    </p:extLst>
  </p:cSld>
</p:sld>
</file>

<file path=ppt/slides/slide3.xml><?xml version="1.0" encoding="utf-8"?>
<p:sld xmlns:p="http://schemas.openxmlformats.org/presentationml/2006/main">
  <p:cSld>
    <p:bg>
      <p:bgPr>
        <a:solidFill xmlns:a="http://schemas.openxmlformats.org/drawingml/2006/main">
          <a:srgbClr val="F4F2E9"/>
        </a:solidFill>
      </p:bgPr>
    </p:bg>
    <p:spTree>
      <p:nvGrpSpPr>
        <p:cNvPr id="1" name=""/>
        <p:cNvGrpSpPr/>
        <p:nvPr/>
      </p:nvGrpSpPr>
      <p:grpSpPr>
        <a:xfrm xmlns:a="http://schemas.openxmlformats.org/drawingml/2006/main"/>
      </p:grpSpPr>
      <p:sp>
        <p:nvSpPr>
          <p:cNvPr id="8" name="section-label">
            <a:extLst xmlns:a="http://schemas.openxmlformats.org/drawingml/2006/main">
              <a:ext uri="{FF2B5EF4-FFF2-40B4-BE49-F238E27FC236}">
                <a16:creationId xmlns:a16="http://schemas.microsoft.com/office/drawing/2014/main" id="{63815060-1DF2-4F6A-9CE5-2AB6A3DA5207}"/>
              </a:ext>
            </a:extLst>
          </p:cNvPr>
          <p:cNvSpPr>
            <a:spLocks xmlns:a="http://schemas.openxmlformats.org/drawingml/2006/main" noGrp="1"/>
          </p:cNvSpPr>
          <p:nvPr/>
        </p:nvSpPr>
        <p:spPr>
          <a:xfrm xmlns:a="http://schemas.openxmlformats.org/drawingml/2006/main">
            <a:off x="609600" y="49530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APPLIED AI   /   PROMPT COMPASS, 2026</a:t>
            </a:r>
          </a:p>
        </p:txBody>
      </p:sp>
      <p:sp>
        <p:nvSpPr>
          <p:cNvPr id="2" name="headline">
            <a:extLst xmlns:a="http://schemas.openxmlformats.org/drawingml/2006/main">
              <a:ext uri="{FF2B5EF4-FFF2-40B4-BE49-F238E27FC236}">
                <a16:creationId xmlns:a16="http://schemas.microsoft.com/office/drawing/2014/main" id="{39AEDF60-36BC-4E85-87A3-9D944DF925F1}"/>
              </a:ext>
            </a:extLst>
          </p:cNvPr>
          <p:cNvSpPr>
            <a:spLocks xmlns:a="http://schemas.openxmlformats.org/drawingml/2006/main" noGrp="1"/>
          </p:cNvSpPr>
          <p:nvPr/>
        </p:nvSpPr>
        <p:spPr>
          <a:xfrm xmlns:a="http://schemas.openxmlformats.org/drawingml/2006/main">
            <a:off x="609600" y="1104900"/>
            <a:ext cx="5429250" cy="1504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3675" b="1">
                <a:solidFill>
                  <a:srgbClr val="192B25"/>
                </a:solidFill>
                <a:latin typeface="Helvetica Neue"/>
                <a:ea typeface="Helvetica Neue"/>
                <a:cs typeface="Helvetica Neue"/>
              </a:defRPr>
            </a:pPr>
            <a:r>
              <a:rPr sz="3675" b="1">
                <a:solidFill>
                  <a:srgbClr val="192B25"/>
                </a:solidFill>
                <a:latin typeface="Helvetica Neue"/>
                <a:ea typeface="Helvetica Neue"/>
                <a:cs typeface="Helvetica Neue"/>
              </a:rPr>
              <a:t>The requirements</a:t>
            </a:r>
          </a:p>
          <a:p xmlns:a="http://schemas.openxmlformats.org/drawingml/2006/main">
            <a:pPr>
              <a:lnSpc>
                <a:spcPct val="110000"/>
              </a:lnSpc>
              <a:buNone/>
              <a:defRPr sz="3675" b="1">
                <a:solidFill>
                  <a:srgbClr val="192B25"/>
                </a:solidFill>
                <a:latin typeface="Helvetica Neue"/>
                <a:ea typeface="Helvetica Neue"/>
                <a:cs typeface="Helvetica Neue"/>
              </a:defRPr>
            </a:pPr>
            <a:r>
              <a:rPr sz="3675" b="1">
                <a:solidFill>
                  <a:srgbClr val="192B25"/>
                </a:solidFill>
                <a:latin typeface="Helvetica Neue"/>
                <a:ea typeface="Helvetica Neue"/>
                <a:cs typeface="Helvetica Neue"/>
              </a:rPr>
              <a:t>still need to hold</a:t>
            </a:r>
          </a:p>
        </p:txBody>
      </p:sp>
      <p:sp>
        <p:nvSpPr>
          <p:cNvPr id="3" name="ai-judgment">
            <a:extLst xmlns:a="http://schemas.openxmlformats.org/drawingml/2006/main">
              <a:ext uri="{FF2B5EF4-FFF2-40B4-BE49-F238E27FC236}">
                <a16:creationId xmlns:a16="http://schemas.microsoft.com/office/drawing/2014/main" id="{83B4F7F6-30C8-431B-AC1B-118674449184}"/>
              </a:ext>
            </a:extLst>
          </p:cNvPr>
          <p:cNvSpPr>
            <a:spLocks xmlns:a="http://schemas.openxmlformats.org/drawingml/2006/main" noGrp="1"/>
          </p:cNvSpPr>
          <p:nvPr/>
        </p:nvSpPr>
        <p:spPr>
          <a:xfrm xmlns:a="http://schemas.openxmlformats.org/drawingml/2006/main">
            <a:off x="609600" y="3190875"/>
            <a:ext cx="4857750" cy="1390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950" b="0">
                <a:solidFill>
                  <a:srgbClr val="192B25"/>
                </a:solidFill>
                <a:latin typeface="Helvetica Neue"/>
                <a:ea typeface="Helvetica Neue"/>
                <a:cs typeface="Helvetica Neue"/>
              </a:defRPr>
            </a:pPr>
            <a:r>
              <a:rPr sz="1950" b="0">
                <a:solidFill>
                  <a:srgbClr val="192B25"/>
                </a:solidFill>
                <a:latin typeface="Helvetica Neue"/>
                <a:ea typeface="Helvetica Neue"/>
                <a:cs typeface="Helvetica Neue"/>
              </a:rPr>
              <a:t>I built a tool for inspecting prompt requirements and comparing versions. A shorter instruction can lose an important review step.</a:t>
            </a:r>
          </a:p>
        </p:txBody>
      </p:sp>
      <p:sp>
        <p:nvSpPr>
          <p:cNvPr id="4" name="ai-boundary">
            <a:extLst xmlns:a="http://schemas.openxmlformats.org/drawingml/2006/main">
              <a:ext uri="{FF2B5EF4-FFF2-40B4-BE49-F238E27FC236}">
                <a16:creationId xmlns:a16="http://schemas.microsoft.com/office/drawing/2014/main" id="{EF584803-0E15-4C4D-B9D2-2B8E5FDE350B}"/>
              </a:ext>
            </a:extLst>
          </p:cNvPr>
          <p:cNvSpPr>
            <a:spLocks xmlns:a="http://schemas.openxmlformats.org/drawingml/2006/main" noGrp="1"/>
          </p:cNvSpPr>
          <p:nvPr/>
        </p:nvSpPr>
        <p:spPr>
          <a:xfrm xmlns:a="http://schemas.openxmlformats.org/drawingml/2006/main">
            <a:off x="609600" y="5172075"/>
            <a:ext cx="4857750" cy="1038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725" b="0">
                <a:solidFill>
                  <a:srgbClr val="58645D"/>
                </a:solidFill>
                <a:latin typeface="Helvetica Neue"/>
                <a:ea typeface="Helvetica Neue"/>
                <a:cs typeface="Helvetica Neue"/>
              </a:defRPr>
            </a:pPr>
            <a:r>
              <a:rPr sz="1725" b="0">
                <a:solidFill>
                  <a:srgbClr val="58645D"/>
                </a:solidFill>
                <a:latin typeface="Helvetica Neue"/>
                <a:ea typeface="Helvetica Neue"/>
                <a:cs typeface="Helvetica Neue"/>
              </a:rPr>
              <a:t>Public beta release, April 2026. The example here shows a request clarified before a feature proposal.</a:t>
            </a:r>
          </a:p>
        </p:txBody>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41077fd5a8a2449c"/>
          <a:stretch xmlns:a="http://schemas.openxmlformats.org/drawingml/2006/main"/>
        </p:blipFill>
        <p:spPr>
          <a:xfrm xmlns:a="http://schemas.openxmlformats.org/drawingml/2006/main">
            <a:off x="6305550" y="2776782"/>
            <a:ext cx="5257800" cy="1742585"/>
          </a:xfrm>
          <a:prstGeom xmlns:a="http://schemas.openxmlformats.org/drawingml/2006/main" prst="rect">
            <a:avLst/>
          </a:prstGeom>
        </p:spPr>
      </p:pic>
      <p:sp>
        <p:nvSpPr>
          <p:cNvPr id="6" name="ai-caption">
            <a:extLst xmlns:a="http://schemas.openxmlformats.org/drawingml/2006/main">
              <a:ext uri="{FF2B5EF4-FFF2-40B4-BE49-F238E27FC236}">
                <a16:creationId xmlns:a16="http://schemas.microsoft.com/office/drawing/2014/main" id="{94B10221-36AD-4045-A874-9A167823F672}"/>
              </a:ext>
            </a:extLst>
          </p:cNvPr>
          <p:cNvSpPr>
            <a:spLocks xmlns:a="http://schemas.openxmlformats.org/drawingml/2006/main" noGrp="1"/>
          </p:cNvSpPr>
          <p:nvPr/>
        </p:nvSpPr>
        <p:spPr>
          <a:xfrm xmlns:a="http://schemas.openxmlformats.org/drawingml/2006/main">
            <a:off x="6305550" y="5857875"/>
            <a:ext cx="5257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350" b="0">
                <a:solidFill>
                  <a:srgbClr val="58645D"/>
                </a:solidFill>
                <a:latin typeface="Helvetica Neue"/>
                <a:ea typeface="Helvetica Neue"/>
                <a:cs typeface="Helvetica Neue"/>
              </a:defRPr>
            </a:pPr>
            <a:r>
              <a:rPr sz="1350" b="0">
                <a:solidFill>
                  <a:srgbClr val="58645D"/>
                </a:solidFill>
                <a:latin typeface="Helvetica Neue"/>
                <a:ea typeface="Helvetica Neue"/>
                <a:cs typeface="Helvetica Neue"/>
              </a:rPr>
              <a:t>Original example session · feature proposal</a:t>
            </a:r>
          </a:p>
        </p:txBody>
      </p:sp>
      <p:sp>
        <p:nvSpPr>
          <p:cNvPr id="7" name="slide-number">
            <a:extLst xmlns:a="http://schemas.openxmlformats.org/drawingml/2006/main">
              <a:ext uri="{FF2B5EF4-FFF2-40B4-BE49-F238E27FC236}">
                <a16:creationId xmlns:a16="http://schemas.microsoft.com/office/drawing/2014/main" id="{5633867E-5E1E-4A2D-A897-D3868E1486C9}"/>
              </a:ext>
            </a:extLst>
          </p:cNvPr>
          <p:cNvSpPr>
            <a:spLocks xmlns:a="http://schemas.openxmlformats.org/drawingml/2006/main" noGrp="1"/>
          </p:cNvSpPr>
          <p:nvPr/>
        </p:nvSpPr>
        <p:spPr>
          <a:xfrm xmlns:a="http://schemas.openxmlformats.org/drawingml/2006/main">
            <a:off x="11353800" y="6562725"/>
            <a:ext cx="323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58645D"/>
                </a:solidFill>
                <a:latin typeface="Helvetica Neue"/>
                <a:ea typeface="Helvetica Neue"/>
                <a:cs typeface="Helvetica Neue"/>
              </a:defRPr>
            </a:pPr>
            <a:r>
              <a:rPr sz="1050" b="0">
                <a:solidFill>
                  <a:srgbClr val="58645D"/>
                </a:solidFill>
                <a:latin typeface="Helvetica Neue"/>
                <a:ea typeface="Helvetica Neue"/>
                <a:cs typeface="Helvetica Neue"/>
              </a:rPr>
              <a:t>03</a:t>
            </a:r>
          </a:p>
        </p:txBody>
      </p:sp>
    </p:spTree>
    <p:extLst>
      <p:ext uri="{BB962C8B-B14F-4D97-AF65-F5344CB8AC3E}">
        <p14:creationId xmlns:p14="http://schemas.microsoft.com/office/powerpoint/2010/main" val="447022455"/>
      </p:ext>
    </p:extLst>
  </p:cSld>
</p:sld>
</file>

<file path=ppt/slides/slide4.xml><?xml version="1.0" encoding="utf-8"?>
<p:sld xmlns:p="http://schemas.openxmlformats.org/presentationml/2006/main">
  <p:cSld>
    <p:bg>
      <p:bgPr>
        <a:solidFill xmlns:a="http://schemas.openxmlformats.org/drawingml/2006/main">
          <a:srgbClr val="F4F2E9"/>
        </a:solidFill>
      </p:bgPr>
    </p:bg>
    <p:spTree>
      <p:nvGrpSpPr>
        <p:cNvPr id="1" name=""/>
        <p:cNvGrpSpPr/>
        <p:nvPr/>
      </p:nvGrpSpPr>
      <p:grpSpPr>
        <a:xfrm xmlns:a="http://schemas.openxmlformats.org/drawingml/2006/main"/>
      </p:grpSpPr>
      <p:sp>
        <p:nvSpPr>
          <p:cNvPr id="10" name="section-label">
            <a:extLst xmlns:a="http://schemas.openxmlformats.org/drawingml/2006/main">
              <a:ext uri="{FF2B5EF4-FFF2-40B4-BE49-F238E27FC236}">
                <a16:creationId xmlns:a16="http://schemas.microsoft.com/office/drawing/2014/main" id="{0F0C1AC2-F5B2-4586-8C3F-B5C4E4514F60}"/>
              </a:ext>
            </a:extLst>
          </p:cNvPr>
          <p:cNvSpPr>
            <a:spLocks xmlns:a="http://schemas.openxmlformats.org/drawingml/2006/main" noGrp="1"/>
          </p:cNvSpPr>
          <p:nvPr/>
        </p:nvSpPr>
        <p:spPr>
          <a:xfrm xmlns:a="http://schemas.openxmlformats.org/drawingml/2006/main">
            <a:off x="609600" y="49530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FLINT   /   INTERRUPTED AND OFFLINE STATES</a:t>
            </a:r>
          </a:p>
        </p:txBody>
      </p:sp>
      <p:sp>
        <p:nvSpPr>
          <p:cNvPr id="2" name="headline">
            <a:extLst xmlns:a="http://schemas.openxmlformats.org/drawingml/2006/main">
              <a:ext uri="{FF2B5EF4-FFF2-40B4-BE49-F238E27FC236}">
                <a16:creationId xmlns:a16="http://schemas.microsoft.com/office/drawing/2014/main" id="{DA956C69-87E4-4724-BC5C-78EA000A6031}"/>
              </a:ext>
            </a:extLst>
          </p:cNvPr>
          <p:cNvSpPr>
            <a:spLocks xmlns:a="http://schemas.openxmlformats.org/drawingml/2006/main" noGrp="1"/>
          </p:cNvSpPr>
          <p:nvPr/>
        </p:nvSpPr>
        <p:spPr>
          <a:xfrm xmlns:a="http://schemas.openxmlformats.org/drawingml/2006/main">
            <a:off x="609600" y="1133475"/>
            <a:ext cx="4667250" cy="1457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3675" b="1">
                <a:solidFill>
                  <a:srgbClr val="192B25"/>
                </a:solidFill>
                <a:latin typeface="Helvetica Neue"/>
                <a:ea typeface="Helvetica Neue"/>
                <a:cs typeface="Helvetica Neue"/>
              </a:defRPr>
            </a:pPr>
            <a:r>
              <a:rPr sz="3675" b="1">
                <a:solidFill>
                  <a:srgbClr val="192B25"/>
                </a:solidFill>
                <a:latin typeface="Helvetica Neue"/>
                <a:ea typeface="Helvetica Neue"/>
                <a:cs typeface="Helvetica Neue"/>
              </a:rPr>
              <a:t>Different failures</a:t>
            </a:r>
          </a:p>
          <a:p xmlns:a="http://schemas.openxmlformats.org/drawingml/2006/main">
            <a:pPr>
              <a:lnSpc>
                <a:spcPct val="110000"/>
              </a:lnSpc>
              <a:buNone/>
              <a:defRPr sz="3675" b="1">
                <a:solidFill>
                  <a:srgbClr val="192B25"/>
                </a:solidFill>
                <a:latin typeface="Helvetica Neue"/>
                <a:ea typeface="Helvetica Neue"/>
                <a:cs typeface="Helvetica Neue"/>
              </a:defRPr>
            </a:pPr>
            <a:r>
              <a:rPr sz="3675" b="1">
                <a:solidFill>
                  <a:srgbClr val="192B25"/>
                </a:solidFill>
                <a:latin typeface="Helvetica Neue"/>
                <a:ea typeface="Helvetica Neue"/>
                <a:cs typeface="Helvetica Neue"/>
              </a:rPr>
              <a:t>need different actions</a:t>
            </a:r>
          </a:p>
        </p:txBody>
      </p:sp>
      <p:sp>
        <p:nvSpPr>
          <p:cNvPr id="3" name="recovery-decision">
            <a:extLst xmlns:a="http://schemas.openxmlformats.org/drawingml/2006/main">
              <a:ext uri="{FF2B5EF4-FFF2-40B4-BE49-F238E27FC236}">
                <a16:creationId xmlns:a16="http://schemas.microsoft.com/office/drawing/2014/main" id="{B17A5443-6463-4C85-ABF0-9C652F66CDCB}"/>
              </a:ext>
            </a:extLst>
          </p:cNvPr>
          <p:cNvSpPr>
            <a:spLocks xmlns:a="http://schemas.openxmlformats.org/drawingml/2006/main" noGrp="1"/>
          </p:cNvSpPr>
          <p:nvPr/>
        </p:nvSpPr>
        <p:spPr>
          <a:xfrm xmlns:a="http://schemas.openxmlformats.org/drawingml/2006/main">
            <a:off x="609600" y="3209925"/>
            <a:ext cx="4352925" cy="1076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025" b="0">
                <a:solidFill>
                  <a:srgbClr val="192B25"/>
                </a:solidFill>
                <a:latin typeface="Helvetica Neue"/>
                <a:ea typeface="Helvetica Neue"/>
                <a:cs typeface="Helvetica Neue"/>
              </a:defRPr>
            </a:pPr>
            <a:r>
              <a:rPr sz="2025" b="0">
                <a:solidFill>
                  <a:srgbClr val="192B25"/>
                </a:solidFill>
                <a:latin typeface="Helvetica Neue"/>
                <a:ea typeface="Helvetica Neue"/>
                <a:cs typeface="Helvetica Neue"/>
              </a:rPr>
              <a:t>An incomplete answer and a lost connection need different next actions.</a:t>
            </a:r>
          </a:p>
        </p:txBody>
      </p:sp>
      <p:sp>
        <p:nvSpPr>
          <p:cNvPr id="4" name="recovery-outcome">
            <a:extLst xmlns:a="http://schemas.openxmlformats.org/drawingml/2006/main">
              <a:ext uri="{FF2B5EF4-FFF2-40B4-BE49-F238E27FC236}">
                <a16:creationId xmlns:a16="http://schemas.microsoft.com/office/drawing/2014/main" id="{3E74D426-3EA3-4818-91A2-ACD6698D8D3C}"/>
              </a:ext>
            </a:extLst>
          </p:cNvPr>
          <p:cNvSpPr>
            <a:spLocks xmlns:a="http://schemas.openxmlformats.org/drawingml/2006/main" noGrp="1"/>
          </p:cNvSpPr>
          <p:nvPr/>
        </p:nvSpPr>
        <p:spPr>
          <a:xfrm xmlns:a="http://schemas.openxmlformats.org/drawingml/2006/main">
            <a:off x="609600" y="4772025"/>
            <a:ext cx="4352925"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800" b="0">
                <a:solidFill>
                  <a:srgbClr val="58645D"/>
                </a:solidFill>
                <a:latin typeface="Helvetica Neue"/>
                <a:ea typeface="Helvetica Neue"/>
                <a:cs typeface="Helvetica Neue"/>
              </a:defRPr>
            </a:pPr>
            <a:r>
              <a:rPr sz="1800" b="0">
                <a:solidFill>
                  <a:srgbClr val="58645D"/>
                </a:solidFill>
                <a:latin typeface="Helvetica Neue"/>
                <a:ea typeface="Helvetica Neue"/>
                <a:cs typeface="Helvetica Neue"/>
              </a:rPr>
              <a:t>I assembled the flows and their next actions into an annotated handoff for engineering.</a:t>
            </a:r>
          </a:p>
        </p:txBody>
      </p:sp>
      <p:sp>
        <p:nvSpPr>
          <p:cNvPr id="5" name="incomplete-label">
            <a:extLst xmlns:a="http://schemas.openxmlformats.org/drawingml/2006/main">
              <a:ext uri="{FF2B5EF4-FFF2-40B4-BE49-F238E27FC236}">
                <a16:creationId xmlns:a16="http://schemas.microsoft.com/office/drawing/2014/main" id="{476C1CDA-69B2-4DBE-8850-FF14D75F5AAA}"/>
              </a:ext>
            </a:extLst>
          </p:cNvPr>
          <p:cNvSpPr>
            <a:spLocks xmlns:a="http://schemas.openxmlformats.org/drawingml/2006/main" noGrp="1"/>
          </p:cNvSpPr>
          <p:nvPr/>
        </p:nvSpPr>
        <p:spPr>
          <a:xfrm xmlns:a="http://schemas.openxmlformats.org/drawingml/2006/main">
            <a:off x="5638800" y="819150"/>
            <a:ext cx="24955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350" b="1">
                <a:solidFill>
                  <a:srgbClr val="244D3C"/>
                </a:solidFill>
                <a:latin typeface="Helvetica Neue"/>
                <a:ea typeface="Helvetica Neue"/>
                <a:cs typeface="Helvetica Neue"/>
              </a:defRPr>
            </a:pPr>
            <a:r>
              <a:rPr sz="1350" b="1">
                <a:solidFill>
                  <a:srgbClr val="244D3C"/>
                </a:solidFill>
                <a:latin typeface="Helvetica Neue"/>
                <a:ea typeface="Helvetica Neue"/>
                <a:cs typeface="Helvetica Neue"/>
              </a:rPr>
              <a:t>Incomplete answer</a:t>
            </a:r>
          </a:p>
        </p:txBody>
      </p:sp>
      <p:sp>
        <p:nvSpPr>
          <p:cNvPr id="6" name="offline-label">
            <a:extLst xmlns:a="http://schemas.openxmlformats.org/drawingml/2006/main">
              <a:ext uri="{FF2B5EF4-FFF2-40B4-BE49-F238E27FC236}">
                <a16:creationId xmlns:a16="http://schemas.microsoft.com/office/drawing/2014/main" id="{FCD06C6E-4372-48CF-A31A-87B1A222AE9F}"/>
              </a:ext>
            </a:extLst>
          </p:cNvPr>
          <p:cNvSpPr>
            <a:spLocks xmlns:a="http://schemas.openxmlformats.org/drawingml/2006/main" noGrp="1"/>
          </p:cNvSpPr>
          <p:nvPr/>
        </p:nvSpPr>
        <p:spPr>
          <a:xfrm xmlns:a="http://schemas.openxmlformats.org/drawingml/2006/main">
            <a:off x="8705850" y="819150"/>
            <a:ext cx="24955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350" b="1">
                <a:solidFill>
                  <a:srgbClr val="244D3C"/>
                </a:solidFill>
                <a:latin typeface="Helvetica Neue"/>
                <a:ea typeface="Helvetica Neue"/>
                <a:cs typeface="Helvetica Neue"/>
              </a:defRPr>
            </a:pPr>
            <a:r>
              <a:rPr sz="1350" b="1">
                <a:solidFill>
                  <a:srgbClr val="244D3C"/>
                </a:solidFill>
                <a:latin typeface="Helvetica Neue"/>
                <a:ea typeface="Helvetica Neue"/>
                <a:cs typeface="Helvetica Neue"/>
              </a:rPr>
              <a:t>Connection lost</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0273bf0325d647d2"/>
          <a:stretch xmlns:a="http://schemas.openxmlformats.org/drawingml/2006/main"/>
        </p:blipFill>
        <p:spPr>
          <a:xfrm xmlns:a="http://schemas.openxmlformats.org/drawingml/2006/main">
            <a:off x="5706555" y="1181100"/>
            <a:ext cx="2436239" cy="5219700"/>
          </a:xfrm>
          <a:prstGeom xmlns:a="http://schemas.openxmlformats.org/drawingml/2006/main" prst="rect">
            <a:avLst/>
          </a:prstGeom>
        </p:spPr>
      </p:pic>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4c8537fddbbe4a68"/>
          <a:stretch xmlns:a="http://schemas.openxmlformats.org/drawingml/2006/main"/>
        </p:blipFill>
        <p:spPr>
          <a:xfrm xmlns:a="http://schemas.openxmlformats.org/drawingml/2006/main">
            <a:off x="8773605" y="1181100"/>
            <a:ext cx="2436239" cy="5219700"/>
          </a:xfrm>
          <a:prstGeom xmlns:a="http://schemas.openxmlformats.org/drawingml/2006/main" prst="rect">
            <a:avLst/>
          </a:prstGeom>
        </p:spPr>
      </p:pic>
      <p:sp>
        <p:nvSpPr>
          <p:cNvPr id="9" name="slide-number">
            <a:extLst xmlns:a="http://schemas.openxmlformats.org/drawingml/2006/main">
              <a:ext uri="{FF2B5EF4-FFF2-40B4-BE49-F238E27FC236}">
                <a16:creationId xmlns:a16="http://schemas.microsoft.com/office/drawing/2014/main" id="{030AAB29-671E-4464-A342-0081A0E34F02}"/>
              </a:ext>
            </a:extLst>
          </p:cNvPr>
          <p:cNvSpPr>
            <a:spLocks xmlns:a="http://schemas.openxmlformats.org/drawingml/2006/main" noGrp="1"/>
          </p:cNvSpPr>
          <p:nvPr/>
        </p:nvSpPr>
        <p:spPr>
          <a:xfrm xmlns:a="http://schemas.openxmlformats.org/drawingml/2006/main">
            <a:off x="11353800" y="6562725"/>
            <a:ext cx="323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58645D"/>
                </a:solidFill>
                <a:latin typeface="Helvetica Neue"/>
                <a:ea typeface="Helvetica Neue"/>
                <a:cs typeface="Helvetica Neue"/>
              </a:defRPr>
            </a:pPr>
            <a:r>
              <a:rPr sz="1050" b="0">
                <a:solidFill>
                  <a:srgbClr val="58645D"/>
                </a:solidFill>
                <a:latin typeface="Helvetica Neue"/>
                <a:ea typeface="Helvetica Neue"/>
                <a:cs typeface="Helvetica Neue"/>
              </a:rPr>
              <a:t>04</a:t>
            </a:r>
          </a:p>
        </p:txBody>
      </p:sp>
    </p:spTree>
    <p:extLst>
      <p:ext uri="{BB962C8B-B14F-4D97-AF65-F5344CB8AC3E}">
        <p14:creationId xmlns:p14="http://schemas.microsoft.com/office/powerpoint/2010/main" val="20550952"/>
      </p:ext>
    </p:extLst>
  </p:cSld>
</p:sld>
</file>

<file path=ppt/slides/slide5.xml><?xml version="1.0" encoding="utf-8"?>
<p:sld xmlns:p="http://schemas.openxmlformats.org/presentationml/2006/main">
  <p:cSld>
    <p:bg>
      <p:bgPr>
        <a:solidFill xmlns:a="http://schemas.openxmlformats.org/drawingml/2006/main">
          <a:srgbClr val="F4F2E9"/>
        </a:solidFill>
      </p:bgPr>
    </p:bg>
    <p:spTree>
      <p:nvGrpSpPr>
        <p:cNvPr id="1" name=""/>
        <p:cNvGrpSpPr/>
        <p:nvPr/>
      </p:nvGrpSpPr>
      <p:grpSpPr>
        <a:xfrm xmlns:a="http://schemas.openxmlformats.org/drawingml/2006/main"/>
      </p:grpSpPr>
      <p:sp>
        <p:nvSpPr>
          <p:cNvPr id="8" name="section-label">
            <a:extLst xmlns:a="http://schemas.openxmlformats.org/drawingml/2006/main">
              <a:ext uri="{FF2B5EF4-FFF2-40B4-BE49-F238E27FC236}">
                <a16:creationId xmlns:a16="http://schemas.microsoft.com/office/drawing/2014/main" id="{08FA279F-9193-44EB-AB5E-3639197BC3DA}"/>
              </a:ext>
            </a:extLst>
          </p:cNvPr>
          <p:cNvSpPr>
            <a:spLocks xmlns:a="http://schemas.openxmlformats.org/drawingml/2006/main" noGrp="1"/>
          </p:cNvSpPr>
          <p:nvPr/>
        </p:nvSpPr>
        <p:spPr>
          <a:xfrm xmlns:a="http://schemas.openxmlformats.org/drawingml/2006/main">
            <a:off x="609600" y="49530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PROMPT COMPASS   /   LOCAL REGRESSION EXAMPLE, MAY 2026</a:t>
            </a:r>
          </a:p>
        </p:txBody>
      </p:sp>
      <p:sp>
        <p:nvSpPr>
          <p:cNvPr id="2" name="headline">
            <a:extLst xmlns:a="http://schemas.openxmlformats.org/drawingml/2006/main">
              <a:ext uri="{FF2B5EF4-FFF2-40B4-BE49-F238E27FC236}">
                <a16:creationId xmlns:a16="http://schemas.microsoft.com/office/drawing/2014/main" id="{7E9FAC4E-7927-4D73-9FCB-7DD35414A7D3}"/>
              </a:ext>
            </a:extLst>
          </p:cNvPr>
          <p:cNvSpPr>
            <a:spLocks xmlns:a="http://schemas.openxmlformats.org/drawingml/2006/main" noGrp="1"/>
          </p:cNvSpPr>
          <p:nvPr/>
        </p:nvSpPr>
        <p:spPr>
          <a:xfrm xmlns:a="http://schemas.openxmlformats.org/drawingml/2006/main">
            <a:off x="609600" y="1104900"/>
            <a:ext cx="5619750" cy="1504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3675" b="1">
                <a:solidFill>
                  <a:srgbClr val="192B25"/>
                </a:solidFill>
                <a:latin typeface="Helvetica Neue"/>
                <a:ea typeface="Helvetica Neue"/>
                <a:cs typeface="Helvetica Neue"/>
              </a:defRPr>
            </a:pPr>
            <a:r>
              <a:rPr sz="3675" b="1">
                <a:solidFill>
                  <a:srgbClr val="192B25"/>
                </a:solidFill>
                <a:latin typeface="Helvetica Neue"/>
                <a:ea typeface="Helvetica Neue"/>
                <a:cs typeface="Helvetica Neue"/>
              </a:rPr>
              <a:t>A shorter prompt can</a:t>
            </a:r>
          </a:p>
          <a:p xmlns:a="http://schemas.openxmlformats.org/drawingml/2006/main">
            <a:pPr>
              <a:lnSpc>
                <a:spcPct val="110000"/>
              </a:lnSpc>
              <a:buNone/>
              <a:defRPr sz="3675" b="1">
                <a:solidFill>
                  <a:srgbClr val="192B25"/>
                </a:solidFill>
                <a:latin typeface="Helvetica Neue"/>
                <a:ea typeface="Helvetica Neue"/>
                <a:cs typeface="Helvetica Neue"/>
              </a:defRPr>
            </a:pPr>
            <a:r>
              <a:rPr sz="3675" b="1">
                <a:solidFill>
                  <a:srgbClr val="192B25"/>
                </a:solidFill>
                <a:latin typeface="Helvetica Neue"/>
                <a:ea typeface="Helvetica Neue"/>
                <a:cs typeface="Helvetica Neue"/>
              </a:rPr>
              <a:t>drop a review step</a:t>
            </a:r>
          </a:p>
        </p:txBody>
      </p:sp>
      <p:sp>
        <p:nvSpPr>
          <p:cNvPr id="3" name="regression-decision">
            <a:extLst xmlns:a="http://schemas.openxmlformats.org/drawingml/2006/main">
              <a:ext uri="{FF2B5EF4-FFF2-40B4-BE49-F238E27FC236}">
                <a16:creationId xmlns:a16="http://schemas.microsoft.com/office/drawing/2014/main" id="{F4297C82-FBB5-4DD3-802A-B4F471A6DB38}"/>
              </a:ext>
            </a:extLst>
          </p:cNvPr>
          <p:cNvSpPr>
            <a:spLocks xmlns:a="http://schemas.openxmlformats.org/drawingml/2006/main" noGrp="1"/>
          </p:cNvSpPr>
          <p:nvPr/>
        </p:nvSpPr>
        <p:spPr>
          <a:xfrm xmlns:a="http://schemas.openxmlformats.org/drawingml/2006/main">
            <a:off x="609600" y="3133725"/>
            <a:ext cx="5238750" cy="1323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950" b="0">
                <a:solidFill>
                  <a:srgbClr val="192B25"/>
                </a:solidFill>
                <a:latin typeface="Helvetica Neue"/>
                <a:ea typeface="Helvetica Neue"/>
                <a:cs typeface="Helvetica Neue"/>
              </a:defRPr>
            </a:pPr>
            <a:r>
              <a:rPr sz="1950" b="0">
                <a:solidFill>
                  <a:srgbClr val="192B25"/>
                </a:solidFill>
                <a:latin typeface="Helvetica Neue"/>
                <a:ea typeface="Helvetica Neue"/>
                <a:cs typeface="Helvetica Neue"/>
              </a:rPr>
              <a:t>I compare prompt versions against explicit requirements instead of treating cleaner wording as automatically better.</a:t>
            </a:r>
          </a:p>
        </p:txBody>
      </p:sp>
      <p:sp>
        <p:nvSpPr>
          <p:cNvPr id="4" name="regression-boundary">
            <a:extLst xmlns:a="http://schemas.openxmlformats.org/drawingml/2006/main">
              <a:ext uri="{FF2B5EF4-FFF2-40B4-BE49-F238E27FC236}">
                <a16:creationId xmlns:a16="http://schemas.microsoft.com/office/drawing/2014/main" id="{430B3C5F-85AA-4FE6-9006-72FB8600408E}"/>
              </a:ext>
            </a:extLst>
          </p:cNvPr>
          <p:cNvSpPr>
            <a:spLocks xmlns:a="http://schemas.openxmlformats.org/drawingml/2006/main" noGrp="1"/>
          </p:cNvSpPr>
          <p:nvPr/>
        </p:nvSpPr>
        <p:spPr>
          <a:xfrm xmlns:a="http://schemas.openxmlformats.org/drawingml/2006/main">
            <a:off x="609600" y="4876800"/>
            <a:ext cx="5238750" cy="1247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725" b="0">
                <a:solidFill>
                  <a:srgbClr val="58645D"/>
                </a:solidFill>
                <a:latin typeface="Helvetica Neue"/>
                <a:ea typeface="Helvetica Neue"/>
                <a:cs typeface="Helvetica Neue"/>
              </a:defRPr>
            </a:pPr>
            <a:r>
              <a:rPr sz="1725" b="0">
                <a:solidFill>
                  <a:srgbClr val="58645D"/>
                </a:solidFill>
                <a:latin typeface="Helvetica Neue"/>
                <a:ea typeface="Helvetica Neue"/>
                <a:cs typeface="Helvetica Neue"/>
              </a:rPr>
              <a:t>This local example checks whether the revision still asks for review before implementation. It does not measure model accuracy.</a:t>
            </a:r>
          </a:p>
        </p:txBody>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f7b181ec267b422e"/>
          <a:stretch xmlns:a="http://schemas.openxmlformats.org/drawingml/2006/main"/>
        </p:blipFill>
        <p:spPr>
          <a:xfrm xmlns:a="http://schemas.openxmlformats.org/drawingml/2006/main">
            <a:off x="6629400" y="2697956"/>
            <a:ext cx="4857750" cy="1862138"/>
          </a:xfrm>
          <a:prstGeom xmlns:a="http://schemas.openxmlformats.org/drawingml/2006/main" prst="rect">
            <a:avLst/>
          </a:prstGeom>
        </p:spPr>
      </p:pic>
      <p:sp>
        <p:nvSpPr>
          <p:cNvPr id="6" name="regression-caption">
            <a:extLst xmlns:a="http://schemas.openxmlformats.org/drawingml/2006/main">
              <a:ext uri="{FF2B5EF4-FFF2-40B4-BE49-F238E27FC236}">
                <a16:creationId xmlns:a16="http://schemas.microsoft.com/office/drawing/2014/main" id="{45981442-1494-4C9A-A553-678D06564BEA}"/>
              </a:ext>
            </a:extLst>
          </p:cNvPr>
          <p:cNvSpPr>
            <a:spLocks xmlns:a="http://schemas.openxmlformats.org/drawingml/2006/main" noGrp="1"/>
          </p:cNvSpPr>
          <p:nvPr/>
        </p:nvSpPr>
        <p:spPr>
          <a:xfrm xmlns:a="http://schemas.openxmlformats.org/drawingml/2006/main">
            <a:off x="6629400" y="5495925"/>
            <a:ext cx="48577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350" b="0">
                <a:solidFill>
                  <a:srgbClr val="58645D"/>
                </a:solidFill>
                <a:latin typeface="Helvetica Neue"/>
                <a:ea typeface="Helvetica Neue"/>
                <a:cs typeface="Helvetica Neue"/>
              </a:defRPr>
            </a:pPr>
            <a:r>
              <a:rPr sz="1350" b="0">
                <a:solidFill>
                  <a:srgbClr val="58645D"/>
                </a:solidFill>
                <a:latin typeface="Helvetica Neue"/>
                <a:ea typeface="Helvetica Neue"/>
                <a:cs typeface="Helvetica Neue"/>
              </a:rPr>
              <a:t>Original local evaluation example - requirement comparison</a:t>
            </a:r>
          </a:p>
        </p:txBody>
      </p:sp>
      <p:sp>
        <p:nvSpPr>
          <p:cNvPr id="7" name="slide-number">
            <a:extLst xmlns:a="http://schemas.openxmlformats.org/drawingml/2006/main">
              <a:ext uri="{FF2B5EF4-FFF2-40B4-BE49-F238E27FC236}">
                <a16:creationId xmlns:a16="http://schemas.microsoft.com/office/drawing/2014/main" id="{252822AF-66BE-4EE7-8684-993C26346443}"/>
              </a:ext>
            </a:extLst>
          </p:cNvPr>
          <p:cNvSpPr>
            <a:spLocks xmlns:a="http://schemas.openxmlformats.org/drawingml/2006/main" noGrp="1"/>
          </p:cNvSpPr>
          <p:nvPr/>
        </p:nvSpPr>
        <p:spPr>
          <a:xfrm xmlns:a="http://schemas.openxmlformats.org/drawingml/2006/main">
            <a:off x="11353800" y="6562725"/>
            <a:ext cx="323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58645D"/>
                </a:solidFill>
                <a:latin typeface="Helvetica Neue"/>
                <a:ea typeface="Helvetica Neue"/>
                <a:cs typeface="Helvetica Neue"/>
              </a:defRPr>
            </a:pPr>
            <a:r>
              <a:rPr sz="1050" b="0">
                <a:solidFill>
                  <a:srgbClr val="58645D"/>
                </a:solidFill>
                <a:latin typeface="Helvetica Neue"/>
                <a:ea typeface="Helvetica Neue"/>
                <a:cs typeface="Helvetica Neue"/>
              </a:rPr>
              <a:t>05</a:t>
            </a:r>
          </a:p>
        </p:txBody>
      </p:sp>
    </p:spTree>
    <p:extLst>
      <p:ext uri="{BB962C8B-B14F-4D97-AF65-F5344CB8AC3E}">
        <p14:creationId xmlns:p14="http://schemas.microsoft.com/office/powerpoint/2010/main" val="1530209920"/>
      </p:ext>
    </p:extLst>
  </p:cSld>
</p:sld>
</file>

<file path=ppt/slides/slide6.xml><?xml version="1.0" encoding="utf-8"?>
<p:sld xmlns:p="http://schemas.openxmlformats.org/presentationml/2006/main">
  <p:cSld>
    <p:bg>
      <p:bgPr>
        <a:solidFill xmlns:a="http://schemas.openxmlformats.org/drawingml/2006/main">
          <a:srgbClr val="F4F2E9"/>
        </a:solidFill>
      </p:bgPr>
    </p:bg>
    <p:spTree>
      <p:nvGrpSpPr>
        <p:cNvPr id="1" name=""/>
        <p:cNvGrpSpPr/>
        <p:nvPr/>
      </p:nvGrpSpPr>
      <p:grpSpPr>
        <a:xfrm xmlns:a="http://schemas.openxmlformats.org/drawingml/2006/main"/>
      </p:grpSpPr>
      <p:sp>
        <p:nvSpPr>
          <p:cNvPr id="8" name="section-label">
            <a:extLst xmlns:a="http://schemas.openxmlformats.org/drawingml/2006/main">
              <a:ext uri="{FF2B5EF4-FFF2-40B4-BE49-F238E27FC236}">
                <a16:creationId xmlns:a16="http://schemas.microsoft.com/office/drawing/2014/main" id="{378FB7DA-A466-4410-B744-66E094A7A825}"/>
              </a:ext>
            </a:extLst>
          </p:cNvPr>
          <p:cNvSpPr>
            <a:spLocks xmlns:a="http://schemas.openxmlformats.org/drawingml/2006/main" noGrp="1"/>
          </p:cNvSpPr>
          <p:nvPr/>
        </p:nvSpPr>
        <p:spPr>
          <a:xfrm xmlns:a="http://schemas.openxmlformats.org/drawingml/2006/main">
            <a:off x="609600" y="49530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PROMPT COMPASS   /   WORKFLOW AND REVIEW BOUNDARIES</a:t>
            </a:r>
          </a:p>
        </p:txBody>
      </p:sp>
      <p:sp>
        <p:nvSpPr>
          <p:cNvPr id="2" name="headline">
            <a:extLst xmlns:a="http://schemas.openxmlformats.org/drawingml/2006/main">
              <a:ext uri="{FF2B5EF4-FFF2-40B4-BE49-F238E27FC236}">
                <a16:creationId xmlns:a16="http://schemas.microsoft.com/office/drawing/2014/main" id="{E97FF783-AEA9-403B-A7A4-B565AA502033}"/>
              </a:ext>
            </a:extLst>
          </p:cNvPr>
          <p:cNvSpPr>
            <a:spLocks xmlns:a="http://schemas.openxmlformats.org/drawingml/2006/main" noGrp="1"/>
          </p:cNvSpPr>
          <p:nvPr/>
        </p:nvSpPr>
        <p:spPr>
          <a:xfrm xmlns:a="http://schemas.openxmlformats.org/drawingml/2006/main">
            <a:off x="609600" y="1104900"/>
            <a:ext cx="5886450" cy="1504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3675" b="1">
                <a:solidFill>
                  <a:srgbClr val="192B25"/>
                </a:solidFill>
                <a:latin typeface="Helvetica Neue"/>
                <a:ea typeface="Helvetica Neue"/>
                <a:cs typeface="Helvetica Neue"/>
              </a:defRPr>
            </a:pPr>
            <a:r>
              <a:rPr sz="3675" b="1">
                <a:solidFill>
                  <a:srgbClr val="192B25"/>
                </a:solidFill>
                <a:latin typeface="Helvetica Neue"/>
                <a:ea typeface="Helvetica Neue"/>
                <a:cs typeface="Helvetica Neue"/>
              </a:rPr>
              <a:t>Route the work before</a:t>
            </a:r>
          </a:p>
          <a:p xmlns:a="http://schemas.openxmlformats.org/drawingml/2006/main">
            <a:pPr>
              <a:lnSpc>
                <a:spcPct val="110000"/>
              </a:lnSpc>
              <a:buNone/>
              <a:defRPr sz="3675" b="1">
                <a:solidFill>
                  <a:srgbClr val="192B25"/>
                </a:solidFill>
                <a:latin typeface="Helvetica Neue"/>
                <a:ea typeface="Helvetica Neue"/>
                <a:cs typeface="Helvetica Neue"/>
              </a:defRPr>
            </a:pPr>
            <a:r>
              <a:rPr sz="3675" b="1">
                <a:solidFill>
                  <a:srgbClr val="192B25"/>
                </a:solidFill>
                <a:latin typeface="Helvetica Neue"/>
                <a:ea typeface="Helvetica Neue"/>
                <a:cs typeface="Helvetica Neue"/>
              </a:rPr>
              <a:t>generating the answer</a:t>
            </a:r>
          </a:p>
        </p:txBody>
      </p:sp>
      <p:sp>
        <p:nvSpPr>
          <p:cNvPr id="3" name="workflow-need">
            <a:extLst xmlns:a="http://schemas.openxmlformats.org/drawingml/2006/main">
              <a:ext uri="{FF2B5EF4-FFF2-40B4-BE49-F238E27FC236}">
                <a16:creationId xmlns:a16="http://schemas.microsoft.com/office/drawing/2014/main" id="{A8AC4315-FBB4-4FBE-A44D-9DFF156690A7}"/>
              </a:ext>
            </a:extLst>
          </p:cNvPr>
          <p:cNvSpPr>
            <a:spLocks xmlns:a="http://schemas.openxmlformats.org/drawingml/2006/main" noGrp="1"/>
          </p:cNvSpPr>
          <p:nvPr/>
        </p:nvSpPr>
        <p:spPr>
          <a:xfrm xmlns:a="http://schemas.openxmlformats.org/drawingml/2006/main">
            <a:off x="609600" y="3133725"/>
            <a:ext cx="521970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950" b="0">
                <a:solidFill>
                  <a:srgbClr val="192B25"/>
                </a:solidFill>
                <a:latin typeface="Helvetica Neue"/>
                <a:ea typeface="Helvetica Neue"/>
                <a:cs typeface="Helvetica Neue"/>
              </a:defRPr>
            </a:pPr>
            <a:r>
              <a:rPr sz="1950" b="0">
                <a:solidFill>
                  <a:srgbClr val="192B25"/>
                </a:solidFill>
                <a:latin typeface="Helvetica Neue"/>
                <a:ea typeface="Helvetica Neue"/>
                <a:cs typeface="Helvetica Neue"/>
              </a:rPr>
              <a:t>A useful AI workflow needs a named task, a review point and a clear handoff to the person making the decision.</a:t>
            </a:r>
          </a:p>
        </p:txBody>
      </p:sp>
      <p:sp>
        <p:nvSpPr>
          <p:cNvPr id="4" name="workflow-design">
            <a:extLst xmlns:a="http://schemas.openxmlformats.org/drawingml/2006/main">
              <a:ext uri="{FF2B5EF4-FFF2-40B4-BE49-F238E27FC236}">
                <a16:creationId xmlns:a16="http://schemas.microsoft.com/office/drawing/2014/main" id="{0A93A21A-5CC9-46D7-BD34-3E2AA528A2A2}"/>
              </a:ext>
            </a:extLst>
          </p:cNvPr>
          <p:cNvSpPr>
            <a:spLocks xmlns:a="http://schemas.openxmlformats.org/drawingml/2006/main" noGrp="1"/>
          </p:cNvSpPr>
          <p:nvPr/>
        </p:nvSpPr>
        <p:spPr>
          <a:xfrm xmlns:a="http://schemas.openxmlformats.org/drawingml/2006/main">
            <a:off x="609600" y="4905375"/>
            <a:ext cx="521970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725" b="0">
                <a:solidFill>
                  <a:srgbClr val="58645D"/>
                </a:solidFill>
                <a:latin typeface="Helvetica Neue"/>
                <a:ea typeface="Helvetica Neue"/>
                <a:cs typeface="Helvetica Neue"/>
              </a:defRPr>
            </a:pPr>
            <a:r>
              <a:rPr sz="1725" b="0">
                <a:solidFill>
                  <a:srgbClr val="58645D"/>
                </a:solidFill>
                <a:latin typeface="Helvetica Neue"/>
                <a:ea typeface="Helvetica Neue"/>
                <a:cs typeface="Helvetica Neue"/>
              </a:rPr>
              <a:t>I use that structure in Prompt Compass and in my own AI-assisted design work. Generated output remains subject to review.</a:t>
            </a:r>
          </a:p>
        </p:txBody>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57d83e2e0fad4414"/>
          <a:stretch xmlns:a="http://schemas.openxmlformats.org/drawingml/2006/main"/>
        </p:blipFill>
        <p:spPr>
          <a:xfrm xmlns:a="http://schemas.openxmlformats.org/drawingml/2006/main">
            <a:off x="6581775" y="2819823"/>
            <a:ext cx="4933950" cy="1589828"/>
          </a:xfrm>
          <a:prstGeom xmlns:a="http://schemas.openxmlformats.org/drawingml/2006/main" prst="rect">
            <a:avLst/>
          </a:prstGeom>
        </p:spPr>
      </p:pic>
      <p:sp>
        <p:nvSpPr>
          <p:cNvPr id="6" name="workflow-caption">
            <a:extLst xmlns:a="http://schemas.openxmlformats.org/drawingml/2006/main">
              <a:ext uri="{FF2B5EF4-FFF2-40B4-BE49-F238E27FC236}">
                <a16:creationId xmlns:a16="http://schemas.microsoft.com/office/drawing/2014/main" id="{751FE2B9-7197-4189-81D2-8FE657B49D57}"/>
              </a:ext>
            </a:extLst>
          </p:cNvPr>
          <p:cNvSpPr>
            <a:spLocks xmlns:a="http://schemas.openxmlformats.org/drawingml/2006/main" noGrp="1"/>
          </p:cNvSpPr>
          <p:nvPr/>
        </p:nvSpPr>
        <p:spPr>
          <a:xfrm xmlns:a="http://schemas.openxmlformats.org/drawingml/2006/main">
            <a:off x="6581775" y="5391150"/>
            <a:ext cx="49339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350" b="0">
                <a:solidFill>
                  <a:srgbClr val="58645D"/>
                </a:solidFill>
                <a:latin typeface="Helvetica Neue"/>
                <a:ea typeface="Helvetica Neue"/>
                <a:cs typeface="Helvetica Neue"/>
              </a:defRPr>
            </a:pPr>
            <a:r>
              <a:rPr sz="1350" b="0">
                <a:solidFill>
                  <a:srgbClr val="58645D"/>
                </a:solidFill>
                <a:latin typeface="Helvetica Neue"/>
                <a:ea typeface="Helvetica Neue"/>
                <a:cs typeface="Helvetica Neue"/>
              </a:rPr>
              <a:t>Original workflow example - task, output and review</a:t>
            </a:r>
          </a:p>
        </p:txBody>
      </p:sp>
      <p:sp>
        <p:nvSpPr>
          <p:cNvPr id="7" name="slide-number">
            <a:extLst xmlns:a="http://schemas.openxmlformats.org/drawingml/2006/main">
              <a:ext uri="{FF2B5EF4-FFF2-40B4-BE49-F238E27FC236}">
                <a16:creationId xmlns:a16="http://schemas.microsoft.com/office/drawing/2014/main" id="{E422DE7F-2AB5-4428-9D92-632168B77B2E}"/>
              </a:ext>
            </a:extLst>
          </p:cNvPr>
          <p:cNvSpPr>
            <a:spLocks xmlns:a="http://schemas.openxmlformats.org/drawingml/2006/main" noGrp="1"/>
          </p:cNvSpPr>
          <p:nvPr/>
        </p:nvSpPr>
        <p:spPr>
          <a:xfrm xmlns:a="http://schemas.openxmlformats.org/drawingml/2006/main">
            <a:off x="11353800" y="6562725"/>
            <a:ext cx="323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58645D"/>
                </a:solidFill>
                <a:latin typeface="Helvetica Neue"/>
                <a:ea typeface="Helvetica Neue"/>
                <a:cs typeface="Helvetica Neue"/>
              </a:defRPr>
            </a:pPr>
            <a:r>
              <a:rPr sz="1050" b="0">
                <a:solidFill>
                  <a:srgbClr val="58645D"/>
                </a:solidFill>
                <a:latin typeface="Helvetica Neue"/>
                <a:ea typeface="Helvetica Neue"/>
                <a:cs typeface="Helvetica Neue"/>
              </a:rPr>
              <a:t>06</a:t>
            </a:r>
          </a:p>
        </p:txBody>
      </p:sp>
    </p:spTree>
    <p:extLst>
      <p:ext uri="{BB962C8B-B14F-4D97-AF65-F5344CB8AC3E}">
        <p14:creationId xmlns:p14="http://schemas.microsoft.com/office/powerpoint/2010/main" val="1408114451"/>
      </p:ext>
    </p:extLst>
  </p:cSld>
</p:sld>
</file>

<file path=ppt/slides/slide7.xml><?xml version="1.0" encoding="utf-8"?>
<p:sld xmlns:p="http://schemas.openxmlformats.org/presentationml/2006/main">
  <p:cSld>
    <p:bg>
      <p:bgPr>
        <a:solidFill xmlns:a="http://schemas.openxmlformats.org/drawingml/2006/main">
          <a:srgbClr val="F4F2E9"/>
        </a:solidFill>
      </p:bgPr>
    </p:bg>
    <p:spTree>
      <p:nvGrpSpPr>
        <p:cNvPr id="1" name=""/>
        <p:cNvGrpSpPr/>
        <p:nvPr/>
      </p:nvGrpSpPr>
      <p:grpSpPr>
        <a:xfrm xmlns:a="http://schemas.openxmlformats.org/drawingml/2006/main"/>
      </p:grpSpPr>
      <p:sp>
        <p:nvSpPr>
          <p:cNvPr id="13" name="section-label">
            <a:extLst xmlns:a="http://schemas.openxmlformats.org/drawingml/2006/main">
              <a:ext uri="{FF2B5EF4-FFF2-40B4-BE49-F238E27FC236}">
                <a16:creationId xmlns:a16="http://schemas.microsoft.com/office/drawing/2014/main" id="{D2E74082-5B8D-4775-87CA-B0A4DCFB4B8A}"/>
              </a:ext>
            </a:extLst>
          </p:cNvPr>
          <p:cNvSpPr>
            <a:spLocks xmlns:a="http://schemas.openxmlformats.org/drawingml/2006/main" noGrp="1"/>
          </p:cNvSpPr>
          <p:nvPr/>
        </p:nvSpPr>
        <p:spPr>
          <a:xfrm xmlns:a="http://schemas.openxmlformats.org/drawingml/2006/main">
            <a:off x="609600" y="49530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OAK AI   /   LOGIN FEEDBACK</a:t>
            </a:r>
          </a:p>
        </p:txBody>
      </p:sp>
      <p:sp>
        <p:nvSpPr>
          <p:cNvPr id="2" name="headline">
            <a:extLst xmlns:a="http://schemas.openxmlformats.org/drawingml/2006/main">
              <a:ext uri="{FF2B5EF4-FFF2-40B4-BE49-F238E27FC236}">
                <a16:creationId xmlns:a16="http://schemas.microsoft.com/office/drawing/2014/main" id="{87A7AE34-8624-42DF-BA2C-97CE142BCB23}"/>
              </a:ext>
            </a:extLst>
          </p:cNvPr>
          <p:cNvSpPr>
            <a:spLocks xmlns:a="http://schemas.openxmlformats.org/drawingml/2006/main" noGrp="1"/>
          </p:cNvSpPr>
          <p:nvPr/>
        </p:nvSpPr>
        <p:spPr>
          <a:xfrm xmlns:a="http://schemas.openxmlformats.org/drawingml/2006/main">
            <a:off x="609600" y="1143000"/>
            <a:ext cx="4210050" cy="140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3450" b="1">
                <a:solidFill>
                  <a:srgbClr val="192B25"/>
                </a:solidFill>
                <a:latin typeface="Helvetica Neue"/>
                <a:ea typeface="Helvetica Neue"/>
                <a:cs typeface="Helvetica Neue"/>
              </a:defRPr>
            </a:pPr>
            <a:r>
              <a:rPr sz="3450" b="1">
                <a:solidFill>
                  <a:srgbClr val="192B25"/>
                </a:solidFill>
                <a:latin typeface="Helvetica Neue"/>
                <a:ea typeface="Helvetica Neue"/>
                <a:cs typeface="Helvetica Neue"/>
              </a:rPr>
              <a:t>Error feedback</a:t>
            </a:r>
          </a:p>
          <a:p xmlns:a="http://schemas.openxmlformats.org/drawingml/2006/main">
            <a:pPr>
              <a:lnSpc>
                <a:spcPct val="110000"/>
              </a:lnSpc>
              <a:buNone/>
              <a:defRPr sz="3450" b="1">
                <a:solidFill>
                  <a:srgbClr val="192B25"/>
                </a:solidFill>
                <a:latin typeface="Helvetica Neue"/>
                <a:ea typeface="Helvetica Neue"/>
                <a:cs typeface="Helvetica Neue"/>
              </a:defRPr>
            </a:pPr>
            <a:r>
              <a:rPr sz="3450" b="1">
                <a:solidFill>
                  <a:srgbClr val="192B25"/>
                </a:solidFill>
                <a:latin typeface="Helvetica Neue"/>
                <a:ea typeface="Helvetica Neue"/>
                <a:cs typeface="Helvetica Neue"/>
              </a:rPr>
              <a:t>beside the field</a:t>
            </a:r>
          </a:p>
        </p:txBody>
      </p:sp>
      <p:sp>
        <p:nvSpPr>
          <p:cNvPr id="3" name="oak-error-decision">
            <a:extLst xmlns:a="http://schemas.openxmlformats.org/drawingml/2006/main">
              <a:ext uri="{FF2B5EF4-FFF2-40B4-BE49-F238E27FC236}">
                <a16:creationId xmlns:a16="http://schemas.microsoft.com/office/drawing/2014/main" id="{9F8F9A82-C9D0-4772-BC05-24F57CBD2CE0}"/>
              </a:ext>
            </a:extLst>
          </p:cNvPr>
          <p:cNvSpPr>
            <a:spLocks xmlns:a="http://schemas.openxmlformats.org/drawingml/2006/main" noGrp="1"/>
          </p:cNvSpPr>
          <p:nvPr/>
        </p:nvSpPr>
        <p:spPr>
          <a:xfrm xmlns:a="http://schemas.openxmlformats.org/drawingml/2006/main">
            <a:off x="609600" y="3276600"/>
            <a:ext cx="3495675"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025" b="0">
                <a:solidFill>
                  <a:srgbClr val="192B25"/>
                </a:solidFill>
                <a:latin typeface="Helvetica Neue"/>
                <a:ea typeface="Helvetica Neue"/>
                <a:cs typeface="Helvetica Neue"/>
              </a:defRPr>
            </a:pPr>
            <a:r>
              <a:rPr sz="2025" b="0">
                <a:solidFill>
                  <a:srgbClr val="192B25"/>
                </a:solidFill>
                <a:latin typeface="Helvetica Neue"/>
                <a:ea typeface="Helvetica Neue"/>
                <a:cs typeface="Helvetica Neue"/>
              </a:rPr>
              <a:t>I made the problem field visible where a person could act on it.</a:t>
            </a:r>
          </a:p>
        </p:txBody>
      </p:sp>
      <p:sp>
        <p:nvSpPr>
          <p:cNvPr id="4" name="oak-error-outcome">
            <a:extLst xmlns:a="http://schemas.openxmlformats.org/drawingml/2006/main">
              <a:ext uri="{FF2B5EF4-FFF2-40B4-BE49-F238E27FC236}">
                <a16:creationId xmlns:a16="http://schemas.microsoft.com/office/drawing/2014/main" id="{F2FC3BFC-9E99-4C5A-B635-1000FAE81500}"/>
              </a:ext>
            </a:extLst>
          </p:cNvPr>
          <p:cNvSpPr>
            <a:spLocks xmlns:a="http://schemas.openxmlformats.org/drawingml/2006/main" noGrp="1"/>
          </p:cNvSpPr>
          <p:nvPr/>
        </p:nvSpPr>
        <p:spPr>
          <a:xfrm xmlns:a="http://schemas.openxmlformats.org/drawingml/2006/main">
            <a:off x="609600" y="4848225"/>
            <a:ext cx="3495675"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725" b="0">
                <a:solidFill>
                  <a:srgbClr val="58645D"/>
                </a:solidFill>
                <a:latin typeface="Helvetica Neue"/>
                <a:ea typeface="Helvetica Neue"/>
                <a:cs typeface="Helvetica Neue"/>
              </a:defRPr>
            </a:pPr>
            <a:r>
              <a:rPr sz="1725" b="0">
                <a:solidFill>
                  <a:srgbClr val="58645D"/>
                </a:solidFill>
                <a:latin typeface="Helvetica Neue"/>
                <a:ea typeface="Helvetica Neue"/>
                <a:cs typeface="Helvetica Neue"/>
              </a:rPr>
              <a:t>The recommendation gave the team a specific behavior to discuss and prioritize.</a:t>
            </a:r>
          </a:p>
        </p:txBody>
      </p:sp>
      <p:sp>
        <p:nvSpPr>
          <p:cNvPr id="5" name="before-label">
            <a:extLst xmlns:a="http://schemas.openxmlformats.org/drawingml/2006/main">
              <a:ext uri="{FF2B5EF4-FFF2-40B4-BE49-F238E27FC236}">
                <a16:creationId xmlns:a16="http://schemas.microsoft.com/office/drawing/2014/main" id="{A01898D2-7B15-4618-9B64-04E72DD5135B}"/>
              </a:ext>
            </a:extLst>
          </p:cNvPr>
          <p:cNvSpPr>
            <a:spLocks xmlns:a="http://schemas.openxmlformats.org/drawingml/2006/main" noGrp="1"/>
          </p:cNvSpPr>
          <p:nvPr/>
        </p:nvSpPr>
        <p:spPr>
          <a:xfrm xmlns:a="http://schemas.openxmlformats.org/drawingml/2006/main">
            <a:off x="4495800" y="1828800"/>
            <a:ext cx="33147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350" b="1">
                <a:solidFill>
                  <a:srgbClr val="244D3C"/>
                </a:solidFill>
                <a:latin typeface="Helvetica Neue"/>
                <a:ea typeface="Helvetica Neue"/>
                <a:cs typeface="Helvetica Neue"/>
              </a:defRPr>
            </a:pPr>
            <a:r>
              <a:rPr sz="1350" b="1">
                <a:solidFill>
                  <a:srgbClr val="244D3C"/>
                </a:solidFill>
                <a:latin typeface="Helvetica Neue"/>
                <a:ea typeface="Helvetica Neue"/>
                <a:cs typeface="Helvetica Neue"/>
              </a:rPr>
              <a:t>Original</a:t>
            </a:r>
          </a:p>
        </p:txBody>
      </p:sp>
      <p:sp>
        <p:nvSpPr>
          <p:cNvPr id="6" name="after-label">
            <a:extLst xmlns:a="http://schemas.openxmlformats.org/drawingml/2006/main">
              <a:ext uri="{FF2B5EF4-FFF2-40B4-BE49-F238E27FC236}">
                <a16:creationId xmlns:a16="http://schemas.microsoft.com/office/drawing/2014/main" id="{8553AE74-5C2A-40E3-951C-AD3F8D200479}"/>
              </a:ext>
            </a:extLst>
          </p:cNvPr>
          <p:cNvSpPr>
            <a:spLocks xmlns:a="http://schemas.openxmlformats.org/drawingml/2006/main" noGrp="1"/>
          </p:cNvSpPr>
          <p:nvPr/>
        </p:nvSpPr>
        <p:spPr>
          <a:xfrm xmlns:a="http://schemas.openxmlformats.org/drawingml/2006/main">
            <a:off x="8124825" y="1828800"/>
            <a:ext cx="33147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350" b="1">
                <a:solidFill>
                  <a:srgbClr val="244D3C"/>
                </a:solidFill>
                <a:latin typeface="Helvetica Neue"/>
                <a:ea typeface="Helvetica Neue"/>
                <a:cs typeface="Helvetica Neue"/>
              </a:defRPr>
            </a:pPr>
            <a:r>
              <a:rPr sz="1350" b="1">
                <a:solidFill>
                  <a:srgbClr val="244D3C"/>
                </a:solidFill>
                <a:latin typeface="Helvetica Neue"/>
                <a:ea typeface="Helvetica Neue"/>
                <a:cs typeface="Helvetica Neue"/>
              </a:rPr>
              <a:t>Proposed</a:t>
            </a:r>
          </a:p>
        </p:txBody>
      </p:sp>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0d4758283ae64c7f"/>
          <a:stretch xmlns:a="http://schemas.openxmlformats.org/drawingml/2006/main"/>
        </p:blipFill>
        <p:spPr>
          <a:xfrm xmlns:a="http://schemas.openxmlformats.org/drawingml/2006/main">
            <a:off x="4495800" y="2517745"/>
            <a:ext cx="3314700" cy="2689285"/>
          </a:xfrm>
          <a:prstGeom xmlns:a="http://schemas.openxmlformats.org/drawingml/2006/main" prst="rect">
            <a:avLst/>
          </a:prstGeom>
        </p:spPr>
      </p:pic>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21ce4de1f3584d64"/>
          <a:stretch xmlns:a="http://schemas.openxmlformats.org/drawingml/2006/main"/>
        </p:blipFill>
        <p:spPr>
          <a:xfrm xmlns:a="http://schemas.openxmlformats.org/drawingml/2006/main">
            <a:off x="8124825" y="2674620"/>
            <a:ext cx="3314700" cy="2375535"/>
          </a:xfrm>
          <a:prstGeom xmlns:a="http://schemas.openxmlformats.org/drawingml/2006/main" prst="rect">
            <a:avLst/>
          </a:prstGeom>
        </p:spPr>
      </p:pic>
      <p:sp>
        <p:nvSpPr>
          <p:cNvPr id="9" name="footer-label">
            <a:extLst xmlns:a="http://schemas.openxmlformats.org/drawingml/2006/main">
              <a:ext uri="{FF2B5EF4-FFF2-40B4-BE49-F238E27FC236}">
                <a16:creationId xmlns:a16="http://schemas.microsoft.com/office/drawing/2014/main" id="{48830D02-E794-4BCE-8B07-4036BE971DB6}"/>
              </a:ext>
            </a:extLst>
          </p:cNvPr>
          <p:cNvSpPr>
            <a:spLocks xmlns:a="http://schemas.openxmlformats.org/drawingml/2006/main" noGrp="1"/>
          </p:cNvSpPr>
          <p:nvPr/>
        </p:nvSpPr>
        <p:spPr>
          <a:xfrm xmlns:a="http://schemas.openxmlformats.org/drawingml/2006/main">
            <a:off x="4495800" y="5514975"/>
            <a:ext cx="3314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75" b="0">
                <a:solidFill>
                  <a:srgbClr val="58645D"/>
                </a:solidFill>
                <a:latin typeface="Helvetica Neue"/>
                <a:ea typeface="Helvetica Neue"/>
                <a:cs typeface="Helvetica Neue"/>
              </a:defRPr>
            </a:pPr>
            <a:r>
              <a:rPr sz="1275" b="0">
                <a:solidFill>
                  <a:srgbClr val="58645D"/>
                </a:solidFill>
                <a:latin typeface="Helvetica Neue"/>
                <a:ea typeface="Helvetica Neue"/>
                <a:cs typeface="Helvetica Neue"/>
              </a:rPr>
              <a:t>Original error at the page footer</a:t>
            </a:r>
          </a:p>
        </p:txBody>
      </p:sp>
      <p:pic>
        <p:nvPicPr>
          <p:cNvPr id="22" name=""/>
          <p:cNvPicPr>
            <a:picLocks xmlns:a="http://schemas.openxmlformats.org/drawingml/2006/main" noChangeAspect="1"/>
          </p:cNvPicPr>
          <p:nvPr/>
        </p:nvPicPr>
        <p:blipFill>
          <a:blip xmlns:r="http://schemas.openxmlformats.org/officeDocument/2006/relationships" xmlns:a="http://schemas.openxmlformats.org/drawingml/2006/main" r:embed="Ref70de99fdc74b26"/>
          <a:stretch xmlns:a="http://schemas.openxmlformats.org/drawingml/2006/main"/>
        </p:blipFill>
        <p:spPr>
          <a:xfrm xmlns:a="http://schemas.openxmlformats.org/drawingml/2006/main">
            <a:off x="4495800" y="5918026"/>
            <a:ext cx="3314700" cy="317848"/>
          </a:xfrm>
          <a:prstGeom xmlns:a="http://schemas.openxmlformats.org/drawingml/2006/main" prst="rect">
            <a:avLst/>
          </a:prstGeom>
        </p:spPr>
      </p:pic>
      <p:sp>
        <p:nvSpPr>
          <p:cNvPr id="11" name="field-label">
            <a:extLst xmlns:a="http://schemas.openxmlformats.org/drawingml/2006/main">
              <a:ext uri="{FF2B5EF4-FFF2-40B4-BE49-F238E27FC236}">
                <a16:creationId xmlns:a16="http://schemas.microsoft.com/office/drawing/2014/main" id="{726FF144-3CAC-458C-BFAC-290CAAF391C4}"/>
              </a:ext>
            </a:extLst>
          </p:cNvPr>
          <p:cNvSpPr>
            <a:spLocks xmlns:a="http://schemas.openxmlformats.org/drawingml/2006/main" noGrp="1"/>
          </p:cNvSpPr>
          <p:nvPr/>
        </p:nvSpPr>
        <p:spPr>
          <a:xfrm xmlns:a="http://schemas.openxmlformats.org/drawingml/2006/main">
            <a:off x="8124825" y="5514975"/>
            <a:ext cx="33147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75" b="0">
                <a:solidFill>
                  <a:srgbClr val="58645D"/>
                </a:solidFill>
                <a:latin typeface="Helvetica Neue"/>
                <a:ea typeface="Helvetica Neue"/>
                <a:cs typeface="Helvetica Neue"/>
              </a:defRPr>
            </a:pPr>
            <a:r>
              <a:rPr sz="1275" b="0">
                <a:solidFill>
                  <a:srgbClr val="58645D"/>
                </a:solidFill>
                <a:latin typeface="Helvetica Neue"/>
                <a:ea typeface="Helvetica Neue"/>
                <a:cs typeface="Helvetica Neue"/>
              </a:rPr>
              <a:t>Proposed feedback beside the field</a:t>
            </a:r>
          </a:p>
        </p:txBody>
      </p:sp>
      <p:sp>
        <p:nvSpPr>
          <p:cNvPr id="12" name="slide-number">
            <a:extLst xmlns:a="http://schemas.openxmlformats.org/drawingml/2006/main">
              <a:ext uri="{FF2B5EF4-FFF2-40B4-BE49-F238E27FC236}">
                <a16:creationId xmlns:a16="http://schemas.microsoft.com/office/drawing/2014/main" id="{49E07EFD-3748-4439-AE0C-32409D4F3C62}"/>
              </a:ext>
            </a:extLst>
          </p:cNvPr>
          <p:cNvSpPr>
            <a:spLocks xmlns:a="http://schemas.openxmlformats.org/drawingml/2006/main" noGrp="1"/>
          </p:cNvSpPr>
          <p:nvPr/>
        </p:nvSpPr>
        <p:spPr>
          <a:xfrm xmlns:a="http://schemas.openxmlformats.org/drawingml/2006/main">
            <a:off x="11353800" y="6562725"/>
            <a:ext cx="323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58645D"/>
                </a:solidFill>
                <a:latin typeface="Helvetica Neue"/>
                <a:ea typeface="Helvetica Neue"/>
                <a:cs typeface="Helvetica Neue"/>
              </a:defRPr>
            </a:pPr>
            <a:r>
              <a:rPr sz="1050" b="0">
                <a:solidFill>
                  <a:srgbClr val="58645D"/>
                </a:solidFill>
                <a:latin typeface="Helvetica Neue"/>
                <a:ea typeface="Helvetica Neue"/>
                <a:cs typeface="Helvetica Neue"/>
              </a:rPr>
              <a:t>07</a:t>
            </a:r>
          </a:p>
        </p:txBody>
      </p:sp>
    </p:spTree>
    <p:extLst>
      <p:ext uri="{BB962C8B-B14F-4D97-AF65-F5344CB8AC3E}">
        <p14:creationId xmlns:p14="http://schemas.microsoft.com/office/powerpoint/2010/main" val="796294734"/>
      </p:ext>
    </p:extLst>
  </p:cSld>
</p:sld>
</file>

<file path=ppt/slides/slide8.xml><?xml version="1.0" encoding="utf-8"?>
<p:sld xmlns:p="http://schemas.openxmlformats.org/presentationml/2006/main">
  <p:cSld>
    <p:bg>
      <p:bgPr>
        <a:solidFill xmlns:a="http://schemas.openxmlformats.org/drawingml/2006/main">
          <a:srgbClr val="F4F2E9"/>
        </a:solidFill>
      </p:bgPr>
    </p:bg>
    <p:spTree>
      <p:nvGrpSpPr>
        <p:cNvPr id="1" name=""/>
        <p:cNvGrpSpPr/>
        <p:nvPr/>
      </p:nvGrpSpPr>
      <p:grpSpPr>
        <a:xfrm xmlns:a="http://schemas.openxmlformats.org/drawingml/2006/main"/>
      </p:grpSpPr>
      <p:sp>
        <p:nvSpPr>
          <p:cNvPr id="7" name="section-label">
            <a:extLst xmlns:a="http://schemas.openxmlformats.org/drawingml/2006/main">
              <a:ext uri="{FF2B5EF4-FFF2-40B4-BE49-F238E27FC236}">
                <a16:creationId xmlns:a16="http://schemas.microsoft.com/office/drawing/2014/main" id="{96D40F26-515F-4EDA-A2FA-287ED07DA59C}"/>
              </a:ext>
            </a:extLst>
          </p:cNvPr>
          <p:cNvSpPr>
            <a:spLocks xmlns:a="http://schemas.openxmlformats.org/drawingml/2006/main" noGrp="1"/>
          </p:cNvSpPr>
          <p:nvPr/>
        </p:nvSpPr>
        <p:spPr>
          <a:xfrm xmlns:a="http://schemas.openxmlformats.org/drawingml/2006/main">
            <a:off x="609600" y="49530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OAK AI   /   VISUAL GUIDANCE</a:t>
            </a:r>
          </a:p>
        </p:txBody>
      </p:sp>
      <p:sp>
        <p:nvSpPr>
          <p:cNvPr id="2" name="headline">
            <a:extLst xmlns:a="http://schemas.openxmlformats.org/drawingml/2006/main">
              <a:ext uri="{FF2B5EF4-FFF2-40B4-BE49-F238E27FC236}">
                <a16:creationId xmlns:a16="http://schemas.microsoft.com/office/drawing/2014/main" id="{BCC2B3AD-A99E-43E9-99DC-A5CB78E4F242}"/>
              </a:ext>
            </a:extLst>
          </p:cNvPr>
          <p:cNvSpPr>
            <a:spLocks xmlns:a="http://schemas.openxmlformats.org/drawingml/2006/main" noGrp="1"/>
          </p:cNvSpPr>
          <p:nvPr/>
        </p:nvSpPr>
        <p:spPr>
          <a:xfrm xmlns:a="http://schemas.openxmlformats.org/drawingml/2006/main">
            <a:off x="609600" y="1104900"/>
            <a:ext cx="4914900" cy="1438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3750" b="1">
                <a:solidFill>
                  <a:srgbClr val="192B25"/>
                </a:solidFill>
                <a:latin typeface="Helvetica Neue"/>
                <a:ea typeface="Helvetica Neue"/>
                <a:cs typeface="Helvetica Neue"/>
              </a:defRPr>
            </a:pPr>
            <a:r>
              <a:rPr sz="3750" b="1">
                <a:solidFill>
                  <a:srgbClr val="192B25"/>
                </a:solidFill>
                <a:latin typeface="Helvetica Neue"/>
                <a:ea typeface="Helvetica Neue"/>
                <a:cs typeface="Helvetica Neue"/>
              </a:rPr>
              <a:t>Consistent color roles</a:t>
            </a:r>
          </a:p>
        </p:txBody>
      </p:sp>
      <p:sp>
        <p:nvSpPr>
          <p:cNvPr id="3" name="color-purpose">
            <a:extLst xmlns:a="http://schemas.openxmlformats.org/drawingml/2006/main">
              <a:ext uri="{FF2B5EF4-FFF2-40B4-BE49-F238E27FC236}">
                <a16:creationId xmlns:a16="http://schemas.microsoft.com/office/drawing/2014/main" id="{91CEC352-AACB-444C-AB8D-7F346A181513}"/>
              </a:ext>
            </a:extLst>
          </p:cNvPr>
          <p:cNvSpPr>
            <a:spLocks xmlns:a="http://schemas.openxmlformats.org/drawingml/2006/main" noGrp="1"/>
          </p:cNvSpPr>
          <p:nvPr/>
        </p:nvSpPr>
        <p:spPr>
          <a:xfrm xmlns:a="http://schemas.openxmlformats.org/drawingml/2006/main">
            <a:off x="609600" y="3009900"/>
            <a:ext cx="4810125" cy="1181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025" b="0">
                <a:solidFill>
                  <a:srgbClr val="192B25"/>
                </a:solidFill>
                <a:latin typeface="Helvetica Neue"/>
                <a:ea typeface="Helvetica Neue"/>
                <a:cs typeface="Helvetica Neue"/>
              </a:defRPr>
            </a:pPr>
            <a:r>
              <a:rPr sz="2025" b="0">
                <a:solidFill>
                  <a:srgbClr val="192B25"/>
                </a:solidFill>
                <a:latin typeface="Helvetica Neue"/>
                <a:ea typeface="Helvetica Neue"/>
                <a:cs typeface="Helvetica Neue"/>
              </a:rPr>
              <a:t>Brand, backgrounds, text and feedback needed consistent roles across the interface.</a:t>
            </a:r>
          </a:p>
        </p:txBody>
      </p:sp>
      <p:sp>
        <p:nvSpPr>
          <p:cNvPr id="4" name="color-scope">
            <a:extLst xmlns:a="http://schemas.openxmlformats.org/drawingml/2006/main">
              <a:ext uri="{FF2B5EF4-FFF2-40B4-BE49-F238E27FC236}">
                <a16:creationId xmlns:a16="http://schemas.microsoft.com/office/drawing/2014/main" id="{3C88F9CE-ACBF-48B4-89EA-4482FCC69568}"/>
              </a:ext>
            </a:extLst>
          </p:cNvPr>
          <p:cNvSpPr>
            <a:spLocks xmlns:a="http://schemas.openxmlformats.org/drawingml/2006/main" noGrp="1"/>
          </p:cNvSpPr>
          <p:nvPr/>
        </p:nvSpPr>
        <p:spPr>
          <a:xfrm xmlns:a="http://schemas.openxmlformats.org/drawingml/2006/main">
            <a:off x="609600" y="4762500"/>
            <a:ext cx="4810125"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800" b="0">
                <a:solidFill>
                  <a:srgbClr val="58645D"/>
                </a:solidFill>
                <a:latin typeface="Helvetica Neue"/>
                <a:ea typeface="Helvetica Neue"/>
                <a:cs typeface="Helvetica Neue"/>
              </a:defRPr>
            </a:pPr>
            <a:r>
              <a:rPr sz="1800" b="0">
                <a:solidFill>
                  <a:srgbClr val="58645D"/>
                </a:solidFill>
                <a:latin typeface="Helvetica Neue"/>
                <a:ea typeface="Helvetica Neue"/>
                <a:cs typeface="Helvetica Neue"/>
              </a:rPr>
              <a:t>I documented those roles for the next design iteration. This focused guide did not establish a complete component library.</a:t>
            </a:r>
          </a:p>
        </p:txBody>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72463be5c40f4d00"/>
          <a:stretch xmlns:a="http://schemas.openxmlformats.org/drawingml/2006/main"/>
        </p:blipFill>
        <p:spPr>
          <a:xfrm xmlns:a="http://schemas.openxmlformats.org/drawingml/2006/main">
            <a:off x="7081470" y="885825"/>
            <a:ext cx="3429734" cy="5562600"/>
          </a:xfrm>
          <a:prstGeom xmlns:a="http://schemas.openxmlformats.org/drawingml/2006/main" prst="rect">
            <a:avLst/>
          </a:prstGeom>
        </p:spPr>
      </p:pic>
      <p:sp>
        <p:nvSpPr>
          <p:cNvPr id="6" name="slide-number">
            <a:extLst xmlns:a="http://schemas.openxmlformats.org/drawingml/2006/main">
              <a:ext uri="{FF2B5EF4-FFF2-40B4-BE49-F238E27FC236}">
                <a16:creationId xmlns:a16="http://schemas.microsoft.com/office/drawing/2014/main" id="{91A0A8AB-1E18-49A7-A436-212522D6511B}"/>
              </a:ext>
            </a:extLst>
          </p:cNvPr>
          <p:cNvSpPr>
            <a:spLocks xmlns:a="http://schemas.openxmlformats.org/drawingml/2006/main" noGrp="1"/>
          </p:cNvSpPr>
          <p:nvPr/>
        </p:nvSpPr>
        <p:spPr>
          <a:xfrm xmlns:a="http://schemas.openxmlformats.org/drawingml/2006/main">
            <a:off x="11353800" y="6562725"/>
            <a:ext cx="323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58645D"/>
                </a:solidFill>
                <a:latin typeface="Helvetica Neue"/>
                <a:ea typeface="Helvetica Neue"/>
                <a:cs typeface="Helvetica Neue"/>
              </a:defRPr>
            </a:pPr>
            <a:r>
              <a:rPr sz="1050" b="0">
                <a:solidFill>
                  <a:srgbClr val="58645D"/>
                </a:solidFill>
                <a:latin typeface="Helvetica Neue"/>
                <a:ea typeface="Helvetica Neue"/>
                <a:cs typeface="Helvetica Neue"/>
              </a:rPr>
              <a:t>08</a:t>
            </a:r>
          </a:p>
        </p:txBody>
      </p:sp>
    </p:spTree>
    <p:extLst>
      <p:ext uri="{BB962C8B-B14F-4D97-AF65-F5344CB8AC3E}">
        <p14:creationId xmlns:p14="http://schemas.microsoft.com/office/powerpoint/2010/main" val="2133873670"/>
      </p:ext>
    </p:extLst>
  </p:cSld>
</p:sld>
</file>

<file path=ppt/slides/slide9.xml><?xml version="1.0" encoding="utf-8"?>
<p:sld xmlns:p="http://schemas.openxmlformats.org/presentationml/2006/main">
  <p:cSld>
    <p:bg>
      <p:bgPr>
        <a:solidFill xmlns:a="http://schemas.openxmlformats.org/drawingml/2006/main">
          <a:srgbClr val="F4F2E9"/>
        </a:solidFill>
      </p:bgPr>
    </p:bg>
    <p:spTree>
      <p:nvGrpSpPr>
        <p:cNvPr id="1" name=""/>
        <p:cNvGrpSpPr/>
        <p:nvPr/>
      </p:nvGrpSpPr>
      <p:grpSpPr>
        <a:xfrm xmlns:a="http://schemas.openxmlformats.org/drawingml/2006/main"/>
      </p:grpSpPr>
      <p:sp>
        <p:nvSpPr>
          <p:cNvPr id="12" name="section-label">
            <a:extLst xmlns:a="http://schemas.openxmlformats.org/drawingml/2006/main">
              <a:ext uri="{FF2B5EF4-FFF2-40B4-BE49-F238E27FC236}">
                <a16:creationId xmlns:a16="http://schemas.microsoft.com/office/drawing/2014/main" id="{8AB00A00-FD21-4B25-9E19-CE60ED297C51}"/>
              </a:ext>
            </a:extLst>
          </p:cNvPr>
          <p:cNvSpPr>
            <a:spLocks xmlns:a="http://schemas.openxmlformats.org/drawingml/2006/main" noGrp="1"/>
          </p:cNvSpPr>
          <p:nvPr/>
        </p:nvSpPr>
        <p:spPr>
          <a:xfrm xmlns:a="http://schemas.openxmlformats.org/drawingml/2006/main">
            <a:off x="609600" y="49530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PROPOSED APPROACH   /   VIRTUALITICS READINESS AI</a:t>
            </a:r>
          </a:p>
        </p:txBody>
      </p:sp>
      <p:sp>
        <p:nvSpPr>
          <p:cNvPr id="2" name="headline">
            <a:extLst xmlns:a="http://schemas.openxmlformats.org/drawingml/2006/main">
              <a:ext uri="{FF2B5EF4-FFF2-40B4-BE49-F238E27FC236}">
                <a16:creationId xmlns:a16="http://schemas.microsoft.com/office/drawing/2014/main" id="{B85C0476-D9A5-48E7-9109-0C37CA90F4B9}"/>
              </a:ext>
            </a:extLst>
          </p:cNvPr>
          <p:cNvSpPr>
            <a:spLocks xmlns:a="http://schemas.openxmlformats.org/drawingml/2006/main" noGrp="1"/>
          </p:cNvSpPr>
          <p:nvPr/>
        </p:nvSpPr>
        <p:spPr>
          <a:xfrm xmlns:a="http://schemas.openxmlformats.org/drawingml/2006/main">
            <a:off x="609600" y="1076325"/>
            <a:ext cx="10763250" cy="1295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3300" b="1">
                <a:solidFill>
                  <a:srgbClr val="192B25"/>
                </a:solidFill>
                <a:latin typeface="Helvetica Neue"/>
                <a:ea typeface="Helvetica Neue"/>
                <a:cs typeface="Helvetica Neue"/>
              </a:defRPr>
            </a:pPr>
            <a:r>
              <a:rPr sz="3300" b="1">
                <a:solidFill>
                  <a:srgbClr val="192B25"/>
                </a:solidFill>
                <a:latin typeface="Helvetica Neue"/>
                <a:ea typeface="Helvetica Neue"/>
                <a:cs typeface="Helvetica Neue"/>
              </a:rPr>
              <a:t>Define the task before the interface</a:t>
            </a:r>
          </a:p>
        </p:txBody>
      </p:sp>
      <p:sp>
        <p:nvSpPr>
          <p:cNvPr id="3" name="purpose-heading">
            <a:extLst xmlns:a="http://schemas.openxmlformats.org/drawingml/2006/main">
              <a:ext uri="{FF2B5EF4-FFF2-40B4-BE49-F238E27FC236}">
                <a16:creationId xmlns:a16="http://schemas.microsoft.com/office/drawing/2014/main" id="{45D79C84-59E6-460F-8480-8D0AEC35DFC7}"/>
              </a:ext>
            </a:extLst>
          </p:cNvPr>
          <p:cNvSpPr>
            <a:spLocks xmlns:a="http://schemas.openxmlformats.org/drawingml/2006/main" noGrp="1"/>
          </p:cNvSpPr>
          <p:nvPr/>
        </p:nvSpPr>
        <p:spPr>
          <a:xfrm xmlns:a="http://schemas.openxmlformats.org/drawingml/2006/main">
            <a:off x="609600" y="2952750"/>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950" b="1">
                <a:solidFill>
                  <a:srgbClr val="244D3C"/>
                </a:solidFill>
                <a:latin typeface="Helvetica Neue"/>
                <a:ea typeface="Helvetica Neue"/>
                <a:cs typeface="Helvetica Neue"/>
              </a:defRPr>
            </a:pPr>
            <a:r>
              <a:rPr sz="1950" b="1">
                <a:solidFill>
                  <a:srgbClr val="244D3C"/>
                </a:solidFill>
                <a:latin typeface="Helvetica Neue"/>
                <a:ea typeface="Helvetica Neue"/>
                <a:cs typeface="Helvetica Neue"/>
              </a:rPr>
              <a:t>The analyst’s immediate task</a:t>
            </a:r>
          </a:p>
        </p:txBody>
      </p:sp>
      <p:sp>
        <p:nvSpPr>
          <p:cNvPr id="4" name="purpose-body">
            <a:extLst xmlns:a="http://schemas.openxmlformats.org/drawingml/2006/main">
              <a:ext uri="{FF2B5EF4-FFF2-40B4-BE49-F238E27FC236}">
                <a16:creationId xmlns:a16="http://schemas.microsoft.com/office/drawing/2014/main" id="{73FC5867-1B5E-46A1-8E96-795C99A6B89A}"/>
              </a:ext>
            </a:extLst>
          </p:cNvPr>
          <p:cNvSpPr>
            <a:spLocks xmlns:a="http://schemas.openxmlformats.org/drawingml/2006/main" noGrp="1"/>
          </p:cNvSpPr>
          <p:nvPr/>
        </p:nvSpPr>
        <p:spPr>
          <a:xfrm xmlns:a="http://schemas.openxmlformats.org/drawingml/2006/main">
            <a:off x="609600" y="3505200"/>
            <a:ext cx="5143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725" b="0">
                <a:solidFill>
                  <a:srgbClr val="192B25"/>
                </a:solidFill>
                <a:latin typeface="Helvetica Neue"/>
                <a:ea typeface="Helvetica Neue"/>
                <a:cs typeface="Helvetica Neue"/>
              </a:defRPr>
            </a:pPr>
            <a:r>
              <a:rPr sz="1725" b="0">
                <a:solidFill>
                  <a:srgbClr val="192B25"/>
                </a:solidFill>
                <a:latin typeface="Helvetica Neue"/>
                <a:ea typeface="Helvetica Neue"/>
                <a:cs typeface="Helvetica Neue"/>
              </a:rPr>
              <a:t>Observe one recurring readiness task.</a:t>
            </a:r>
          </a:p>
          <a:p xmlns:a="http://schemas.openxmlformats.org/drawingml/2006/main">
            <a:pPr>
              <a:lnSpc>
                <a:spcPct val="110000"/>
              </a:lnSpc>
              <a:buNone/>
              <a:defRPr sz="1725" b="0">
                <a:solidFill>
                  <a:srgbClr val="192B25"/>
                </a:solidFill>
                <a:latin typeface="Helvetica Neue"/>
                <a:ea typeface="Helvetica Neue"/>
                <a:cs typeface="Helvetica Neue"/>
              </a:defRPr>
            </a:pPr>
            <a:r>
              <a:rPr sz="1725" b="0">
                <a:solidFill>
                  <a:srgbClr val="192B25"/>
                </a:solidFill>
                <a:latin typeface="Helvetica Neue"/>
                <a:ea typeface="Helvetica Neue"/>
                <a:cs typeface="Helvetica Neue"/>
              </a:rPr>
              <a:t>Find what a person needs to review, edit</a:t>
            </a:r>
          </a:p>
          <a:p xmlns:a="http://schemas.openxmlformats.org/drawingml/2006/main">
            <a:pPr>
              <a:lnSpc>
                <a:spcPct val="110000"/>
              </a:lnSpc>
              <a:buNone/>
              <a:defRPr sz="1725" b="0">
                <a:solidFill>
                  <a:srgbClr val="192B25"/>
                </a:solidFill>
                <a:latin typeface="Helvetica Neue"/>
                <a:ea typeface="Helvetica Neue"/>
                <a:cs typeface="Helvetica Neue"/>
              </a:defRPr>
            </a:pPr>
            <a:r>
              <a:rPr sz="1725" b="0">
                <a:solidFill>
                  <a:srgbClr val="192B25"/>
                </a:solidFill>
                <a:latin typeface="Helvetica Neue"/>
                <a:ea typeface="Helvetica Neue"/>
                <a:cs typeface="Helvetica Neue"/>
              </a:rPr>
              <a:t>or compare before taking the next action.</a:t>
            </a:r>
          </a:p>
        </p:txBody>
      </p:sp>
      <p:sp>
        <p:nvSpPr>
          <p:cNvPr id="5" name="structure-heading">
            <a:extLst xmlns:a="http://schemas.openxmlformats.org/drawingml/2006/main">
              <a:ext uri="{FF2B5EF4-FFF2-40B4-BE49-F238E27FC236}">
                <a16:creationId xmlns:a16="http://schemas.microsoft.com/office/drawing/2014/main" id="{B4271B79-8A17-4C92-A978-CF26B6EC90B9}"/>
              </a:ext>
            </a:extLst>
          </p:cNvPr>
          <p:cNvSpPr>
            <a:spLocks xmlns:a="http://schemas.openxmlformats.org/drawingml/2006/main" noGrp="1"/>
          </p:cNvSpPr>
          <p:nvPr/>
        </p:nvSpPr>
        <p:spPr>
          <a:xfrm xmlns:a="http://schemas.openxmlformats.org/drawingml/2006/main">
            <a:off x="6705600" y="2952750"/>
            <a:ext cx="4857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875" b="1">
                <a:solidFill>
                  <a:srgbClr val="244D3C"/>
                </a:solidFill>
                <a:latin typeface="Helvetica Neue"/>
                <a:ea typeface="Helvetica Neue"/>
                <a:cs typeface="Helvetica Neue"/>
              </a:defRPr>
            </a:pPr>
            <a:r>
              <a:rPr sz="1875" b="1">
                <a:solidFill>
                  <a:srgbClr val="244D3C"/>
                </a:solidFill>
                <a:latin typeface="Helvetica Neue"/>
                <a:ea typeface="Helvetica Neue"/>
                <a:cs typeface="Helvetica Neue"/>
              </a:rPr>
              <a:t>The interaction contract</a:t>
            </a:r>
          </a:p>
        </p:txBody>
      </p:sp>
      <p:sp>
        <p:nvSpPr>
          <p:cNvPr id="6" name="structure-body">
            <a:extLst xmlns:a="http://schemas.openxmlformats.org/drawingml/2006/main">
              <a:ext uri="{FF2B5EF4-FFF2-40B4-BE49-F238E27FC236}">
                <a16:creationId xmlns:a16="http://schemas.microsoft.com/office/drawing/2014/main" id="{E8473986-F28A-422F-A0B0-712B53512DE2}"/>
              </a:ext>
            </a:extLst>
          </p:cNvPr>
          <p:cNvSpPr>
            <a:spLocks xmlns:a="http://schemas.openxmlformats.org/drawingml/2006/main" noGrp="1"/>
          </p:cNvSpPr>
          <p:nvPr/>
        </p:nvSpPr>
        <p:spPr>
          <a:xfrm xmlns:a="http://schemas.openxmlformats.org/drawingml/2006/main">
            <a:off x="6705600" y="3505200"/>
            <a:ext cx="4857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725" b="0">
                <a:solidFill>
                  <a:srgbClr val="192B25"/>
                </a:solidFill>
                <a:latin typeface="Helvetica Neue"/>
                <a:ea typeface="Helvetica Neue"/>
                <a:cs typeface="Helvetica Neue"/>
              </a:defRPr>
            </a:pPr>
            <a:r>
              <a:rPr sz="1725" b="0">
                <a:solidFill>
                  <a:srgbClr val="192B25"/>
                </a:solidFill>
                <a:latin typeface="Helvetica Neue"/>
                <a:ea typeface="Helvetica Neue"/>
                <a:cs typeface="Helvetica Neue"/>
              </a:rPr>
              <a:t>Map inputs, agent responses and failures.</a:t>
            </a:r>
          </a:p>
          <a:p xmlns:a="http://schemas.openxmlformats.org/drawingml/2006/main">
            <a:pPr>
              <a:lnSpc>
                <a:spcPct val="110000"/>
              </a:lnSpc>
              <a:buNone/>
              <a:defRPr sz="1725" b="0">
                <a:solidFill>
                  <a:srgbClr val="192B25"/>
                </a:solidFill>
                <a:latin typeface="Helvetica Neue"/>
                <a:ea typeface="Helvetica Neue"/>
                <a:cs typeface="Helvetica Neue"/>
              </a:defRPr>
            </a:pPr>
            <a:r>
              <a:rPr sz="1725" b="0">
                <a:solidFill>
                  <a:srgbClr val="192B25"/>
                </a:solidFill>
                <a:latin typeface="Helvetica Neue"/>
                <a:ea typeface="Helvetica Neue"/>
                <a:cs typeface="Helvetica Neue"/>
              </a:rPr>
              <a:t>Agree with engineers on permissions,</a:t>
            </a:r>
          </a:p>
          <a:p xmlns:a="http://schemas.openxmlformats.org/drawingml/2006/main">
            <a:pPr>
              <a:lnSpc>
                <a:spcPct val="110000"/>
              </a:lnSpc>
              <a:buNone/>
              <a:defRPr sz="1725" b="0">
                <a:solidFill>
                  <a:srgbClr val="192B25"/>
                </a:solidFill>
                <a:latin typeface="Helvetica Neue"/>
                <a:ea typeface="Helvetica Neue"/>
                <a:cs typeface="Helvetica Neue"/>
              </a:defRPr>
            </a:pPr>
            <a:r>
              <a:rPr sz="1725" b="0">
                <a:solidFill>
                  <a:srgbClr val="192B25"/>
                </a:solidFill>
                <a:latin typeface="Helvetica Neue"/>
                <a:ea typeface="Helvetica Neue"/>
                <a:cs typeface="Helvetica Neue"/>
              </a:rPr>
              <a:t>follow-on actions and recoverable states.</a:t>
            </a:r>
          </a:p>
        </p:txBody>
      </p:sp>
      <p:sp>
        <p:nvSpPr>
          <p:cNvPr id="7" name="compare-heading">
            <a:extLst xmlns:a="http://schemas.openxmlformats.org/drawingml/2006/main">
              <a:ext uri="{FF2B5EF4-FFF2-40B4-BE49-F238E27FC236}">
                <a16:creationId xmlns:a16="http://schemas.microsoft.com/office/drawing/2014/main" id="{D3DDB78A-3741-4A69-B24B-CDA8C616C869}"/>
              </a:ext>
            </a:extLst>
          </p:cNvPr>
          <p:cNvSpPr>
            <a:spLocks xmlns:a="http://schemas.openxmlformats.org/drawingml/2006/main" noGrp="1"/>
          </p:cNvSpPr>
          <p:nvPr/>
        </p:nvSpPr>
        <p:spPr>
          <a:xfrm xmlns:a="http://schemas.openxmlformats.org/drawingml/2006/main">
            <a:off x="609600" y="4857750"/>
            <a:ext cx="5334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875" b="1">
                <a:solidFill>
                  <a:srgbClr val="244D3C"/>
                </a:solidFill>
                <a:latin typeface="Helvetica Neue"/>
                <a:ea typeface="Helvetica Neue"/>
                <a:cs typeface="Helvetica Neue"/>
              </a:defRPr>
            </a:pPr>
            <a:r>
              <a:rPr sz="1875" b="1">
                <a:solidFill>
                  <a:srgbClr val="244D3C"/>
                </a:solidFill>
                <a:latin typeface="Helvetica Neue"/>
                <a:ea typeface="Helvetica Neue"/>
                <a:cs typeface="Helvetica Neue"/>
              </a:rPr>
              <a:t>A focused interactive prototype</a:t>
            </a:r>
          </a:p>
        </p:txBody>
      </p:sp>
      <p:sp>
        <p:nvSpPr>
          <p:cNvPr id="8" name="compare-body">
            <a:extLst xmlns:a="http://schemas.openxmlformats.org/drawingml/2006/main">
              <a:ext uri="{FF2B5EF4-FFF2-40B4-BE49-F238E27FC236}">
                <a16:creationId xmlns:a16="http://schemas.microsoft.com/office/drawing/2014/main" id="{CF334291-C338-498F-A6A3-00E197E002C7}"/>
              </a:ext>
            </a:extLst>
          </p:cNvPr>
          <p:cNvSpPr>
            <a:spLocks xmlns:a="http://schemas.openxmlformats.org/drawingml/2006/main" noGrp="1"/>
          </p:cNvSpPr>
          <p:nvPr/>
        </p:nvSpPr>
        <p:spPr>
          <a:xfrm xmlns:a="http://schemas.openxmlformats.org/drawingml/2006/main">
            <a:off x="609600" y="5410200"/>
            <a:ext cx="5429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725" b="0">
                <a:solidFill>
                  <a:srgbClr val="192B25"/>
                </a:solidFill>
                <a:latin typeface="Helvetica Neue"/>
                <a:ea typeface="Helvetica Neue"/>
                <a:cs typeface="Helvetica Neue"/>
              </a:defRPr>
            </a:pPr>
            <a:r>
              <a:rPr sz="1725" b="0">
                <a:solidFill>
                  <a:srgbClr val="192B25"/>
                </a:solidFill>
                <a:latin typeface="Helvetica Neue"/>
                <a:ea typeface="Helvetica Neue"/>
                <a:cs typeface="Helvetica Neue"/>
              </a:rPr>
              <a:t>Explore a small flow with AI-assisted tools.</a:t>
            </a:r>
          </a:p>
          <a:p xmlns:a="http://schemas.openxmlformats.org/drawingml/2006/main">
            <a:pPr>
              <a:lnSpc>
                <a:spcPct val="110000"/>
              </a:lnSpc>
              <a:buNone/>
              <a:defRPr sz="1725" b="0">
                <a:solidFill>
                  <a:srgbClr val="192B25"/>
                </a:solidFill>
                <a:latin typeface="Helvetica Neue"/>
                <a:ea typeface="Helvetica Neue"/>
                <a:cs typeface="Helvetica Neue"/>
              </a:defRPr>
            </a:pPr>
            <a:r>
              <a:rPr sz="1725" b="0">
                <a:solidFill>
                  <a:srgbClr val="192B25"/>
                </a:solidFill>
                <a:latin typeface="Helvetica Neue"/>
                <a:ea typeface="Helvetica Neue"/>
                <a:cs typeface="Helvetica Neue"/>
              </a:rPr>
              <a:t>Check generated behavior against the design</a:t>
            </a:r>
          </a:p>
          <a:p xmlns:a="http://schemas.openxmlformats.org/drawingml/2006/main">
            <a:pPr>
              <a:lnSpc>
                <a:spcPct val="110000"/>
              </a:lnSpc>
              <a:buNone/>
              <a:defRPr sz="1725" b="0">
                <a:solidFill>
                  <a:srgbClr val="192B25"/>
                </a:solidFill>
                <a:latin typeface="Helvetica Neue"/>
                <a:ea typeface="Helvetica Neue"/>
                <a:cs typeface="Helvetica Neue"/>
              </a:defRPr>
            </a:pPr>
            <a:r>
              <a:rPr sz="1725" b="0">
                <a:solidFill>
                  <a:srgbClr val="192B25"/>
                </a:solidFill>
                <a:latin typeface="Helvetica Neue"/>
                <a:ea typeface="Helvetica Neue"/>
                <a:cs typeface="Helvetica Neue"/>
              </a:rPr>
              <a:t>and involve engineering in implementation.</a:t>
            </a:r>
          </a:p>
        </p:txBody>
      </p:sp>
      <p:sp>
        <p:nvSpPr>
          <p:cNvPr id="9" name="handoff-heading">
            <a:extLst xmlns:a="http://schemas.openxmlformats.org/drawingml/2006/main">
              <a:ext uri="{FF2B5EF4-FFF2-40B4-BE49-F238E27FC236}">
                <a16:creationId xmlns:a16="http://schemas.microsoft.com/office/drawing/2014/main" id="{6415BD45-6A78-407B-96CA-42630AC4FCC8}"/>
              </a:ext>
            </a:extLst>
          </p:cNvPr>
          <p:cNvSpPr>
            <a:spLocks xmlns:a="http://schemas.openxmlformats.org/drawingml/2006/main" noGrp="1"/>
          </p:cNvSpPr>
          <p:nvPr/>
        </p:nvSpPr>
        <p:spPr>
          <a:xfrm xmlns:a="http://schemas.openxmlformats.org/drawingml/2006/main">
            <a:off x="6705600" y="4857750"/>
            <a:ext cx="4857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875" b="1">
                <a:solidFill>
                  <a:srgbClr val="244D3C"/>
                </a:solidFill>
                <a:latin typeface="Helvetica Neue"/>
                <a:ea typeface="Helvetica Neue"/>
                <a:cs typeface="Helvetica Neue"/>
              </a:defRPr>
            </a:pPr>
            <a:r>
              <a:rPr sz="1875" b="1">
                <a:solidFill>
                  <a:srgbClr val="244D3C"/>
                </a:solidFill>
                <a:latin typeface="Helvetica Neue"/>
                <a:ea typeface="Helvetica Neue"/>
                <a:cs typeface="Helvetica Neue"/>
              </a:rPr>
              <a:t>Evidence for the next decision</a:t>
            </a:r>
          </a:p>
        </p:txBody>
      </p:sp>
      <p:sp>
        <p:nvSpPr>
          <p:cNvPr id="10" name="handoff-body">
            <a:extLst xmlns:a="http://schemas.openxmlformats.org/drawingml/2006/main">
              <a:ext uri="{FF2B5EF4-FFF2-40B4-BE49-F238E27FC236}">
                <a16:creationId xmlns:a16="http://schemas.microsoft.com/office/drawing/2014/main" id="{C0AC7139-7878-44F2-B72C-A468CA3A7DDE}"/>
              </a:ext>
            </a:extLst>
          </p:cNvPr>
          <p:cNvSpPr>
            <a:spLocks xmlns:a="http://schemas.openxmlformats.org/drawingml/2006/main" noGrp="1"/>
          </p:cNvSpPr>
          <p:nvPr/>
        </p:nvSpPr>
        <p:spPr>
          <a:xfrm xmlns:a="http://schemas.openxmlformats.org/drawingml/2006/main">
            <a:off x="6705600" y="5410200"/>
            <a:ext cx="48577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725" b="0">
                <a:solidFill>
                  <a:srgbClr val="192B25"/>
                </a:solidFill>
                <a:latin typeface="Helvetica Neue"/>
                <a:ea typeface="Helvetica Neue"/>
                <a:cs typeface="Helvetica Neue"/>
              </a:defRPr>
            </a:pPr>
            <a:r>
              <a:rPr sz="1725" b="0">
                <a:solidFill>
                  <a:srgbClr val="192B25"/>
                </a:solidFill>
                <a:latin typeface="Helvetica Neue"/>
                <a:ea typeface="Helvetica Neue"/>
                <a:cs typeface="Helvetica Neue"/>
              </a:rPr>
              <a:t>Watch people use the proposed flow.</a:t>
            </a:r>
          </a:p>
          <a:p xmlns:a="http://schemas.openxmlformats.org/drawingml/2006/main">
            <a:pPr>
              <a:lnSpc>
                <a:spcPct val="110000"/>
              </a:lnSpc>
              <a:buNone/>
              <a:defRPr sz="1725" b="0">
                <a:solidFill>
                  <a:srgbClr val="192B25"/>
                </a:solidFill>
                <a:latin typeface="Helvetica Neue"/>
                <a:ea typeface="Helvetica Neue"/>
                <a:cs typeface="Helvetica Neue"/>
              </a:defRPr>
            </a:pPr>
            <a:r>
              <a:rPr sz="1725" b="0">
                <a:solidFill>
                  <a:srgbClr val="192B25"/>
                </a:solidFill>
                <a:latin typeface="Helvetica Neue"/>
                <a:ea typeface="Helvetica Neue"/>
                <a:cs typeface="Helvetica Neue"/>
              </a:rPr>
              <a:t>Revise unclear feedback and document</a:t>
            </a:r>
          </a:p>
          <a:p xmlns:a="http://schemas.openxmlformats.org/drawingml/2006/main">
            <a:pPr>
              <a:lnSpc>
                <a:spcPct val="110000"/>
              </a:lnSpc>
              <a:buNone/>
              <a:defRPr sz="1725" b="0">
                <a:solidFill>
                  <a:srgbClr val="192B25"/>
                </a:solidFill>
                <a:latin typeface="Helvetica Neue"/>
                <a:ea typeface="Helvetica Neue"/>
                <a:cs typeface="Helvetica Neue"/>
              </a:defRPr>
            </a:pPr>
            <a:r>
              <a:rPr sz="1725" b="0">
                <a:solidFill>
                  <a:srgbClr val="192B25"/>
                </a:solidFill>
                <a:latin typeface="Helvetica Neue"/>
                <a:ea typeface="Helvetica Neue"/>
                <a:cs typeface="Helvetica Neue"/>
              </a:rPr>
              <a:t>what is agreed and what still needs testing.</a:t>
            </a:r>
          </a:p>
        </p:txBody>
      </p:sp>
      <p:sp>
        <p:nvSpPr>
          <p:cNvPr id="11" name="slide-number">
            <a:extLst xmlns:a="http://schemas.openxmlformats.org/drawingml/2006/main">
              <a:ext uri="{FF2B5EF4-FFF2-40B4-BE49-F238E27FC236}">
                <a16:creationId xmlns:a16="http://schemas.microsoft.com/office/drawing/2014/main" id="{9948BAC9-46D6-409A-9197-C9DD3F45047A}"/>
              </a:ext>
            </a:extLst>
          </p:cNvPr>
          <p:cNvSpPr>
            <a:spLocks xmlns:a="http://schemas.openxmlformats.org/drawingml/2006/main" noGrp="1"/>
          </p:cNvSpPr>
          <p:nvPr/>
        </p:nvSpPr>
        <p:spPr>
          <a:xfrm xmlns:a="http://schemas.openxmlformats.org/drawingml/2006/main">
            <a:off x="11353800" y="6562725"/>
            <a:ext cx="323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58645D"/>
                </a:solidFill>
                <a:latin typeface="Helvetica Neue"/>
                <a:ea typeface="Helvetica Neue"/>
                <a:cs typeface="Helvetica Neue"/>
              </a:defRPr>
            </a:pPr>
            <a:r>
              <a:rPr sz="1050" b="0">
                <a:solidFill>
                  <a:srgbClr val="58645D"/>
                </a:solidFill>
                <a:latin typeface="Helvetica Neue"/>
                <a:ea typeface="Helvetica Neue"/>
                <a:cs typeface="Helvetica Neue"/>
              </a:rPr>
              <a:t>09</a:t>
            </a:r>
          </a:p>
        </p:txBody>
      </p:sp>
    </p:spTree>
    <p:extLst>
      <p:ext uri="{BB962C8B-B14F-4D97-AF65-F5344CB8AC3E}">
        <p14:creationId xmlns:p14="http://schemas.microsoft.com/office/powerpoint/2010/main" val="1861033340"/>
      </p:ext>
    </p:extLst>
  </p:cSld>
</p:sld>
</file>

<file path=ppt/slides/slide10.xml><?xml version="1.0" encoding="utf-8"?>
<p:sld xmlns:p="http://schemas.openxmlformats.org/presentationml/2006/main">
  <p:cSld>
    <p:bg>
      <p:bgPr>
        <a:solidFill xmlns:a="http://schemas.openxmlformats.org/drawingml/2006/main">
          <a:srgbClr val="244D3C"/>
        </a:solidFill>
      </p:bgPr>
    </p:bg>
    <p:spTree>
      <p:nvGrpSpPr>
        <p:cNvPr id="1" name=""/>
        <p:cNvGrpSpPr/>
        <p:nvPr/>
      </p:nvGrpSpPr>
      <p:grpSpPr>
        <a:xfrm xmlns:a="http://schemas.openxmlformats.org/drawingml/2006/main"/>
      </p:grpSpPr>
      <p:sp>
        <p:nvSpPr>
          <p:cNvPr id="7" name="section-label">
            <a:extLst xmlns:a="http://schemas.openxmlformats.org/drawingml/2006/main">
              <a:ext uri="{FF2B5EF4-FFF2-40B4-BE49-F238E27FC236}">
                <a16:creationId xmlns:a16="http://schemas.microsoft.com/office/drawing/2014/main" id="{826DCEB2-3453-471D-A414-439FDF591135}"/>
              </a:ext>
            </a:extLst>
          </p:cNvPr>
          <p:cNvSpPr>
            <a:spLocks xmlns:a="http://schemas.openxmlformats.org/drawingml/2006/main" noGrp="1"/>
          </p:cNvSpPr>
          <p:nvPr/>
        </p:nvSpPr>
        <p:spPr>
          <a:xfrm xmlns:a="http://schemas.openxmlformats.org/drawingml/2006/main">
            <a:off x="609600" y="523875"/>
            <a:ext cx="10858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DBEB89"/>
                </a:solidFill>
                <a:latin typeface="Helvetica Neue"/>
                <a:ea typeface="Helvetica Neue"/>
                <a:cs typeface="Helvetica Neue"/>
              </a:defRPr>
            </a:pPr>
            <a:r>
              <a:rPr sz="1200" b="1">
                <a:solidFill>
                  <a:srgbClr val="DBEB89"/>
                </a:solidFill>
                <a:latin typeface="Helvetica Neue"/>
                <a:ea typeface="Helvetica Neue"/>
                <a:cs typeface="Helvetica Neue"/>
              </a:rPr>
              <a:t>KYLE HOBSON   /   VIRTUALITICS - SR PRODUCT DESIGNER</a:t>
            </a:r>
          </a:p>
        </p:txBody>
      </p:sp>
      <p:sp>
        <p:nvSpPr>
          <p:cNvPr id="2" name="headline">
            <a:extLst xmlns:a="http://schemas.openxmlformats.org/drawingml/2006/main">
              <a:ext uri="{FF2B5EF4-FFF2-40B4-BE49-F238E27FC236}">
                <a16:creationId xmlns:a16="http://schemas.microsoft.com/office/drawing/2014/main" id="{F824C7CF-D179-4AB0-ADD7-D93B639F0B4B}"/>
              </a:ext>
            </a:extLst>
          </p:cNvPr>
          <p:cNvSpPr>
            <a:spLocks xmlns:a="http://schemas.openxmlformats.org/drawingml/2006/main" noGrp="1"/>
          </p:cNvSpPr>
          <p:nvPr/>
        </p:nvSpPr>
        <p:spPr>
          <a:xfrm xmlns:a="http://schemas.openxmlformats.org/drawingml/2006/main">
            <a:off x="609600" y="1647825"/>
            <a:ext cx="10287000" cy="1885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4275" b="1">
                <a:solidFill>
                  <a:srgbClr val="F4F2E9"/>
                </a:solidFill>
                <a:latin typeface="Helvetica Neue"/>
                <a:ea typeface="Helvetica Neue"/>
                <a:cs typeface="Helvetica Neue"/>
              </a:defRPr>
            </a:pPr>
            <a:r>
              <a:rPr sz="4275" b="1">
                <a:solidFill>
                  <a:srgbClr val="F4F2E9"/>
                </a:solidFill>
                <a:latin typeface="Helvetica Neue"/>
                <a:ea typeface="Helvetica Neue"/>
                <a:cs typeface="Helvetica Neue"/>
              </a:rPr>
              <a:t>AI product design</a:t>
            </a:r>
          </a:p>
          <a:p xmlns:a="http://schemas.openxmlformats.org/drawingml/2006/main">
            <a:pPr>
              <a:lnSpc>
                <a:spcPct val="110000"/>
              </a:lnSpc>
              <a:buNone/>
              <a:defRPr sz="4275" b="1">
                <a:solidFill>
                  <a:srgbClr val="F4F2E9"/>
                </a:solidFill>
                <a:latin typeface="Helvetica Neue"/>
                <a:ea typeface="Helvetica Neue"/>
                <a:cs typeface="Helvetica Neue"/>
              </a:defRPr>
            </a:pPr>
            <a:r>
              <a:rPr sz="4275" b="1">
                <a:solidFill>
                  <a:srgbClr val="F4F2E9"/>
                </a:solidFill>
                <a:latin typeface="Helvetica Neue"/>
                <a:ea typeface="Helvetica Neue"/>
                <a:cs typeface="Helvetica Neue"/>
              </a:rPr>
              <a:t>people can work with</a:t>
            </a:r>
          </a:p>
        </p:txBody>
      </p:sp>
      <p:sp>
        <p:nvSpPr>
          <p:cNvPr id="3" name="contact-intent">
            <a:extLst xmlns:a="http://schemas.openxmlformats.org/drawingml/2006/main">
              <a:ext uri="{FF2B5EF4-FFF2-40B4-BE49-F238E27FC236}">
                <a16:creationId xmlns:a16="http://schemas.microsoft.com/office/drawing/2014/main" id="{C03A302D-0095-4217-82B0-A9E33C7E3F82}"/>
              </a:ext>
            </a:extLst>
          </p:cNvPr>
          <p:cNvSpPr>
            <a:spLocks xmlns:a="http://schemas.openxmlformats.org/drawingml/2006/main" noGrp="1"/>
          </p:cNvSpPr>
          <p:nvPr/>
        </p:nvSpPr>
        <p:spPr>
          <a:xfrm xmlns:a="http://schemas.openxmlformats.org/drawingml/2006/main">
            <a:off x="647700" y="3943350"/>
            <a:ext cx="100203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025" b="0">
                <a:solidFill>
                  <a:srgbClr val="F4F2E9"/>
                </a:solidFill>
                <a:latin typeface="Helvetica Neue"/>
                <a:ea typeface="Helvetica Neue"/>
                <a:cs typeface="Helvetica Neue"/>
              </a:defRPr>
            </a:pPr>
            <a:r>
              <a:rPr sz="2025" b="0">
                <a:solidFill>
                  <a:srgbClr val="F4F2E9"/>
                </a:solidFill>
                <a:latin typeface="Helvetica Neue"/>
                <a:ea typeface="Helvetica Neue"/>
                <a:cs typeface="Helvetica Neue"/>
              </a:rPr>
              <a:t>Mesa, Arizona. Full U.S. work authorization. Available to start as soon as possible.</a:t>
            </a:r>
          </a:p>
        </p:txBody>
      </p:sp>
      <p:sp>
        <p:nvSpPr>
          <p:cNvPr id="4" name="email">
            <a:extLst xmlns:a="http://schemas.openxmlformats.org/drawingml/2006/main">
              <a:ext uri="{FF2B5EF4-FFF2-40B4-BE49-F238E27FC236}">
                <a16:creationId xmlns:a16="http://schemas.microsoft.com/office/drawing/2014/main" id="{E92BB178-EAF3-4218-8CF7-0C1BB0C42B36}"/>
              </a:ext>
            </a:extLst>
          </p:cNvPr>
          <p:cNvSpPr>
            <a:spLocks xmlns:a="http://schemas.openxmlformats.org/drawingml/2006/main" noGrp="1"/>
          </p:cNvSpPr>
          <p:nvPr/>
        </p:nvSpPr>
        <p:spPr>
          <a:xfrm xmlns:a="http://schemas.openxmlformats.org/drawingml/2006/main">
            <a:off x="647700" y="5057775"/>
            <a:ext cx="101917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875" b="0" u="sng">
                <a:solidFill>
                  <a:srgbClr val="DBEB89"/>
                </a:solidFill>
                <a:latin typeface="Helvetica Neue"/>
                <a:ea typeface="Helvetica Neue"/>
                <a:cs typeface="Helvetica Neue"/>
              </a:defRPr>
            </a:pPr>
            <a:r>
              <a:rPr sz="1875" b="0" u="sng">
                <a:solidFill>
                  <a:srgbClr val="DBEB89"/>
                </a:solidFill>
                <a:latin typeface="Helvetica Neue"/>
                <a:ea typeface="Helvetica Neue"/>
                <a:cs typeface="Helvetica Neue"/>
                <a:hlinkClick xmlns:r="http://schemas.openxmlformats.org/officeDocument/2006/relationships" r:id="R443c20696eed410a"/>
              </a:rPr>
              <a:t>JonathanKyleHobson@gmail.com</a:t>
            </a:r>
          </a:p>
        </p:txBody>
      </p:sp>
      <p:sp>
        <p:nvSpPr>
          <p:cNvPr id="5" name="portfolio">
            <a:extLst xmlns:a="http://schemas.openxmlformats.org/drawingml/2006/main">
              <a:ext uri="{FF2B5EF4-FFF2-40B4-BE49-F238E27FC236}">
                <a16:creationId xmlns:a16="http://schemas.microsoft.com/office/drawing/2014/main" id="{2A50B983-C372-4BD9-8DDB-7A1462DDA1AA}"/>
              </a:ext>
            </a:extLst>
          </p:cNvPr>
          <p:cNvSpPr>
            <a:spLocks xmlns:a="http://schemas.openxmlformats.org/drawingml/2006/main" noGrp="1"/>
          </p:cNvSpPr>
          <p:nvPr/>
        </p:nvSpPr>
        <p:spPr>
          <a:xfrm xmlns:a="http://schemas.openxmlformats.org/drawingml/2006/main">
            <a:off x="647700" y="5705475"/>
            <a:ext cx="10572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575" b="0" u="sng">
                <a:solidFill>
                  <a:srgbClr val="DBEB89"/>
                </a:solidFill>
                <a:latin typeface="Helvetica Neue"/>
                <a:ea typeface="Helvetica Neue"/>
                <a:cs typeface="Helvetica Neue"/>
              </a:defRPr>
            </a:pPr>
            <a:r>
              <a:rPr sz="1575" b="0" u="sng">
                <a:solidFill>
                  <a:srgbClr val="DBEB89"/>
                </a:solidFill>
                <a:latin typeface="Helvetica Neue"/>
                <a:ea typeface="Helvetica Neue"/>
                <a:cs typeface="Helvetica Neue"/>
                <a:hlinkClick xmlns:r="http://schemas.openxmlformats.org/officeDocument/2006/relationships" r:id="R21ec1a3bf082433f"/>
              </a:rPr>
              <a:t>jonathankhobson.github.io/application-portfolios/virtualitics-product-designer</a:t>
            </a:r>
          </a:p>
        </p:txBody>
      </p:sp>
      <p:sp>
        <p:nvSpPr>
          <p:cNvPr id="6" name="slide-number">
            <a:extLst xmlns:a="http://schemas.openxmlformats.org/drawingml/2006/main">
              <a:ext uri="{FF2B5EF4-FFF2-40B4-BE49-F238E27FC236}">
                <a16:creationId xmlns:a16="http://schemas.microsoft.com/office/drawing/2014/main" id="{193793A5-3DCD-4FC8-B718-B3EDC0F01938}"/>
              </a:ext>
            </a:extLst>
          </p:cNvPr>
          <p:cNvSpPr>
            <a:spLocks xmlns:a="http://schemas.openxmlformats.org/drawingml/2006/main" noGrp="1"/>
          </p:cNvSpPr>
          <p:nvPr/>
        </p:nvSpPr>
        <p:spPr>
          <a:xfrm xmlns:a="http://schemas.openxmlformats.org/drawingml/2006/main">
            <a:off x="11353800" y="6562725"/>
            <a:ext cx="323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DBEB89"/>
                </a:solidFill>
                <a:latin typeface="Helvetica Neue"/>
                <a:ea typeface="Helvetica Neue"/>
                <a:cs typeface="Helvetica Neue"/>
              </a:defRPr>
            </a:pPr>
            <a:r>
              <a:rPr sz="1050" b="0">
                <a:solidFill>
                  <a:srgbClr val="DBEB89"/>
                </a:solidFill>
                <a:latin typeface="Helvetica Neue"/>
                <a:ea typeface="Helvetica Neue"/>
                <a:cs typeface="Helvetica Neue"/>
              </a:rPr>
              <a:t>10</a:t>
            </a:r>
          </a:p>
        </p:txBody>
      </p:sp>
    </p:spTree>
    <p:extLst>
      <p:ext uri="{BB962C8B-B14F-4D97-AF65-F5344CB8AC3E}">
        <p14:creationId xmlns:p14="http://schemas.microsoft.com/office/powerpoint/2010/main" val="1759901169"/>
      </p:ext>
    </p:extLst>
  </p:cSld>
</p:sld>
</file>

<file path=ppt/theme/theme1.xml><?xml version="1.0" encoding="utf-8"?>
<a:theme xmlns:a="http://schemas.openxmlformats.org/drawingml/2006/main" name="ChatGPT">
  <a:themeElements>
    <a:clrScheme name="Kyle Portfolio">
      <a:dk1>
        <a:srgbClr val="192B25"/>
      </a:dk1>
      <a:lt1>
        <a:srgbClr val="FFFFFF"/>
      </a:lt1>
      <a:dk2>
        <a:srgbClr val="244D3C"/>
      </a:dk2>
      <a:lt2>
        <a:srgbClr val="F4F2E9"/>
      </a:lt2>
      <a:accent1>
        <a:srgbClr val="244D3C"/>
      </a:accent1>
      <a:accent2>
        <a:srgbClr val="DBEB89"/>
      </a:accent2>
      <a:accent3>
        <a:srgbClr val="E1E8DB"/>
      </a:accent3>
      <a:accent4>
        <a:srgbClr val="58645D"/>
      </a:accent4>
      <a:accent5>
        <a:srgbClr val="192B25"/>
      </a:accent5>
      <a:accent6>
        <a:srgbClr val="F4F2E9"/>
      </a:accent6>
      <a:hlink>
        <a:srgbClr val="DBEB89"/>
      </a:hlink>
      <a:folHlink>
        <a:srgbClr val="DBEB89"/>
      </a:folHlink>
    </a:clrScheme>
    <a:fontScheme name="Office">
      <a:majorFont>
        <a:latin typeface="Calibri Light"/>
        <a:ea typeface="Calibri Light"/>
        <a:cs typeface="Calibri Light"/>
      </a:majorFont>
      <a:minorFont>
        <a:latin typeface="Calibri"/>
        <a:ea typeface="Calibri"/>
        <a:cs typeface="Calibri"/>
      </a:minorFont>
    </a:fontScheme>
    <a:fmtScheme name="Kyle Portfolio">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2026-09-11T16:52:52.2310000Z</dcterms:created>
  <dcterms:modified xsi:type="dcterms:W3CDTF">2026-09-11T16:52:52.2310000Z</dcterms:modified>
</coreProperties>
</file>