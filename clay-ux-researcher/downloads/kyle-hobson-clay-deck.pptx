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b7aff91ec8b4398" /><Relationship Type="http://schemas.openxmlformats.org/officeDocument/2006/relationships/extended-properties" Target="/docProps/app.xml" Id="R1e740643c25b4639" /><Relationship Type="http://schemas.openxmlformats.org/officeDocument/2006/relationships/officeDocument" Target="/ppt/presentation.xml" Id="Rf4acdc59a1524dc4" /></Relationships>
</file>

<file path=ppt/presentation.xml><?xml version="1.0" encoding="utf-8"?>
<p:presentation xmlns:p="http://schemas.openxmlformats.org/presentationml/2006/main">
  <p:sldMasterIdLst>
    <p:sldMasterId xmlns:r="http://schemas.openxmlformats.org/officeDocument/2006/relationships" id="2147483648" r:id="Rd94e49dc5da942ec"/>
  </p:sldMasterIdLst>
  <p:notesMasterIdLst>
    <p:notesMasterId xmlns:r="http://schemas.openxmlformats.org/officeDocument/2006/relationships" r:id="R451b7b06496041b9"/>
  </p:notesMasterIdLst>
  <p:sldIdLst>
    <p:sldId xmlns:r="http://schemas.openxmlformats.org/officeDocument/2006/relationships" id="256" r:id="R90d97cfa091a4ebe"/>
    <p:sldId xmlns:r="http://schemas.openxmlformats.org/officeDocument/2006/relationships" id="257" r:id="Rf4b3e35ac4ac4220"/>
    <p:sldId xmlns:r="http://schemas.openxmlformats.org/officeDocument/2006/relationships" id="258" r:id="R4e00f2a6762741b9"/>
    <p:sldId xmlns:r="http://schemas.openxmlformats.org/officeDocument/2006/relationships" id="259" r:id="R2a150ab66be64b5f"/>
    <p:sldId xmlns:r="http://schemas.openxmlformats.org/officeDocument/2006/relationships" id="260" r:id="R0f334ade861a4672"/>
    <p:sldId xmlns:r="http://schemas.openxmlformats.org/officeDocument/2006/relationships" id="261" r:id="R6c82c57f568942c8"/>
    <p:sldId xmlns:r="http://schemas.openxmlformats.org/officeDocument/2006/relationships" id="262" r:id="R5817c74ed3e440ce"/>
    <p:sldId xmlns:r="http://schemas.openxmlformats.org/officeDocument/2006/relationships" id="263" r:id="R92edca29af70401b"/>
    <p:sldId xmlns:r="http://schemas.openxmlformats.org/officeDocument/2006/relationships" id="264" r:id="R24270fff98e0429e"/>
    <p:sldId xmlns:r="http://schemas.openxmlformats.org/officeDocument/2006/relationships" id="265" r:id="Rff14cb6e2a06428f"/>
    <p:sldId xmlns:r="http://schemas.openxmlformats.org/officeDocument/2006/relationships" id="266" r:id="R64e4b8b1589649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7b8e8123824ca1" /><Relationship Type="http://schemas.openxmlformats.org/officeDocument/2006/relationships/slideMaster" Target="/ppt/slideMasters/slideMaster1.xml" Id="Rd94e49dc5da942ec" /><Relationship Type="http://schemas.openxmlformats.org/officeDocument/2006/relationships/notesMaster" Target="/ppt/notesMasters/notesMaster1.xml" Id="R451b7b06496041b9" /><Relationship Type="http://schemas.openxmlformats.org/officeDocument/2006/relationships/presProps" Target="/ppt/presProps.xml" Id="R9bc537b21b0c440d" /><Relationship Type="http://schemas.openxmlformats.org/officeDocument/2006/relationships/tableStyles" Target="/ppt/tableStyles.xml" Id="R2a2a41eec4264a91" /><Relationship Type="http://schemas.openxmlformats.org/officeDocument/2006/relationships/slide" Target="/ppt/slides/slide1.xml" Id="R90d97cfa091a4ebe" /><Relationship Type="http://schemas.openxmlformats.org/officeDocument/2006/relationships/slide" Target="/ppt/slides/slide2.xml" Id="Rf4b3e35ac4ac4220" /><Relationship Type="http://schemas.openxmlformats.org/officeDocument/2006/relationships/slide" Target="/ppt/slides/slide3.xml" Id="R4e00f2a6762741b9" /><Relationship Type="http://schemas.openxmlformats.org/officeDocument/2006/relationships/slide" Target="/ppt/slides/slide4.xml" Id="R2a150ab66be64b5f" /><Relationship Type="http://schemas.openxmlformats.org/officeDocument/2006/relationships/slide" Target="/ppt/slides/slide5.xml" Id="R0f334ade861a4672" /><Relationship Type="http://schemas.openxmlformats.org/officeDocument/2006/relationships/slide" Target="/ppt/slides/slide6.xml" Id="R6c82c57f568942c8" /><Relationship Type="http://schemas.openxmlformats.org/officeDocument/2006/relationships/slide" Target="/ppt/slides/slide7.xml" Id="R5817c74ed3e440ce" /><Relationship Type="http://schemas.openxmlformats.org/officeDocument/2006/relationships/slide" Target="/ppt/slides/slide8.xml" Id="R92edca29af70401b" /><Relationship Type="http://schemas.openxmlformats.org/officeDocument/2006/relationships/slide" Target="/ppt/slides/slide9.xml" Id="R24270fff98e0429e" /><Relationship Type="http://schemas.openxmlformats.org/officeDocument/2006/relationships/slide" Target="/ppt/slides/slide10.xml" Id="Rff14cb6e2a06428f" /><Relationship Type="http://schemas.openxmlformats.org/officeDocument/2006/relationships/slide" Target="/ppt/slides/slide11.xml" Id="R64e4b8b1589649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92875e6a9140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0e23c7f1be4add" /><Relationship Type="http://schemas.openxmlformats.org/officeDocument/2006/relationships/notesMaster" Target="/ppt/notesMasters/notesMaster1.xml" Id="R02a5f120b1654d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fd65b04b584b28" /><Relationship Type="http://schemas.openxmlformats.org/officeDocument/2006/relationships/notesMaster" Target="/ppt/notesMasters/notesMaster1.xml" Id="R52d06a6f8fc347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af30fa1f5f4167" /><Relationship Type="http://schemas.openxmlformats.org/officeDocument/2006/relationships/notesMaster" Target="/ppt/notesMasters/notesMaster1.xml" Id="Re3fe6b1b417b49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e394b2e95746be" /><Relationship Type="http://schemas.openxmlformats.org/officeDocument/2006/relationships/notesMaster" Target="/ppt/notesMasters/notesMaster1.xml" Id="R3b4c6ac900c043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6757a01b7d4907" /><Relationship Type="http://schemas.openxmlformats.org/officeDocument/2006/relationships/notesMaster" Target="/ppt/notesMasters/notesMaster1.xml" Id="R754ca50e1e0b49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ba42a9a4754c3f" /><Relationship Type="http://schemas.openxmlformats.org/officeDocument/2006/relationships/notesMaster" Target="/ppt/notesMasters/notesMaster1.xml" Id="R09fb8a6dbee741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308214c88f481c" /><Relationship Type="http://schemas.openxmlformats.org/officeDocument/2006/relationships/notesMaster" Target="/ppt/notesMasters/notesMaster1.xml" Id="R51bf2f1257bb43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b7b140b77f4a17" /><Relationship Type="http://schemas.openxmlformats.org/officeDocument/2006/relationships/notesMaster" Target="/ppt/notesMasters/notesMaster1.xml" Id="R971fdd991f6a4d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bde586c71647bd" /><Relationship Type="http://schemas.openxmlformats.org/officeDocument/2006/relationships/notesMaster" Target="/ppt/notesMasters/notesMaster1.xml" Id="R8de416593ae44c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a973b69a104d6d" /><Relationship Type="http://schemas.openxmlformats.org/officeDocument/2006/relationships/notesMaster" Target="/ppt/notesMasters/notesMaster1.xml" Id="R9896522b378c4c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ce04fb1be9476e" /><Relationship Type="http://schemas.openxmlformats.org/officeDocument/2006/relationships/notesMaster" Target="/ppt/notesMasters/notesMaster1.xml" Id="Re1eef63aed8e40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Researcher. Selected work at Oak AI and Oak + Qasim. The cover uses a generated decorative paper-path image, not project evidence. The following cases show research methods, evidence, product decisions and the limits on each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March 2025 report pages 14–15 and Kyle’s retrospective portfolio discussion of an Action Hub direction. This slide is an editable synthesis connecting reported barriers and feature requests to a proposed product direction. It does not show an implemented product, verified adoption, funding secured, or a causal outcome. The final sentence proposes a next validation step for the portfolio narrative; it is not a claim that the test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privacy-community research, September 2024. Original evidence: a partial Dovetail coding export and synthesis notes with observations dated September 25–28 and entries created September 29–30. Kyle’s contribution log corroborates community synthesis and persona validation. The displayed source plate is reformatted from the coding export; this crop selects the first three metadata rows, with no participant excerpts or locators. The retrospective also describes later active engagement; the partial export does not establish the full sampling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September 2024 coding export and synthesis; reviewed career evidence and retrospective case narrative. Themes include data security, corporate accountability and personal control. This visual is a retrospective portfolio synthesis, not a historical presentation artifact or a set of respondent quotations. The crop shows the three interpretive questions; the original full plate links those questions to source tags. The work raised concerns about audience fit and supported reconsidering the next research investment. It did not prove product-market fit impossible or establish a quantified budget saving. A next study should compare concrete needs and current workarounds across explicitly recruited audiences.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desktop heuristic evaluation. Original evaluation workbook identifies Mac desktop/Chrome and November 22, 2023. Kyle conducted the heuristic evaluation and UX audit, examined information architecture, and compiled findings and recommendations. The original navigation detail shows competing entry points. This is expert judgment, not a controlled user study. The workbook contains 94 rated desktop checklist rows; those are neither 94 participants nor 94 distinct observed user failures. A completed mobile audit is not evidenced.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desktop heuristic evaluation dated November 22, 2023; recommendations report exported November 27, 2023; Kyle’s contribution log for December 3, 2023 documents presenting the evaluation and recommendations, then initiating a UX improvement list for transformation into a backlog. It does not establish delivery of a completed prioritized backlog on that date. The January 29, 2024 contribution entry credits lead designer Megan with later design refinements and mockup iterations. This slide documents the research handoff, not a shipping or outcome metric. Next validation would observe realistic navigation and error-recovery tasks; future methods named in the report are not presented as completed studies.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working approach for a Clay client engagement. This is not a completed Clay study or a claim of prior global-agency client work. The methods would depend on the decision, available product evidence, recruitment needs and study constraints. No participant count, study schedule, result or rate acceptance is promised. The portrait is user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the Clay Contract UX Researcher opening. The portfolio destination is configured as a hyperlink. Compensation is not published; no rate or weekly schedule is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51480eca184b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d95a11dcdf417d" /><Relationship Type="http://schemas.openxmlformats.org/officeDocument/2006/relationships/slideLayout" Target="/ppt/slideLayouts/slideLayout1.xml" Id="Ra36bc7c9f5c64d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6bc7c9f5c64d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f06a1c496b4d34" /><Relationship Type="http://schemas.openxmlformats.org/officeDocument/2006/relationships/image" Target="/ppt/media/image.png" Id="R4677c09ff86c4559" /><Relationship Type="http://schemas.openxmlformats.org/officeDocument/2006/relationships/notesSlide" Target="/ppt/notesSlides/notesSlide1.xml" Id="R21361591ba2546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a95f0a43bb4c7f" /><Relationship Type="http://schemas.openxmlformats.org/officeDocument/2006/relationships/image" Target="/ppt/media/image2.png" Id="R53969c687b4a481f" /><Relationship Type="http://schemas.openxmlformats.org/officeDocument/2006/relationships/notesSlide" Target="/ppt/notesSlides/notesSlide2.xml" Id="R8639dd30f2594b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d6032a25264e1a" /><Relationship Type="http://schemas.openxmlformats.org/officeDocument/2006/relationships/image" Target="/ppt/media/image3.png" Id="R70f2aed1460b43c5" /><Relationship Type="http://schemas.openxmlformats.org/officeDocument/2006/relationships/chart" Target="/ppt/slides/charts/chart1.xml" Id="R5068ee24a0a04be4" /><Relationship Type="http://schemas.openxmlformats.org/officeDocument/2006/relationships/notesSlide" Target="/ppt/notesSlides/notesSlide3.xml" Id="Rbab4eb95952345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e3a00032754122" /><Relationship Type="http://schemas.openxmlformats.org/officeDocument/2006/relationships/notesSlide" Target="/ppt/notesSlides/notesSlide4.xml" Id="Rdb8b862dbcc446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33d30db87f464b" /><Relationship Type="http://schemas.openxmlformats.org/officeDocument/2006/relationships/image" Target="/ppt/media/image4.png" Id="R6704b75499c947cb" /><Relationship Type="http://schemas.openxmlformats.org/officeDocument/2006/relationships/notesSlide" Target="/ppt/notesSlides/notesSlide5.xml" Id="R02f5fec413d342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87c3710f4848bf" /><Relationship Type="http://schemas.openxmlformats.org/officeDocument/2006/relationships/image" Target="/ppt/media/image5.png" Id="Rbd70e7c90e6e4ccc" /><Relationship Type="http://schemas.openxmlformats.org/officeDocument/2006/relationships/notesSlide" Target="/ppt/notesSlides/notesSlide6.xml" Id="R09c51649bd3549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11e9fa27364126" /><Relationship Type="http://schemas.openxmlformats.org/officeDocument/2006/relationships/image" Target="/ppt/media/image6.png" Id="R497f377dade34c7d" /><Relationship Type="http://schemas.openxmlformats.org/officeDocument/2006/relationships/notesSlide" Target="/ppt/notesSlides/notesSlide7.xml" Id="Rf5fc401bebc94d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5c9eb326b5c4d33" /><Relationship Type="http://schemas.openxmlformats.org/officeDocument/2006/relationships/image" Target="/ppt/media/image7.png" Id="R330455af54064094" /><Relationship Type="http://schemas.openxmlformats.org/officeDocument/2006/relationships/image" Target="/ppt/media/image8.png" Id="Rdcfd19d65f534cd9" /><Relationship Type="http://schemas.openxmlformats.org/officeDocument/2006/relationships/image" Target="/ppt/media/image9.png" Id="Rb21f2f3e66804e2e" /><Relationship Type="http://schemas.openxmlformats.org/officeDocument/2006/relationships/notesSlide" Target="/ppt/notesSlides/notesSlide8.xml" Id="Rb374d679dccd43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802577f5cf47cc" /><Relationship Type="http://schemas.openxmlformats.org/officeDocument/2006/relationships/notesSlide" Target="/ppt/notesSlides/notesSlide9.xml" Id="R1e179769244540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41f5ae5805410b" /><Relationship Type="http://schemas.openxmlformats.org/officeDocument/2006/relationships/image" Target="/ppt/media/image.jpeg" Id="Ra308786cf1bf40d3" /><Relationship Type="http://schemas.openxmlformats.org/officeDocument/2006/relationships/notesSlide" Target="/ppt/notesSlides/notesSlide10.xml" Id="R723e6d18d44643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f9338443f541cd" /><Relationship Type="http://schemas.openxmlformats.org/officeDocument/2006/relationships/hyperlink" Target="mailto:JonathanKyleHobson@gmail.com" TargetMode="External" Id="R607498d17b0c41ac" /><Relationship Type="http://schemas.openxmlformats.org/officeDocument/2006/relationships/hyperlink" Target="https://jonathankhobson.github.io/application-portfolios/clay-ux-researcher/" TargetMode="External" Id="R556375be37e74015" /><Relationship Type="http://schemas.openxmlformats.org/officeDocument/2006/relationships/notesSlide" Target="/ppt/notesSlides/notesSlide11.xml" Id="Ra7f71202bcf142a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677c09ff86c4559"/>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83EB195E-3DB5-40F8-ACB1-7C883DF96BFD}"/>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CLAY · UX RESEARCH</a:t>
            </a:r>
          </a:p>
        </p:txBody>
      </p:sp>
      <p:sp>
        <p:nvSpPr>
          <p:cNvPr id="3" name="headline">
            <a:extLst xmlns:a="http://schemas.openxmlformats.org/drawingml/2006/main">
              <a:ext uri="{FF2B5EF4-FFF2-40B4-BE49-F238E27FC236}">
                <a16:creationId xmlns:a16="http://schemas.microsoft.com/office/drawing/2014/main" id="{C0993C68-F481-4B26-A8F2-D89B2C88C28F}"/>
              </a:ext>
            </a:extLst>
          </p:cNvPr>
          <p:cNvSpPr>
            <a:spLocks xmlns:a="http://schemas.openxmlformats.org/drawingml/2006/main" noGrp="1"/>
          </p:cNvSpPr>
          <p:nvPr/>
        </p:nvSpPr>
        <p:spPr>
          <a:xfrm xmlns:a="http://schemas.openxmlformats.org/drawingml/2006/main">
            <a:off x="609600" y="1552575"/>
            <a:ext cx="80867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Research for the</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next product decision</a:t>
            </a:r>
          </a:p>
        </p:txBody>
      </p:sp>
      <p:sp>
        <p:nvSpPr>
          <p:cNvPr id="4" name="cover-intro">
            <a:extLst xmlns:a="http://schemas.openxmlformats.org/drawingml/2006/main">
              <a:ext uri="{FF2B5EF4-FFF2-40B4-BE49-F238E27FC236}">
                <a16:creationId xmlns:a16="http://schemas.microsoft.com/office/drawing/2014/main" id="{96D97203-7DD3-489F-B193-8F16DF951B46}"/>
              </a:ext>
            </a:extLst>
          </p:cNvPr>
          <p:cNvSpPr>
            <a:spLocks xmlns:a="http://schemas.openxmlformats.org/drawingml/2006/main" noGrp="1"/>
          </p:cNvSpPr>
          <p:nvPr/>
        </p:nvSpPr>
        <p:spPr>
          <a:xfrm xmlns:a="http://schemas.openxmlformats.org/drawingml/2006/main">
            <a:off x="647700" y="3971925"/>
            <a:ext cx="7229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From research question to evidence,</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recommendation, and design discussion.</a:t>
            </a:r>
          </a:p>
        </p:txBody>
      </p:sp>
      <p:sp>
        <p:nvSpPr>
          <p:cNvPr id="5" name="cover-scope">
            <a:extLst xmlns:a="http://schemas.openxmlformats.org/drawingml/2006/main">
              <a:ext uri="{FF2B5EF4-FFF2-40B4-BE49-F238E27FC236}">
                <a16:creationId xmlns:a16="http://schemas.microsoft.com/office/drawing/2014/main" id="{18B4339B-CB0E-4A0E-B153-86E8C79CB651}"/>
              </a:ext>
            </a:extLst>
          </p:cNvPr>
          <p:cNvSpPr>
            <a:spLocks xmlns:a="http://schemas.openxmlformats.org/drawingml/2006/main" noGrp="1"/>
          </p:cNvSpPr>
          <p:nvPr/>
        </p:nvSpPr>
        <p:spPr>
          <a:xfrm xmlns:a="http://schemas.openxmlformats.org/drawingml/2006/main">
            <a:off x="647700" y="600075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Selected for Clay · Contract UX Research · September 2026</a:t>
            </a:r>
          </a:p>
        </p:txBody>
      </p:sp>
      <p:sp>
        <p:nvSpPr>
          <p:cNvPr id="6" name="slide-number">
            <a:extLst xmlns:a="http://schemas.openxmlformats.org/drawingml/2006/main">
              <a:ext uri="{FF2B5EF4-FFF2-40B4-BE49-F238E27FC236}">
                <a16:creationId xmlns:a16="http://schemas.microsoft.com/office/drawing/2014/main" id="{A42E9136-4BC4-4710-BCD5-D1060C2829A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798287827"/>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81442B3F-A0B0-4B9A-AAA0-0A5A10300F4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944888D9-AB80-4651-96C0-985A10ED84DB}"/>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D4FFB60D-EAD3-4CDD-92AB-6D8661AF7C06}"/>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32D89DFD-B3DD-4CC2-8555-1C902BF383D5}"/>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94C2133E-FD0A-4993-94D3-6E7EE239073D}"/>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3969c687b4a481f"/>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D8BFE0C8-5AB5-4158-B679-27EF12B57EBC}"/>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0690A55A-1E79-498E-BA92-A7F0A68E05A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308432579"/>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B7E55F3E-BDA9-4A74-91E4-2C24A86BE1B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167BFAE7-D496-402E-9E64-572129C84745}"/>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0f2aed1460b43c5"/>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1FB336F2-5F60-41EC-9218-59863C921245}"/>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5068ee24a0a04be4"/>
          </a:graphicData>
        </a:graphic>
      </p:graphicFrame>
      <p:sp>
        <p:nvSpPr>
          <p:cNvPr id="6" name="barrier-limit">
            <a:extLst xmlns:a="http://schemas.openxmlformats.org/drawingml/2006/main">
              <a:ext uri="{FF2B5EF4-FFF2-40B4-BE49-F238E27FC236}">
                <a16:creationId xmlns:a16="http://schemas.microsoft.com/office/drawing/2014/main" id="{CFD8FCA4-30AC-440D-99E9-B107AA00D67A}"/>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6ECFEF5B-A885-4061-8250-23A35799F1F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994144808"/>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5F5DFCA5-18AF-4BEE-8D7F-7B085AAF1F4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FINDINGS INTO A PRODUCT QUESTION</a:t>
            </a:r>
          </a:p>
        </p:txBody>
      </p:sp>
      <p:sp>
        <p:nvSpPr>
          <p:cNvPr id="2" name="headline">
            <a:extLst xmlns:a="http://schemas.openxmlformats.org/drawingml/2006/main">
              <a:ext uri="{FF2B5EF4-FFF2-40B4-BE49-F238E27FC236}">
                <a16:creationId xmlns:a16="http://schemas.microsoft.com/office/drawing/2014/main" id="{CB00DEBB-47BF-4D50-BFA3-76960C3B9778}"/>
              </a:ext>
            </a:extLst>
          </p:cNvPr>
          <p:cNvSpPr>
            <a:spLocks xmlns:a="http://schemas.openxmlformats.org/drawingml/2006/main" noGrp="1"/>
          </p:cNvSpPr>
          <p:nvPr/>
        </p:nvSpPr>
        <p:spPr>
          <a:xfrm xmlns:a="http://schemas.openxmlformats.org/drawingml/2006/main">
            <a:off x="609600" y="1095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Action Hub direction</a:t>
            </a:r>
          </a:p>
        </p:txBody>
      </p:sp>
      <p:sp>
        <p:nvSpPr>
          <p:cNvPr id="3" name="proposal-context">
            <a:extLst xmlns:a="http://schemas.openxmlformats.org/drawingml/2006/main">
              <a:ext uri="{FF2B5EF4-FFF2-40B4-BE49-F238E27FC236}">
                <a16:creationId xmlns:a16="http://schemas.microsoft.com/office/drawing/2014/main" id="{5AA7A52B-C0B1-4907-8A81-CE59E6C0F149}"/>
              </a:ext>
            </a:extLst>
          </p:cNvPr>
          <p:cNvSpPr>
            <a:spLocks xmlns:a="http://schemas.openxmlformats.org/drawingml/2006/main" noGrp="1"/>
          </p:cNvSpPr>
          <p:nvPr/>
        </p:nvSpPr>
        <p:spPr>
          <a:xfrm xmlns:a="http://schemas.openxmlformats.org/drawingml/2006/main">
            <a:off x="609600" y="2257425"/>
            <a:ext cx="1038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findings pointed toward smaller, clearer actions and support for following through.</a:t>
            </a:r>
          </a:p>
        </p:txBody>
      </p:sp>
      <p:sp>
        <p:nvSpPr>
          <p:cNvPr id="4" name="finding-label">
            <a:extLst xmlns:a="http://schemas.openxmlformats.org/drawingml/2006/main">
              <a:ext uri="{FF2B5EF4-FFF2-40B4-BE49-F238E27FC236}">
                <a16:creationId xmlns:a16="http://schemas.microsoft.com/office/drawing/2014/main" id="{4F95924E-DFA2-4532-8A28-029427311514}"/>
              </a:ext>
            </a:extLst>
          </p:cNvPr>
          <p:cNvSpPr>
            <a:spLocks xmlns:a="http://schemas.openxmlformats.org/drawingml/2006/main" noGrp="1"/>
          </p:cNvSpPr>
          <p:nvPr/>
        </p:nvSpPr>
        <p:spPr>
          <a:xfrm xmlns:a="http://schemas.openxmlformats.org/drawingml/2006/main">
            <a:off x="609600" y="33909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REPORTED NEED</a:t>
            </a:r>
          </a:p>
        </p:txBody>
      </p:sp>
      <p:sp>
        <p:nvSpPr>
          <p:cNvPr id="5" name="direction-label">
            <a:extLst xmlns:a="http://schemas.openxmlformats.org/drawingml/2006/main">
              <a:ext uri="{FF2B5EF4-FFF2-40B4-BE49-F238E27FC236}">
                <a16:creationId xmlns:a16="http://schemas.microsoft.com/office/drawing/2014/main" id="{DEA7178D-CEF1-4BA2-9916-5C2AF41D8F3C}"/>
              </a:ext>
            </a:extLst>
          </p:cNvPr>
          <p:cNvSpPr>
            <a:spLocks xmlns:a="http://schemas.openxmlformats.org/drawingml/2006/main" noGrp="1"/>
          </p:cNvSpPr>
          <p:nvPr/>
        </p:nvSpPr>
        <p:spPr>
          <a:xfrm xmlns:a="http://schemas.openxmlformats.org/drawingml/2006/main">
            <a:off x="6191250" y="3390900"/>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DIRECTION</a:t>
            </a:r>
          </a:p>
        </p:txBody>
      </p:sp>
      <p:sp>
        <p:nvSpPr>
          <p:cNvPr id="6" name="need-0">
            <a:extLst xmlns:a="http://schemas.openxmlformats.org/drawingml/2006/main">
              <a:ext uri="{FF2B5EF4-FFF2-40B4-BE49-F238E27FC236}">
                <a16:creationId xmlns:a16="http://schemas.microsoft.com/office/drawing/2014/main" id="{D12BE569-75F3-4B21-B780-CE22069CBBEA}"/>
              </a:ext>
            </a:extLst>
          </p:cNvPr>
          <p:cNvSpPr>
            <a:spLocks xmlns:a="http://schemas.openxmlformats.org/drawingml/2006/main" noGrp="1"/>
          </p:cNvSpPr>
          <p:nvPr/>
        </p:nvSpPr>
        <p:spPr>
          <a:xfrm xmlns:a="http://schemas.openxmlformats.org/drawingml/2006/main">
            <a:off x="609600" y="38290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Overwhelm and unclear steps</a:t>
            </a:r>
          </a:p>
        </p:txBody>
      </p:sp>
      <p:sp>
        <p:nvSpPr>
          <p:cNvPr id="7" name="direction-0">
            <a:extLst xmlns:a="http://schemas.openxmlformats.org/drawingml/2006/main">
              <a:ext uri="{FF2B5EF4-FFF2-40B4-BE49-F238E27FC236}">
                <a16:creationId xmlns:a16="http://schemas.microsoft.com/office/drawing/2014/main" id="{AF2D921E-60BF-42BF-8591-5AFAD8B7933E}"/>
              </a:ext>
            </a:extLst>
          </p:cNvPr>
          <p:cNvSpPr>
            <a:spLocks xmlns:a="http://schemas.openxmlformats.org/drawingml/2006/main" noGrp="1"/>
          </p:cNvSpPr>
          <p:nvPr/>
        </p:nvSpPr>
        <p:spPr>
          <a:xfrm xmlns:a="http://schemas.openxmlformats.org/drawingml/2006/main">
            <a:off x="6191250" y="382905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A focused action with instructions</a:t>
            </a:r>
          </a:p>
        </p:txBody>
      </p:sp>
      <p:sp>
        <p:nvSpPr>
          <p:cNvPr id="8" name="need-1">
            <a:extLst xmlns:a="http://schemas.openxmlformats.org/drawingml/2006/main">
              <a:ext uri="{FF2B5EF4-FFF2-40B4-BE49-F238E27FC236}">
                <a16:creationId xmlns:a16="http://schemas.microsoft.com/office/drawing/2014/main" id="{B05DD361-CED4-439A-97C9-265BB3F38C7F}"/>
              </a:ext>
            </a:extLst>
          </p:cNvPr>
          <p:cNvSpPr>
            <a:spLocks xmlns:a="http://schemas.openxmlformats.org/drawingml/2006/main" noGrp="1"/>
          </p:cNvSpPr>
          <p:nvPr/>
        </p:nvSpPr>
        <p:spPr>
          <a:xfrm xmlns:a="http://schemas.openxmlformats.org/drawingml/2006/main">
            <a:off x="609600" y="44672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Limited time and resources</a:t>
            </a:r>
          </a:p>
        </p:txBody>
      </p:sp>
      <p:sp>
        <p:nvSpPr>
          <p:cNvPr id="9" name="direction-1">
            <a:extLst xmlns:a="http://schemas.openxmlformats.org/drawingml/2006/main">
              <a:ext uri="{FF2B5EF4-FFF2-40B4-BE49-F238E27FC236}">
                <a16:creationId xmlns:a16="http://schemas.microsoft.com/office/drawing/2014/main" id="{9046311E-5E80-47D1-A448-19A317A5A9E9}"/>
              </a:ext>
            </a:extLst>
          </p:cNvPr>
          <p:cNvSpPr>
            <a:spLocks xmlns:a="http://schemas.openxmlformats.org/drawingml/2006/main" noGrp="1"/>
          </p:cNvSpPr>
          <p:nvPr/>
        </p:nvSpPr>
        <p:spPr>
          <a:xfrm xmlns:a="http://schemas.openxmlformats.org/drawingml/2006/main">
            <a:off x="6191250" y="4467225"/>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Reusable templates and task support</a:t>
            </a:r>
          </a:p>
        </p:txBody>
      </p:sp>
      <p:sp>
        <p:nvSpPr>
          <p:cNvPr id="10" name="need-2">
            <a:extLst xmlns:a="http://schemas.openxmlformats.org/drawingml/2006/main">
              <a:ext uri="{FF2B5EF4-FFF2-40B4-BE49-F238E27FC236}">
                <a16:creationId xmlns:a16="http://schemas.microsoft.com/office/drawing/2014/main" id="{0F37D75A-2378-4D37-BADE-75C6000929F2}"/>
              </a:ext>
            </a:extLst>
          </p:cNvPr>
          <p:cNvSpPr>
            <a:spLocks xmlns:a="http://schemas.openxmlformats.org/drawingml/2006/main" noGrp="1"/>
          </p:cNvSpPr>
          <p:nvPr/>
        </p:nvSpPr>
        <p:spPr>
          <a:xfrm xmlns:a="http://schemas.openxmlformats.org/drawingml/2006/main">
            <a:off x="609600" y="51054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Doubt about whether action matters</a:t>
            </a:r>
          </a:p>
        </p:txBody>
      </p:sp>
      <p:sp>
        <p:nvSpPr>
          <p:cNvPr id="11" name="direction-2">
            <a:extLst xmlns:a="http://schemas.openxmlformats.org/drawingml/2006/main">
              <a:ext uri="{FF2B5EF4-FFF2-40B4-BE49-F238E27FC236}">
                <a16:creationId xmlns:a16="http://schemas.microsoft.com/office/drawing/2014/main" id="{097FF518-D03C-48CE-98DD-00DA958751FB}"/>
              </a:ext>
            </a:extLst>
          </p:cNvPr>
          <p:cNvSpPr>
            <a:spLocks xmlns:a="http://schemas.openxmlformats.org/drawingml/2006/main" noGrp="1"/>
          </p:cNvSpPr>
          <p:nvPr/>
        </p:nvSpPr>
        <p:spPr>
          <a:xfrm xmlns:a="http://schemas.openxmlformats.org/drawingml/2006/main">
            <a:off x="6191250" y="510540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Visible progress and feedback</a:t>
            </a:r>
          </a:p>
        </p:txBody>
      </p:sp>
      <p:sp>
        <p:nvSpPr>
          <p:cNvPr id="12" name="next-test">
            <a:extLst xmlns:a="http://schemas.openxmlformats.org/drawingml/2006/main">
              <a:ext uri="{FF2B5EF4-FFF2-40B4-BE49-F238E27FC236}">
                <a16:creationId xmlns:a16="http://schemas.microsoft.com/office/drawing/2014/main" id="{89375967-733D-41B1-9AE3-D77E1983808E}"/>
              </a:ext>
            </a:extLst>
          </p:cNvPr>
          <p:cNvSpPr>
            <a:spLocks xmlns:a="http://schemas.openxmlformats.org/drawingml/2006/main" noGrp="1"/>
          </p:cNvSpPr>
          <p:nvPr/>
        </p:nvSpPr>
        <p:spPr>
          <a:xfrm xmlns:a="http://schemas.openxmlformats.org/drawingml/2006/main">
            <a:off x="609600" y="59150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Next validation: test whether people can choose and complete an action in a prototype.</a:t>
            </a:r>
          </a:p>
        </p:txBody>
      </p:sp>
      <p:sp>
        <p:nvSpPr>
          <p:cNvPr id="13" name="slide-number">
            <a:extLst xmlns:a="http://schemas.openxmlformats.org/drawingml/2006/main">
              <a:ext uri="{FF2B5EF4-FFF2-40B4-BE49-F238E27FC236}">
                <a16:creationId xmlns:a16="http://schemas.microsoft.com/office/drawing/2014/main" id="{BB698709-12FB-4525-9E02-58E2B4928C1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810632982"/>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F0F6AF5-6543-41F4-999E-CC595138E7C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PRIVACY-COMMUNITY RESEARCH, SEPTEMBER 2024</a:t>
            </a:r>
          </a:p>
        </p:txBody>
      </p:sp>
      <p:sp>
        <p:nvSpPr>
          <p:cNvPr id="2" name="headline">
            <a:extLst xmlns:a="http://schemas.openxmlformats.org/drawingml/2006/main">
              <a:ext uri="{FF2B5EF4-FFF2-40B4-BE49-F238E27FC236}">
                <a16:creationId xmlns:a16="http://schemas.microsoft.com/office/drawing/2014/main" id="{9C9520F9-38D7-4B60-BBCD-37D4160C54DD}"/>
              </a:ext>
            </a:extLst>
          </p:cNvPr>
          <p:cNvSpPr>
            <a:spLocks xmlns:a="http://schemas.openxmlformats.org/drawingml/2006/main" noGrp="1"/>
          </p:cNvSpPr>
          <p:nvPr/>
        </p:nvSpPr>
        <p:spPr>
          <a:xfrm xmlns:a="http://schemas.openxmlformats.org/drawingml/2006/main">
            <a:off x="609600" y="1104900"/>
            <a:ext cx="109251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Testing an audience assumption</a:t>
            </a:r>
          </a:p>
        </p:txBody>
      </p:sp>
      <p:sp>
        <p:nvSpPr>
          <p:cNvPr id="3" name="privacy-method">
            <a:extLst xmlns:a="http://schemas.openxmlformats.org/drawingml/2006/main">
              <a:ext uri="{FF2B5EF4-FFF2-40B4-BE49-F238E27FC236}">
                <a16:creationId xmlns:a16="http://schemas.microsoft.com/office/drawing/2014/main" id="{7E99E215-226E-420C-AD0D-E0184620B416}"/>
              </a:ext>
            </a:extLst>
          </p:cNvPr>
          <p:cNvSpPr>
            <a:spLocks xmlns:a="http://schemas.openxmlformats.org/drawingml/2006/main" noGrp="1"/>
          </p:cNvSpPr>
          <p:nvPr/>
        </p:nvSpPr>
        <p:spPr>
          <a:xfrm xmlns:a="http://schemas.openxmlformats.org/drawingml/2006/main">
            <a:off x="609600" y="2200275"/>
            <a:ext cx="1071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studied existing community discussions, then coded excerpts to examine whether Oak’s audience assumptions fit.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704b75499c947cb"/>
          <a:stretch xmlns:a="http://schemas.openxmlformats.org/drawingml/2006/main"/>
        </p:blipFill>
        <p:spPr>
          <a:xfrm xmlns:a="http://schemas.openxmlformats.org/drawingml/2006/main">
            <a:off x="609600" y="3315102"/>
            <a:ext cx="10896600" cy="2675721"/>
          </a:xfrm>
          <a:prstGeom xmlns:a="http://schemas.openxmlformats.org/drawingml/2006/main" prst="rect">
            <a:avLst/>
          </a:prstGeom>
        </p:spPr>
      </p:pic>
      <p:sp>
        <p:nvSpPr>
          <p:cNvPr id="5" name="privacy-stage">
            <a:extLst xmlns:a="http://schemas.openxmlformats.org/drawingml/2006/main">
              <a:ext uri="{FF2B5EF4-FFF2-40B4-BE49-F238E27FC236}">
                <a16:creationId xmlns:a16="http://schemas.microsoft.com/office/drawing/2014/main" id="{D4BCD0E1-BBDE-4B1E-BA33-55B772852FD6}"/>
              </a:ext>
            </a:extLst>
          </p:cNvPr>
          <p:cNvSpPr>
            <a:spLocks xmlns:a="http://schemas.openxmlformats.org/drawingml/2006/main" noGrp="1"/>
          </p:cNvSpPr>
          <p:nvPr/>
        </p:nvSpPr>
        <p:spPr>
          <a:xfrm xmlns:a="http://schemas.openxmlformats.org/drawingml/2006/main">
            <a:off x="609600" y="621030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Reformatted source metadata · exploratory research and synthesis · September 2024</a:t>
            </a:r>
          </a:p>
        </p:txBody>
      </p:sp>
      <p:sp>
        <p:nvSpPr>
          <p:cNvPr id="6" name="slide-number">
            <a:extLst xmlns:a="http://schemas.openxmlformats.org/drawingml/2006/main">
              <a:ext uri="{FF2B5EF4-FFF2-40B4-BE49-F238E27FC236}">
                <a16:creationId xmlns:a16="http://schemas.microsoft.com/office/drawing/2014/main" id="{B6FD19A3-9395-46DE-832D-155B1F259FB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478151091"/>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8E873F8A-176F-4C3F-BCFC-812BD840FE0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QUALITATIVE FINDINGS AND DECISION</a:t>
            </a:r>
          </a:p>
        </p:txBody>
      </p:sp>
      <p:sp>
        <p:nvSpPr>
          <p:cNvPr id="2" name="headline">
            <a:extLst xmlns:a="http://schemas.openxmlformats.org/drawingml/2006/main">
              <a:ext uri="{FF2B5EF4-FFF2-40B4-BE49-F238E27FC236}">
                <a16:creationId xmlns:a16="http://schemas.microsoft.com/office/drawing/2014/main" id="{7C12E1AB-AF35-4A79-8907-EC021D2DF92E}"/>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Audience fit needed another look</a:t>
            </a:r>
          </a:p>
        </p:txBody>
      </p:sp>
      <p:sp>
        <p:nvSpPr>
          <p:cNvPr id="3" name="privacy-decision">
            <a:extLst xmlns:a="http://schemas.openxmlformats.org/drawingml/2006/main">
              <a:ext uri="{FF2B5EF4-FFF2-40B4-BE49-F238E27FC236}">
                <a16:creationId xmlns:a16="http://schemas.microsoft.com/office/drawing/2014/main" id="{A5EF1903-A574-43F2-AF61-11BFB4C8B455}"/>
              </a:ext>
            </a:extLst>
          </p:cNvPr>
          <p:cNvSpPr>
            <a:spLocks xmlns:a="http://schemas.openxmlformats.org/drawingml/2006/main" noGrp="1"/>
          </p:cNvSpPr>
          <p:nvPr/>
        </p:nvSpPr>
        <p:spPr>
          <a:xfrm xmlns:a="http://schemas.openxmlformats.org/drawingml/2006/main">
            <a:off x="609600" y="2152650"/>
            <a:ext cx="10715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used concerns about data protection, accountability and control to question audience fit and reconsider the next research investment.</a:t>
            </a:r>
          </a:p>
        </p:txBody>
      </p:sp>
      <p:sp>
        <p:nvSpPr>
          <p:cNvPr id="4" name="theme-caption">
            <a:extLst xmlns:a="http://schemas.openxmlformats.org/drawingml/2006/main">
              <a:ext uri="{FF2B5EF4-FFF2-40B4-BE49-F238E27FC236}">
                <a16:creationId xmlns:a16="http://schemas.microsoft.com/office/drawing/2014/main" id="{6E416D01-EF1F-4A0D-9895-EC99C8C79673}"/>
              </a:ext>
            </a:extLst>
          </p:cNvPr>
          <p:cNvSpPr>
            <a:spLocks xmlns:a="http://schemas.openxmlformats.org/drawingml/2006/main" noGrp="1"/>
          </p:cNvSpPr>
          <p:nvPr/>
        </p:nvSpPr>
        <p:spPr>
          <a:xfrm xmlns:a="http://schemas.openxmlformats.org/drawingml/2006/main">
            <a:off x="609600" y="3133725"/>
            <a:ext cx="1056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Portfolio synthesis based on source tags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d70e7c90e6e4ccc"/>
          <a:stretch xmlns:a="http://schemas.openxmlformats.org/drawingml/2006/main"/>
        </p:blipFill>
        <p:spPr>
          <a:xfrm xmlns:a="http://schemas.openxmlformats.org/drawingml/2006/main">
            <a:off x="614363" y="3533775"/>
            <a:ext cx="10887075" cy="2419350"/>
          </a:xfrm>
          <a:prstGeom xmlns:a="http://schemas.openxmlformats.org/drawingml/2006/main" prst="rect">
            <a:avLst/>
          </a:prstGeom>
        </p:spPr>
      </p:pic>
      <p:sp>
        <p:nvSpPr>
          <p:cNvPr id="6" name="privacy-limits">
            <a:extLst xmlns:a="http://schemas.openxmlformats.org/drawingml/2006/main">
              <a:ext uri="{FF2B5EF4-FFF2-40B4-BE49-F238E27FC236}">
                <a16:creationId xmlns:a16="http://schemas.microsoft.com/office/drawing/2014/main" id="{E252D0E4-ED10-4C4F-B5F5-688EC64AC97F}"/>
              </a:ext>
            </a:extLst>
          </p:cNvPr>
          <p:cNvSpPr>
            <a:spLocks xmlns:a="http://schemas.openxmlformats.org/drawingml/2006/main" noGrp="1"/>
          </p:cNvSpPr>
          <p:nvPr/>
        </p:nvSpPr>
        <p:spPr>
          <a:xfrm xmlns:a="http://schemas.openxmlformats.org/drawingml/2006/main">
            <a:off x="609600" y="621030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A partial coding export supports exploration. A purposive sample cannot establish market-wide demand.</a:t>
            </a:r>
          </a:p>
        </p:txBody>
      </p:sp>
      <p:sp>
        <p:nvSpPr>
          <p:cNvPr id="7" name="slide-number">
            <a:extLst xmlns:a="http://schemas.openxmlformats.org/drawingml/2006/main">
              <a:ext uri="{FF2B5EF4-FFF2-40B4-BE49-F238E27FC236}">
                <a16:creationId xmlns:a16="http://schemas.microsoft.com/office/drawing/2014/main" id="{FA2F108F-3426-46BD-A658-650A06DBD13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613098512"/>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9D874999-B460-4899-AE06-CBB35357CE0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DESKTOP HEURISTIC EVALUATION, NOVEMBER 2023</a:t>
            </a:r>
          </a:p>
        </p:txBody>
      </p:sp>
      <p:sp>
        <p:nvSpPr>
          <p:cNvPr id="2" name="headline">
            <a:extLst xmlns:a="http://schemas.openxmlformats.org/drawingml/2006/main">
              <a:ext uri="{FF2B5EF4-FFF2-40B4-BE49-F238E27FC236}">
                <a16:creationId xmlns:a16="http://schemas.microsoft.com/office/drawing/2014/main" id="{44453962-1AFD-4FDC-A07C-40CAAA941A7E}"/>
              </a:ext>
            </a:extLst>
          </p:cNvPr>
          <p:cNvSpPr>
            <a:spLocks xmlns:a="http://schemas.openxmlformats.org/drawingml/2006/main" noGrp="1"/>
          </p:cNvSpPr>
          <p:nvPr/>
        </p:nvSpPr>
        <p:spPr>
          <a:xfrm xmlns:a="http://schemas.openxmlformats.org/drawingml/2006/main">
            <a:off x="609600" y="1104900"/>
            <a:ext cx="44196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Where would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someone get stuck?</a:t>
            </a:r>
          </a:p>
        </p:txBody>
      </p:sp>
      <p:sp>
        <p:nvSpPr>
          <p:cNvPr id="3" name="audit-role">
            <a:extLst xmlns:a="http://schemas.openxmlformats.org/drawingml/2006/main">
              <a:ext uri="{FF2B5EF4-FFF2-40B4-BE49-F238E27FC236}">
                <a16:creationId xmlns:a16="http://schemas.microsoft.com/office/drawing/2014/main" id="{0AB099DE-918B-4EB8-8F1E-1EEA6F03720B}"/>
              </a:ext>
            </a:extLst>
          </p:cNvPr>
          <p:cNvSpPr>
            <a:spLocks xmlns:a="http://schemas.openxmlformats.org/drawingml/2006/main" noGrp="1"/>
          </p:cNvSpPr>
          <p:nvPr/>
        </p:nvSpPr>
        <p:spPr>
          <a:xfrm xmlns:a="http://schemas.openxmlformats.org/drawingml/2006/main">
            <a:off x="609600" y="3048000"/>
            <a:ext cx="4324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evaluated the desktop experience and documented findings for the product team.</a:t>
            </a:r>
          </a:p>
        </p:txBody>
      </p:sp>
      <p:sp>
        <p:nvSpPr>
          <p:cNvPr id="4" name="audit-method">
            <a:extLst xmlns:a="http://schemas.openxmlformats.org/drawingml/2006/main">
              <a:ext uri="{FF2B5EF4-FFF2-40B4-BE49-F238E27FC236}">
                <a16:creationId xmlns:a16="http://schemas.microsoft.com/office/drawing/2014/main" id="{8D03CA07-6960-4503-A18B-937907A9675D}"/>
              </a:ext>
            </a:extLst>
          </p:cNvPr>
          <p:cNvSpPr>
            <a:spLocks xmlns:a="http://schemas.openxmlformats.org/drawingml/2006/main" noGrp="1"/>
          </p:cNvSpPr>
          <p:nvPr/>
        </p:nvSpPr>
        <p:spPr>
          <a:xfrm xmlns:a="http://schemas.openxmlformats.org/drawingml/2006/main">
            <a:off x="609600" y="4743450"/>
            <a:ext cx="4324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Expert review exposed navigation and recovery problems to investigate next.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97f377dade34c7d"/>
          <a:stretch xmlns:a="http://schemas.openxmlformats.org/drawingml/2006/main"/>
        </p:blipFill>
        <p:spPr>
          <a:xfrm xmlns:a="http://schemas.openxmlformats.org/drawingml/2006/main">
            <a:off x="5238750" y="1555125"/>
            <a:ext cx="6229350" cy="489075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78E02F43-D9FF-4B5A-834C-B7E6E9F3653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561461810"/>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4469BD22-B3F3-4151-A949-52AB06C7A9C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06DF04C0-A293-4ED1-A842-462D261C6894}"/>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FD8A50C7-3126-4C31-8397-A73E22DADA7B}"/>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6DD1341B-CBCB-4EB3-BD46-38A2739E3C2D}"/>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2BB6D1A5-BBB2-4F53-BA0A-F8E425EBF74D}"/>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76A4029A-99A1-4B50-9C4F-48B0F95B87EA}"/>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30455af54064094"/>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cfd19d65f534cd9"/>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0E8221C8-65C3-435F-987D-556A43CC1767}"/>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21f2f3e66804e2e"/>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FFCBC82B-53CD-4CB7-9BEB-F3D52E06287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822570961"/>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E92361CB-8E5C-404D-BFAC-1A401A0B932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RESEARCH HANDOFF</a:t>
            </a:r>
          </a:p>
        </p:txBody>
      </p:sp>
      <p:sp>
        <p:nvSpPr>
          <p:cNvPr id="2" name="headline">
            <a:extLst xmlns:a="http://schemas.openxmlformats.org/drawingml/2006/main">
              <a:ext uri="{FF2B5EF4-FFF2-40B4-BE49-F238E27FC236}">
                <a16:creationId xmlns:a16="http://schemas.microsoft.com/office/drawing/2014/main" id="{A696342C-08C1-4989-8242-F6051A703A5B}"/>
              </a:ext>
            </a:extLst>
          </p:cNvPr>
          <p:cNvSpPr>
            <a:spLocks xmlns:a="http://schemas.openxmlformats.org/drawingml/2006/main" noGrp="1"/>
          </p:cNvSpPr>
          <p:nvPr/>
        </p:nvSpPr>
        <p:spPr>
          <a:xfrm xmlns:a="http://schemas.openxmlformats.org/drawingml/2006/main">
            <a:off x="609600" y="1104900"/>
            <a:ext cx="1086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Findings ready for backlog planning</a:t>
            </a:r>
          </a:p>
        </p:txBody>
      </p:sp>
      <p:sp>
        <p:nvSpPr>
          <p:cNvPr id="3" name="handoff-intro">
            <a:extLst xmlns:a="http://schemas.openxmlformats.org/drawingml/2006/main">
              <a:ext uri="{FF2B5EF4-FFF2-40B4-BE49-F238E27FC236}">
                <a16:creationId xmlns:a16="http://schemas.microsoft.com/office/drawing/2014/main" id="{1B4A814D-5FA8-4251-B468-4B04327B1D18}"/>
              </a:ext>
            </a:extLst>
          </p:cNvPr>
          <p:cNvSpPr>
            <a:spLocks xmlns:a="http://schemas.openxmlformats.org/drawingml/2006/main" noGrp="1"/>
          </p:cNvSpPr>
          <p:nvPr/>
        </p:nvSpPr>
        <p:spPr>
          <a:xfrm xmlns:a="http://schemas.openxmlformats.org/drawingml/2006/main">
            <a:off x="609600" y="2276475"/>
            <a:ext cx="1044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presented the evaluation and recommendations, then helped turn the findings into a UX improvement list.</a:t>
            </a:r>
          </a:p>
        </p:txBody>
      </p:sp>
      <p:sp>
        <p:nvSpPr>
          <p:cNvPr id="4" name="step-date-0">
            <a:extLst xmlns:a="http://schemas.openxmlformats.org/drawingml/2006/main">
              <a:ext uri="{FF2B5EF4-FFF2-40B4-BE49-F238E27FC236}">
                <a16:creationId xmlns:a16="http://schemas.microsoft.com/office/drawing/2014/main" id="{C4045DF4-6D0F-4391-A7AF-B8E66D002B90}"/>
              </a:ext>
            </a:extLst>
          </p:cNvPr>
          <p:cNvSpPr>
            <a:spLocks xmlns:a="http://schemas.openxmlformats.org/drawingml/2006/main" noGrp="1"/>
          </p:cNvSpPr>
          <p:nvPr/>
        </p:nvSpPr>
        <p:spPr>
          <a:xfrm xmlns:a="http://schemas.openxmlformats.org/drawingml/2006/main">
            <a:off x="6096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22 NOV 2023</a:t>
            </a:r>
          </a:p>
        </p:txBody>
      </p:sp>
      <p:sp>
        <p:nvSpPr>
          <p:cNvPr id="5" name="step-title-0">
            <a:extLst xmlns:a="http://schemas.openxmlformats.org/drawingml/2006/main">
              <a:ext uri="{FF2B5EF4-FFF2-40B4-BE49-F238E27FC236}">
                <a16:creationId xmlns:a16="http://schemas.microsoft.com/office/drawing/2014/main" id="{DD5953C1-B7A1-4590-9E04-5B8E836A07BE}"/>
              </a:ext>
            </a:extLst>
          </p:cNvPr>
          <p:cNvSpPr>
            <a:spLocks xmlns:a="http://schemas.openxmlformats.org/drawingml/2006/main" noGrp="1"/>
          </p:cNvSpPr>
          <p:nvPr/>
        </p:nvSpPr>
        <p:spPr>
          <a:xfrm xmlns:a="http://schemas.openxmlformats.org/drawingml/2006/main">
            <a:off x="6096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Desktop evaluation</a:t>
            </a:r>
          </a:p>
        </p:txBody>
      </p:sp>
      <p:sp>
        <p:nvSpPr>
          <p:cNvPr id="6" name="step-detail-0">
            <a:extLst xmlns:a="http://schemas.openxmlformats.org/drawingml/2006/main">
              <a:ext uri="{FF2B5EF4-FFF2-40B4-BE49-F238E27FC236}">
                <a16:creationId xmlns:a16="http://schemas.microsoft.com/office/drawing/2014/main" id="{A026EB59-F3BF-4CEF-A8BE-93A64CBE7DDD}"/>
              </a:ext>
            </a:extLst>
          </p:cNvPr>
          <p:cNvSpPr>
            <a:spLocks xmlns:a="http://schemas.openxmlformats.org/drawingml/2006/main" noGrp="1"/>
          </p:cNvSpPr>
          <p:nvPr/>
        </p:nvSpPr>
        <p:spPr>
          <a:xfrm xmlns:a="http://schemas.openxmlformats.org/drawingml/2006/main">
            <a:off x="6096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Navigation, hierarchy and error recovery</a:t>
            </a:r>
          </a:p>
        </p:txBody>
      </p:sp>
      <p:sp>
        <p:nvSpPr>
          <p:cNvPr id="7" name="step-date-1">
            <a:extLst xmlns:a="http://schemas.openxmlformats.org/drawingml/2006/main">
              <a:ext uri="{FF2B5EF4-FFF2-40B4-BE49-F238E27FC236}">
                <a16:creationId xmlns:a16="http://schemas.microsoft.com/office/drawing/2014/main" id="{DB6239F6-FA7F-4078-B5D6-C7DE97943338}"/>
              </a:ext>
            </a:extLst>
          </p:cNvPr>
          <p:cNvSpPr>
            <a:spLocks xmlns:a="http://schemas.openxmlformats.org/drawingml/2006/main" noGrp="1"/>
          </p:cNvSpPr>
          <p:nvPr/>
        </p:nvSpPr>
        <p:spPr>
          <a:xfrm xmlns:a="http://schemas.openxmlformats.org/drawingml/2006/main">
            <a:off x="440055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27 NOV 2023</a:t>
            </a:r>
          </a:p>
        </p:txBody>
      </p:sp>
      <p:sp>
        <p:nvSpPr>
          <p:cNvPr id="8" name="step-title-1">
            <a:extLst xmlns:a="http://schemas.openxmlformats.org/drawingml/2006/main">
              <a:ext uri="{FF2B5EF4-FFF2-40B4-BE49-F238E27FC236}">
                <a16:creationId xmlns:a16="http://schemas.microsoft.com/office/drawing/2014/main" id="{48737885-50BE-4FE7-A195-6E3333AE750F}"/>
              </a:ext>
            </a:extLst>
          </p:cNvPr>
          <p:cNvSpPr>
            <a:spLocks xmlns:a="http://schemas.openxmlformats.org/drawingml/2006/main" noGrp="1"/>
          </p:cNvSpPr>
          <p:nvPr/>
        </p:nvSpPr>
        <p:spPr>
          <a:xfrm xmlns:a="http://schemas.openxmlformats.org/drawingml/2006/main">
            <a:off x="440055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Recommendations report</a:t>
            </a:r>
          </a:p>
        </p:txBody>
      </p:sp>
      <p:sp>
        <p:nvSpPr>
          <p:cNvPr id="9" name="step-detail-1">
            <a:extLst xmlns:a="http://schemas.openxmlformats.org/drawingml/2006/main">
              <a:ext uri="{FF2B5EF4-FFF2-40B4-BE49-F238E27FC236}">
                <a16:creationId xmlns:a16="http://schemas.microsoft.com/office/drawing/2014/main" id="{B97C4C76-E3E2-4803-9780-F169D07065C1}"/>
              </a:ext>
            </a:extLst>
          </p:cNvPr>
          <p:cNvSpPr>
            <a:spLocks xmlns:a="http://schemas.openxmlformats.org/drawingml/2006/main" noGrp="1"/>
          </p:cNvSpPr>
          <p:nvPr/>
        </p:nvSpPr>
        <p:spPr>
          <a:xfrm xmlns:a="http://schemas.openxmlformats.org/drawingml/2006/main">
            <a:off x="440055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Specific interface changes and rationale</a:t>
            </a:r>
          </a:p>
        </p:txBody>
      </p:sp>
      <p:sp>
        <p:nvSpPr>
          <p:cNvPr id="10" name="step-date-2">
            <a:extLst xmlns:a="http://schemas.openxmlformats.org/drawingml/2006/main">
              <a:ext uri="{FF2B5EF4-FFF2-40B4-BE49-F238E27FC236}">
                <a16:creationId xmlns:a16="http://schemas.microsoft.com/office/drawing/2014/main" id="{77B10D95-60FA-4523-A950-B84E3D1FBD79}"/>
              </a:ext>
            </a:extLst>
          </p:cNvPr>
          <p:cNvSpPr>
            <a:spLocks xmlns:a="http://schemas.openxmlformats.org/drawingml/2006/main" noGrp="1"/>
          </p:cNvSpPr>
          <p:nvPr/>
        </p:nvSpPr>
        <p:spPr>
          <a:xfrm xmlns:a="http://schemas.openxmlformats.org/drawingml/2006/main">
            <a:off x="81915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03 DEC 2023</a:t>
            </a:r>
          </a:p>
        </p:txBody>
      </p:sp>
      <p:sp>
        <p:nvSpPr>
          <p:cNvPr id="11" name="step-title-2">
            <a:extLst xmlns:a="http://schemas.openxmlformats.org/drawingml/2006/main">
              <a:ext uri="{FF2B5EF4-FFF2-40B4-BE49-F238E27FC236}">
                <a16:creationId xmlns:a16="http://schemas.microsoft.com/office/drawing/2014/main" id="{11D53A98-9272-466A-8AC4-6D7EA30D2918}"/>
              </a:ext>
            </a:extLst>
          </p:cNvPr>
          <p:cNvSpPr>
            <a:spLocks xmlns:a="http://schemas.openxmlformats.org/drawingml/2006/main" noGrp="1"/>
          </p:cNvSpPr>
          <p:nvPr/>
        </p:nvSpPr>
        <p:spPr>
          <a:xfrm xmlns:a="http://schemas.openxmlformats.org/drawingml/2006/main">
            <a:off x="81915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Presentation</a:t>
            </a:r>
          </a:p>
        </p:txBody>
      </p:sp>
      <p:sp>
        <p:nvSpPr>
          <p:cNvPr id="12" name="step-detail-2">
            <a:extLst xmlns:a="http://schemas.openxmlformats.org/drawingml/2006/main">
              <a:ext uri="{FF2B5EF4-FFF2-40B4-BE49-F238E27FC236}">
                <a16:creationId xmlns:a16="http://schemas.microsoft.com/office/drawing/2014/main" id="{D128EAB1-34DD-4C34-8106-F5390F033676}"/>
              </a:ext>
            </a:extLst>
          </p:cNvPr>
          <p:cNvSpPr>
            <a:spLocks xmlns:a="http://schemas.openxmlformats.org/drawingml/2006/main" noGrp="1"/>
          </p:cNvSpPr>
          <p:nvPr/>
        </p:nvSpPr>
        <p:spPr>
          <a:xfrm xmlns:a="http://schemas.openxmlformats.org/drawingml/2006/main">
            <a:off x="81915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Improvement list started for backlog planning</a:t>
            </a:r>
          </a:p>
        </p:txBody>
      </p:sp>
      <p:sp>
        <p:nvSpPr>
          <p:cNvPr id="13" name="credit">
            <a:extLst xmlns:a="http://schemas.openxmlformats.org/drawingml/2006/main">
              <a:ext uri="{FF2B5EF4-FFF2-40B4-BE49-F238E27FC236}">
                <a16:creationId xmlns:a16="http://schemas.microsoft.com/office/drawing/2014/main" id="{3D36584A-2671-44B5-8F70-C20591183168}"/>
              </a:ext>
            </a:extLst>
          </p:cNvPr>
          <p:cNvSpPr>
            <a:spLocks xmlns:a="http://schemas.openxmlformats.org/drawingml/2006/main" noGrp="1"/>
          </p:cNvSpPr>
          <p:nvPr/>
        </p:nvSpPr>
        <p:spPr>
          <a:xfrm xmlns:a="http://schemas.openxmlformats.org/drawingml/2006/main">
            <a:off x="609600" y="6000750"/>
            <a:ext cx="1072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I collaborated on Figma mockups. Lead designer Megan led the later design refinements.</a:t>
            </a:r>
          </a:p>
        </p:txBody>
      </p:sp>
      <p:sp>
        <p:nvSpPr>
          <p:cNvPr id="14" name="slide-number">
            <a:extLst xmlns:a="http://schemas.openxmlformats.org/drawingml/2006/main">
              <a:ext uri="{FF2B5EF4-FFF2-40B4-BE49-F238E27FC236}">
                <a16:creationId xmlns:a16="http://schemas.microsoft.com/office/drawing/2014/main" id="{E15318EB-288B-4160-972F-4C40962446F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703398088"/>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2876A044-3FE8-4FCF-BE63-0FC77621CF51}"/>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CLAY CLIENT ENGAGEMENT</a:t>
            </a:r>
          </a:p>
        </p:txBody>
      </p:sp>
      <p:sp>
        <p:nvSpPr>
          <p:cNvPr id="2" name="headline">
            <a:extLst xmlns:a="http://schemas.openxmlformats.org/drawingml/2006/main">
              <a:ext uri="{FF2B5EF4-FFF2-40B4-BE49-F238E27FC236}">
                <a16:creationId xmlns:a16="http://schemas.microsoft.com/office/drawing/2014/main" id="{73D3A859-A686-450D-8942-4076A1B110AF}"/>
              </a:ext>
            </a:extLst>
          </p:cNvPr>
          <p:cNvSpPr>
            <a:spLocks xmlns:a="http://schemas.openxmlformats.org/drawingml/2006/main" noGrp="1"/>
          </p:cNvSpPr>
          <p:nvPr/>
        </p:nvSpPr>
        <p:spPr>
          <a:xfrm xmlns:a="http://schemas.openxmlformats.org/drawingml/2006/main">
            <a:off x="609600" y="1323975"/>
            <a:ext cx="61531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Give the design team</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a decision it can use</a:t>
            </a:r>
          </a:p>
        </p:txBody>
      </p:sp>
      <p:sp>
        <p:nvSpPr>
          <p:cNvPr id="3" name="research-question">
            <a:extLst xmlns:a="http://schemas.openxmlformats.org/drawingml/2006/main">
              <a:ext uri="{FF2B5EF4-FFF2-40B4-BE49-F238E27FC236}">
                <a16:creationId xmlns:a16="http://schemas.microsoft.com/office/drawing/2014/main" id="{C2F5C85A-7E1F-427A-B72D-F76D7E6AFDF8}"/>
              </a:ext>
            </a:extLst>
          </p:cNvPr>
          <p:cNvSpPr>
            <a:spLocks xmlns:a="http://schemas.openxmlformats.org/drawingml/2006/main" noGrp="1"/>
          </p:cNvSpPr>
          <p:nvPr/>
        </p:nvSpPr>
        <p:spPr>
          <a:xfrm xmlns:a="http://schemas.openxmlformats.org/drawingml/2006/main">
            <a:off x="609600" y="3295650"/>
            <a:ext cx="5448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Agree on the client decision, the uncertainty, and the study scope. Make recruitment needs and practical constraints clear before fieldwork.</a:t>
            </a:r>
          </a:p>
        </p:txBody>
      </p:sp>
      <p:sp>
        <p:nvSpPr>
          <p:cNvPr id="4" name="research-plan">
            <a:extLst xmlns:a="http://schemas.openxmlformats.org/drawingml/2006/main">
              <a:ext uri="{FF2B5EF4-FFF2-40B4-BE49-F238E27FC236}">
                <a16:creationId xmlns:a16="http://schemas.microsoft.com/office/drawing/2014/main" id="{338390AF-27AA-42D8-B261-E6BF3AB05B6F}"/>
              </a:ext>
            </a:extLst>
          </p:cNvPr>
          <p:cNvSpPr>
            <a:spLocks xmlns:a="http://schemas.openxmlformats.org/drawingml/2006/main" noGrp="1"/>
          </p:cNvSpPr>
          <p:nvPr/>
        </p:nvSpPr>
        <p:spPr>
          <a:xfrm xmlns:a="http://schemas.openxmlformats.org/drawingml/2006/main">
            <a:off x="609600" y="4886325"/>
            <a:ext cx="5448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Choose the method to fit the question. Bring designers and stakeholders a concise account of the evidence, its limits, and the next design decision.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308786cf1bf40d3"/>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8069C666-E698-46E3-8237-DB70107BBB6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445683391"/>
      </p:ext>
    </p:extLst>
  </p:cSld>
</p:sld>
</file>

<file path=ppt/slides/slide1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3BF7CF5-C8A5-42F3-8742-29C9A1878AFB}"/>
              </a:ext>
            </a:extLst>
          </p:cNvPr>
          <p:cNvSpPr>
            <a:spLocks xmlns:a="http://schemas.openxmlformats.org/drawingml/2006/main" noGrp="1"/>
          </p:cNvSpPr>
          <p:nvPr/>
        </p:nvSpPr>
        <p:spPr>
          <a:xfrm xmlns:a="http://schemas.openxmlformats.org/drawingml/2006/main">
            <a:off x="609600" y="5238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CLAY · UX RESEARCH</a:t>
            </a:r>
          </a:p>
        </p:txBody>
      </p:sp>
      <p:sp>
        <p:nvSpPr>
          <p:cNvPr id="2" name="headline">
            <a:extLst xmlns:a="http://schemas.openxmlformats.org/drawingml/2006/main">
              <a:ext uri="{FF2B5EF4-FFF2-40B4-BE49-F238E27FC236}">
                <a16:creationId xmlns:a16="http://schemas.microsoft.com/office/drawing/2014/main" id="{C500805D-6F41-4F2F-8BC1-35C7ECE08F7A}"/>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 next</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decision clearer</a:t>
            </a:r>
          </a:p>
        </p:txBody>
      </p:sp>
      <p:sp>
        <p:nvSpPr>
          <p:cNvPr id="3" name="contact-intent">
            <a:extLst xmlns:a="http://schemas.openxmlformats.org/drawingml/2006/main">
              <a:ext uri="{FF2B5EF4-FFF2-40B4-BE49-F238E27FC236}">
                <a16:creationId xmlns:a16="http://schemas.microsoft.com/office/drawing/2014/main" id="{A04283DF-457E-43AD-8A9B-842C786B2234}"/>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contract UX research with Clay. Based in Mesa, Arizona; available for U.S. remote work and ready to start as soon as possible.</a:t>
            </a:r>
          </a:p>
        </p:txBody>
      </p:sp>
      <p:sp>
        <p:nvSpPr>
          <p:cNvPr id="4" name="email">
            <a:extLst xmlns:a="http://schemas.openxmlformats.org/drawingml/2006/main">
              <a:ext uri="{FF2B5EF4-FFF2-40B4-BE49-F238E27FC236}">
                <a16:creationId xmlns:a16="http://schemas.microsoft.com/office/drawing/2014/main" id="{51EF9C05-95CF-4114-9A43-410ABB461246}"/>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607498d17b0c41ac"/>
              </a:rPr>
              <a:t>JonathanKyleHobson@gmail.com</a:t>
            </a:r>
          </a:p>
        </p:txBody>
      </p:sp>
      <p:sp>
        <p:nvSpPr>
          <p:cNvPr id="5" name="portfolio">
            <a:extLst xmlns:a="http://schemas.openxmlformats.org/drawingml/2006/main">
              <a:ext uri="{FF2B5EF4-FFF2-40B4-BE49-F238E27FC236}">
                <a16:creationId xmlns:a16="http://schemas.microsoft.com/office/drawing/2014/main" id="{D09C6C5D-7A16-4F7C-9A50-6F4C7CD174D2}"/>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DBEB89"/>
                </a:solidFill>
                <a:latin typeface="Helvetica Neue"/>
                <a:ea typeface="Helvetica Neue"/>
                <a:cs typeface="Helvetica Neue"/>
              </a:defRPr>
            </a:pPr>
            <a:r>
              <a:rPr sz="1725" b="0" u="sng">
                <a:solidFill>
                  <a:srgbClr val="DBEB89"/>
                </a:solidFill>
                <a:latin typeface="Helvetica Neue"/>
                <a:ea typeface="Helvetica Neue"/>
                <a:cs typeface="Helvetica Neue"/>
                <a:hlinkClick xmlns:r="http://schemas.openxmlformats.org/officeDocument/2006/relationships" r:id="R556375be37e74015"/>
              </a:rPr>
              <a:t>jonathankhobson.github.io/application-portfolios/clay-ux-researcher</a:t>
            </a:r>
          </a:p>
        </p:txBody>
      </p:sp>
      <p:sp>
        <p:nvSpPr>
          <p:cNvPr id="6" name="slide-number">
            <a:extLst xmlns:a="http://schemas.openxmlformats.org/drawingml/2006/main">
              <a:ext uri="{FF2B5EF4-FFF2-40B4-BE49-F238E27FC236}">
                <a16:creationId xmlns:a16="http://schemas.microsoft.com/office/drawing/2014/main" id="{4BD393BF-35F7-40E2-945E-607E76BBA7C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11</a:t>
            </a:r>
          </a:p>
        </p:txBody>
      </p:sp>
    </p:spTree>
    <p:extLst>
      <p:ext uri="{BB962C8B-B14F-4D97-AF65-F5344CB8AC3E}">
        <p14:creationId xmlns:p14="http://schemas.microsoft.com/office/powerpoint/2010/main" val="575112738"/>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2026-09-08T19:43:17.3220000Z</dcterms:created>
  <dcterms:modified xsi:type="dcterms:W3CDTF">2026-09-08T19:43:17.3220000Z</dcterms:modified>
</coreProperties>
</file>