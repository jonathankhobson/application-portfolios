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ecc299e34649b3" /><Relationship Type="http://schemas.openxmlformats.org/officeDocument/2006/relationships/extended-properties" Target="/docProps/app.xml" Id="R9dab446c90764705" /><Relationship Type="http://schemas.openxmlformats.org/officeDocument/2006/relationships/officeDocument" Target="/ppt/presentation.xml" Id="R2fb2052ac6b4435a" /></Relationships>
</file>

<file path=ppt/presentation.xml><?xml version="1.0" encoding="utf-8"?>
<p:presentation xmlns:p="http://schemas.openxmlformats.org/presentationml/2006/main">
  <p:sldMasterIdLst>
    <p:sldMasterId xmlns:r="http://schemas.openxmlformats.org/officeDocument/2006/relationships" id="2147483648" r:id="Rf257b3243321444b"/>
  </p:sldMasterIdLst>
  <p:notesMasterIdLst>
    <p:notesMasterId xmlns:r="http://schemas.openxmlformats.org/officeDocument/2006/relationships" r:id="Rd3f7d0fe20b342e7"/>
  </p:notesMasterIdLst>
  <p:sldIdLst>
    <p:sldId xmlns:r="http://schemas.openxmlformats.org/officeDocument/2006/relationships" id="256" r:id="R5fb8f0287dfd42bb"/>
    <p:sldId xmlns:r="http://schemas.openxmlformats.org/officeDocument/2006/relationships" id="257" r:id="R20c4feb37e4f4bc8"/>
    <p:sldId xmlns:r="http://schemas.openxmlformats.org/officeDocument/2006/relationships" id="258" r:id="Rc421b685bc974a27"/>
    <p:sldId xmlns:r="http://schemas.openxmlformats.org/officeDocument/2006/relationships" id="259" r:id="Ra2e170fda1034a67"/>
    <p:sldId xmlns:r="http://schemas.openxmlformats.org/officeDocument/2006/relationships" id="260" r:id="R9126995150dc48ea"/>
    <p:sldId xmlns:r="http://schemas.openxmlformats.org/officeDocument/2006/relationships" id="261" r:id="R9041c61a58314dbf"/>
    <p:sldId xmlns:r="http://schemas.openxmlformats.org/officeDocument/2006/relationships" id="262" r:id="Rd117eb51793d4faa"/>
    <p:sldId xmlns:r="http://schemas.openxmlformats.org/officeDocument/2006/relationships" id="263" r:id="Rf1cfa73c57c64b8d"/>
    <p:sldId xmlns:r="http://schemas.openxmlformats.org/officeDocument/2006/relationships" id="264" r:id="Ra2cea2ff024843e8"/>
    <p:sldId xmlns:r="http://schemas.openxmlformats.org/officeDocument/2006/relationships" id="265" r:id="Raf059e2c8f4049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cac44dc4864db4" /><Relationship Type="http://schemas.openxmlformats.org/officeDocument/2006/relationships/slideMaster" Target="/ppt/slideMasters/slideMaster1.xml" Id="Rf257b3243321444b" /><Relationship Type="http://schemas.openxmlformats.org/officeDocument/2006/relationships/notesMaster" Target="/ppt/notesMasters/notesMaster1.xml" Id="Rd3f7d0fe20b342e7" /><Relationship Type="http://schemas.openxmlformats.org/officeDocument/2006/relationships/presProps" Target="/ppt/presProps.xml" Id="Rda765689e83246b5" /><Relationship Type="http://schemas.openxmlformats.org/officeDocument/2006/relationships/tableStyles" Target="/ppt/tableStyles.xml" Id="R65f2d0d6a9c84ef2" /><Relationship Type="http://schemas.openxmlformats.org/officeDocument/2006/relationships/slide" Target="/ppt/slides/slide1.xml" Id="R5fb8f0287dfd42bb" /><Relationship Type="http://schemas.openxmlformats.org/officeDocument/2006/relationships/slide" Target="/ppt/slides/slide2.xml" Id="R20c4feb37e4f4bc8" /><Relationship Type="http://schemas.openxmlformats.org/officeDocument/2006/relationships/slide" Target="/ppt/slides/slide3.xml" Id="Rc421b685bc974a27" /><Relationship Type="http://schemas.openxmlformats.org/officeDocument/2006/relationships/slide" Target="/ppt/slides/slide4.xml" Id="Ra2e170fda1034a67" /><Relationship Type="http://schemas.openxmlformats.org/officeDocument/2006/relationships/slide" Target="/ppt/slides/slide5.xml" Id="R9126995150dc48ea" /><Relationship Type="http://schemas.openxmlformats.org/officeDocument/2006/relationships/slide" Target="/ppt/slides/slide6.xml" Id="R9041c61a58314dbf" /><Relationship Type="http://schemas.openxmlformats.org/officeDocument/2006/relationships/slide" Target="/ppt/slides/slide7.xml" Id="Rd117eb51793d4faa" /><Relationship Type="http://schemas.openxmlformats.org/officeDocument/2006/relationships/slide" Target="/ppt/slides/slide8.xml" Id="Rf1cfa73c57c64b8d" /><Relationship Type="http://schemas.openxmlformats.org/officeDocument/2006/relationships/slide" Target="/ppt/slides/slide9.xml" Id="Ra2cea2ff024843e8" /><Relationship Type="http://schemas.openxmlformats.org/officeDocument/2006/relationships/slide" Target="/ppt/slides/slide10.xml" Id="Raf059e2c8f4049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1a940c3bfd42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df2b4957a149b0" /><Relationship Type="http://schemas.openxmlformats.org/officeDocument/2006/relationships/notesMaster" Target="/ppt/notesMasters/notesMaster1.xml" Id="Rd9c13b9eae5341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b774e859034d39" /><Relationship Type="http://schemas.openxmlformats.org/officeDocument/2006/relationships/notesMaster" Target="/ppt/notesMasters/notesMaster1.xml" Id="Rb6841e937a6243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b24d8453f748ec" /><Relationship Type="http://schemas.openxmlformats.org/officeDocument/2006/relationships/notesMaster" Target="/ppt/notesMasters/notesMaster1.xml" Id="Rb97bda91f84243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c2475049114596" /><Relationship Type="http://schemas.openxmlformats.org/officeDocument/2006/relationships/notesMaster" Target="/ppt/notesMasters/notesMaster1.xml" Id="Rb173672283b94b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357758a8e44fd4" /><Relationship Type="http://schemas.openxmlformats.org/officeDocument/2006/relationships/notesMaster" Target="/ppt/notesMasters/notesMaster1.xml" Id="Rd0cb816f4c2f43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801eb3d3394973" /><Relationship Type="http://schemas.openxmlformats.org/officeDocument/2006/relationships/notesMaster" Target="/ppt/notesMasters/notesMaster1.xml" Id="R0a4e8bb8ed7d47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f94cee90ee433a" /><Relationship Type="http://schemas.openxmlformats.org/officeDocument/2006/relationships/notesMaster" Target="/ppt/notesMasters/notesMaster1.xml" Id="R4701e7b94a2e4c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f6e77195d649e7" /><Relationship Type="http://schemas.openxmlformats.org/officeDocument/2006/relationships/notesMaster" Target="/ppt/notesMasters/notesMaster1.xml" Id="R4b3195301e9848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a523ad74694263" /><Relationship Type="http://schemas.openxmlformats.org/officeDocument/2006/relationships/notesMaster" Target="/ppt/notesMasters/notesMaster1.xml" Id="R24773136852346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d7ac6d404704b1c" /><Relationship Type="http://schemas.openxmlformats.org/officeDocument/2006/relationships/notesMaster" Target="/ppt/notesMasters/notesMaster1.xml" Id="Raee4523f725a4f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National Safety Council Learning Content Editor, https://nationalsafetycouncil.applytojob.com/apply/gSev8CNceH/Learning-Content-Editor . Displayed work belongs to prior Coursera, FactorLab and Oak experience. Decorative cover is existing canonical art, not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canonical ai.json teaching-ai case, original 2024 lesson material and https://www.coursera.org/projects/chatgpt-beginners . Kyle created and taught the published project ChatGPT 4o for Beginners: Create Social Media Content. The crop preserves all original Task 3 goal text without changing source pixels: ai-course-goals.png x80 y85 w650 h370. Learning sequence and teaching materials are direct evidence; enrollment is not a learning-gain measure.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October 1,2024 Course Shell Feedback rows16,19,20,22 and instructor-response notes, privately reviewed in evidence/learning/coursera-assessment-review-excerpt.json. Four rows summarize actual concerns and recorded revisions. Completed appears in instructor-response status; separate QA ID Approval remains false. No final row-level signoff or measured learner gain claimed. Native editable two-column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canonical teaching-ai case and original recorded revision instruction at 03:35. The screenshot preserves the historical interface and original text, including typos. Brew Bliss is fictional practice material. This slide shows teaching judgment, not a school deployment, controlled experiment or measured learner result. The retrospective check is a later reflection, not an assessment reported 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UI Kit V2 export tied to User Story 444 and canonical design.json. Focused color specification; no complete design-system coverage or accessibility-compliance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distinction from the original course review workbook and public course listing. Instructor changes marked Completed are not the separate QA approval. No print-proof approval, publisher production gate or learner outcome is invented. These labels summarize existing evidence, not a new client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based on the live NSC Learning Content Editor responsibilities. No prior NSC work, print-production mastery, final-proof ownership, Chicago style mastery or accessibility certification is claimed. Subject experts retain domain accuracy decisions. This is an approach for discussion, not an existing NSC process or committed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Tailored Learning Content Editor packet. Related experience spans ASU learning design, Coursera instruction and assessment revisions, product writing and research. No four years employed as an editor, InDesign/Chicago mastery or final print ownership claimed. Salary is $70,000-$75,000 annually, below preferred target; preparing material does not accept an offer. Root handles the information-release declaration before any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6fd1b6699344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ca568402624713" /><Relationship Type="http://schemas.openxmlformats.org/officeDocument/2006/relationships/slideLayout" Target="/ppt/slideLayouts/slideLayout1.xml" Id="R6948b146e3f847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48b146e3f847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a80e3d946e445b8" /><Relationship Type="http://schemas.openxmlformats.org/officeDocument/2006/relationships/image" Target="/ppt/media/image.png" Id="R6beafc235d0e4a1c" /><Relationship Type="http://schemas.openxmlformats.org/officeDocument/2006/relationships/notesSlide" Target="/ppt/notesSlides/notesSlide1.xml" Id="R05a138e7278542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09327962b74ca5" /><Relationship Type="http://schemas.openxmlformats.org/officeDocument/2006/relationships/image" Target="/ppt/media/image2.png" Id="R67accd452148401a" /><Relationship Type="http://schemas.openxmlformats.org/officeDocument/2006/relationships/notesSlide" Target="/ppt/notesSlides/notesSlide2.xml" Id="Rc546fd1b2af84d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6b69ece9d141d1" /><Relationship Type="http://schemas.openxmlformats.org/officeDocument/2006/relationships/notesSlide" Target="/ppt/notesSlides/notesSlide3.xml" Id="Re6dff17ce4dd44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e838b3e2484f41" /><Relationship Type="http://schemas.openxmlformats.org/officeDocument/2006/relationships/image" Target="/ppt/media/image3.png" Id="R9ee90856add74cb8" /><Relationship Type="http://schemas.openxmlformats.org/officeDocument/2006/relationships/notesSlide" Target="/ppt/notesSlides/notesSlide4.xml" Id="R9a85e6437a3e44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f8f0d48753e49b7" /><Relationship Type="http://schemas.openxmlformats.org/officeDocument/2006/relationships/image" Target="/ppt/media/image4.png" Id="R9c9fe86b688e4b8c" /><Relationship Type="http://schemas.openxmlformats.org/officeDocument/2006/relationships/image" Target="/ppt/media/image5.png" Id="Ref7e4212c3354810" /><Relationship Type="http://schemas.openxmlformats.org/officeDocument/2006/relationships/image" Target="/ppt/media/image6.png" Id="R11461e5e60fb4e6e" /><Relationship Type="http://schemas.openxmlformats.org/officeDocument/2006/relationships/notesSlide" Target="/ppt/notesSlides/notesSlide5.xml" Id="R23930e5bc02442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aab984c5384ec9" /><Relationship Type="http://schemas.openxmlformats.org/officeDocument/2006/relationships/image" Target="/ppt/media/image7.png" Id="R3689c0fd967b451d" /><Relationship Type="http://schemas.openxmlformats.org/officeDocument/2006/relationships/image" Target="/ppt/media/image8.png" Id="R6d852ef55e644891" /><Relationship Type="http://schemas.openxmlformats.org/officeDocument/2006/relationships/notesSlide" Target="/ppt/notesSlides/notesSlide6.xml" Id="R37b0284258cf4f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67a4db2d6af48c6" /><Relationship Type="http://schemas.openxmlformats.org/officeDocument/2006/relationships/image" Target="/ppt/media/image9.png" Id="R02114adfe28b4b2d" /><Relationship Type="http://schemas.openxmlformats.org/officeDocument/2006/relationships/notesSlide" Target="/ppt/notesSlides/notesSlide7.xml" Id="R11b01660797b47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8a325dea124a8f" /><Relationship Type="http://schemas.openxmlformats.org/officeDocument/2006/relationships/notesSlide" Target="/ppt/notesSlides/notesSlide8.xml" Id="R3efd7d96f1454b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af69c84e29542dd" /><Relationship Type="http://schemas.openxmlformats.org/officeDocument/2006/relationships/notesSlide" Target="/ppt/notesSlides/notesSlide9.xml" Id="Rf7efdc80a58447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ff347b313c64088" /><Relationship Type="http://schemas.openxmlformats.org/officeDocument/2006/relationships/hyperlink" Target="mailto:JonathanKyleHobson@gmail.com" TargetMode="External" Id="R0b9a97945ef944c1" /><Relationship Type="http://schemas.openxmlformats.org/officeDocument/2006/relationships/hyperlink" Target="https://jonathankhobson.github.io/application-portfolios/nsc-learning-content-editor/" TargetMode="External" Id="R06ab715247454728" /><Relationship Type="http://schemas.openxmlformats.org/officeDocument/2006/relationships/notesSlide" Target="/ppt/notesSlides/notesSlide10.xml" Id="R9e8cfa4a64a14974"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beafc235d0e4a1c"/>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93765283-123E-44E5-9670-7C14EBDA08DA}"/>
              </a:ext>
            </a:extLst>
          </p:cNvPr>
          <p:cNvSpPr>
            <a:spLocks xmlns:a="http://schemas.openxmlformats.org/drawingml/2006/main" noGrp="1"/>
          </p:cNvSpPr>
          <p:nvPr/>
        </p:nvSpPr>
        <p:spPr>
          <a:xfrm xmlns:a="http://schemas.openxmlformats.org/drawingml/2006/main">
            <a:off x="609600" y="5143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NSC · LEARNING CONTENT EDITOR</a:t>
            </a:r>
          </a:p>
        </p:txBody>
      </p:sp>
      <p:sp>
        <p:nvSpPr>
          <p:cNvPr id="3" name="headline">
            <a:extLst xmlns:a="http://schemas.openxmlformats.org/drawingml/2006/main">
              <a:ext uri="{FF2B5EF4-FFF2-40B4-BE49-F238E27FC236}">
                <a16:creationId xmlns:a16="http://schemas.microsoft.com/office/drawing/2014/main" id="{D1C3E747-D848-419A-9ADD-23A16B60A262}"/>
              </a:ext>
            </a:extLst>
          </p:cNvPr>
          <p:cNvSpPr>
            <a:spLocks xmlns:a="http://schemas.openxmlformats.org/drawingml/2006/main" noGrp="1"/>
          </p:cNvSpPr>
          <p:nvPr/>
        </p:nvSpPr>
        <p:spPr>
          <a:xfrm xmlns:a="http://schemas.openxmlformats.org/drawingml/2006/main">
            <a:off x="609600" y="158115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Make the instruction clear.</a:t>
            </a:r>
          </a:p>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Keep the review visible.</a:t>
            </a:r>
          </a:p>
        </p:txBody>
      </p:sp>
      <p:sp>
        <p:nvSpPr>
          <p:cNvPr id="4" name="cover-intro">
            <a:extLst xmlns:a="http://schemas.openxmlformats.org/drawingml/2006/main">
              <a:ext uri="{FF2B5EF4-FFF2-40B4-BE49-F238E27FC236}">
                <a16:creationId xmlns:a16="http://schemas.microsoft.com/office/drawing/2014/main" id="{D8FC2DD1-A143-442C-9028-C1CDA447AA98}"/>
              </a:ext>
            </a:extLst>
          </p:cNvPr>
          <p:cNvSpPr>
            <a:spLocks xmlns:a="http://schemas.openxmlformats.org/drawingml/2006/main" noGrp="1"/>
          </p:cNvSpPr>
          <p:nvPr/>
        </p:nvSpPr>
        <p:spPr>
          <a:xfrm xmlns:a="http://schemas.openxmlformats.org/drawingml/2006/main">
            <a:off x="647700" y="4067175"/>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Instructional revision, clear feedback</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a documented response to review.</a:t>
            </a:r>
          </a:p>
        </p:txBody>
      </p:sp>
      <p:sp>
        <p:nvSpPr>
          <p:cNvPr id="5" name="cover-role">
            <a:extLst xmlns:a="http://schemas.openxmlformats.org/drawingml/2006/main">
              <a:ext uri="{FF2B5EF4-FFF2-40B4-BE49-F238E27FC236}">
                <a16:creationId xmlns:a16="http://schemas.microsoft.com/office/drawing/2014/main" id="{F31818A9-BE05-495F-9B42-94E880367AC5}"/>
              </a:ext>
            </a:extLst>
          </p:cNvPr>
          <p:cNvSpPr>
            <a:spLocks xmlns:a="http://schemas.openxmlformats.org/drawingml/2006/main" noGrp="1"/>
          </p:cNvSpPr>
          <p:nvPr/>
        </p:nvSpPr>
        <p:spPr>
          <a:xfrm xmlns:a="http://schemas.openxmlformats.org/drawingml/2006/main">
            <a:off x="647700" y="60198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Learning Content Editor application · September 2026</a:t>
            </a:r>
          </a:p>
        </p:txBody>
      </p:sp>
      <p:sp>
        <p:nvSpPr>
          <p:cNvPr id="6" name="slide-number">
            <a:extLst xmlns:a="http://schemas.openxmlformats.org/drawingml/2006/main">
              <a:ext uri="{FF2B5EF4-FFF2-40B4-BE49-F238E27FC236}">
                <a16:creationId xmlns:a16="http://schemas.microsoft.com/office/drawing/2014/main" id="{C0F3FD5F-4ABD-433E-B1B1-81BAD0D8EE3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02168385"/>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F4EDCBB3-AADC-4EC5-8608-498CF3AF9F2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   ORIGINAL TEACHING, 2024</a:t>
            </a:r>
          </a:p>
        </p:txBody>
      </p:sp>
      <p:sp>
        <p:nvSpPr>
          <p:cNvPr id="2" name="headline">
            <a:extLst xmlns:a="http://schemas.openxmlformats.org/drawingml/2006/main">
              <a:ext uri="{FF2B5EF4-FFF2-40B4-BE49-F238E27FC236}">
                <a16:creationId xmlns:a16="http://schemas.microsoft.com/office/drawing/2014/main" id="{6D95A926-6DE2-429F-B5A3-2BF43A40F2AA}"/>
              </a:ext>
            </a:extLst>
          </p:cNvPr>
          <p:cNvSpPr>
            <a:spLocks xmlns:a="http://schemas.openxmlformats.org/drawingml/2006/main" noGrp="1"/>
          </p:cNvSpPr>
          <p:nvPr/>
        </p:nvSpPr>
        <p:spPr>
          <a:xfrm xmlns:a="http://schemas.openxmlformats.org/drawingml/2006/main">
            <a:off x="609600" y="1104900"/>
            <a:ext cx="5000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Make revision</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something the</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learner can see</a:t>
            </a:r>
          </a:p>
        </p:txBody>
      </p:sp>
      <p:sp>
        <p:nvSpPr>
          <p:cNvPr id="3" name="teaching-rationale">
            <a:extLst xmlns:a="http://schemas.openxmlformats.org/drawingml/2006/main">
              <a:ext uri="{FF2B5EF4-FFF2-40B4-BE49-F238E27FC236}">
                <a16:creationId xmlns:a16="http://schemas.microsoft.com/office/drawing/2014/main" id="{4F2B342F-EAF3-4A37-8776-23C58D386ECE}"/>
              </a:ext>
            </a:extLst>
          </p:cNvPr>
          <p:cNvSpPr>
            <a:spLocks xmlns:a="http://schemas.openxmlformats.org/drawingml/2006/main" noGrp="1"/>
          </p:cNvSpPr>
          <p:nvPr/>
        </p:nvSpPr>
        <p:spPr>
          <a:xfrm xmlns:a="http://schemas.openxmlformats.org/drawingml/2006/main">
            <a:off x="609600" y="3714750"/>
            <a:ext cx="47815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created a beginner project around drafting, reviewing and refining content against a goal.</a:t>
            </a:r>
          </a:p>
        </p:txBody>
      </p:sp>
      <p:sp>
        <p:nvSpPr>
          <p:cNvPr id="4" name="teaching-boundary">
            <a:extLst xmlns:a="http://schemas.openxmlformats.org/drawingml/2006/main">
              <a:ext uri="{FF2B5EF4-FFF2-40B4-BE49-F238E27FC236}">
                <a16:creationId xmlns:a16="http://schemas.microsoft.com/office/drawing/2014/main" id="{46DEE811-CF0A-43F3-8642-EAE626EAD637}"/>
              </a:ext>
            </a:extLst>
          </p:cNvPr>
          <p:cNvSpPr>
            <a:spLocks xmlns:a="http://schemas.openxmlformats.org/drawingml/2006/main" noGrp="1"/>
          </p:cNvSpPr>
          <p:nvPr/>
        </p:nvSpPr>
        <p:spPr>
          <a:xfrm xmlns:a="http://schemas.openxmlformats.org/drawingml/2006/main">
            <a:off x="609600" y="5438775"/>
            <a:ext cx="4781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Published teaching activity. Learner improvement is not measured here.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7accd452148401a"/>
          <a:stretch xmlns:a="http://schemas.openxmlformats.org/drawingml/2006/main"/>
        </p:blipFill>
        <p:spPr>
          <a:xfrm xmlns:a="http://schemas.openxmlformats.org/drawingml/2006/main">
            <a:off x="6068841" y="2466975"/>
            <a:ext cx="5454993" cy="3105150"/>
          </a:xfrm>
          <a:prstGeom xmlns:a="http://schemas.openxmlformats.org/drawingml/2006/main" prst="rect">
            <a:avLst/>
          </a:prstGeom>
        </p:spPr>
      </p:pic>
      <p:sp>
        <p:nvSpPr>
          <p:cNvPr id="6" name="teaching-caption">
            <a:extLst xmlns:a="http://schemas.openxmlformats.org/drawingml/2006/main">
              <a:ext uri="{FF2B5EF4-FFF2-40B4-BE49-F238E27FC236}">
                <a16:creationId xmlns:a16="http://schemas.microsoft.com/office/drawing/2014/main" id="{68ECC280-E97A-4F2D-A3A2-0C9876E5DA46}"/>
              </a:ext>
            </a:extLst>
          </p:cNvPr>
          <p:cNvSpPr>
            <a:spLocks xmlns:a="http://schemas.openxmlformats.org/drawingml/2006/main" noGrp="1"/>
          </p:cNvSpPr>
          <p:nvPr/>
        </p:nvSpPr>
        <p:spPr>
          <a:xfrm xmlns:a="http://schemas.openxmlformats.org/drawingml/2006/main">
            <a:off x="6067425" y="5953125"/>
            <a:ext cx="5457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2024 lesson material · goals excerpt</a:t>
            </a:r>
          </a:p>
        </p:txBody>
      </p:sp>
      <p:sp>
        <p:nvSpPr>
          <p:cNvPr id="7" name="slide-number">
            <a:extLst xmlns:a="http://schemas.openxmlformats.org/drawingml/2006/main">
              <a:ext uri="{FF2B5EF4-FFF2-40B4-BE49-F238E27FC236}">
                <a16:creationId xmlns:a16="http://schemas.microsoft.com/office/drawing/2014/main" id="{410130B1-9D4E-4009-890F-CD5DEEF58A1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480539688"/>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0047B08D-D002-433F-AA18-01F15223608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ASSESSMENT REVIEW, OCTOBER 2024</a:t>
            </a:r>
          </a:p>
        </p:txBody>
      </p:sp>
      <p:sp>
        <p:nvSpPr>
          <p:cNvPr id="2" name="headline">
            <a:extLst xmlns:a="http://schemas.openxmlformats.org/drawingml/2006/main">
              <a:ext uri="{FF2B5EF4-FFF2-40B4-BE49-F238E27FC236}">
                <a16:creationId xmlns:a16="http://schemas.microsoft.com/office/drawing/2014/main" id="{ED099FD2-CD83-4F90-8554-E78D72CBE870}"/>
              </a:ext>
            </a:extLst>
          </p:cNvPr>
          <p:cNvSpPr>
            <a:spLocks xmlns:a="http://schemas.openxmlformats.org/drawingml/2006/main" noGrp="1"/>
          </p:cNvSpPr>
          <p:nvPr/>
        </p:nvSpPr>
        <p:spPr>
          <a:xfrm xmlns:a="http://schemas.openxmlformats.org/drawingml/2006/main">
            <a:off x="609600" y="10763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Make the review change the material</a:t>
            </a:r>
          </a:p>
        </p:txBody>
      </p:sp>
      <p:graphicFrame>
        <p:nvGraphicFramePr>
          <p:cNvPr id="8" name=""/>
          <p:cNvGraphicFramePr/>
          <p:nvPr/>
        </p:nvGraphicFramePr>
        <p:xfrm>
          <a:off xmlns:a="http://schemas.openxmlformats.org/drawingml/2006/main" x="609600" y="2219325"/>
          <a:ext xmlns:a="http://schemas.openxmlformats.org/drawingml/2006/main" cx="10972800" cy="3695700"/>
        </p:xfrm>
        <a:graphic xmlns:a="http://schemas.openxmlformats.org/drawingml/2006/main">
          <a:graphicData uri="http://schemas.openxmlformats.org/drawingml/2006/table">
            <a:tbl>
              <a:tblPr/>
              <a:tblGrid>
                <a:gridCol w="3886200"/>
                <a:gridCol w="7086600"/>
              </a:tblGrid>
              <a:tr h="495300">
                <a:tc>
                  <a:txBody>
                    <a:bodyPr wrap="square" lIns="152400" tIns="114300" rIns="152400" bIns="114300">
                      <a:noAutofit/>
                    </a:bodyPr>
                    <a:lstStyle/>
                    <a:p>
                      <a:r>
                        <a:rPr sz="1650" b="1">
                          <a:solidFill>
                            <a:srgbClr val="F4F2E9"/>
                          </a:solidFill>
                          <a:latin typeface="Helvetica Neue"/>
                          <a:ea typeface="Helvetica Neue"/>
                          <a:cs typeface="Helvetica Neue"/>
                        </a:rPr>
                        <a:t>Review finding</a:t>
                      </a:r>
                    </a:p>
                  </a:txBody>
                  <a:tcPr marL="91440" marR="91440" marT="45720" marB="45720" anchor="ctr">
                    <a:solidFill>
                      <a:srgbClr val="244D3C"/>
                    </a:solidFill>
                  </a:tcPr>
                </a:tc>
                <a:tc>
                  <a:txBody>
                    <a:bodyPr wrap="square" lIns="152400" tIns="114300" rIns="152400" bIns="114300">
                      <a:noAutofit/>
                    </a:bodyPr>
                    <a:lstStyle/>
                    <a:p>
                      <a:r>
                        <a:rPr sz="1650" b="1">
                          <a:solidFill>
                            <a:srgbClr val="F4F2E9"/>
                          </a:solidFill>
                          <a:latin typeface="Helvetica Neue"/>
                          <a:ea typeface="Helvetica Neue"/>
                          <a:cs typeface="Helvetica Neue"/>
                        </a:rPr>
                        <a:t>My documented revision</a:t>
                      </a:r>
                    </a:p>
                  </a:txBody>
                  <a:tcPr marL="91440" marR="91440" marT="45720" marB="45720" anchor="ctr">
                    <a:solidFill>
                      <a:srgbClr val="244D3C"/>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Choices were easy to eliminate</a:t>
                      </a:r>
                    </a:p>
                  </a:txBody>
                  <a:tcPr marL="91440" marR="91440" marT="45720" marB="45720" anchor="ctr">
                    <a:solidFill>
                      <a:srgbClr val="F4F2E9"/>
                    </a:solidFill>
                  </a:tcPr>
                </a:tc>
                <a:tc>
                  <a:txBody>
                    <a:bodyPr wrap="square" lIns="152400" tIns="114300" rIns="152400" bIns="114300">
                      <a:noAutofit/>
                    </a:bodyPr>
                    <a:lstStyle/>
                    <a:p>
                      <a:r>
                        <a:rPr sz="1650" b="0">
                          <a:solidFill>
                            <a:srgbClr val="192B25"/>
                          </a:solidFill>
                          <a:latin typeface="Helvetica Neue"/>
                          <a:ea typeface="Helvetica Neue"/>
                          <a:cs typeface="Helvetica Neue"/>
                        </a:rPr>
                        <a:t>Reworked distractors, especially Questions 7, 8 and 10.</a:t>
                      </a:r>
                    </a:p>
                  </a:txBody>
                  <a:tcPr marL="91440" marR="91440" marT="45720" marB="45720" anchor="ctr">
                    <a:solidFill>
                      <a:srgbClr val="F4F2E9"/>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Question 7 tested only a definition</a:t>
                      </a:r>
                    </a:p>
                  </a:txBody>
                  <a:tcPr marL="91440" marR="91440" marT="45720" marB="45720" anchor="ctr">
                    <a:solidFill>
                      <a:srgbClr val="E1E8DB"/>
                    </a:solidFill>
                  </a:tcPr>
                </a:tc>
                <a:tc>
                  <a:txBody>
                    <a:bodyPr wrap="square" lIns="152400" tIns="114300" rIns="152400" bIns="114300">
                      <a:noAutofit/>
                    </a:bodyPr>
                    <a:lstStyle/>
                    <a:p>
                      <a:r>
                        <a:rPr sz="1650" b="0">
                          <a:solidFill>
                            <a:srgbClr val="192B25"/>
                          </a:solidFill>
                          <a:latin typeface="Helvetica Neue"/>
                          <a:ea typeface="Helvetica Neue"/>
                          <a:cs typeface="Helvetica Neue"/>
                        </a:rPr>
                        <a:t>Added application of the concept alongside the definition.</a:t>
                      </a:r>
                    </a:p>
                  </a:txBody>
                  <a:tcPr marL="91440" marR="91440" marT="45720" marB="45720" anchor="ctr">
                    <a:solidFill>
                      <a:srgbClr val="E1E8DB"/>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Retry feedback revealed answers</a:t>
                      </a:r>
                    </a:p>
                  </a:txBody>
                  <a:tcPr marL="91440" marR="91440" marT="45720" marB="45720" anchor="ctr">
                    <a:solidFill>
                      <a:srgbClr val="F4F2E9"/>
                    </a:solidFill>
                  </a:tcPr>
                </a:tc>
                <a:tc>
                  <a:txBody>
                    <a:bodyPr wrap="square" lIns="152400" tIns="114300" rIns="152400" bIns="114300">
                      <a:noAutofit/>
                    </a:bodyPr>
                    <a:lstStyle/>
                    <a:p>
                      <a:r>
                        <a:rPr sz="1650" b="0">
                          <a:solidFill>
                            <a:srgbClr val="192B25"/>
                          </a:solidFill>
                          <a:latin typeface="Helvetica Neue"/>
                          <a:ea typeface="Helvetica Neue"/>
                          <a:cs typeface="Helvetica Neue"/>
                        </a:rPr>
                        <a:t>Made feedback more neutral and referred learners to the lesson task.</a:t>
                      </a:r>
                    </a:p>
                  </a:txBody>
                  <a:tcPr marL="91440" marR="91440" marT="45720" marB="45720" anchor="ctr">
                    <a:solidFill>
                      <a:srgbClr val="F4F2E9"/>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Task references were incorrect</a:t>
                      </a:r>
                    </a:p>
                  </a:txBody>
                  <a:tcPr marL="91440" marR="91440" marT="45720" marB="45720" anchor="ctr">
                    <a:solidFill>
                      <a:srgbClr val="E1E8DB"/>
                    </a:solidFill>
                  </a:tcPr>
                </a:tc>
                <a:tc>
                  <a:txBody>
                    <a:bodyPr wrap="square" lIns="152400" tIns="114300" rIns="152400" bIns="114300">
                      <a:noAutofit/>
                    </a:bodyPr>
                    <a:lstStyle/>
                    <a:p>
                      <a:r>
                        <a:rPr sz="1650" b="0">
                          <a:solidFill>
                            <a:srgbClr val="192B25"/>
                          </a:solidFill>
                          <a:latin typeface="Helvetica Neue"/>
                          <a:ea typeface="Helvetica Neue"/>
                          <a:cs typeface="Helvetica Neue"/>
                        </a:rPr>
                        <a:t>Corrected references across the assessment.</a:t>
                      </a:r>
                    </a:p>
                  </a:txBody>
                  <a:tcPr marL="91440" marR="91440" marT="45720" marB="45720" anchor="ctr">
                    <a:solidFill>
                      <a:srgbClr val="E1E8DB"/>
                    </a:solidFill>
                  </a:tcPr>
                </a:tc>
              </a:tr>
            </a:tbl>
          </a:graphicData>
        </a:graphic>
      </p:graphicFrame>
      <p:sp>
        <p:nvSpPr>
          <p:cNvPr id="4" name="review-source">
            <a:extLst xmlns:a="http://schemas.openxmlformats.org/drawingml/2006/main">
              <a:ext uri="{FF2B5EF4-FFF2-40B4-BE49-F238E27FC236}">
                <a16:creationId xmlns:a16="http://schemas.microsoft.com/office/drawing/2014/main" id="{71DE5E42-A853-474E-AEE8-B7B8A55C7C4B}"/>
              </a:ext>
            </a:extLst>
          </p:cNvPr>
          <p:cNvSpPr>
            <a:spLocks xmlns:a="http://schemas.openxmlformats.org/drawingml/2006/main" noGrp="1"/>
          </p:cNvSpPr>
          <p:nvPr/>
        </p:nvSpPr>
        <p:spPr>
          <a:xfrm xmlns:a="http://schemas.openxmlformats.org/drawingml/2006/main">
            <a:off x="609600" y="62579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Paraphrased original review and instructor-response notes · revisions, not final QA signoff</a:t>
            </a:r>
          </a:p>
        </p:txBody>
      </p:sp>
      <p:sp>
        <p:nvSpPr>
          <p:cNvPr id="5" name="slide-number">
            <a:extLst xmlns:a="http://schemas.openxmlformats.org/drawingml/2006/main">
              <a:ext uri="{FF2B5EF4-FFF2-40B4-BE49-F238E27FC236}">
                <a16:creationId xmlns:a16="http://schemas.microsoft.com/office/drawing/2014/main" id="{D14E157C-1D6C-4818-95F7-3396FE2B153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2110527302"/>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5B98CAAB-A770-45E8-973A-6A4D8CB175E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RECORDED PRACTICE SEQUENCE</a:t>
            </a:r>
          </a:p>
        </p:txBody>
      </p:sp>
      <p:sp>
        <p:nvSpPr>
          <p:cNvPr id="2" name="headline">
            <a:extLst xmlns:a="http://schemas.openxmlformats.org/drawingml/2006/main">
              <a:ext uri="{FF2B5EF4-FFF2-40B4-BE49-F238E27FC236}">
                <a16:creationId xmlns:a16="http://schemas.microsoft.com/office/drawing/2014/main" id="{B081D242-5444-499D-BC2E-1140164D80F1}"/>
              </a:ext>
            </a:extLst>
          </p:cNvPr>
          <p:cNvSpPr>
            <a:spLocks xmlns:a="http://schemas.openxmlformats.org/drawingml/2006/main" noGrp="1"/>
          </p:cNvSpPr>
          <p:nvPr/>
        </p:nvSpPr>
        <p:spPr>
          <a:xfrm xmlns:a="http://schemas.openxmlformats.org/drawingml/2006/main">
            <a:off x="609600" y="1085850"/>
            <a:ext cx="6000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Review added detail</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before accepting it</a:t>
            </a:r>
          </a:p>
        </p:txBody>
      </p:sp>
      <p:sp>
        <p:nvSpPr>
          <p:cNvPr id="3" name="revision-need">
            <a:extLst xmlns:a="http://schemas.openxmlformats.org/drawingml/2006/main">
              <a:ext uri="{FF2B5EF4-FFF2-40B4-BE49-F238E27FC236}">
                <a16:creationId xmlns:a16="http://schemas.microsoft.com/office/drawing/2014/main" id="{EDBE9FEC-275D-4C5F-9973-7C23ECF659BB}"/>
              </a:ext>
            </a:extLst>
          </p:cNvPr>
          <p:cNvSpPr>
            <a:spLocks xmlns:a="http://schemas.openxmlformats.org/drawingml/2006/main" noGrp="1"/>
          </p:cNvSpPr>
          <p:nvPr/>
        </p:nvSpPr>
        <p:spPr>
          <a:xfrm xmlns:a="http://schemas.openxmlformats.org/drawingml/2006/main">
            <a:off x="609600" y="3019425"/>
            <a:ext cx="5238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The lesson made an instruction visible beside the result it changed. That gave learners something concrete to inspect.</a:t>
            </a:r>
          </a:p>
        </p:txBody>
      </p:sp>
      <p:sp>
        <p:nvSpPr>
          <p:cNvPr id="4" name="revision-check">
            <a:extLst xmlns:a="http://schemas.openxmlformats.org/drawingml/2006/main">
              <a:ext uri="{FF2B5EF4-FFF2-40B4-BE49-F238E27FC236}">
                <a16:creationId xmlns:a16="http://schemas.microsoft.com/office/drawing/2014/main" id="{9A5E4BD2-066D-4C29-A0BE-D0FB3F5F69B4}"/>
              </a:ext>
            </a:extLst>
          </p:cNvPr>
          <p:cNvSpPr>
            <a:spLocks xmlns:a="http://schemas.openxmlformats.org/drawingml/2006/main" noGrp="1"/>
          </p:cNvSpPr>
          <p:nvPr/>
        </p:nvSpPr>
        <p:spPr>
          <a:xfrm xmlns:a="http://schemas.openxmlformats.org/drawingml/2006/main">
            <a:off x="609600" y="4772025"/>
            <a:ext cx="5238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The revised answer added detail. In my retrospective, I would make factual checks and length limits more explicit.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ee90856add74cb8"/>
          <a:stretch xmlns:a="http://schemas.openxmlformats.org/drawingml/2006/main"/>
        </p:blipFill>
        <p:spPr>
          <a:xfrm xmlns:a="http://schemas.openxmlformats.org/drawingml/2006/main">
            <a:off x="6572250" y="3478584"/>
            <a:ext cx="4991100" cy="681883"/>
          </a:xfrm>
          <a:prstGeom xmlns:a="http://schemas.openxmlformats.org/drawingml/2006/main" prst="rect">
            <a:avLst/>
          </a:prstGeom>
        </p:spPr>
      </p:pic>
      <p:sp>
        <p:nvSpPr>
          <p:cNvPr id="6" name="revision-caption">
            <a:extLst xmlns:a="http://schemas.openxmlformats.org/drawingml/2006/main">
              <a:ext uri="{FF2B5EF4-FFF2-40B4-BE49-F238E27FC236}">
                <a16:creationId xmlns:a16="http://schemas.microsoft.com/office/drawing/2014/main" id="{A7F96A6D-1B71-48B3-90CB-011FDA58A97F}"/>
              </a:ext>
            </a:extLst>
          </p:cNvPr>
          <p:cNvSpPr>
            <a:spLocks xmlns:a="http://schemas.openxmlformats.org/drawingml/2006/main" noGrp="1"/>
          </p:cNvSpPr>
          <p:nvPr/>
        </p:nvSpPr>
        <p:spPr>
          <a:xfrm xmlns:a="http://schemas.openxmlformats.org/drawingml/2006/main">
            <a:off x="6572250" y="6115050"/>
            <a:ext cx="4991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2024 recording, Task 3 · 03:35</a:t>
            </a:r>
          </a:p>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Fictional practice brand · unchanged source excerpt</a:t>
            </a:r>
          </a:p>
        </p:txBody>
      </p:sp>
      <p:sp>
        <p:nvSpPr>
          <p:cNvPr id="7" name="slide-number">
            <a:extLst xmlns:a="http://schemas.openxmlformats.org/drawingml/2006/main">
              <a:ext uri="{FF2B5EF4-FFF2-40B4-BE49-F238E27FC236}">
                <a16:creationId xmlns:a16="http://schemas.microsoft.com/office/drawing/2014/main" id="{F35985C9-D50B-4B31-B6EA-46826E16E42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94079808"/>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34F35D30-264F-4DDB-90B5-2B256193986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2" name="headline">
            <a:extLst xmlns:a="http://schemas.openxmlformats.org/drawingml/2006/main">
              <a:ext uri="{FF2B5EF4-FFF2-40B4-BE49-F238E27FC236}">
                <a16:creationId xmlns:a16="http://schemas.microsoft.com/office/drawing/2014/main" id="{924A5507-4CC4-475F-8C7F-5DEBBD03D2FF}"/>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3" name="oak-error-decision">
            <a:extLst xmlns:a="http://schemas.openxmlformats.org/drawingml/2006/main">
              <a:ext uri="{FF2B5EF4-FFF2-40B4-BE49-F238E27FC236}">
                <a16:creationId xmlns:a16="http://schemas.microsoft.com/office/drawing/2014/main" id="{820B54E3-D368-4547-9E54-9DA4B42DB2E3}"/>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4" name="oak-error-outcome">
            <a:extLst xmlns:a="http://schemas.openxmlformats.org/drawingml/2006/main">
              <a:ext uri="{FF2B5EF4-FFF2-40B4-BE49-F238E27FC236}">
                <a16:creationId xmlns:a16="http://schemas.microsoft.com/office/drawing/2014/main" id="{5E865206-D1D3-4653-ACC5-9774D79912C4}"/>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5" name="before-label">
            <a:extLst xmlns:a="http://schemas.openxmlformats.org/drawingml/2006/main">
              <a:ext uri="{FF2B5EF4-FFF2-40B4-BE49-F238E27FC236}">
                <a16:creationId xmlns:a16="http://schemas.microsoft.com/office/drawing/2014/main" id="{29E3811D-4CF2-4E36-8C62-10CAA8C8ABFE}"/>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after-label">
            <a:extLst xmlns:a="http://schemas.openxmlformats.org/drawingml/2006/main">
              <a:ext uri="{FF2B5EF4-FFF2-40B4-BE49-F238E27FC236}">
                <a16:creationId xmlns:a16="http://schemas.microsoft.com/office/drawing/2014/main" id="{F04631AF-000E-45C0-892F-C96D14F5D8F8}"/>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c9fe86b688e4b8c"/>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f7e4212c3354810"/>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1834BB2D-1A90-4514-A904-FB9551F58400}"/>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1461e5e60fb4e6e"/>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1" name="field-label">
            <a:extLst xmlns:a="http://schemas.openxmlformats.org/drawingml/2006/main">
              <a:ext uri="{FF2B5EF4-FFF2-40B4-BE49-F238E27FC236}">
                <a16:creationId xmlns:a16="http://schemas.microsoft.com/office/drawing/2014/main" id="{FD5E3C3E-BC06-4351-A2D0-56A82482D810}"/>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
        <p:nvSpPr>
          <p:cNvPr id="12" name="slide-number">
            <a:extLst xmlns:a="http://schemas.openxmlformats.org/drawingml/2006/main">
              <a:ext uri="{FF2B5EF4-FFF2-40B4-BE49-F238E27FC236}">
                <a16:creationId xmlns:a16="http://schemas.microsoft.com/office/drawing/2014/main" id="{3C456227-FA42-4219-A044-01E693CA73F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500947914"/>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D8C96492-255D-42B9-8F6B-0C01A1E103C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2" name="headline">
            <a:extLst xmlns:a="http://schemas.openxmlformats.org/drawingml/2006/main">
              <a:ext uri="{FF2B5EF4-FFF2-40B4-BE49-F238E27FC236}">
                <a16:creationId xmlns:a16="http://schemas.microsoft.com/office/drawing/2014/main" id="{BEF3B0B9-8B71-4146-8E63-376D3BD3E545}"/>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3" name="recovery-decision">
            <a:extLst xmlns:a="http://schemas.openxmlformats.org/drawingml/2006/main">
              <a:ext uri="{FF2B5EF4-FFF2-40B4-BE49-F238E27FC236}">
                <a16:creationId xmlns:a16="http://schemas.microsoft.com/office/drawing/2014/main" id="{B78A82FB-9E87-4B61-ABD2-76E3056C4918}"/>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4" name="recovery-outcome">
            <a:extLst xmlns:a="http://schemas.openxmlformats.org/drawingml/2006/main">
              <a:ext uri="{FF2B5EF4-FFF2-40B4-BE49-F238E27FC236}">
                <a16:creationId xmlns:a16="http://schemas.microsoft.com/office/drawing/2014/main" id="{1D03B948-9142-46CC-9727-A3CA1738ECCC}"/>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5" name="incomplete-label">
            <a:extLst xmlns:a="http://schemas.openxmlformats.org/drawingml/2006/main">
              <a:ext uri="{FF2B5EF4-FFF2-40B4-BE49-F238E27FC236}">
                <a16:creationId xmlns:a16="http://schemas.microsoft.com/office/drawing/2014/main" id="{32DE66A0-05A2-43FB-9FC1-CC6ECCF0F115}"/>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6" name="offline-label">
            <a:extLst xmlns:a="http://schemas.openxmlformats.org/drawingml/2006/main">
              <a:ext uri="{FF2B5EF4-FFF2-40B4-BE49-F238E27FC236}">
                <a16:creationId xmlns:a16="http://schemas.microsoft.com/office/drawing/2014/main" id="{09F6ECF3-76ED-400D-953D-22806C8B50B2}"/>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689c0fd967b451d"/>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d852ef55e644891"/>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
        <p:nvSpPr>
          <p:cNvPr id="9" name="slide-number">
            <a:extLst xmlns:a="http://schemas.openxmlformats.org/drawingml/2006/main">
              <a:ext uri="{FF2B5EF4-FFF2-40B4-BE49-F238E27FC236}">
                <a16:creationId xmlns:a16="http://schemas.microsoft.com/office/drawing/2014/main" id="{756B6A5E-8FCA-4ADA-98AB-A137753B947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2006771678"/>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EAF66DF5-11A9-490B-ABEA-7508B981234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VISUAL GUIDANCE</a:t>
            </a:r>
          </a:p>
        </p:txBody>
      </p:sp>
      <p:sp>
        <p:nvSpPr>
          <p:cNvPr id="2" name="headline">
            <a:extLst xmlns:a="http://schemas.openxmlformats.org/drawingml/2006/main">
              <a:ext uri="{FF2B5EF4-FFF2-40B4-BE49-F238E27FC236}">
                <a16:creationId xmlns:a16="http://schemas.microsoft.com/office/drawing/2014/main" id="{3B2C2782-ED08-48FC-B17D-09614D9D93C3}"/>
              </a:ext>
            </a:extLst>
          </p:cNvPr>
          <p:cNvSpPr>
            <a:spLocks xmlns:a="http://schemas.openxmlformats.org/drawingml/2006/main" noGrp="1"/>
          </p:cNvSpPr>
          <p:nvPr/>
        </p:nvSpPr>
        <p:spPr>
          <a:xfrm xmlns:a="http://schemas.openxmlformats.org/drawingml/2006/main">
            <a:off x="609600" y="1104900"/>
            <a:ext cx="49149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Give color</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defined job</a:t>
            </a:r>
          </a:p>
        </p:txBody>
      </p:sp>
      <p:sp>
        <p:nvSpPr>
          <p:cNvPr id="3" name="color-purpose">
            <a:extLst xmlns:a="http://schemas.openxmlformats.org/drawingml/2006/main">
              <a:ext uri="{FF2B5EF4-FFF2-40B4-BE49-F238E27FC236}">
                <a16:creationId xmlns:a16="http://schemas.microsoft.com/office/drawing/2014/main" id="{928639E5-7F9C-4EB6-99B3-92DEADB0C0D8}"/>
              </a:ext>
            </a:extLst>
          </p:cNvPr>
          <p:cNvSpPr>
            <a:spLocks xmlns:a="http://schemas.openxmlformats.org/drawingml/2006/main" noGrp="1"/>
          </p:cNvSpPr>
          <p:nvPr/>
        </p:nvSpPr>
        <p:spPr>
          <a:xfrm xmlns:a="http://schemas.openxmlformats.org/drawingml/2006/main">
            <a:off x="609600" y="3009900"/>
            <a:ext cx="48101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Brand, backgrounds, text and feedback needed consistent roles across the interface.</a:t>
            </a:r>
          </a:p>
        </p:txBody>
      </p:sp>
      <p:sp>
        <p:nvSpPr>
          <p:cNvPr id="4" name="color-scope">
            <a:extLst xmlns:a="http://schemas.openxmlformats.org/drawingml/2006/main">
              <a:ext uri="{FF2B5EF4-FFF2-40B4-BE49-F238E27FC236}">
                <a16:creationId xmlns:a16="http://schemas.microsoft.com/office/drawing/2014/main" id="{512E393C-7A28-4A02-9B92-7CC86AFD0944}"/>
              </a:ext>
            </a:extLst>
          </p:cNvPr>
          <p:cNvSpPr>
            <a:spLocks xmlns:a="http://schemas.openxmlformats.org/drawingml/2006/main" noGrp="1"/>
          </p:cNvSpPr>
          <p:nvPr/>
        </p:nvSpPr>
        <p:spPr>
          <a:xfrm xmlns:a="http://schemas.openxmlformats.org/drawingml/2006/main">
            <a:off x="609600" y="4762500"/>
            <a:ext cx="4810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documented those roles for the next design iteration. This focused guide did not establish a complete component library.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2114adfe28b4b2d"/>
          <a:stretch xmlns:a="http://schemas.openxmlformats.org/drawingml/2006/main"/>
        </p:blipFill>
        <p:spPr>
          <a:xfrm xmlns:a="http://schemas.openxmlformats.org/drawingml/2006/main">
            <a:off x="7081470" y="885825"/>
            <a:ext cx="3429734" cy="55626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55D9477D-BAC8-49A1-8A52-D47515CCCA6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274096116"/>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1102198C-EDBA-42F3-98F2-5B5A4EE52EA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REVISION RECORD AND WORK STAGE</a:t>
            </a:r>
          </a:p>
        </p:txBody>
      </p:sp>
      <p:sp>
        <p:nvSpPr>
          <p:cNvPr id="2" name="headline">
            <a:extLst xmlns:a="http://schemas.openxmlformats.org/drawingml/2006/main">
              <a:ext uri="{FF2B5EF4-FFF2-40B4-BE49-F238E27FC236}">
                <a16:creationId xmlns:a16="http://schemas.microsoft.com/office/drawing/2014/main" id="{33A50EE4-C11B-4B47-8B43-37A39FF645B0}"/>
              </a:ext>
            </a:extLst>
          </p:cNvPr>
          <p:cNvSpPr>
            <a:spLocks xmlns:a="http://schemas.openxmlformats.org/drawingml/2006/main" noGrp="1"/>
          </p:cNvSpPr>
          <p:nvPr/>
        </p:nvSpPr>
        <p:spPr>
          <a:xfrm xmlns:a="http://schemas.openxmlformats.org/drawingml/2006/main">
            <a:off x="609600" y="1123950"/>
            <a:ext cx="56959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Keep an edit separate</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from its approval</a:t>
            </a:r>
          </a:p>
        </p:txBody>
      </p:sp>
      <p:sp>
        <p:nvSpPr>
          <p:cNvPr id="3" name="review-process">
            <a:extLst xmlns:a="http://schemas.openxmlformats.org/drawingml/2006/main">
              <a:ext uri="{FF2B5EF4-FFF2-40B4-BE49-F238E27FC236}">
                <a16:creationId xmlns:a16="http://schemas.microsoft.com/office/drawing/2014/main" id="{2ACA14FD-E64F-44D7-9195-2843842DD930}"/>
              </a:ext>
            </a:extLst>
          </p:cNvPr>
          <p:cNvSpPr>
            <a:spLocks xmlns:a="http://schemas.openxmlformats.org/drawingml/2006/main" noGrp="1"/>
          </p:cNvSpPr>
          <p:nvPr/>
        </p:nvSpPr>
        <p:spPr>
          <a:xfrm xmlns:a="http://schemas.openxmlformats.org/drawingml/2006/main">
            <a:off x="609600" y="3209925"/>
            <a:ext cx="52578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My response notes describe the changes I made. The workbook retains the review finding and a separate QA-approval field.</a:t>
            </a:r>
          </a:p>
        </p:txBody>
      </p:sp>
      <p:sp>
        <p:nvSpPr>
          <p:cNvPr id="4" name="review-limits">
            <a:extLst xmlns:a="http://schemas.openxmlformats.org/drawingml/2006/main">
              <a:ext uri="{FF2B5EF4-FFF2-40B4-BE49-F238E27FC236}">
                <a16:creationId xmlns:a16="http://schemas.microsoft.com/office/drawing/2014/main" id="{6C726DCA-E005-4F61-9FEF-50B714798BF1}"/>
              </a:ext>
            </a:extLst>
          </p:cNvPr>
          <p:cNvSpPr>
            <a:spLocks xmlns:a="http://schemas.openxmlformats.org/drawingml/2006/main" noGrp="1"/>
          </p:cNvSpPr>
          <p:nvPr/>
        </p:nvSpPr>
        <p:spPr>
          <a:xfrm xmlns:a="http://schemas.openxmlformats.org/drawingml/2006/main">
            <a:off x="609600" y="5153025"/>
            <a:ext cx="5257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published course establishes publication. It does not establish that each recorded change received final approval.</a:t>
            </a:r>
          </a:p>
        </p:txBody>
      </p:sp>
      <p:sp>
        <p:nvSpPr>
          <p:cNvPr id="5" name="status-0">
            <a:extLst xmlns:a="http://schemas.openxmlformats.org/drawingml/2006/main">
              <a:ext uri="{FF2B5EF4-FFF2-40B4-BE49-F238E27FC236}">
                <a16:creationId xmlns:a16="http://schemas.microsoft.com/office/drawing/2014/main" id="{27E5BA57-C874-474E-BAC2-64BC5560EA5F}"/>
              </a:ext>
            </a:extLst>
          </p:cNvPr>
          <p:cNvSpPr>
            <a:spLocks xmlns:a="http://schemas.openxmlformats.org/drawingml/2006/main" noGrp="1"/>
          </p:cNvSpPr>
          <p:nvPr/>
        </p:nvSpPr>
        <p:spPr>
          <a:xfrm xmlns:a="http://schemas.openxmlformats.org/drawingml/2006/main">
            <a:off x="6781800" y="1600200"/>
            <a:ext cx="461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Review finding</a:t>
            </a:r>
          </a:p>
        </p:txBody>
      </p:sp>
      <p:sp>
        <p:nvSpPr>
          <p:cNvPr id="6" name="status-description-0">
            <a:extLst xmlns:a="http://schemas.openxmlformats.org/drawingml/2006/main">
              <a:ext uri="{FF2B5EF4-FFF2-40B4-BE49-F238E27FC236}">
                <a16:creationId xmlns:a16="http://schemas.microsoft.com/office/drawing/2014/main" id="{FE2FE454-7856-4449-BAB2-F21F66388722}"/>
              </a:ext>
            </a:extLst>
          </p:cNvPr>
          <p:cNvSpPr>
            <a:spLocks xmlns:a="http://schemas.openxmlformats.org/drawingml/2006/main" noGrp="1"/>
          </p:cNvSpPr>
          <p:nvPr/>
        </p:nvSpPr>
        <p:spPr>
          <a:xfrm xmlns:a="http://schemas.openxmlformats.org/drawingml/2006/main">
            <a:off x="6781800" y="2038350"/>
            <a:ext cx="4610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What needed attention</a:t>
            </a:r>
          </a:p>
        </p:txBody>
      </p:sp>
      <p:sp>
        <p:nvSpPr>
          <p:cNvPr id="7" name="status-1">
            <a:extLst xmlns:a="http://schemas.openxmlformats.org/drawingml/2006/main">
              <a:ext uri="{FF2B5EF4-FFF2-40B4-BE49-F238E27FC236}">
                <a16:creationId xmlns:a16="http://schemas.microsoft.com/office/drawing/2014/main" id="{B6AB247B-0775-4C15-87FB-3F3E8F022DD3}"/>
              </a:ext>
            </a:extLst>
          </p:cNvPr>
          <p:cNvSpPr>
            <a:spLocks xmlns:a="http://schemas.openxmlformats.org/drawingml/2006/main" noGrp="1"/>
          </p:cNvSpPr>
          <p:nvPr/>
        </p:nvSpPr>
        <p:spPr>
          <a:xfrm xmlns:a="http://schemas.openxmlformats.org/drawingml/2006/main">
            <a:off x="6781800" y="2752725"/>
            <a:ext cx="461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Instructor response</a:t>
            </a:r>
          </a:p>
        </p:txBody>
      </p:sp>
      <p:sp>
        <p:nvSpPr>
          <p:cNvPr id="8" name="status-description-1">
            <a:extLst xmlns:a="http://schemas.openxmlformats.org/drawingml/2006/main">
              <a:ext uri="{FF2B5EF4-FFF2-40B4-BE49-F238E27FC236}">
                <a16:creationId xmlns:a16="http://schemas.microsoft.com/office/drawing/2014/main" id="{C30BDB3A-7304-4842-A5DD-E575F59FD7CD}"/>
              </a:ext>
            </a:extLst>
          </p:cNvPr>
          <p:cNvSpPr>
            <a:spLocks xmlns:a="http://schemas.openxmlformats.org/drawingml/2006/main" noGrp="1"/>
          </p:cNvSpPr>
          <p:nvPr/>
        </p:nvSpPr>
        <p:spPr>
          <a:xfrm xmlns:a="http://schemas.openxmlformats.org/drawingml/2006/main">
            <a:off x="6781800" y="3190875"/>
            <a:ext cx="4610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What I recorded changing</a:t>
            </a:r>
          </a:p>
        </p:txBody>
      </p:sp>
      <p:sp>
        <p:nvSpPr>
          <p:cNvPr id="9" name="status-2">
            <a:extLst xmlns:a="http://schemas.openxmlformats.org/drawingml/2006/main">
              <a:ext uri="{FF2B5EF4-FFF2-40B4-BE49-F238E27FC236}">
                <a16:creationId xmlns:a16="http://schemas.microsoft.com/office/drawing/2014/main" id="{05E3243E-F1EC-45A4-8130-21866E4DF292}"/>
              </a:ext>
            </a:extLst>
          </p:cNvPr>
          <p:cNvSpPr>
            <a:spLocks xmlns:a="http://schemas.openxmlformats.org/drawingml/2006/main" noGrp="1"/>
          </p:cNvSpPr>
          <p:nvPr/>
        </p:nvSpPr>
        <p:spPr>
          <a:xfrm xmlns:a="http://schemas.openxmlformats.org/drawingml/2006/main">
            <a:off x="6781800" y="3905250"/>
            <a:ext cx="461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QA approval</a:t>
            </a:r>
          </a:p>
        </p:txBody>
      </p:sp>
      <p:sp>
        <p:nvSpPr>
          <p:cNvPr id="10" name="status-description-2">
            <a:extLst xmlns:a="http://schemas.openxmlformats.org/drawingml/2006/main">
              <a:ext uri="{FF2B5EF4-FFF2-40B4-BE49-F238E27FC236}">
                <a16:creationId xmlns:a16="http://schemas.microsoft.com/office/drawing/2014/main" id="{03AEEB47-8AF5-4FEF-95DD-82803E9166A0}"/>
              </a:ext>
            </a:extLst>
          </p:cNvPr>
          <p:cNvSpPr>
            <a:spLocks xmlns:a="http://schemas.openxmlformats.org/drawingml/2006/main" noGrp="1"/>
          </p:cNvSpPr>
          <p:nvPr/>
        </p:nvSpPr>
        <p:spPr>
          <a:xfrm xmlns:a="http://schemas.openxmlformats.org/drawingml/2006/main">
            <a:off x="6781800" y="4343400"/>
            <a:ext cx="4610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A separate decision</a:t>
            </a:r>
          </a:p>
        </p:txBody>
      </p:sp>
      <p:sp>
        <p:nvSpPr>
          <p:cNvPr id="11" name="status-3">
            <a:extLst xmlns:a="http://schemas.openxmlformats.org/drawingml/2006/main">
              <a:ext uri="{FF2B5EF4-FFF2-40B4-BE49-F238E27FC236}">
                <a16:creationId xmlns:a16="http://schemas.microsoft.com/office/drawing/2014/main" id="{E769F143-6A2F-472C-9C3F-99A658050A52}"/>
              </a:ext>
            </a:extLst>
          </p:cNvPr>
          <p:cNvSpPr>
            <a:spLocks xmlns:a="http://schemas.openxmlformats.org/drawingml/2006/main" noGrp="1"/>
          </p:cNvSpPr>
          <p:nvPr/>
        </p:nvSpPr>
        <p:spPr>
          <a:xfrm xmlns:a="http://schemas.openxmlformats.org/drawingml/2006/main">
            <a:off x="6781800" y="5057775"/>
            <a:ext cx="461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Published course</a:t>
            </a:r>
          </a:p>
        </p:txBody>
      </p:sp>
      <p:sp>
        <p:nvSpPr>
          <p:cNvPr id="12" name="status-description-3">
            <a:extLst xmlns:a="http://schemas.openxmlformats.org/drawingml/2006/main">
              <a:ext uri="{FF2B5EF4-FFF2-40B4-BE49-F238E27FC236}">
                <a16:creationId xmlns:a16="http://schemas.microsoft.com/office/drawing/2014/main" id="{EF312A4C-C59C-4EB6-AEF5-3C18266CE8DF}"/>
              </a:ext>
            </a:extLst>
          </p:cNvPr>
          <p:cNvSpPr>
            <a:spLocks xmlns:a="http://schemas.openxmlformats.org/drawingml/2006/main" noGrp="1"/>
          </p:cNvSpPr>
          <p:nvPr/>
        </p:nvSpPr>
        <p:spPr>
          <a:xfrm xmlns:a="http://schemas.openxmlformats.org/drawingml/2006/main">
            <a:off x="6781800" y="5495925"/>
            <a:ext cx="4610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A public release checkpoint</a:t>
            </a:r>
          </a:p>
        </p:txBody>
      </p:sp>
      <p:sp>
        <p:nvSpPr>
          <p:cNvPr id="13" name="slide-number">
            <a:extLst xmlns:a="http://schemas.openxmlformats.org/drawingml/2006/main">
              <a:ext uri="{FF2B5EF4-FFF2-40B4-BE49-F238E27FC236}">
                <a16:creationId xmlns:a16="http://schemas.microsoft.com/office/drawing/2014/main" id="{12E9A3D5-73D0-44F9-9D09-58FCDC1840A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920745258"/>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0479C8A9-D067-4DA1-A83F-4BC38069AE2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NSC TRAINING CONTENT</a:t>
            </a:r>
          </a:p>
        </p:txBody>
      </p:sp>
      <p:sp>
        <p:nvSpPr>
          <p:cNvPr id="2" name="headline">
            <a:extLst xmlns:a="http://schemas.openxmlformats.org/drawingml/2006/main">
              <a:ext uri="{FF2B5EF4-FFF2-40B4-BE49-F238E27FC236}">
                <a16:creationId xmlns:a16="http://schemas.microsoft.com/office/drawing/2014/main" id="{0452AC65-CBDC-46AB-B1A9-DFF4EEF7FF80}"/>
              </a:ext>
            </a:extLst>
          </p:cNvPr>
          <p:cNvSpPr>
            <a:spLocks xmlns:a="http://schemas.openxmlformats.org/drawingml/2006/main" noGrp="1"/>
          </p:cNvSpPr>
          <p:nvPr/>
        </p:nvSpPr>
        <p:spPr>
          <a:xfrm xmlns:a="http://schemas.openxmlformats.org/drawingml/2006/main">
            <a:off x="609600" y="1076325"/>
            <a:ext cx="10858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225" b="1">
                <a:solidFill>
                  <a:srgbClr val="192B25"/>
                </a:solidFill>
                <a:latin typeface="Helvetica Neue"/>
                <a:ea typeface="Helvetica Neue"/>
                <a:cs typeface="Helvetica Neue"/>
              </a:defRPr>
            </a:pPr>
            <a:r>
              <a:rPr sz="3225" b="1">
                <a:solidFill>
                  <a:srgbClr val="192B25"/>
                </a:solidFill>
                <a:latin typeface="Helvetica Neue"/>
                <a:ea typeface="Helvetica Neue"/>
                <a:cs typeface="Helvetica Neue"/>
              </a:rPr>
              <a:t>Review one training unit from end to end</a:t>
            </a:r>
          </a:p>
        </p:txBody>
      </p:sp>
      <p:sp>
        <p:nvSpPr>
          <p:cNvPr id="3" name="purpose-heading">
            <a:extLst xmlns:a="http://schemas.openxmlformats.org/drawingml/2006/main">
              <a:ext uri="{FF2B5EF4-FFF2-40B4-BE49-F238E27FC236}">
                <a16:creationId xmlns:a16="http://schemas.microsoft.com/office/drawing/2014/main" id="{3BA713DB-F018-4675-90BF-E522AEE5B8F6}"/>
              </a:ext>
            </a:extLst>
          </p:cNvPr>
          <p:cNvSpPr>
            <a:spLocks xmlns:a="http://schemas.openxmlformats.org/drawingml/2006/main" noGrp="1"/>
          </p:cNvSpPr>
          <p:nvPr/>
        </p:nvSpPr>
        <p:spPr>
          <a:xfrm xmlns:a="http://schemas.openxmlformats.org/drawingml/2006/main">
            <a:off x="609600" y="2914650"/>
            <a:ext cx="500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Start with the learning task</a:t>
            </a:r>
          </a:p>
        </p:txBody>
      </p:sp>
      <p:sp>
        <p:nvSpPr>
          <p:cNvPr id="4" name="purpose-body">
            <a:extLst xmlns:a="http://schemas.openxmlformats.org/drawingml/2006/main">
              <a:ext uri="{FF2B5EF4-FFF2-40B4-BE49-F238E27FC236}">
                <a16:creationId xmlns:a16="http://schemas.microsoft.com/office/drawing/2014/main" id="{3F628191-A958-4CFB-8C8F-158B57FE01DE}"/>
              </a:ext>
            </a:extLst>
          </p:cNvPr>
          <p:cNvSpPr>
            <a:spLocks xmlns:a="http://schemas.openxmlformats.org/drawingml/2006/main" noGrp="1"/>
          </p:cNvSpPr>
          <p:nvPr/>
        </p:nvSpPr>
        <p:spPr>
          <a:xfrm xmlns:a="http://schemas.openxmlformats.org/drawingml/2006/main">
            <a:off x="609600" y="3457575"/>
            <a:ext cx="5143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Check objectives, instructions and practice.</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Resolve factual questions with the relevant</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subject specialist.</a:t>
            </a:r>
          </a:p>
        </p:txBody>
      </p:sp>
      <p:sp>
        <p:nvSpPr>
          <p:cNvPr id="5" name="structure-heading">
            <a:extLst xmlns:a="http://schemas.openxmlformats.org/drawingml/2006/main">
              <a:ext uri="{FF2B5EF4-FFF2-40B4-BE49-F238E27FC236}">
                <a16:creationId xmlns:a16="http://schemas.microsoft.com/office/drawing/2014/main" id="{7DF7DE4B-966B-41D4-A4AD-52E5D49DE3E1}"/>
              </a:ext>
            </a:extLst>
          </p:cNvPr>
          <p:cNvSpPr>
            <a:spLocks xmlns:a="http://schemas.openxmlformats.org/drawingml/2006/main" noGrp="1"/>
          </p:cNvSpPr>
          <p:nvPr/>
        </p:nvSpPr>
        <p:spPr>
          <a:xfrm xmlns:a="http://schemas.openxmlformats.org/drawingml/2006/main">
            <a:off x="6705600" y="29146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Apply the agreed style</a:t>
            </a:r>
          </a:p>
        </p:txBody>
      </p:sp>
      <p:sp>
        <p:nvSpPr>
          <p:cNvPr id="6" name="structure-body">
            <a:extLst xmlns:a="http://schemas.openxmlformats.org/drawingml/2006/main">
              <a:ext uri="{FF2B5EF4-FFF2-40B4-BE49-F238E27FC236}">
                <a16:creationId xmlns:a16="http://schemas.microsoft.com/office/drawing/2014/main" id="{7ECD820B-9AE7-4B72-8CF7-CF54CB00528F}"/>
              </a:ext>
            </a:extLst>
          </p:cNvPr>
          <p:cNvSpPr>
            <a:spLocks xmlns:a="http://schemas.openxmlformats.org/drawingml/2006/main" noGrp="1"/>
          </p:cNvSpPr>
          <p:nvPr/>
        </p:nvSpPr>
        <p:spPr>
          <a:xfrm xmlns:a="http://schemas.openxmlformats.org/drawingml/2006/main">
            <a:off x="6705600" y="3457575"/>
            <a:ext cx="4857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Check terminology, grammar and references.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Use NSC’s conventions and record exceptions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that need a decision.</a:t>
            </a:r>
          </a:p>
        </p:txBody>
      </p:sp>
      <p:sp>
        <p:nvSpPr>
          <p:cNvPr id="7" name="compare-heading">
            <a:extLst xmlns:a="http://schemas.openxmlformats.org/drawingml/2006/main">
              <a:ext uri="{FF2B5EF4-FFF2-40B4-BE49-F238E27FC236}">
                <a16:creationId xmlns:a16="http://schemas.microsoft.com/office/drawing/2014/main" id="{1FDF9241-8304-430D-9657-0D4A8116B5A0}"/>
              </a:ext>
            </a:extLst>
          </p:cNvPr>
          <p:cNvSpPr>
            <a:spLocks xmlns:a="http://schemas.openxmlformats.org/drawingml/2006/main" noGrp="1"/>
          </p:cNvSpPr>
          <p:nvPr/>
        </p:nvSpPr>
        <p:spPr>
          <a:xfrm xmlns:a="http://schemas.openxmlformats.org/drawingml/2006/main">
            <a:off x="609600" y="4857750"/>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Inspect the rendered material</a:t>
            </a:r>
          </a:p>
        </p:txBody>
      </p:sp>
      <p:sp>
        <p:nvSpPr>
          <p:cNvPr id="8" name="compare-body">
            <a:extLst xmlns:a="http://schemas.openxmlformats.org/drawingml/2006/main">
              <a:ext uri="{FF2B5EF4-FFF2-40B4-BE49-F238E27FC236}">
                <a16:creationId xmlns:a16="http://schemas.microsoft.com/office/drawing/2014/main" id="{E3378784-DC7C-43C8-8FC2-9F4A264FF777}"/>
              </a:ext>
            </a:extLst>
          </p:cNvPr>
          <p:cNvSpPr>
            <a:spLocks xmlns:a="http://schemas.openxmlformats.org/drawingml/2006/main" noGrp="1"/>
          </p:cNvSpPr>
          <p:nvPr/>
        </p:nvSpPr>
        <p:spPr>
          <a:xfrm xmlns:a="http://schemas.openxmlformats.org/drawingml/2006/main">
            <a:off x="609600" y="5410200"/>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Review hierarchy, captions and callouts.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Learn the team’s print-proof process and</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check references after layout changes.</a:t>
            </a:r>
          </a:p>
        </p:txBody>
      </p:sp>
      <p:sp>
        <p:nvSpPr>
          <p:cNvPr id="9" name="handoff-heading">
            <a:extLst xmlns:a="http://schemas.openxmlformats.org/drawingml/2006/main">
              <a:ext uri="{FF2B5EF4-FFF2-40B4-BE49-F238E27FC236}">
                <a16:creationId xmlns:a16="http://schemas.microsoft.com/office/drawing/2014/main" id="{70ABA968-FA66-4C55-B354-D49BE736859F}"/>
              </a:ext>
            </a:extLst>
          </p:cNvPr>
          <p:cNvSpPr>
            <a:spLocks xmlns:a="http://schemas.openxmlformats.org/drawingml/2006/main" noGrp="1"/>
          </p:cNvSpPr>
          <p:nvPr/>
        </p:nvSpPr>
        <p:spPr>
          <a:xfrm xmlns:a="http://schemas.openxmlformats.org/drawingml/2006/main">
            <a:off x="6705600" y="4857750"/>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Keep the revision traceable</a:t>
            </a:r>
          </a:p>
        </p:txBody>
      </p:sp>
      <p:sp>
        <p:nvSpPr>
          <p:cNvPr id="10" name="handoff-body">
            <a:extLst xmlns:a="http://schemas.openxmlformats.org/drawingml/2006/main">
              <a:ext uri="{FF2B5EF4-FFF2-40B4-BE49-F238E27FC236}">
                <a16:creationId xmlns:a16="http://schemas.microsoft.com/office/drawing/2014/main" id="{E27E0C17-A62A-496A-9639-9378E13EFA23}"/>
              </a:ext>
            </a:extLst>
          </p:cNvPr>
          <p:cNvSpPr>
            <a:spLocks xmlns:a="http://schemas.openxmlformats.org/drawingml/2006/main" noGrp="1"/>
          </p:cNvSpPr>
          <p:nvPr/>
        </p:nvSpPr>
        <p:spPr>
          <a:xfrm xmlns:a="http://schemas.openxmlformats.org/drawingml/2006/main">
            <a:off x="6705600" y="5410200"/>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Record edits and unresolved questions.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Confirm who reviews the content and what</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constitutes approval before release.</a:t>
            </a:r>
          </a:p>
        </p:txBody>
      </p:sp>
      <p:sp>
        <p:nvSpPr>
          <p:cNvPr id="11" name="slide-number">
            <a:extLst xmlns:a="http://schemas.openxmlformats.org/drawingml/2006/main">
              <a:ext uri="{FF2B5EF4-FFF2-40B4-BE49-F238E27FC236}">
                <a16:creationId xmlns:a16="http://schemas.microsoft.com/office/drawing/2014/main" id="{467CCE95-14FA-4C79-841E-57F926B5BE9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994550194"/>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4C1131EF-D5E0-43AD-BAAB-E0F622B5C235}"/>
              </a:ext>
            </a:extLst>
          </p:cNvPr>
          <p:cNvSpPr>
            <a:spLocks xmlns:a="http://schemas.openxmlformats.org/drawingml/2006/main" noGrp="1"/>
          </p:cNvSpPr>
          <p:nvPr/>
        </p:nvSpPr>
        <p:spPr>
          <a:xfrm xmlns:a="http://schemas.openxmlformats.org/drawingml/2006/main">
            <a:off x="6096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NSC · LEARNING CONTENT EDITOR</a:t>
            </a:r>
          </a:p>
        </p:txBody>
      </p:sp>
      <p:sp>
        <p:nvSpPr>
          <p:cNvPr id="2" name="headline">
            <a:extLst xmlns:a="http://schemas.openxmlformats.org/drawingml/2006/main">
              <a:ext uri="{FF2B5EF4-FFF2-40B4-BE49-F238E27FC236}">
                <a16:creationId xmlns:a16="http://schemas.microsoft.com/office/drawing/2014/main" id="{B86BCD08-CF17-4768-847B-430473BC1C78}"/>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Let’s make training content</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easier to follow</a:t>
            </a:r>
          </a:p>
        </p:txBody>
      </p:sp>
      <p:sp>
        <p:nvSpPr>
          <p:cNvPr id="3" name="contact-intent">
            <a:extLst xmlns:a="http://schemas.openxmlformats.org/drawingml/2006/main">
              <a:ext uri="{FF2B5EF4-FFF2-40B4-BE49-F238E27FC236}">
                <a16:creationId xmlns:a16="http://schemas.microsoft.com/office/drawing/2014/main" id="{9B8D1B6E-17A5-46B5-8C16-C755C8C1B0F7}"/>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Mesa, Arizona. Full U.S. work authorization. Available to start as soon as possible.</a:t>
            </a:r>
          </a:p>
        </p:txBody>
      </p:sp>
      <p:sp>
        <p:nvSpPr>
          <p:cNvPr id="4" name="email">
            <a:extLst xmlns:a="http://schemas.openxmlformats.org/drawingml/2006/main">
              <a:ext uri="{FF2B5EF4-FFF2-40B4-BE49-F238E27FC236}">
                <a16:creationId xmlns:a16="http://schemas.microsoft.com/office/drawing/2014/main" id="{C3B9213E-4B5B-40E5-9AC1-E9EFAD35C892}"/>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0b9a97945ef944c1"/>
              </a:rPr>
              <a:t>JonathanKyleHobson@gmail.com</a:t>
            </a:r>
          </a:p>
        </p:txBody>
      </p:sp>
      <p:sp>
        <p:nvSpPr>
          <p:cNvPr id="5" name="portfolio">
            <a:extLst xmlns:a="http://schemas.openxmlformats.org/drawingml/2006/main">
              <a:ext uri="{FF2B5EF4-FFF2-40B4-BE49-F238E27FC236}">
                <a16:creationId xmlns:a16="http://schemas.microsoft.com/office/drawing/2014/main" id="{EFEEACBC-43D5-4902-94D6-EBC59539AE27}"/>
              </a:ext>
            </a:extLst>
          </p:cNvPr>
          <p:cNvSpPr>
            <a:spLocks xmlns:a="http://schemas.openxmlformats.org/drawingml/2006/main" noGrp="1"/>
          </p:cNvSpPr>
          <p:nvPr/>
        </p:nvSpPr>
        <p:spPr>
          <a:xfrm xmlns:a="http://schemas.openxmlformats.org/drawingml/2006/main">
            <a:off x="647700" y="570547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u="sng">
                <a:solidFill>
                  <a:srgbClr val="DBEB89"/>
                </a:solidFill>
                <a:latin typeface="Helvetica Neue"/>
                <a:ea typeface="Helvetica Neue"/>
                <a:cs typeface="Helvetica Neue"/>
              </a:defRPr>
            </a:pPr>
            <a:r>
              <a:rPr sz="1275" b="0" u="sng">
                <a:solidFill>
                  <a:srgbClr val="DBEB89"/>
                </a:solidFill>
                <a:latin typeface="Helvetica Neue"/>
                <a:ea typeface="Helvetica Neue"/>
                <a:cs typeface="Helvetica Neue"/>
                <a:hlinkClick xmlns:r="http://schemas.openxmlformats.org/officeDocument/2006/relationships" r:id="R06ab715247454728"/>
              </a:rPr>
              <a:t>jonathankhobson.github.io/application-portfolios/nsc-learning-content-editor</a:t>
            </a:r>
          </a:p>
        </p:txBody>
      </p:sp>
      <p:sp>
        <p:nvSpPr>
          <p:cNvPr id="6" name="slide-number">
            <a:extLst xmlns:a="http://schemas.openxmlformats.org/drawingml/2006/main">
              <a:ext uri="{FF2B5EF4-FFF2-40B4-BE49-F238E27FC236}">
                <a16:creationId xmlns:a16="http://schemas.microsoft.com/office/drawing/2014/main" id="{97412B19-44D7-49A7-874A-FD9CB65A878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Tree>
    <p:extLst>
      <p:ext uri="{BB962C8B-B14F-4D97-AF65-F5344CB8AC3E}">
        <p14:creationId xmlns:p14="http://schemas.microsoft.com/office/powerpoint/2010/main" val="1120217111"/>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2026-09-09T03:34:47.1470000Z</dcterms:created>
  <dcterms:modified xsi:type="dcterms:W3CDTF">2026-09-09T03:34:47.1470000Z</dcterms:modified>
</coreProperties>
</file>