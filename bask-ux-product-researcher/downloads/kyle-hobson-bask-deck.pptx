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f356c03f6014600" /><Relationship Type="http://schemas.openxmlformats.org/officeDocument/2006/relationships/extended-properties" Target="/docProps/app.xml" Id="Rbdd2ab3fc1f64f26" /><Relationship Type="http://schemas.openxmlformats.org/officeDocument/2006/relationships/officeDocument" Target="/ppt/presentation.xml" Id="R2ba87bf28b6e44d7" /></Relationships>
</file>

<file path=ppt/presentation.xml><?xml version="1.0" encoding="utf-8"?>
<p:presentation xmlns:p="http://schemas.openxmlformats.org/presentationml/2006/main">
  <p:sldMasterIdLst>
    <p:sldMasterId xmlns:r="http://schemas.openxmlformats.org/officeDocument/2006/relationships" id="2147483648" r:id="Rfb37af6a6b134a53"/>
  </p:sldMasterIdLst>
  <p:notesMasterIdLst>
    <p:notesMasterId xmlns:r="http://schemas.openxmlformats.org/officeDocument/2006/relationships" r:id="Rd312c0f47d994988"/>
  </p:notesMasterIdLst>
  <p:sldIdLst>
    <p:sldId xmlns:r="http://schemas.openxmlformats.org/officeDocument/2006/relationships" id="256" r:id="Rf194f5d96be046c2"/>
    <p:sldId xmlns:r="http://schemas.openxmlformats.org/officeDocument/2006/relationships" id="257" r:id="Rb23234e0791d4601"/>
    <p:sldId xmlns:r="http://schemas.openxmlformats.org/officeDocument/2006/relationships" id="258" r:id="R795e0d8676094e8c"/>
    <p:sldId xmlns:r="http://schemas.openxmlformats.org/officeDocument/2006/relationships" id="259" r:id="R9200950a1deb4559"/>
    <p:sldId xmlns:r="http://schemas.openxmlformats.org/officeDocument/2006/relationships" id="260" r:id="R2191c84aa2034bb1"/>
    <p:sldId xmlns:r="http://schemas.openxmlformats.org/officeDocument/2006/relationships" id="261" r:id="Rad581515a1574ff4"/>
    <p:sldId xmlns:r="http://schemas.openxmlformats.org/officeDocument/2006/relationships" id="262" r:id="Rcbdec8eeb2be4135"/>
    <p:sldId xmlns:r="http://schemas.openxmlformats.org/officeDocument/2006/relationships" id="263" r:id="R143c400c2c404880"/>
    <p:sldId xmlns:r="http://schemas.openxmlformats.org/officeDocument/2006/relationships" id="264" r:id="Rfdeb6719adc942a5"/>
    <p:sldId xmlns:r="http://schemas.openxmlformats.org/officeDocument/2006/relationships" id="265" r:id="Rd87c11b06ff149ce"/>
    <p:sldId xmlns:r="http://schemas.openxmlformats.org/officeDocument/2006/relationships" id="266" r:id="Rec9b845956d248f6"/>
    <p:sldId xmlns:r="http://schemas.openxmlformats.org/officeDocument/2006/relationships" id="267" r:id="Rc354672d08234e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83cce9aba34652" /><Relationship Type="http://schemas.openxmlformats.org/officeDocument/2006/relationships/slideMaster" Target="/ppt/slideMasters/slideMaster1.xml" Id="Rfb37af6a6b134a53" /><Relationship Type="http://schemas.openxmlformats.org/officeDocument/2006/relationships/notesMaster" Target="/ppt/notesMasters/notesMaster1.xml" Id="Rd312c0f47d994988" /><Relationship Type="http://schemas.openxmlformats.org/officeDocument/2006/relationships/presProps" Target="/ppt/presProps.xml" Id="R0bc6aa75de9342cc" /><Relationship Type="http://schemas.openxmlformats.org/officeDocument/2006/relationships/tableStyles" Target="/ppt/tableStyles.xml" Id="R9f723c2bb2b74d80" /><Relationship Type="http://schemas.openxmlformats.org/officeDocument/2006/relationships/slide" Target="/ppt/slides/slide1.xml" Id="Rf194f5d96be046c2" /><Relationship Type="http://schemas.openxmlformats.org/officeDocument/2006/relationships/slide" Target="/ppt/slides/slide2.xml" Id="Rb23234e0791d4601" /><Relationship Type="http://schemas.openxmlformats.org/officeDocument/2006/relationships/slide" Target="/ppt/slides/slide3.xml" Id="R795e0d8676094e8c" /><Relationship Type="http://schemas.openxmlformats.org/officeDocument/2006/relationships/slide" Target="/ppt/slides/slide4.xml" Id="R9200950a1deb4559" /><Relationship Type="http://schemas.openxmlformats.org/officeDocument/2006/relationships/slide" Target="/ppt/slides/slide5.xml" Id="R2191c84aa2034bb1" /><Relationship Type="http://schemas.openxmlformats.org/officeDocument/2006/relationships/slide" Target="/ppt/slides/slide6.xml" Id="Rad581515a1574ff4" /><Relationship Type="http://schemas.openxmlformats.org/officeDocument/2006/relationships/slide" Target="/ppt/slides/slide7.xml" Id="Rcbdec8eeb2be4135" /><Relationship Type="http://schemas.openxmlformats.org/officeDocument/2006/relationships/slide" Target="/ppt/slides/slide8.xml" Id="R143c400c2c404880" /><Relationship Type="http://schemas.openxmlformats.org/officeDocument/2006/relationships/slide" Target="/ppt/slides/slide9.xml" Id="Rfdeb6719adc942a5" /><Relationship Type="http://schemas.openxmlformats.org/officeDocument/2006/relationships/slide" Target="/ppt/slides/slide10.xml" Id="Rd87c11b06ff149ce" /><Relationship Type="http://schemas.openxmlformats.org/officeDocument/2006/relationships/slide" Target="/ppt/slides/slide11.xml" Id="Rec9b845956d248f6" /><Relationship Type="http://schemas.openxmlformats.org/officeDocument/2006/relationships/slide" Target="/ppt/slides/slide12.xml" Id="Rc354672d08234e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9c5c0ba13b4a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e0421ae51347d4" /><Relationship Type="http://schemas.openxmlformats.org/officeDocument/2006/relationships/notesMaster" Target="/ppt/notesMasters/notesMaster1.xml" Id="R136e468690cc40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f129fe14034997" /><Relationship Type="http://schemas.openxmlformats.org/officeDocument/2006/relationships/notesMaster" Target="/ppt/notesMasters/notesMaster1.xml" Id="R37d0dc36123d49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4df8feda2c4556" /><Relationship Type="http://schemas.openxmlformats.org/officeDocument/2006/relationships/notesMaster" Target="/ppt/notesMasters/notesMaster1.xml" Id="R0a0ac0e584d74f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d522fbcb704b84" /><Relationship Type="http://schemas.openxmlformats.org/officeDocument/2006/relationships/notesMaster" Target="/ppt/notesMasters/notesMaster1.xml" Id="Rcb62db9be5e240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39319a5c4b4930" /><Relationship Type="http://schemas.openxmlformats.org/officeDocument/2006/relationships/notesMaster" Target="/ppt/notesMasters/notesMaster1.xml" Id="R3310c7644b6449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0320f2eb624e1f" /><Relationship Type="http://schemas.openxmlformats.org/officeDocument/2006/relationships/notesMaster" Target="/ppt/notesMasters/notesMaster1.xml" Id="R290b33af96ff42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4915ffaf774078" /><Relationship Type="http://schemas.openxmlformats.org/officeDocument/2006/relationships/notesMaster" Target="/ppt/notesMasters/notesMaster1.xml" Id="R9557ca9465d548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c6f3e836d641dc" /><Relationship Type="http://schemas.openxmlformats.org/officeDocument/2006/relationships/notesMaster" Target="/ppt/notesMasters/notesMaster1.xml" Id="R0cf700938e0d4b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4895955e234d8f" /><Relationship Type="http://schemas.openxmlformats.org/officeDocument/2006/relationships/notesMaster" Target="/ppt/notesMasters/notesMaster1.xml" Id="Re21c61453de742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62d77fc3a94376" /><Relationship Type="http://schemas.openxmlformats.org/officeDocument/2006/relationships/notesMaster" Target="/ppt/notesMasters/notesMaster1.xml" Id="Rca4457b36b9a4b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d0c97788034270" /><Relationship Type="http://schemas.openxmlformats.org/officeDocument/2006/relationships/notesMaster" Target="/ppt/notesMasters/notesMaster1.xml" Id="R8c40cae3301f48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07453bbee947f5" /><Relationship Type="http://schemas.openxmlformats.org/officeDocument/2006/relationships/notesMaster" Target="/ppt/notesMasters/notesMaster1.xml" Id="R87bf0937c0cd4b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2024 ASU Learning Innovations proposal and accompanying source brief. Kyle proposed a prompt workflow that condensed learner context, included mentor validation of context, personalized a task template, generated and refined tasks, included mentor confirmation or revision, and prepared structured learner-facing output and feedback. This editable reconstruction groups the original steps into six stages while retaining both mentor review gates. It is a proposal, not a deployed clinical system or a measured efficiency or learning outcome. The human review pattern is adjacent evidence for discussing AI research at Bask; no prior Bask engagement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direction informed by Bask Health’s UX Product Researcher role C5C02C9314: https://jobs.bask.health/careers/C5C02C9314 and official product scope https://bask.health/ . Methods would depend on the product question, clinical review, participant protections, access and recruitment. This is not a completed Bask study or a claim of clinical research credentials. No participants, timetable, results, efficacy or compensation acceptance are promised. The portrait is user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Bask Health’s UX Product Researcher role. The portfolio destination is configured as a hyperlink. No compensation acceptance, clinical credentials or weekly schedule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78c15135c54c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1b49e294684492" /><Relationship Type="http://schemas.openxmlformats.org/officeDocument/2006/relationships/slideLayout" Target="/ppt/slideLayouts/slideLayout1.xml" Id="R9fe670ce045246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e670ce045246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fc2bd89a32407e" /><Relationship Type="http://schemas.openxmlformats.org/officeDocument/2006/relationships/image" Target="/ppt/media/image.png" Id="Re8f8b61bf6754b7b" /><Relationship Type="http://schemas.openxmlformats.org/officeDocument/2006/relationships/notesSlide" Target="/ppt/notesSlides/notesSlide1.xml" Id="R87a0c71aaffc4d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37b2dfdd0944ba" /><Relationship Type="http://schemas.openxmlformats.org/officeDocument/2006/relationships/image" Target="/ppt/media/image2.png" Id="Rfb38de31d3184548" /><Relationship Type="http://schemas.openxmlformats.org/officeDocument/2006/relationships/notesSlide" Target="/ppt/notesSlides/notesSlide2.xml" Id="R8c8a50a9c70544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4df93821bd5487d" /><Relationship Type="http://schemas.openxmlformats.org/officeDocument/2006/relationships/image" Target="/ppt/media/image3.png" Id="R2336753539094aa4" /><Relationship Type="http://schemas.openxmlformats.org/officeDocument/2006/relationships/chart" Target="/ppt/slides/charts/chart1.xml" Id="R5dbfdf644d02461b" /><Relationship Type="http://schemas.openxmlformats.org/officeDocument/2006/relationships/notesSlide" Target="/ppt/notesSlides/notesSlide3.xml" Id="R6b4dc6d7f3574d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7b771c01074f92" /><Relationship Type="http://schemas.openxmlformats.org/officeDocument/2006/relationships/notesSlide" Target="/ppt/notesSlides/notesSlide4.xml" Id="R830eabbd972b41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6b090aea5624bd3" /><Relationship Type="http://schemas.openxmlformats.org/officeDocument/2006/relationships/image" Target="/ppt/media/image4.png" Id="R7ebcd72673e04eb7" /><Relationship Type="http://schemas.openxmlformats.org/officeDocument/2006/relationships/notesSlide" Target="/ppt/notesSlides/notesSlide5.xml" Id="Rf969d05b6a6e49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a30f6f06ec4636" /><Relationship Type="http://schemas.openxmlformats.org/officeDocument/2006/relationships/image" Target="/ppt/media/image5.png" Id="Reb87edf33349465e" /><Relationship Type="http://schemas.openxmlformats.org/officeDocument/2006/relationships/notesSlide" Target="/ppt/notesSlides/notesSlide6.xml" Id="R608d5876eb8247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12fbe920af4eab" /><Relationship Type="http://schemas.openxmlformats.org/officeDocument/2006/relationships/image" Target="/ppt/media/image6.png" Id="Ra418f3e42aa744bb" /><Relationship Type="http://schemas.openxmlformats.org/officeDocument/2006/relationships/notesSlide" Target="/ppt/notesSlides/notesSlide7.xml" Id="R710d78dbd7e442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60e4889a19424c" /><Relationship Type="http://schemas.openxmlformats.org/officeDocument/2006/relationships/image" Target="/ppt/media/image7.png" Id="R944ef1db6d52417e" /><Relationship Type="http://schemas.openxmlformats.org/officeDocument/2006/relationships/image" Target="/ppt/media/image8.png" Id="R91663eae3db94695" /><Relationship Type="http://schemas.openxmlformats.org/officeDocument/2006/relationships/image" Target="/ppt/media/image9.png" Id="R5f18f4d054734077" /><Relationship Type="http://schemas.openxmlformats.org/officeDocument/2006/relationships/notesSlide" Target="/ppt/notesSlides/notesSlide8.xml" Id="Rfb366268601a4b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a5662b806b4ea2" /><Relationship Type="http://schemas.openxmlformats.org/officeDocument/2006/relationships/notesSlide" Target="/ppt/notesSlides/notesSlide9.xml" Id="Rb75bbdb8262f46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9c6e9fc3724307" /><Relationship Type="http://schemas.openxmlformats.org/officeDocument/2006/relationships/notesSlide" Target="/ppt/notesSlides/notesSlide10.xml" Id="Rf0466425bc0d47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e0d872f70c4c94" /><Relationship Type="http://schemas.openxmlformats.org/officeDocument/2006/relationships/image" Target="/ppt/media/image.jpeg" Id="R1e4f58c38ef74c8d" /><Relationship Type="http://schemas.openxmlformats.org/officeDocument/2006/relationships/notesSlide" Target="/ppt/notesSlides/notesSlide11.xml" Id="R65303c695f1641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acb13d0930b4fdc" /><Relationship Type="http://schemas.openxmlformats.org/officeDocument/2006/relationships/hyperlink" Target="mailto:JonathanKyleHobson@gmail.com" TargetMode="External" Id="Rb0ce92c1644a407e" /><Relationship Type="http://schemas.openxmlformats.org/officeDocument/2006/relationships/hyperlink" Target="https://jonathankhobson.github.io/application-portfolios/bask-ux-product-researcher/" TargetMode="External" Id="Ra7654f1aa85d40e7" /><Relationship Type="http://schemas.openxmlformats.org/officeDocument/2006/relationships/notesSlide" Target="/ppt/notesSlides/notesSlide12.xml" Id="R2d4cc95fe6e2448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8f8b61bf6754b7b"/>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8B164351-4E02-45BB-9B80-513BBF977E59}"/>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BASK HEALTH · UX PRODUCT RESEARCHER</a:t>
            </a:r>
          </a:p>
        </p:txBody>
      </p:sp>
      <p:sp>
        <p:nvSpPr>
          <p:cNvPr id="3" name="headline">
            <a:extLst xmlns:a="http://schemas.openxmlformats.org/drawingml/2006/main">
              <a:ext uri="{FF2B5EF4-FFF2-40B4-BE49-F238E27FC236}">
                <a16:creationId xmlns:a16="http://schemas.microsoft.com/office/drawing/2014/main" id="{F5C5309D-1EFA-498E-990E-719C7D8BF30B}"/>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for connected</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workflows</a:t>
            </a:r>
          </a:p>
        </p:txBody>
      </p:sp>
      <p:sp>
        <p:nvSpPr>
          <p:cNvPr id="4" name="cover-intro">
            <a:extLst xmlns:a="http://schemas.openxmlformats.org/drawingml/2006/main">
              <a:ext uri="{FF2B5EF4-FFF2-40B4-BE49-F238E27FC236}">
                <a16:creationId xmlns:a16="http://schemas.microsoft.com/office/drawing/2014/main" id="{529B6646-8BCD-496F-8E31-7D28C9F76EF6}"/>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Mixed methods, product decisions,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human judgment around AI.</a:t>
            </a:r>
          </a:p>
        </p:txBody>
      </p:sp>
      <p:sp>
        <p:nvSpPr>
          <p:cNvPr id="5" name="cover-scope">
            <a:extLst xmlns:a="http://schemas.openxmlformats.org/drawingml/2006/main">
              <a:ext uri="{FF2B5EF4-FFF2-40B4-BE49-F238E27FC236}">
                <a16:creationId xmlns:a16="http://schemas.microsoft.com/office/drawing/2014/main" id="{A4C1A6EA-4BA9-40BF-ACF4-5C61A2524A7B}"/>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Bask Health · September 2026</a:t>
            </a:r>
          </a:p>
        </p:txBody>
      </p:sp>
      <p:sp>
        <p:nvSpPr>
          <p:cNvPr id="6" name="slide-number">
            <a:extLst xmlns:a="http://schemas.openxmlformats.org/drawingml/2006/main">
              <a:ext uri="{FF2B5EF4-FFF2-40B4-BE49-F238E27FC236}">
                <a16:creationId xmlns:a16="http://schemas.microsoft.com/office/drawing/2014/main" id="{4AE22E9F-7FA7-41A1-B74A-298462A55B0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10435865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68A00589-CFFA-4371-9DAB-CE35CCB803B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9AB528FA-E536-486C-B6BA-F2F55F9AA7AC}"/>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2CA8C075-C07A-4F22-94EE-15363CB349E6}"/>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667856A7-0699-48E0-9FCE-9EA84518C187}"/>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476FFB6E-76BB-468C-996D-C345F0D05931}"/>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b38de31d3184548"/>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0D377526-8C84-4352-801E-F48CEE8D24A7}"/>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15BB2F51-2C65-4B52-AD99-F5D96420493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356771819"/>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C99FD623-624D-46A2-8E51-C4F339ADB80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EF67569F-F50C-4F62-BF00-1750CD51E0C7}"/>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336753539094aa4"/>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FDB8DCB6-8B6F-435B-BA3D-C56AC0A7A10B}"/>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5dbfdf644d02461b"/>
          </a:graphicData>
        </a:graphic>
      </p:graphicFrame>
      <p:sp>
        <p:nvSpPr>
          <p:cNvPr id="6" name="barrier-limit">
            <a:extLst xmlns:a="http://schemas.openxmlformats.org/drawingml/2006/main">
              <a:ext uri="{FF2B5EF4-FFF2-40B4-BE49-F238E27FC236}">
                <a16:creationId xmlns:a16="http://schemas.microsoft.com/office/drawing/2014/main" id="{6405F93C-86FC-47CC-9026-269FEA008B5D}"/>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EBD68B53-94AB-45F7-8057-11A856FCE42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466394508"/>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806D023-B8C5-482C-A721-05A9ACF6C90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A9D06496-80E4-4BBD-BA48-8AF01F0A15F2}"/>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347F3965-1CE7-4EBA-B7EE-D20FA88598DB}"/>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FE7F9077-CE68-4668-890C-4B69D5EAE324}"/>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6709A15B-42D5-4B4F-BBEB-32F5ADBA2B0D}"/>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B02D0626-1105-4828-8D5C-56DD4634CC7B}"/>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E1D684B3-00CC-4358-BBF2-FD4025C21E3A}"/>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168F76CA-6990-4D51-9C11-66DCFA4701B5}"/>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D1410422-B57F-4971-B520-BD12CE5C6614}"/>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9F89B5D2-988C-4F5E-AACA-833C900B3B8A}"/>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E01D7AE5-9C34-46DA-9683-10C948E9970C}"/>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0F6C4854-1EBB-4DF7-8099-B353CA27605F}"/>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FE2401E4-4372-4464-9EA2-32EBFB7FA339}"/>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983322850"/>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387D02B-B997-4378-94A4-1DF17577978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274E3502-52DE-4DAE-B610-8BF27F91C1A3}"/>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4C74A0D1-5FD4-4276-AAF7-A091C685D908}"/>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bcd72673e04eb7"/>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FFDBCF7F-FF65-4089-A8D9-D72C9E5712A3}"/>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BED483CF-A474-467C-85CD-E173497A319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25994172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35665C5D-6703-49E1-972D-9AA9EF70DCA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9C3E23EB-D259-4C54-BE39-96D4D8E47492}"/>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65B57B38-61AB-4914-8700-7D430F517489}"/>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3D802A45-01E7-481C-AAD1-1145A5888EC6}"/>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b87edf33349465e"/>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6C8758FD-3D23-4906-B4C5-F823E87B72AE}"/>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F2DEDF96-733F-4C45-ABC9-EFFE011EA06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091890800"/>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1ED66DB-F19A-4A85-9072-12DD21268F7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9822C302-4C55-4222-BCC8-0A9607B13C8F}"/>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EEA3A61D-F15D-4675-AF8D-038660B81E94}"/>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4128B9F5-A07E-40A2-B58B-0F05F208472F}"/>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18f3e42aa744bb"/>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CEA55423-111E-4067-A1E3-76581C5AAB1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681946195"/>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277C0250-E419-40F1-B3A5-1CA63F252D0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91DA3D5B-E1CF-4575-B0C3-5C04ABA63781}"/>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963854AC-31A4-40B5-954D-CDE154276A85}"/>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5A0C087A-43AA-46BC-9269-4679B4400737}"/>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CF7F4F04-0206-4473-91C3-4DFA55A6E4CB}"/>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A5C31E84-312B-4268-A887-171EB8D65769}"/>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44ef1db6d52417e"/>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1663eae3db94695"/>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0B8AD212-0BB0-429F-A6EE-965AB6ACC845}"/>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f18f4d054734077"/>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0386A919-1377-45C9-9BC9-382EAACC1BA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714001542"/>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6B0B4D2F-6464-4D5A-AE03-256FB30525A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7895C2BC-F403-408A-AE16-728F606A4131}"/>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84502886-319B-4C76-83F5-66E3DA66FD86}"/>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014A3086-6794-42F4-B8DF-08F7150354B3}"/>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5334D04B-0445-4D97-A508-CD15B0B29248}"/>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50B3977A-ACCD-4FBF-9B8F-88076ED00661}"/>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9D897910-08FF-4B92-9F96-05B5C72458B2}"/>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1F459B16-7AD2-4140-BB0F-FA191DE2D515}"/>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9BB86CB3-175D-4619-8050-389704F70CD5}"/>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2A2A5BF4-31BA-49AB-AF0F-0458AC610FE7}"/>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FD56B494-0391-4A95-900F-2BAA070ECAB2}"/>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36514329-D79D-4CF6-A8CD-2C8F933F1B0D}"/>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ABD77E31-A000-473F-AFA2-92ACCEFD5EF0}"/>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38F32B43-5507-450E-9926-871155694FE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228810902"/>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0824E14A-086F-414F-BAFB-F5D504DBFA4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2024 WORKFLOW PROPOSAL</a:t>
            </a:r>
          </a:p>
        </p:txBody>
      </p:sp>
      <p:sp>
        <p:nvSpPr>
          <p:cNvPr id="2" name="headline">
            <a:extLst xmlns:a="http://schemas.openxmlformats.org/drawingml/2006/main">
              <a:ext uri="{FF2B5EF4-FFF2-40B4-BE49-F238E27FC236}">
                <a16:creationId xmlns:a16="http://schemas.microsoft.com/office/drawing/2014/main" id="{0E6F2141-E981-4B71-998E-4BAC41D4ED22}"/>
              </a:ext>
            </a:extLst>
          </p:cNvPr>
          <p:cNvSpPr>
            <a:spLocks xmlns:a="http://schemas.openxmlformats.org/drawingml/2006/main" noGrp="1"/>
          </p:cNvSpPr>
          <p:nvPr/>
        </p:nvSpPr>
        <p:spPr>
          <a:xfrm xmlns:a="http://schemas.openxmlformats.org/drawingml/2006/main">
            <a:off x="609600" y="1095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Human review before learner-facing tasks</a:t>
            </a:r>
          </a:p>
        </p:txBody>
      </p:sp>
      <p:sp>
        <p:nvSpPr>
          <p:cNvPr id="3" name="asu-context">
            <a:extLst xmlns:a="http://schemas.openxmlformats.org/drawingml/2006/main">
              <a:ext uri="{FF2B5EF4-FFF2-40B4-BE49-F238E27FC236}">
                <a16:creationId xmlns:a16="http://schemas.microsoft.com/office/drawing/2014/main" id="{A77688C0-393F-429B-94FC-1F0FB05EA639}"/>
              </a:ext>
            </a:extLst>
          </p:cNvPr>
          <p:cNvSpPr>
            <a:spLocks xmlns:a="http://schemas.openxmlformats.org/drawingml/2006/main" noGrp="1"/>
          </p:cNvSpPr>
          <p:nvPr/>
        </p:nvSpPr>
        <p:spPr>
          <a:xfrm xmlns:a="http://schemas.openxmlformats.org/drawingml/2006/main">
            <a:off x="609600" y="204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staged prompt workflow for personalized learner tasks.</a:t>
            </a:r>
          </a:p>
        </p:txBody>
      </p:sp>
      <p:sp>
        <p:nvSpPr>
          <p:cNvPr id="4" name="workflow-node-01">
            <a:extLst xmlns:a="http://schemas.openxmlformats.org/drawingml/2006/main">
              <a:ext uri="{FF2B5EF4-FFF2-40B4-BE49-F238E27FC236}">
                <a16:creationId xmlns:a16="http://schemas.microsoft.com/office/drawing/2014/main" id="{B75AA923-1239-48A3-A91E-AAB4173A3D5D}"/>
              </a:ext>
            </a:extLst>
          </p:cNvPr>
          <p:cNvSpPr>
            <a:spLocks xmlns:a="http://schemas.openxmlformats.org/drawingml/2006/main" noGrp="1"/>
          </p:cNvSpPr>
          <p:nvPr/>
        </p:nvSpPr>
        <p:spPr>
          <a:xfrm xmlns:a="http://schemas.openxmlformats.org/drawingml/2006/main">
            <a:off x="6096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node-index-01">
            <a:extLst xmlns:a="http://schemas.openxmlformats.org/drawingml/2006/main">
              <a:ext uri="{FF2B5EF4-FFF2-40B4-BE49-F238E27FC236}">
                <a16:creationId xmlns:a16="http://schemas.microsoft.com/office/drawing/2014/main" id="{C760EA45-E90F-4592-B707-2A2E5F5C9C7C}"/>
              </a:ext>
            </a:extLst>
          </p:cNvPr>
          <p:cNvSpPr>
            <a:spLocks xmlns:a="http://schemas.openxmlformats.org/drawingml/2006/main" noGrp="1"/>
          </p:cNvSpPr>
          <p:nvPr/>
        </p:nvSpPr>
        <p:spPr>
          <a:xfrm xmlns:a="http://schemas.openxmlformats.org/drawingml/2006/main">
            <a:off x="7810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01</a:t>
            </a:r>
          </a:p>
        </p:txBody>
      </p:sp>
      <p:sp>
        <p:nvSpPr>
          <p:cNvPr id="6" name="node-label-01">
            <a:extLst xmlns:a="http://schemas.openxmlformats.org/drawingml/2006/main">
              <a:ext uri="{FF2B5EF4-FFF2-40B4-BE49-F238E27FC236}">
                <a16:creationId xmlns:a16="http://schemas.microsoft.com/office/drawing/2014/main" id="{12AC8BB7-9423-4392-96F3-2609DDB18B0E}"/>
              </a:ext>
            </a:extLst>
          </p:cNvPr>
          <p:cNvSpPr>
            <a:spLocks xmlns:a="http://schemas.openxmlformats.org/drawingml/2006/main" noGrp="1"/>
          </p:cNvSpPr>
          <p:nvPr/>
        </p:nvSpPr>
        <p:spPr>
          <a:xfrm xmlns:a="http://schemas.openxmlformats.org/drawingml/2006/main">
            <a:off x="7810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Condense learner context</a:t>
            </a:r>
          </a:p>
        </p:txBody>
      </p:sp>
      <p:sp>
        <p:nvSpPr>
          <p:cNvPr id="7" name="node-detail-01">
            <a:extLst xmlns:a="http://schemas.openxmlformats.org/drawingml/2006/main">
              <a:ext uri="{FF2B5EF4-FFF2-40B4-BE49-F238E27FC236}">
                <a16:creationId xmlns:a16="http://schemas.microsoft.com/office/drawing/2014/main" id="{945CB60A-20D6-4357-AFC1-849563D84F1A}"/>
              </a:ext>
            </a:extLst>
          </p:cNvPr>
          <p:cNvSpPr>
            <a:spLocks xmlns:a="http://schemas.openxmlformats.org/drawingml/2006/main" noGrp="1"/>
          </p:cNvSpPr>
          <p:nvPr/>
        </p:nvSpPr>
        <p:spPr>
          <a:xfrm xmlns:a="http://schemas.openxmlformats.org/drawingml/2006/main">
            <a:off x="7810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context for review.</a:t>
            </a:r>
          </a:p>
        </p:txBody>
      </p:sp>
      <p:sp>
        <p:nvSpPr>
          <p:cNvPr id="8" name="workflow-node-02">
            <a:extLst xmlns:a="http://schemas.openxmlformats.org/drawingml/2006/main">
              <a:ext uri="{FF2B5EF4-FFF2-40B4-BE49-F238E27FC236}">
                <a16:creationId xmlns:a16="http://schemas.microsoft.com/office/drawing/2014/main" id="{7DAAADDC-D21B-4BB9-93D6-2C5032790C7F}"/>
              </a:ext>
            </a:extLst>
          </p:cNvPr>
          <p:cNvSpPr>
            <a:spLocks xmlns:a="http://schemas.openxmlformats.org/drawingml/2006/main" noGrp="1"/>
          </p:cNvSpPr>
          <p:nvPr/>
        </p:nvSpPr>
        <p:spPr>
          <a:xfrm xmlns:a="http://schemas.openxmlformats.org/drawingml/2006/main">
            <a:off x="4324350" y="2895600"/>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9" name="node-index-02">
            <a:extLst xmlns:a="http://schemas.openxmlformats.org/drawingml/2006/main">
              <a:ext uri="{FF2B5EF4-FFF2-40B4-BE49-F238E27FC236}">
                <a16:creationId xmlns:a16="http://schemas.microsoft.com/office/drawing/2014/main" id="{358D8445-A191-4412-9916-1063F9E43A43}"/>
              </a:ext>
            </a:extLst>
          </p:cNvPr>
          <p:cNvSpPr>
            <a:spLocks xmlns:a="http://schemas.openxmlformats.org/drawingml/2006/main" noGrp="1"/>
          </p:cNvSpPr>
          <p:nvPr/>
        </p:nvSpPr>
        <p:spPr>
          <a:xfrm xmlns:a="http://schemas.openxmlformats.org/drawingml/2006/main">
            <a:off x="449580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02</a:t>
            </a:r>
          </a:p>
        </p:txBody>
      </p:sp>
      <p:sp>
        <p:nvSpPr>
          <p:cNvPr id="10" name="node-label-02">
            <a:extLst xmlns:a="http://schemas.openxmlformats.org/drawingml/2006/main">
              <a:ext uri="{FF2B5EF4-FFF2-40B4-BE49-F238E27FC236}">
                <a16:creationId xmlns:a16="http://schemas.microsoft.com/office/drawing/2014/main" id="{46EF7DA1-4FC0-403E-87BA-C23C1B98B2A5}"/>
              </a:ext>
            </a:extLst>
          </p:cNvPr>
          <p:cNvSpPr>
            <a:spLocks xmlns:a="http://schemas.openxmlformats.org/drawingml/2006/main" noGrp="1"/>
          </p:cNvSpPr>
          <p:nvPr/>
        </p:nvSpPr>
        <p:spPr>
          <a:xfrm xmlns:a="http://schemas.openxmlformats.org/drawingml/2006/main">
            <a:off x="449580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validates context</a:t>
            </a:r>
          </a:p>
        </p:txBody>
      </p:sp>
      <p:sp>
        <p:nvSpPr>
          <p:cNvPr id="11" name="node-detail-02">
            <a:extLst xmlns:a="http://schemas.openxmlformats.org/drawingml/2006/main">
              <a:ext uri="{FF2B5EF4-FFF2-40B4-BE49-F238E27FC236}">
                <a16:creationId xmlns:a16="http://schemas.microsoft.com/office/drawing/2014/main" id="{8B8EE29C-C65C-4245-B0D3-D209A5668834}"/>
              </a:ext>
            </a:extLst>
          </p:cNvPr>
          <p:cNvSpPr>
            <a:spLocks xmlns:a="http://schemas.openxmlformats.org/drawingml/2006/main" noGrp="1"/>
          </p:cNvSpPr>
          <p:nvPr/>
        </p:nvSpPr>
        <p:spPr>
          <a:xfrm xmlns:a="http://schemas.openxmlformats.org/drawingml/2006/main">
            <a:off x="449580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Check the interpretation.</a:t>
            </a:r>
          </a:p>
        </p:txBody>
      </p:sp>
      <p:sp>
        <p:nvSpPr>
          <p:cNvPr id="12" name="workflow-node-03">
            <a:extLst xmlns:a="http://schemas.openxmlformats.org/drawingml/2006/main">
              <a:ext uri="{FF2B5EF4-FFF2-40B4-BE49-F238E27FC236}">
                <a16:creationId xmlns:a16="http://schemas.microsoft.com/office/drawing/2014/main" id="{9A005132-0B4B-4FD3-86B2-27C3756DFB62}"/>
              </a:ext>
            </a:extLst>
          </p:cNvPr>
          <p:cNvSpPr>
            <a:spLocks xmlns:a="http://schemas.openxmlformats.org/drawingml/2006/main" noGrp="1"/>
          </p:cNvSpPr>
          <p:nvPr/>
        </p:nvSpPr>
        <p:spPr>
          <a:xfrm xmlns:a="http://schemas.openxmlformats.org/drawingml/2006/main">
            <a:off x="80391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node-index-03">
            <a:extLst xmlns:a="http://schemas.openxmlformats.org/drawingml/2006/main">
              <a:ext uri="{FF2B5EF4-FFF2-40B4-BE49-F238E27FC236}">
                <a16:creationId xmlns:a16="http://schemas.microsoft.com/office/drawing/2014/main" id="{55DC453F-2517-459B-B994-F9A24BF91AAE}"/>
              </a:ext>
            </a:extLst>
          </p:cNvPr>
          <p:cNvSpPr>
            <a:spLocks xmlns:a="http://schemas.openxmlformats.org/drawingml/2006/main" noGrp="1"/>
          </p:cNvSpPr>
          <p:nvPr/>
        </p:nvSpPr>
        <p:spPr>
          <a:xfrm xmlns:a="http://schemas.openxmlformats.org/drawingml/2006/main">
            <a:off x="82105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03</a:t>
            </a:r>
          </a:p>
        </p:txBody>
      </p:sp>
      <p:sp>
        <p:nvSpPr>
          <p:cNvPr id="14" name="node-label-03">
            <a:extLst xmlns:a="http://schemas.openxmlformats.org/drawingml/2006/main">
              <a:ext uri="{FF2B5EF4-FFF2-40B4-BE49-F238E27FC236}">
                <a16:creationId xmlns:a16="http://schemas.microsoft.com/office/drawing/2014/main" id="{3E2F49BD-DE41-4B1B-A1CE-1B1F1B020AF3}"/>
              </a:ext>
            </a:extLst>
          </p:cNvPr>
          <p:cNvSpPr>
            <a:spLocks xmlns:a="http://schemas.openxmlformats.org/drawingml/2006/main" noGrp="1"/>
          </p:cNvSpPr>
          <p:nvPr/>
        </p:nvSpPr>
        <p:spPr>
          <a:xfrm xmlns:a="http://schemas.openxmlformats.org/drawingml/2006/main">
            <a:off x="82105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Personalize task template</a:t>
            </a:r>
          </a:p>
        </p:txBody>
      </p:sp>
      <p:sp>
        <p:nvSpPr>
          <p:cNvPr id="15" name="node-detail-03">
            <a:extLst xmlns:a="http://schemas.openxmlformats.org/drawingml/2006/main">
              <a:ext uri="{FF2B5EF4-FFF2-40B4-BE49-F238E27FC236}">
                <a16:creationId xmlns:a16="http://schemas.microsoft.com/office/drawing/2014/main" id="{9334B297-6547-4ECE-8395-21F4113C55C4}"/>
              </a:ext>
            </a:extLst>
          </p:cNvPr>
          <p:cNvSpPr>
            <a:spLocks xmlns:a="http://schemas.openxmlformats.org/drawingml/2006/main" noGrp="1"/>
          </p:cNvSpPr>
          <p:nvPr/>
        </p:nvSpPr>
        <p:spPr>
          <a:xfrm xmlns:a="http://schemas.openxmlformats.org/drawingml/2006/main">
            <a:off x="82105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Use the reviewed context.</a:t>
            </a:r>
          </a:p>
        </p:txBody>
      </p:sp>
      <p:sp>
        <p:nvSpPr>
          <p:cNvPr id="16" name="workflow-node-04">
            <a:extLst xmlns:a="http://schemas.openxmlformats.org/drawingml/2006/main">
              <a:ext uri="{FF2B5EF4-FFF2-40B4-BE49-F238E27FC236}">
                <a16:creationId xmlns:a16="http://schemas.microsoft.com/office/drawing/2014/main" id="{9669EB77-1708-49FA-9DFE-22935DC496A0}"/>
              </a:ext>
            </a:extLst>
          </p:cNvPr>
          <p:cNvSpPr>
            <a:spLocks xmlns:a="http://schemas.openxmlformats.org/drawingml/2006/main" noGrp="1"/>
          </p:cNvSpPr>
          <p:nvPr/>
        </p:nvSpPr>
        <p:spPr>
          <a:xfrm xmlns:a="http://schemas.openxmlformats.org/drawingml/2006/main">
            <a:off x="80391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node-index-04">
            <a:extLst xmlns:a="http://schemas.openxmlformats.org/drawingml/2006/main">
              <a:ext uri="{FF2B5EF4-FFF2-40B4-BE49-F238E27FC236}">
                <a16:creationId xmlns:a16="http://schemas.microsoft.com/office/drawing/2014/main" id="{30B010F3-CDC1-4F38-9EE9-0953507D6015}"/>
              </a:ext>
            </a:extLst>
          </p:cNvPr>
          <p:cNvSpPr>
            <a:spLocks xmlns:a="http://schemas.openxmlformats.org/drawingml/2006/main" noGrp="1"/>
          </p:cNvSpPr>
          <p:nvPr/>
        </p:nvSpPr>
        <p:spPr>
          <a:xfrm xmlns:a="http://schemas.openxmlformats.org/drawingml/2006/main">
            <a:off x="82105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04</a:t>
            </a:r>
          </a:p>
        </p:txBody>
      </p:sp>
      <p:sp>
        <p:nvSpPr>
          <p:cNvPr id="18" name="node-label-04">
            <a:extLst xmlns:a="http://schemas.openxmlformats.org/drawingml/2006/main">
              <a:ext uri="{FF2B5EF4-FFF2-40B4-BE49-F238E27FC236}">
                <a16:creationId xmlns:a16="http://schemas.microsoft.com/office/drawing/2014/main" id="{44DBAB8B-4DC9-4749-B84C-20444CF7F8B7}"/>
              </a:ext>
            </a:extLst>
          </p:cNvPr>
          <p:cNvSpPr>
            <a:spLocks xmlns:a="http://schemas.openxmlformats.org/drawingml/2006/main" noGrp="1"/>
          </p:cNvSpPr>
          <p:nvPr/>
        </p:nvSpPr>
        <p:spPr>
          <a:xfrm xmlns:a="http://schemas.openxmlformats.org/drawingml/2006/main">
            <a:off x="82105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Generate and refine tasks</a:t>
            </a:r>
          </a:p>
        </p:txBody>
      </p:sp>
      <p:sp>
        <p:nvSpPr>
          <p:cNvPr id="19" name="node-detail-04">
            <a:extLst xmlns:a="http://schemas.openxmlformats.org/drawingml/2006/main">
              <a:ext uri="{FF2B5EF4-FFF2-40B4-BE49-F238E27FC236}">
                <a16:creationId xmlns:a16="http://schemas.microsoft.com/office/drawing/2014/main" id="{8415824B-4500-4126-A32B-BC760BE37940}"/>
              </a:ext>
            </a:extLst>
          </p:cNvPr>
          <p:cNvSpPr>
            <a:spLocks xmlns:a="http://schemas.openxmlformats.org/drawingml/2006/main" noGrp="1"/>
          </p:cNvSpPr>
          <p:nvPr/>
        </p:nvSpPr>
        <p:spPr>
          <a:xfrm xmlns:a="http://schemas.openxmlformats.org/drawingml/2006/main">
            <a:off x="82105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candidate tasks.</a:t>
            </a:r>
          </a:p>
        </p:txBody>
      </p:sp>
      <p:sp>
        <p:nvSpPr>
          <p:cNvPr id="20" name="workflow-node-05">
            <a:extLst xmlns:a="http://schemas.openxmlformats.org/drawingml/2006/main">
              <a:ext uri="{FF2B5EF4-FFF2-40B4-BE49-F238E27FC236}">
                <a16:creationId xmlns:a16="http://schemas.microsoft.com/office/drawing/2014/main" id="{DEFC0D1F-4A27-4EF3-B61F-A9AA250D65AB}"/>
              </a:ext>
            </a:extLst>
          </p:cNvPr>
          <p:cNvSpPr>
            <a:spLocks xmlns:a="http://schemas.openxmlformats.org/drawingml/2006/main" noGrp="1"/>
          </p:cNvSpPr>
          <p:nvPr/>
        </p:nvSpPr>
        <p:spPr>
          <a:xfrm xmlns:a="http://schemas.openxmlformats.org/drawingml/2006/main">
            <a:off x="4324350" y="4657725"/>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21" name="node-index-05">
            <a:extLst xmlns:a="http://schemas.openxmlformats.org/drawingml/2006/main">
              <a:ext uri="{FF2B5EF4-FFF2-40B4-BE49-F238E27FC236}">
                <a16:creationId xmlns:a16="http://schemas.microsoft.com/office/drawing/2014/main" id="{D258506F-DDBC-4793-9AE5-D765F869CC27}"/>
              </a:ext>
            </a:extLst>
          </p:cNvPr>
          <p:cNvSpPr>
            <a:spLocks xmlns:a="http://schemas.openxmlformats.org/drawingml/2006/main" noGrp="1"/>
          </p:cNvSpPr>
          <p:nvPr/>
        </p:nvSpPr>
        <p:spPr>
          <a:xfrm xmlns:a="http://schemas.openxmlformats.org/drawingml/2006/main">
            <a:off x="449580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05</a:t>
            </a:r>
          </a:p>
        </p:txBody>
      </p:sp>
      <p:sp>
        <p:nvSpPr>
          <p:cNvPr id="22" name="node-label-05">
            <a:extLst xmlns:a="http://schemas.openxmlformats.org/drawingml/2006/main">
              <a:ext uri="{FF2B5EF4-FFF2-40B4-BE49-F238E27FC236}">
                <a16:creationId xmlns:a16="http://schemas.microsoft.com/office/drawing/2014/main" id="{C1919FD5-DB92-4AA8-9B1D-A08ECFDD109D}"/>
              </a:ext>
            </a:extLst>
          </p:cNvPr>
          <p:cNvSpPr>
            <a:spLocks xmlns:a="http://schemas.openxmlformats.org/drawingml/2006/main" noGrp="1"/>
          </p:cNvSpPr>
          <p:nvPr/>
        </p:nvSpPr>
        <p:spPr>
          <a:xfrm xmlns:a="http://schemas.openxmlformats.org/drawingml/2006/main">
            <a:off x="449580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confirms tasks</a:t>
            </a:r>
          </a:p>
        </p:txBody>
      </p:sp>
      <p:sp>
        <p:nvSpPr>
          <p:cNvPr id="23" name="node-detail-05">
            <a:extLst xmlns:a="http://schemas.openxmlformats.org/drawingml/2006/main">
              <a:ext uri="{FF2B5EF4-FFF2-40B4-BE49-F238E27FC236}">
                <a16:creationId xmlns:a16="http://schemas.microsoft.com/office/drawing/2014/main" id="{F74A980B-24D1-4C4E-BA08-2EDCB98E2E0A}"/>
              </a:ext>
            </a:extLst>
          </p:cNvPr>
          <p:cNvSpPr>
            <a:spLocks xmlns:a="http://schemas.openxmlformats.org/drawingml/2006/main" noGrp="1"/>
          </p:cNvSpPr>
          <p:nvPr/>
        </p:nvSpPr>
        <p:spPr>
          <a:xfrm xmlns:a="http://schemas.openxmlformats.org/drawingml/2006/main">
            <a:off x="449580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Approve or revise the tasks.</a:t>
            </a:r>
          </a:p>
        </p:txBody>
      </p:sp>
      <p:sp>
        <p:nvSpPr>
          <p:cNvPr id="24" name="workflow-node-06">
            <a:extLst xmlns:a="http://schemas.openxmlformats.org/drawingml/2006/main">
              <a:ext uri="{FF2B5EF4-FFF2-40B4-BE49-F238E27FC236}">
                <a16:creationId xmlns:a16="http://schemas.microsoft.com/office/drawing/2014/main" id="{17D43E36-AF06-4424-9EFF-07C70787F6AC}"/>
              </a:ext>
            </a:extLst>
          </p:cNvPr>
          <p:cNvSpPr>
            <a:spLocks xmlns:a="http://schemas.openxmlformats.org/drawingml/2006/main" noGrp="1"/>
          </p:cNvSpPr>
          <p:nvPr/>
        </p:nvSpPr>
        <p:spPr>
          <a:xfrm xmlns:a="http://schemas.openxmlformats.org/drawingml/2006/main">
            <a:off x="6096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node-index-06">
            <a:extLst xmlns:a="http://schemas.openxmlformats.org/drawingml/2006/main">
              <a:ext uri="{FF2B5EF4-FFF2-40B4-BE49-F238E27FC236}">
                <a16:creationId xmlns:a16="http://schemas.microsoft.com/office/drawing/2014/main" id="{61B960EB-2EE1-4109-98D2-2FAA77131E07}"/>
              </a:ext>
            </a:extLst>
          </p:cNvPr>
          <p:cNvSpPr>
            <a:spLocks xmlns:a="http://schemas.openxmlformats.org/drawingml/2006/main" noGrp="1"/>
          </p:cNvSpPr>
          <p:nvPr/>
        </p:nvSpPr>
        <p:spPr>
          <a:xfrm xmlns:a="http://schemas.openxmlformats.org/drawingml/2006/main">
            <a:off x="7810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06</a:t>
            </a:r>
          </a:p>
        </p:txBody>
      </p:sp>
      <p:sp>
        <p:nvSpPr>
          <p:cNvPr id="26" name="node-label-06">
            <a:extLst xmlns:a="http://schemas.openxmlformats.org/drawingml/2006/main">
              <a:ext uri="{FF2B5EF4-FFF2-40B4-BE49-F238E27FC236}">
                <a16:creationId xmlns:a16="http://schemas.microsoft.com/office/drawing/2014/main" id="{523CA77D-CB78-4E69-9769-896309654A8B}"/>
              </a:ext>
            </a:extLst>
          </p:cNvPr>
          <p:cNvSpPr>
            <a:spLocks xmlns:a="http://schemas.openxmlformats.org/drawingml/2006/main" noGrp="1"/>
          </p:cNvSpPr>
          <p:nvPr/>
        </p:nvSpPr>
        <p:spPr>
          <a:xfrm xmlns:a="http://schemas.openxmlformats.org/drawingml/2006/main">
            <a:off x="7810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Prepare learner-facing output</a:t>
            </a:r>
          </a:p>
        </p:txBody>
      </p:sp>
      <p:sp>
        <p:nvSpPr>
          <p:cNvPr id="27" name="node-detail-06">
            <a:extLst xmlns:a="http://schemas.openxmlformats.org/drawingml/2006/main">
              <a:ext uri="{FF2B5EF4-FFF2-40B4-BE49-F238E27FC236}">
                <a16:creationId xmlns:a16="http://schemas.microsoft.com/office/drawing/2014/main" id="{61FA895B-74E4-4CA2-8778-126AA0586B06}"/>
              </a:ext>
            </a:extLst>
          </p:cNvPr>
          <p:cNvSpPr>
            <a:spLocks xmlns:a="http://schemas.openxmlformats.org/drawingml/2006/main" noGrp="1"/>
          </p:cNvSpPr>
          <p:nvPr/>
        </p:nvSpPr>
        <p:spPr>
          <a:xfrm xmlns:a="http://schemas.openxmlformats.org/drawingml/2006/main">
            <a:off x="7810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Structured output and feedback.</a:t>
            </a:r>
          </a:p>
        </p:txBody>
      </p:sp>
      <p:sp>
        <p:nvSpPr>
          <p:cNvPr id="28" name="workflow-arrow-0">
            <a:extLst xmlns:a="http://schemas.openxmlformats.org/drawingml/2006/main">
              <a:ext uri="{FF2B5EF4-FFF2-40B4-BE49-F238E27FC236}">
                <a16:creationId xmlns:a16="http://schemas.microsoft.com/office/drawing/2014/main" id="{521C4019-46F7-4273-9637-43F3A1E5F8A7}"/>
              </a:ext>
            </a:extLst>
          </p:cNvPr>
          <p:cNvSpPr>
            <a:spLocks xmlns:a="http://schemas.openxmlformats.org/drawingml/2006/main" noGrp="1"/>
          </p:cNvSpPr>
          <p:nvPr/>
        </p:nvSpPr>
        <p:spPr>
          <a:xfrm xmlns:a="http://schemas.openxmlformats.org/drawingml/2006/main">
            <a:off x="400050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29" name="workflow-arrow-1">
            <a:extLst xmlns:a="http://schemas.openxmlformats.org/drawingml/2006/main">
              <a:ext uri="{FF2B5EF4-FFF2-40B4-BE49-F238E27FC236}">
                <a16:creationId xmlns:a16="http://schemas.microsoft.com/office/drawing/2014/main" id="{2BB6E674-B318-49CB-90B5-4442D835C6AE}"/>
              </a:ext>
            </a:extLst>
          </p:cNvPr>
          <p:cNvSpPr>
            <a:spLocks xmlns:a="http://schemas.openxmlformats.org/drawingml/2006/main" noGrp="1"/>
          </p:cNvSpPr>
          <p:nvPr/>
        </p:nvSpPr>
        <p:spPr>
          <a:xfrm xmlns:a="http://schemas.openxmlformats.org/drawingml/2006/main">
            <a:off x="771525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0" name="workflow-arrow-2">
            <a:extLst xmlns:a="http://schemas.openxmlformats.org/drawingml/2006/main">
              <a:ext uri="{FF2B5EF4-FFF2-40B4-BE49-F238E27FC236}">
                <a16:creationId xmlns:a16="http://schemas.microsoft.com/office/drawing/2014/main" id="{F2881EF4-1105-4D07-8FB3-F68411E49467}"/>
              </a:ext>
            </a:extLst>
          </p:cNvPr>
          <p:cNvSpPr>
            <a:spLocks xmlns:a="http://schemas.openxmlformats.org/drawingml/2006/main" noGrp="1"/>
          </p:cNvSpPr>
          <p:nvPr/>
        </p:nvSpPr>
        <p:spPr>
          <a:xfrm xmlns:a="http://schemas.openxmlformats.org/drawingml/2006/main">
            <a:off x="952500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1" name="workflow-arrow-3">
            <a:extLst xmlns:a="http://schemas.openxmlformats.org/drawingml/2006/main">
              <a:ext uri="{FF2B5EF4-FFF2-40B4-BE49-F238E27FC236}">
                <a16:creationId xmlns:a16="http://schemas.microsoft.com/office/drawing/2014/main" id="{8C06F69A-E16A-4256-8E2D-79B1032204E8}"/>
              </a:ext>
            </a:extLst>
          </p:cNvPr>
          <p:cNvSpPr>
            <a:spLocks xmlns:a="http://schemas.openxmlformats.org/drawingml/2006/main" noGrp="1"/>
          </p:cNvSpPr>
          <p:nvPr/>
        </p:nvSpPr>
        <p:spPr>
          <a:xfrm xmlns:a="http://schemas.openxmlformats.org/drawingml/2006/main">
            <a:off x="771525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2" name="workflow-arrow-4">
            <a:extLst xmlns:a="http://schemas.openxmlformats.org/drawingml/2006/main">
              <a:ext uri="{FF2B5EF4-FFF2-40B4-BE49-F238E27FC236}">
                <a16:creationId xmlns:a16="http://schemas.microsoft.com/office/drawing/2014/main" id="{0C63711F-E144-44FC-ABC5-2E71B5006906}"/>
              </a:ext>
            </a:extLst>
          </p:cNvPr>
          <p:cNvSpPr>
            <a:spLocks xmlns:a="http://schemas.openxmlformats.org/drawingml/2006/main" noGrp="1"/>
          </p:cNvSpPr>
          <p:nvPr/>
        </p:nvSpPr>
        <p:spPr>
          <a:xfrm xmlns:a="http://schemas.openxmlformats.org/drawingml/2006/main">
            <a:off x="400050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3" name="asu-limit">
            <a:extLst xmlns:a="http://schemas.openxmlformats.org/drawingml/2006/main">
              <a:ext uri="{FF2B5EF4-FFF2-40B4-BE49-F238E27FC236}">
                <a16:creationId xmlns:a16="http://schemas.microsoft.com/office/drawing/2014/main" id="{0F69986F-0106-40BD-BDF8-A88A0B4843DB}"/>
              </a:ext>
            </a:extLst>
          </p:cNvPr>
          <p:cNvSpPr>
            <a:spLocks xmlns:a="http://schemas.openxmlformats.org/drawingml/2006/main" noGrp="1"/>
          </p:cNvSpPr>
          <p:nvPr/>
        </p:nvSpPr>
        <p:spPr>
          <a:xfrm xmlns:a="http://schemas.openxmlformats.org/drawingml/2006/main">
            <a:off x="609600" y="6191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Simplified reconstruction · Documented proposal; no deployment or measured efficiency claimed.</a:t>
            </a:r>
          </a:p>
        </p:txBody>
      </p:sp>
      <p:sp>
        <p:nvSpPr>
          <p:cNvPr id="34" name="slide-number">
            <a:extLst xmlns:a="http://schemas.openxmlformats.org/drawingml/2006/main">
              <a:ext uri="{FF2B5EF4-FFF2-40B4-BE49-F238E27FC236}">
                <a16:creationId xmlns:a16="http://schemas.microsoft.com/office/drawing/2014/main" id="{ECA6712A-02D2-4F94-8F86-1C9A6AB0337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1199258576"/>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F23E10F-443D-4CC9-95AD-60EDF3DD9C31}"/>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BASK</a:t>
            </a:r>
          </a:p>
        </p:txBody>
      </p:sp>
      <p:sp>
        <p:nvSpPr>
          <p:cNvPr id="2" name="headline">
            <a:extLst xmlns:a="http://schemas.openxmlformats.org/drawingml/2006/main">
              <a:ext uri="{FF2B5EF4-FFF2-40B4-BE49-F238E27FC236}">
                <a16:creationId xmlns:a16="http://schemas.microsoft.com/office/drawing/2014/main" id="{4687AA02-69B4-44F5-B7B0-7D5F9F3747B8}"/>
              </a:ext>
            </a:extLst>
          </p:cNvPr>
          <p:cNvSpPr>
            <a:spLocks xmlns:a="http://schemas.openxmlformats.org/drawingml/2006/main" noGrp="1"/>
          </p:cNvSpPr>
          <p:nvPr/>
        </p:nvSpPr>
        <p:spPr>
          <a:xfrm xmlns:a="http://schemas.openxmlformats.org/drawingml/2006/main">
            <a:off x="609600" y="1323975"/>
            <a:ext cx="6153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One workflow decision</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to investigate</a:t>
            </a:r>
          </a:p>
        </p:txBody>
      </p:sp>
      <p:sp>
        <p:nvSpPr>
          <p:cNvPr id="3" name="research-question">
            <a:extLst xmlns:a="http://schemas.openxmlformats.org/drawingml/2006/main">
              <a:ext uri="{FF2B5EF4-FFF2-40B4-BE49-F238E27FC236}">
                <a16:creationId xmlns:a16="http://schemas.microsoft.com/office/drawing/2014/main" id="{49FA92FD-B7E5-44B3-854A-14FB067F78DE}"/>
              </a:ext>
            </a:extLst>
          </p:cNvPr>
          <p:cNvSpPr>
            <a:spLocks xmlns:a="http://schemas.openxmlformats.org/drawingml/2006/main" noGrp="1"/>
          </p:cNvSpPr>
          <p:nvPr/>
        </p:nvSpPr>
        <p:spPr>
          <a:xfrm xmlns:a="http://schemas.openxmlformats.org/drawingml/2006/main">
            <a:off x="609600" y="3295650"/>
            <a:ext cx="54483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Choose one intake or handoff question with Product and domain specialists. Study where a patient, provider or operator loses context and what they need to decide next.</a:t>
            </a:r>
          </a:p>
        </p:txBody>
      </p:sp>
      <p:sp>
        <p:nvSpPr>
          <p:cNvPr id="4" name="research-plan">
            <a:extLst xmlns:a="http://schemas.openxmlformats.org/drawingml/2006/main">
              <a:ext uri="{FF2B5EF4-FFF2-40B4-BE49-F238E27FC236}">
                <a16:creationId xmlns:a16="http://schemas.microsoft.com/office/drawing/2014/main" id="{0A02ED52-390D-47F8-B316-CA47FA45DD8D}"/>
              </a:ext>
            </a:extLst>
          </p:cNvPr>
          <p:cNvSpPr>
            <a:spLocks xmlns:a="http://schemas.openxmlformats.org/drawingml/2006/main" noGrp="1"/>
          </p:cNvSpPr>
          <p:nvPr/>
        </p:nvSpPr>
        <p:spPr>
          <a:xfrm xmlns:a="http://schemas.openxmlformats.org/drawingml/2006/main">
            <a:off x="609600" y="4943475"/>
            <a:ext cx="5448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Combine interviews and task observation with relevant survey or product signals. Test a focused concept, discuss the limits, and let privacy and domain constraints shape the study.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e4f58c38ef74c8d"/>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778ED856-8986-4B87-995F-FF6231E6CDA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Tree>
    <p:extLst>
      <p:ext uri="{BB962C8B-B14F-4D97-AF65-F5344CB8AC3E}">
        <p14:creationId xmlns:p14="http://schemas.microsoft.com/office/powerpoint/2010/main" val="898062199"/>
      </p:ext>
    </p:extLst>
  </p:cSld>
</p:sld>
</file>

<file path=ppt/slides/slide12.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EFECB80-23CB-445D-B7AC-A01F83BB1464}"/>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BASK HEALTH · UX PRODUCT RESEARCHER</a:t>
            </a:r>
          </a:p>
        </p:txBody>
      </p:sp>
      <p:sp>
        <p:nvSpPr>
          <p:cNvPr id="2" name="headline">
            <a:extLst xmlns:a="http://schemas.openxmlformats.org/drawingml/2006/main">
              <a:ext uri="{FF2B5EF4-FFF2-40B4-BE49-F238E27FC236}">
                <a16:creationId xmlns:a16="http://schemas.microsoft.com/office/drawing/2014/main" id="{C781A869-CFAC-43A4-997A-682C47D5FEA5}"/>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decision clearer</a:t>
            </a:r>
          </a:p>
        </p:txBody>
      </p:sp>
      <p:sp>
        <p:nvSpPr>
          <p:cNvPr id="3" name="contact-intent">
            <a:extLst xmlns:a="http://schemas.openxmlformats.org/drawingml/2006/main">
              <a:ext uri="{FF2B5EF4-FFF2-40B4-BE49-F238E27FC236}">
                <a16:creationId xmlns:a16="http://schemas.microsoft.com/office/drawing/2014/main" id="{FF5882BA-34E0-46E7-B33D-BFB864CD8995}"/>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Interested in Bask’s UX Product Researcher role. Based in Mesa, Arizona; available for U.S. remote work and ready to start as soon as possible.</a:t>
            </a:r>
          </a:p>
        </p:txBody>
      </p:sp>
      <p:sp>
        <p:nvSpPr>
          <p:cNvPr id="4" name="email">
            <a:extLst xmlns:a="http://schemas.openxmlformats.org/drawingml/2006/main">
              <a:ext uri="{FF2B5EF4-FFF2-40B4-BE49-F238E27FC236}">
                <a16:creationId xmlns:a16="http://schemas.microsoft.com/office/drawing/2014/main" id="{BCBA02B9-B78A-41BF-8E5C-8B98488D19C7}"/>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b0ce92c1644a407e"/>
              </a:rPr>
              <a:t>JonathanKyleHobson@gmail.com</a:t>
            </a:r>
          </a:p>
        </p:txBody>
      </p:sp>
      <p:sp>
        <p:nvSpPr>
          <p:cNvPr id="5" name="portfolio">
            <a:extLst xmlns:a="http://schemas.openxmlformats.org/drawingml/2006/main">
              <a:ext uri="{FF2B5EF4-FFF2-40B4-BE49-F238E27FC236}">
                <a16:creationId xmlns:a16="http://schemas.microsoft.com/office/drawing/2014/main" id="{1668DDDA-EB84-41CD-9855-25588E8E4F3E}"/>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a7654f1aa85d40e7"/>
              </a:rPr>
              <a:t>jonathankhobson.github.io/application-portfolios/bask-ux-product-researcher</a:t>
            </a:r>
          </a:p>
        </p:txBody>
      </p:sp>
      <p:sp>
        <p:nvSpPr>
          <p:cNvPr id="6" name="slide-number">
            <a:extLst xmlns:a="http://schemas.openxmlformats.org/drawingml/2006/main">
              <a:ext uri="{FF2B5EF4-FFF2-40B4-BE49-F238E27FC236}">
                <a16:creationId xmlns:a16="http://schemas.microsoft.com/office/drawing/2014/main" id="{6DB176A4-F90C-494A-B732-352C728D782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12</a:t>
            </a:r>
          </a:p>
        </p:txBody>
      </p:sp>
    </p:spTree>
    <p:extLst>
      <p:ext uri="{BB962C8B-B14F-4D97-AF65-F5344CB8AC3E}">
        <p14:creationId xmlns:p14="http://schemas.microsoft.com/office/powerpoint/2010/main" val="1082424164"/>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2026-09-09T04:36:10.2720000Z</dcterms:created>
  <dcterms:modified xsi:type="dcterms:W3CDTF">2026-09-09T04:36:10.2720000Z</dcterms:modified>
</coreProperties>
</file>