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2cf4c58b63410e" /><Relationship Type="http://schemas.openxmlformats.org/officeDocument/2006/relationships/extended-properties" Target="/docProps/app.xml" Id="R738caedb0fae4831" /><Relationship Type="http://schemas.openxmlformats.org/officeDocument/2006/relationships/officeDocument" Target="/ppt/presentation.xml" Id="R8b0417f914634f5e" /></Relationships>
</file>

<file path=ppt/presentation.xml><?xml version="1.0" encoding="utf-8"?>
<p:presentation xmlns:p="http://schemas.openxmlformats.org/presentationml/2006/main">
  <p:sldMasterIdLst>
    <p:sldMasterId xmlns:r="http://schemas.openxmlformats.org/officeDocument/2006/relationships" id="2147483648" r:id="R92de5c2c21414a42"/>
  </p:sldMasterIdLst>
  <p:notesMasterIdLst>
    <p:notesMasterId xmlns:r="http://schemas.openxmlformats.org/officeDocument/2006/relationships" r:id="R8986bc2a0e0645e1"/>
  </p:notesMasterIdLst>
  <p:sldIdLst>
    <p:sldId xmlns:r="http://schemas.openxmlformats.org/officeDocument/2006/relationships" id="256" r:id="Ra3d395fe435146b7"/>
    <p:sldId xmlns:r="http://schemas.openxmlformats.org/officeDocument/2006/relationships" id="257" r:id="R36a3983d90a24a5a"/>
    <p:sldId xmlns:r="http://schemas.openxmlformats.org/officeDocument/2006/relationships" id="258" r:id="R528b0a37d0254bdb"/>
    <p:sldId xmlns:r="http://schemas.openxmlformats.org/officeDocument/2006/relationships" id="259" r:id="Rf26d03d66cda45e5"/>
    <p:sldId xmlns:r="http://schemas.openxmlformats.org/officeDocument/2006/relationships" id="260" r:id="Re8f471f5ae11404d"/>
    <p:sldId xmlns:r="http://schemas.openxmlformats.org/officeDocument/2006/relationships" id="261" r:id="R46b2e2658a2d49c3"/>
    <p:sldId xmlns:r="http://schemas.openxmlformats.org/officeDocument/2006/relationships" id="262" r:id="R37389afb0a694764"/>
    <p:sldId xmlns:r="http://schemas.openxmlformats.org/officeDocument/2006/relationships" id="263" r:id="Re0f4996e02cf4b1d"/>
    <p:sldId xmlns:r="http://schemas.openxmlformats.org/officeDocument/2006/relationships" id="264" r:id="R439c4ffe848443ed"/>
    <p:sldId xmlns:r="http://schemas.openxmlformats.org/officeDocument/2006/relationships" id="265" r:id="R701ad81ce3604b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c423ce133e47b3" /><Relationship Type="http://schemas.openxmlformats.org/officeDocument/2006/relationships/slideMaster" Target="/ppt/slideMasters/slideMaster1.xml" Id="R92de5c2c21414a42" /><Relationship Type="http://schemas.openxmlformats.org/officeDocument/2006/relationships/notesMaster" Target="/ppt/notesMasters/notesMaster1.xml" Id="R8986bc2a0e0645e1" /><Relationship Type="http://schemas.openxmlformats.org/officeDocument/2006/relationships/presProps" Target="/ppt/presProps.xml" Id="R069638bbf60e4192" /><Relationship Type="http://schemas.openxmlformats.org/officeDocument/2006/relationships/tableStyles" Target="/ppt/tableStyles.xml" Id="R3ee0ceb001c84b66" /><Relationship Type="http://schemas.openxmlformats.org/officeDocument/2006/relationships/slide" Target="/ppt/slides/slide1.xml" Id="Ra3d395fe435146b7" /><Relationship Type="http://schemas.openxmlformats.org/officeDocument/2006/relationships/slide" Target="/ppt/slides/slide2.xml" Id="R36a3983d90a24a5a" /><Relationship Type="http://schemas.openxmlformats.org/officeDocument/2006/relationships/slide" Target="/ppt/slides/slide3.xml" Id="R528b0a37d0254bdb" /><Relationship Type="http://schemas.openxmlformats.org/officeDocument/2006/relationships/slide" Target="/ppt/slides/slide4.xml" Id="Rf26d03d66cda45e5" /><Relationship Type="http://schemas.openxmlformats.org/officeDocument/2006/relationships/slide" Target="/ppt/slides/slide5.xml" Id="Re8f471f5ae11404d" /><Relationship Type="http://schemas.openxmlformats.org/officeDocument/2006/relationships/slide" Target="/ppt/slides/slide6.xml" Id="R46b2e2658a2d49c3" /><Relationship Type="http://schemas.openxmlformats.org/officeDocument/2006/relationships/slide" Target="/ppt/slides/slide7.xml" Id="R37389afb0a694764" /><Relationship Type="http://schemas.openxmlformats.org/officeDocument/2006/relationships/slide" Target="/ppt/slides/slide8.xml" Id="Re0f4996e02cf4b1d" /><Relationship Type="http://schemas.openxmlformats.org/officeDocument/2006/relationships/slide" Target="/ppt/slides/slide9.xml" Id="R439c4ffe848443ed" /><Relationship Type="http://schemas.openxmlformats.org/officeDocument/2006/relationships/slide" Target="/ppt/slides/slide10.xml" Id="R701ad81ce3604b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7a9f999db145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b4fca2a6814aa9" /><Relationship Type="http://schemas.openxmlformats.org/officeDocument/2006/relationships/notesMaster" Target="/ppt/notesMasters/notesMaster1.xml" Id="Ra2ae0436b37c4d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1659e00b2a4473" /><Relationship Type="http://schemas.openxmlformats.org/officeDocument/2006/relationships/notesMaster" Target="/ppt/notesMasters/notesMaster1.xml" Id="R03cf2a357d2347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2e5bd81a494966" /><Relationship Type="http://schemas.openxmlformats.org/officeDocument/2006/relationships/notesMaster" Target="/ppt/notesMasters/notesMaster1.xml" Id="R5155619edfd446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f04f20834a4fbc" /><Relationship Type="http://schemas.openxmlformats.org/officeDocument/2006/relationships/notesMaster" Target="/ppt/notesMasters/notesMaster1.xml" Id="R374b96e510af4f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83a500faae44be" /><Relationship Type="http://schemas.openxmlformats.org/officeDocument/2006/relationships/notesMaster" Target="/ppt/notesMasters/notesMaster1.xml" Id="R91de0566a63645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b14062f59c4486" /><Relationship Type="http://schemas.openxmlformats.org/officeDocument/2006/relationships/notesMaster" Target="/ppt/notesMasters/notesMaster1.xml" Id="Rd67fe4d3175f43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f8c90c9b3a4a2a" /><Relationship Type="http://schemas.openxmlformats.org/officeDocument/2006/relationships/notesMaster" Target="/ppt/notesMasters/notesMaster1.xml" Id="R76c1bbb8458649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7d2725794b414b" /><Relationship Type="http://schemas.openxmlformats.org/officeDocument/2006/relationships/notesMaster" Target="/ppt/notesMasters/notesMaster1.xml" Id="R8cd9f50ad0954376" /></Relationships>
</file>

<file path=ppt/notesSlides/_rels/notesSlide9.xml.rels>&#65279;<?xml version="1.0" encoding="utf-8"?><Relationships xmlns="http://schemas.openxmlformats.org/package/2006/relationships"><Relationship Type="http://schemas.openxmlformats.org/officeDocument/2006/relationships/slide" Target="/ppt/slides/slide9.xml" Id="R00b5e3561f854ea9" /><Relationship Type="http://schemas.openxmlformats.org/officeDocument/2006/relationships/notesMaster" Target="/ppt/notesMasters/notesMaster1.xml" Id="R4768d30fa6284b7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deb12b4dc34be6" /><Relationship Type="http://schemas.openxmlformats.org/officeDocument/2006/relationships/notesMaster" Target="/ppt/notesMasters/notesMaster1.xml" Id="Rd4f6a4a6a76443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White Circle Product Designer, https://jobs.ashbyhq.com/whitecircle/ca1228ee-92e8-4eaa-9d67-cc4d3e3240ce . White Circle is a prospective employer. Work examples are reviewed prior FactorLab, Oak AI and independent Prompt Compass artifacts. Decorative cover from the canonical portfolio; not project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suggested-question state and project walkthroughs in canonical design.json. Selecting a suggestion was intended to populate the input for review or editing. Design variant and engineering handoff; release of each variant is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UI Kit V2 export tied to User Story 444 and canonical design.json. Focused color specification; no complete design-system coverage or accessibility-compliance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project. Sources: actual Prompt Compass README, server.py and service.py. The public v0.1.0-beta.3 prerelease was published April 27, 2026 and its assets refreshed May 18; local development includes later work. Public release: https://github.com/JonathanKHobson/prompt-compass/releases/tag/v0.1.0-beta.3 . This workflow plate is reconstructed from implementation, not a product screenshot. The host AI handles conversation and final wording; the tool provides structured diagnosis, contracts, routing and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actual May 2026 developer-authored Prompt Compass Eval Studio fixture phase2t-schema-regression-cleaner-but-worse. The two displayed prompts are exact fixture values. The expected winner is the original because the shorter rewrite removes the output contract. This is a designed regression case, not a customer incident or a production-model benchmark. Human-review metadata in the fixture is unreviewed. No new runtime test is claimed in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original packaged public Prompt Compass real-session snapshot. This is a selected example conversation about an autopilot feature proposal. It does not establish that the proposed feature shipped. Implementation sources show prompt contracts, missing-block checks, anti-pattern checks and comparison deltas. Existing local May 9 evaluation reports document deterministic fixture checks; these do not measure user effectiveness, and this deck does not claim a new test run. A prospective human-reviewed comparison is stated as the next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discussion, informed by the current White Circle role description: https://jobs.ashbyhq.com/whitecircle/ca1228ee-92e8-4eaa-9d67-cc4d3e3240ce . Not prior White Circle work, a completed research study or a production AI-safety implementation. Exact user responsibilities, safety policies and backend signals would be established with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tailored portfolio contains complete selected case studies and all six application materials. The current employer listing states fully remote within the United States and an EST preference, while its location header mentions San Francisco or New York. Kyle is based in Mesa; specific overlap and employer location approval remain for discussion. No relocation, East Coast schedule or compensation acceptance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8f6214623d49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2f9b9ffe5e4b57" /><Relationship Type="http://schemas.openxmlformats.org/officeDocument/2006/relationships/slideLayout" Target="/ppt/slideLayouts/slideLayout1.xml" Id="R92ab20de0c1147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ab20de0c1147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c493f2ea37947f5" /><Relationship Type="http://schemas.openxmlformats.org/officeDocument/2006/relationships/image" Target="/ppt/media/image.png" Id="R6a492575efa843f1" /><Relationship Type="http://schemas.openxmlformats.org/officeDocument/2006/relationships/notesSlide" Target="/ppt/notesSlides/notesSlide1.xml" Id="Re3ad7576dfdd40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74fe1d2dace4962" /><Relationship Type="http://schemas.openxmlformats.org/officeDocument/2006/relationships/image" Target="/ppt/media/image2.png" Id="Rb1ff237250674200" /><Relationship Type="http://schemas.openxmlformats.org/officeDocument/2006/relationships/notesSlide" Target="/ppt/notesSlides/notesSlide2.xml" Id="Rb456b8941c2c44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a53139de13149a2" /><Relationship Type="http://schemas.openxmlformats.org/officeDocument/2006/relationships/image" Target="/ppt/media/image3.png" Id="R8c751937fa5f4cef" /><Relationship Type="http://schemas.openxmlformats.org/officeDocument/2006/relationships/image" Target="/ppt/media/image4.png" Id="Rbd9db4b3c92d4799" /><Relationship Type="http://schemas.openxmlformats.org/officeDocument/2006/relationships/notesSlide" Target="/ppt/notesSlides/notesSlide3.xml" Id="R6c1c2a7739fa4c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5ee97f8b63e4812" /><Relationship Type="http://schemas.openxmlformats.org/officeDocument/2006/relationships/image" Target="/ppt/media/image5.png" Id="Rb2954f48ac6c4f35" /><Relationship Type="http://schemas.openxmlformats.org/officeDocument/2006/relationships/image" Target="/ppt/media/image6.png" Id="Rad452a5990464a1a" /><Relationship Type="http://schemas.openxmlformats.org/officeDocument/2006/relationships/image" Target="/ppt/media/image7.png" Id="Rbb9ac8b02e374cc2" /><Relationship Type="http://schemas.openxmlformats.org/officeDocument/2006/relationships/notesSlide" Target="/ppt/notesSlides/notesSlide4.xml" Id="Ra608593b1aff4c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7cc795adb214196" /><Relationship Type="http://schemas.openxmlformats.org/officeDocument/2006/relationships/image" Target="/ppt/media/image8.png" Id="Rdf0eeefdf01a40d9" /><Relationship Type="http://schemas.openxmlformats.org/officeDocument/2006/relationships/notesSlide" Target="/ppt/notesSlides/notesSlide5.xml" Id="R6cfbc66f152e42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34455e58f744ef" /><Relationship Type="http://schemas.openxmlformats.org/officeDocument/2006/relationships/image" Target="/ppt/media/image9.png" Id="R0dd7ef7666944bbe" /><Relationship Type="http://schemas.openxmlformats.org/officeDocument/2006/relationships/notesSlide" Target="/ppt/notesSlides/notesSlide6.xml" Id="Ra4844a6f51554b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7401cc9be704cda" /><Relationship Type="http://schemas.openxmlformats.org/officeDocument/2006/relationships/notesSlide" Target="/ppt/notesSlides/notesSlide7.xml" Id="R3cbfe946d40b43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82ab75629a14294" /><Relationship Type="http://schemas.openxmlformats.org/officeDocument/2006/relationships/image" Target="/ppt/media/image10.png" Id="Ra4c9480124d440ab" /><Relationship Type="http://schemas.openxmlformats.org/officeDocument/2006/relationships/notesSlide" Target="/ppt/notesSlides/notesSlide8.xml" Id="Rc6097b11965846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ec574de2e8840b5" /><Relationship Type="http://schemas.openxmlformats.org/officeDocument/2006/relationships/notesSlide" Target="/ppt/notesSlides/notesSlide9.xml" Id="R09c3836327b041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8368d1260bc427d" /><Relationship Type="http://schemas.openxmlformats.org/officeDocument/2006/relationships/hyperlink" Target="mailto:JonathanKyleHobson@gmail.com" TargetMode="External" Id="Rac5f6b7500dc4ea0" /><Relationship Type="http://schemas.openxmlformats.org/officeDocument/2006/relationships/hyperlink" Target="https://jonathankhobson.github.io/application-portfolios/white-circle-product-designer/" TargetMode="External" Id="R333ad3fd63554254" /><Relationship Type="http://schemas.openxmlformats.org/officeDocument/2006/relationships/notesSlide" Target="/ppt/notesSlides/notesSlide10.xml" Id="R050759d8735b483b"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a492575efa843f1"/>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AE005C76-5E47-4483-878A-7C3F828DD498}"/>
              </a:ext>
            </a:extLst>
          </p:cNvPr>
          <p:cNvSpPr>
            <a:spLocks xmlns:a="http://schemas.openxmlformats.org/drawingml/2006/main" noGrp="1"/>
          </p:cNvSpPr>
          <p:nvPr/>
        </p:nvSpPr>
        <p:spPr>
          <a:xfrm xmlns:a="http://schemas.openxmlformats.org/drawingml/2006/main">
            <a:off x="609600" y="5143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WHITE CIRCLE · PRODUCT DESIGN</a:t>
            </a:r>
          </a:p>
        </p:txBody>
      </p:sp>
      <p:sp>
        <p:nvSpPr>
          <p:cNvPr id="3" name="headline">
            <a:extLst xmlns:a="http://schemas.openxmlformats.org/drawingml/2006/main">
              <a:ext uri="{FF2B5EF4-FFF2-40B4-BE49-F238E27FC236}">
                <a16:creationId xmlns:a16="http://schemas.microsoft.com/office/drawing/2014/main" id="{893EB0A2-1223-47B7-9DC9-8A0CF5016715}"/>
              </a:ext>
            </a:extLst>
          </p:cNvPr>
          <p:cNvSpPr>
            <a:spLocks xmlns:a="http://schemas.openxmlformats.org/drawingml/2006/main" noGrp="1"/>
          </p:cNvSpPr>
          <p:nvPr/>
        </p:nvSpPr>
        <p:spPr>
          <a:xfrm xmlns:a="http://schemas.openxmlformats.org/drawingml/2006/main">
            <a:off x="609600" y="1581150"/>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650" b="1">
                <a:solidFill>
                  <a:srgbClr val="192B25"/>
                </a:solidFill>
                <a:latin typeface="Helvetica Neue"/>
                <a:ea typeface="Helvetica Neue"/>
                <a:cs typeface="Helvetica Neue"/>
              </a:defRPr>
            </a:pPr>
            <a:r>
              <a:rPr sz="4650" b="1">
                <a:solidFill>
                  <a:srgbClr val="192B25"/>
                </a:solidFill>
                <a:latin typeface="Helvetica Neue"/>
                <a:ea typeface="Helvetica Neue"/>
                <a:cs typeface="Helvetica Neue"/>
              </a:rPr>
              <a:t>Technical tools.</a:t>
            </a:r>
          </a:p>
          <a:p xmlns:a="http://schemas.openxmlformats.org/drawingml/2006/main">
            <a:pPr>
              <a:lnSpc>
                <a:spcPct val="110000"/>
              </a:lnSpc>
              <a:buNone/>
              <a:defRPr sz="4650" b="1">
                <a:solidFill>
                  <a:srgbClr val="192B25"/>
                </a:solidFill>
                <a:latin typeface="Helvetica Neue"/>
                <a:ea typeface="Helvetica Neue"/>
                <a:cs typeface="Helvetica Neue"/>
              </a:defRPr>
            </a:pPr>
            <a:r>
              <a:rPr sz="4650" b="1">
                <a:solidFill>
                  <a:srgbClr val="192B25"/>
                </a:solidFill>
                <a:latin typeface="Helvetica Neue"/>
                <a:ea typeface="Helvetica Neue"/>
                <a:cs typeface="Helvetica Neue"/>
              </a:rPr>
              <a:t>Clear decisions.</a:t>
            </a:r>
          </a:p>
        </p:txBody>
      </p:sp>
      <p:sp>
        <p:nvSpPr>
          <p:cNvPr id="4" name="cover-intro">
            <a:extLst xmlns:a="http://schemas.openxmlformats.org/drawingml/2006/main">
              <a:ext uri="{FF2B5EF4-FFF2-40B4-BE49-F238E27FC236}">
                <a16:creationId xmlns:a16="http://schemas.microsoft.com/office/drawing/2014/main" id="{66FB24D2-1C5E-4630-BE07-1B3E4D459E65}"/>
              </a:ext>
            </a:extLst>
          </p:cNvPr>
          <p:cNvSpPr>
            <a:spLocks xmlns:a="http://schemas.openxmlformats.org/drawingml/2006/main" noGrp="1"/>
          </p:cNvSpPr>
          <p:nvPr/>
        </p:nvSpPr>
        <p:spPr>
          <a:xfrm xmlns:a="http://schemas.openxmlformats.org/drawingml/2006/main">
            <a:off x="647700" y="4067175"/>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Selected work in conversational interfaces,</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prompt requirements and actionable feedback.</a:t>
            </a:r>
          </a:p>
        </p:txBody>
      </p:sp>
      <p:sp>
        <p:nvSpPr>
          <p:cNvPr id="5" name="cover-role">
            <a:extLst xmlns:a="http://schemas.openxmlformats.org/drawingml/2006/main">
              <a:ext uri="{FF2B5EF4-FFF2-40B4-BE49-F238E27FC236}">
                <a16:creationId xmlns:a16="http://schemas.microsoft.com/office/drawing/2014/main" id="{66B8406F-CE71-4E3E-A1B8-EDAD15478A7D}"/>
              </a:ext>
            </a:extLst>
          </p:cNvPr>
          <p:cNvSpPr>
            <a:spLocks xmlns:a="http://schemas.openxmlformats.org/drawingml/2006/main" noGrp="1"/>
          </p:cNvSpPr>
          <p:nvPr/>
        </p:nvSpPr>
        <p:spPr>
          <a:xfrm xmlns:a="http://schemas.openxmlformats.org/drawingml/2006/main">
            <a:off x="647700" y="60198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Product Designer application · September 2026</a:t>
            </a:r>
          </a:p>
        </p:txBody>
      </p:sp>
      <p:sp>
        <p:nvSpPr>
          <p:cNvPr id="6" name="slide-number">
            <a:extLst xmlns:a="http://schemas.openxmlformats.org/drawingml/2006/main">
              <a:ext uri="{FF2B5EF4-FFF2-40B4-BE49-F238E27FC236}">
                <a16:creationId xmlns:a16="http://schemas.microsoft.com/office/drawing/2014/main" id="{A9D1F164-CF31-4401-8ADA-4A231326264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142503602"/>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16276E27-6567-41D5-A0BB-AF0FF66FD9A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FLINT   /   INTERACTION DESIGN, 2025–2026</a:t>
            </a:r>
          </a:p>
        </p:txBody>
      </p:sp>
      <p:sp>
        <p:nvSpPr>
          <p:cNvPr id="2" name="headline">
            <a:extLst xmlns:a="http://schemas.openxmlformats.org/drawingml/2006/main">
              <a:ext uri="{FF2B5EF4-FFF2-40B4-BE49-F238E27FC236}">
                <a16:creationId xmlns:a16="http://schemas.microsoft.com/office/drawing/2014/main" id="{646B644F-17CC-431B-BD23-B212B07F8ED6}"/>
              </a:ext>
            </a:extLst>
          </p:cNvPr>
          <p:cNvSpPr>
            <a:spLocks xmlns:a="http://schemas.openxmlformats.org/drawingml/2006/main" noGrp="1"/>
          </p:cNvSpPr>
          <p:nvPr/>
        </p:nvSpPr>
        <p:spPr>
          <a:xfrm xmlns:a="http://schemas.openxmlformats.org/drawingml/2006/main">
            <a:off x="609600" y="1104900"/>
            <a:ext cx="67246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Make the first question</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easier to ask</a:t>
            </a:r>
          </a:p>
        </p:txBody>
      </p:sp>
      <p:sp>
        <p:nvSpPr>
          <p:cNvPr id="3" name="entry-decision">
            <a:extLst xmlns:a="http://schemas.openxmlformats.org/drawingml/2006/main">
              <a:ext uri="{FF2B5EF4-FFF2-40B4-BE49-F238E27FC236}">
                <a16:creationId xmlns:a16="http://schemas.microsoft.com/office/drawing/2014/main" id="{F71742E7-8CC5-4682-BDB8-4D5D761988D9}"/>
              </a:ext>
            </a:extLst>
          </p:cNvPr>
          <p:cNvSpPr>
            <a:spLocks xmlns:a="http://schemas.openxmlformats.org/drawingml/2006/main" noGrp="1"/>
          </p:cNvSpPr>
          <p:nvPr/>
        </p:nvSpPr>
        <p:spPr>
          <a:xfrm xmlns:a="http://schemas.openxmlformats.org/drawingml/2006/main">
            <a:off x="609600" y="3152775"/>
            <a:ext cx="5905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Suggested questions offered a starting point while leaving the person free to edit or ask something else.</a:t>
            </a:r>
          </a:p>
        </p:txBody>
      </p:sp>
      <p:sp>
        <p:nvSpPr>
          <p:cNvPr id="4" name="entry-scope">
            <a:extLst xmlns:a="http://schemas.openxmlformats.org/drawingml/2006/main">
              <a:ext uri="{FF2B5EF4-FFF2-40B4-BE49-F238E27FC236}">
                <a16:creationId xmlns:a16="http://schemas.microsoft.com/office/drawing/2014/main" id="{DB5B3570-7116-47E8-8121-16AC4911E41B}"/>
              </a:ext>
            </a:extLst>
          </p:cNvPr>
          <p:cNvSpPr>
            <a:spLocks xmlns:a="http://schemas.openxmlformats.org/drawingml/2006/main" noGrp="1"/>
          </p:cNvSpPr>
          <p:nvPr/>
        </p:nvSpPr>
        <p:spPr>
          <a:xfrm xmlns:a="http://schemas.openxmlformats.org/drawingml/2006/main">
            <a:off x="609600" y="4991100"/>
            <a:ext cx="5905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worked within the existing product, keeping the answer layout and agreed phase scope in view.</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1ff237250674200"/>
          <a:stretch xmlns:a="http://schemas.openxmlformats.org/drawingml/2006/main"/>
        </p:blipFill>
        <p:spPr>
          <a:xfrm xmlns:a="http://schemas.openxmlformats.org/drawingml/2006/main">
            <a:off x="8143875" y="857695"/>
            <a:ext cx="2667000" cy="571411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B6B84B8F-86F4-4348-906E-0A9A4C2C86C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876228828"/>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3A0E6A52-1B3F-412E-B3DE-EBECFFF5134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2" name="headline">
            <a:extLst xmlns:a="http://schemas.openxmlformats.org/drawingml/2006/main">
              <a:ext uri="{FF2B5EF4-FFF2-40B4-BE49-F238E27FC236}">
                <a16:creationId xmlns:a16="http://schemas.microsoft.com/office/drawing/2014/main" id="{AF2744EA-FD69-4B6E-B61C-4E03E53A0B1A}"/>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3" name="recovery-decision">
            <a:extLst xmlns:a="http://schemas.openxmlformats.org/drawingml/2006/main">
              <a:ext uri="{FF2B5EF4-FFF2-40B4-BE49-F238E27FC236}">
                <a16:creationId xmlns:a16="http://schemas.microsoft.com/office/drawing/2014/main" id="{10639ACC-0E52-48B1-BA6E-643779A40425}"/>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4" name="recovery-outcome">
            <a:extLst xmlns:a="http://schemas.openxmlformats.org/drawingml/2006/main">
              <a:ext uri="{FF2B5EF4-FFF2-40B4-BE49-F238E27FC236}">
                <a16:creationId xmlns:a16="http://schemas.microsoft.com/office/drawing/2014/main" id="{7871F3BF-274D-4816-8D31-7AC2A1DE7714}"/>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5" name="incomplete-label">
            <a:extLst xmlns:a="http://schemas.openxmlformats.org/drawingml/2006/main">
              <a:ext uri="{FF2B5EF4-FFF2-40B4-BE49-F238E27FC236}">
                <a16:creationId xmlns:a16="http://schemas.microsoft.com/office/drawing/2014/main" id="{671227E2-D704-4910-A78F-DA7DBD4CBEFC}"/>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6" name="offline-label">
            <a:extLst xmlns:a="http://schemas.openxmlformats.org/drawingml/2006/main">
              <a:ext uri="{FF2B5EF4-FFF2-40B4-BE49-F238E27FC236}">
                <a16:creationId xmlns:a16="http://schemas.microsoft.com/office/drawing/2014/main" id="{B1323E27-2DEE-41FB-86BE-9969FB714516}"/>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c751937fa5f4cef"/>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d9db4b3c92d4799"/>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
        <p:nvSpPr>
          <p:cNvPr id="9" name="slide-number">
            <a:extLst xmlns:a="http://schemas.openxmlformats.org/drawingml/2006/main">
              <a:ext uri="{FF2B5EF4-FFF2-40B4-BE49-F238E27FC236}">
                <a16:creationId xmlns:a16="http://schemas.microsoft.com/office/drawing/2014/main" id="{48FAF6F2-95A7-4992-9052-C817447F0F5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2106437291"/>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31267859-1F48-43C6-916C-798D3B2D1A6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2" name="headline">
            <a:extLst xmlns:a="http://schemas.openxmlformats.org/drawingml/2006/main">
              <a:ext uri="{FF2B5EF4-FFF2-40B4-BE49-F238E27FC236}">
                <a16:creationId xmlns:a16="http://schemas.microsoft.com/office/drawing/2014/main" id="{C5412695-AA87-44E9-953B-19211EB939A1}"/>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3" name="oak-error-decision">
            <a:extLst xmlns:a="http://schemas.openxmlformats.org/drawingml/2006/main">
              <a:ext uri="{FF2B5EF4-FFF2-40B4-BE49-F238E27FC236}">
                <a16:creationId xmlns:a16="http://schemas.microsoft.com/office/drawing/2014/main" id="{973912E7-9A68-477D-83FB-A75495A756C1}"/>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4" name="oak-error-outcome">
            <a:extLst xmlns:a="http://schemas.openxmlformats.org/drawingml/2006/main">
              <a:ext uri="{FF2B5EF4-FFF2-40B4-BE49-F238E27FC236}">
                <a16:creationId xmlns:a16="http://schemas.microsoft.com/office/drawing/2014/main" id="{96932858-5415-4382-A464-7A8D98441E50}"/>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5" name="before-label">
            <a:extLst xmlns:a="http://schemas.openxmlformats.org/drawingml/2006/main">
              <a:ext uri="{FF2B5EF4-FFF2-40B4-BE49-F238E27FC236}">
                <a16:creationId xmlns:a16="http://schemas.microsoft.com/office/drawing/2014/main" id="{E478C233-C1F0-4E3D-949E-6312EDFDACC6}"/>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after-label">
            <a:extLst xmlns:a="http://schemas.openxmlformats.org/drawingml/2006/main">
              <a:ext uri="{FF2B5EF4-FFF2-40B4-BE49-F238E27FC236}">
                <a16:creationId xmlns:a16="http://schemas.microsoft.com/office/drawing/2014/main" id="{C5CCF2F7-65A7-43D5-B0C0-BE17E04DA867}"/>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2954f48ac6c4f35"/>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d452a5990464a1a"/>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4DB6A727-0537-4CFB-B130-5EB393906594}"/>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b9ac8b02e374cc2"/>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1" name="field-label">
            <a:extLst xmlns:a="http://schemas.openxmlformats.org/drawingml/2006/main">
              <a:ext uri="{FF2B5EF4-FFF2-40B4-BE49-F238E27FC236}">
                <a16:creationId xmlns:a16="http://schemas.microsoft.com/office/drawing/2014/main" id="{6AA2696E-90F3-497C-9133-42BD50F942AA}"/>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
        <p:nvSpPr>
          <p:cNvPr id="12" name="slide-number">
            <a:extLst xmlns:a="http://schemas.openxmlformats.org/drawingml/2006/main">
              <a:ext uri="{FF2B5EF4-FFF2-40B4-BE49-F238E27FC236}">
                <a16:creationId xmlns:a16="http://schemas.microsoft.com/office/drawing/2014/main" id="{A381CD65-0927-47CD-9BCD-1DC84112A4B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1294602686"/>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88047EA2-09E3-42D0-B732-6F0D16853E5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VISUAL GUIDANCE</a:t>
            </a:r>
          </a:p>
        </p:txBody>
      </p:sp>
      <p:sp>
        <p:nvSpPr>
          <p:cNvPr id="2" name="headline">
            <a:extLst xmlns:a="http://schemas.openxmlformats.org/drawingml/2006/main">
              <a:ext uri="{FF2B5EF4-FFF2-40B4-BE49-F238E27FC236}">
                <a16:creationId xmlns:a16="http://schemas.microsoft.com/office/drawing/2014/main" id="{3CA6CD0A-10C0-4341-8F1F-1C6A33AAC642}"/>
              </a:ext>
            </a:extLst>
          </p:cNvPr>
          <p:cNvSpPr>
            <a:spLocks xmlns:a="http://schemas.openxmlformats.org/drawingml/2006/main" noGrp="1"/>
          </p:cNvSpPr>
          <p:nvPr/>
        </p:nvSpPr>
        <p:spPr>
          <a:xfrm xmlns:a="http://schemas.openxmlformats.org/drawingml/2006/main">
            <a:off x="609600" y="1104900"/>
            <a:ext cx="49149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Give color</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defined job</a:t>
            </a:r>
          </a:p>
        </p:txBody>
      </p:sp>
      <p:sp>
        <p:nvSpPr>
          <p:cNvPr id="3" name="color-purpose">
            <a:extLst xmlns:a="http://schemas.openxmlformats.org/drawingml/2006/main">
              <a:ext uri="{FF2B5EF4-FFF2-40B4-BE49-F238E27FC236}">
                <a16:creationId xmlns:a16="http://schemas.microsoft.com/office/drawing/2014/main" id="{D1CD5945-681D-46C3-BFA8-7C1C5783A2E9}"/>
              </a:ext>
            </a:extLst>
          </p:cNvPr>
          <p:cNvSpPr>
            <a:spLocks xmlns:a="http://schemas.openxmlformats.org/drawingml/2006/main" noGrp="1"/>
          </p:cNvSpPr>
          <p:nvPr/>
        </p:nvSpPr>
        <p:spPr>
          <a:xfrm xmlns:a="http://schemas.openxmlformats.org/drawingml/2006/main">
            <a:off x="609600" y="3009900"/>
            <a:ext cx="48101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Brand, backgrounds, text and feedback needed consistent roles across the interface.</a:t>
            </a:r>
          </a:p>
        </p:txBody>
      </p:sp>
      <p:sp>
        <p:nvSpPr>
          <p:cNvPr id="4" name="color-scope">
            <a:extLst xmlns:a="http://schemas.openxmlformats.org/drawingml/2006/main">
              <a:ext uri="{FF2B5EF4-FFF2-40B4-BE49-F238E27FC236}">
                <a16:creationId xmlns:a16="http://schemas.microsoft.com/office/drawing/2014/main" id="{6ACF5A84-E1A7-4472-B70A-46221C8EF060}"/>
              </a:ext>
            </a:extLst>
          </p:cNvPr>
          <p:cNvSpPr>
            <a:spLocks xmlns:a="http://schemas.openxmlformats.org/drawingml/2006/main" noGrp="1"/>
          </p:cNvSpPr>
          <p:nvPr/>
        </p:nvSpPr>
        <p:spPr>
          <a:xfrm xmlns:a="http://schemas.openxmlformats.org/drawingml/2006/main">
            <a:off x="609600" y="4762500"/>
            <a:ext cx="4810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documented those roles for the next design iteration. This focused guide did not establish a complete component library.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f0eeefdf01a40d9"/>
          <a:stretch xmlns:a="http://schemas.openxmlformats.org/drawingml/2006/main"/>
        </p:blipFill>
        <p:spPr>
          <a:xfrm xmlns:a="http://schemas.openxmlformats.org/drawingml/2006/main">
            <a:off x="7081470" y="885825"/>
            <a:ext cx="3429734" cy="55626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705632BF-CFB7-40E1-9913-A197E2670291}"/>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1011680281"/>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2D205B96-6633-4EBC-B023-EC15F684E79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INDEPENDENT PROJECT, 2026</a:t>
            </a:r>
          </a:p>
        </p:txBody>
      </p:sp>
      <p:sp>
        <p:nvSpPr>
          <p:cNvPr id="2" name="headline">
            <a:extLst xmlns:a="http://schemas.openxmlformats.org/drawingml/2006/main">
              <a:ext uri="{FF2B5EF4-FFF2-40B4-BE49-F238E27FC236}">
                <a16:creationId xmlns:a16="http://schemas.microsoft.com/office/drawing/2014/main" id="{AC6591CE-41A6-4451-A343-131B9194A304}"/>
              </a:ext>
            </a:extLst>
          </p:cNvPr>
          <p:cNvSpPr>
            <a:spLocks xmlns:a="http://schemas.openxmlformats.org/drawingml/2006/main" noGrp="1"/>
          </p:cNvSpPr>
          <p:nvPr/>
        </p:nvSpPr>
        <p:spPr>
          <a:xfrm xmlns:a="http://schemas.openxmlformats.org/drawingml/2006/main">
            <a:off x="609600" y="1095375"/>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useful prompt preserves the job</a:t>
            </a:r>
          </a:p>
        </p:txBody>
      </p:sp>
      <p:sp>
        <p:nvSpPr>
          <p:cNvPr id="3" name="prompt-purpose">
            <a:extLst xmlns:a="http://schemas.openxmlformats.org/drawingml/2006/main">
              <a:ext uri="{FF2B5EF4-FFF2-40B4-BE49-F238E27FC236}">
                <a16:creationId xmlns:a16="http://schemas.microsoft.com/office/drawing/2014/main" id="{B7DB828E-156C-409F-91D9-E022EE00B282}"/>
              </a:ext>
            </a:extLst>
          </p:cNvPr>
          <p:cNvSpPr>
            <a:spLocks xmlns:a="http://schemas.openxmlformats.org/drawingml/2006/main" noGrp="1"/>
          </p:cNvSpPr>
          <p:nvPr/>
        </p:nvSpPr>
        <p:spPr>
          <a:xfrm xmlns:a="http://schemas.openxmlformats.org/drawingml/2006/main">
            <a:off x="609600" y="2143125"/>
            <a:ext cx="10553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built Prompt Compass to turn rough requests into inspectable workflows, with clear requirements and comparison points.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dd7ef7666944bbe"/>
          <a:stretch xmlns:a="http://schemas.openxmlformats.org/drawingml/2006/main"/>
        </p:blipFill>
        <p:spPr>
          <a:xfrm xmlns:a="http://schemas.openxmlformats.org/drawingml/2006/main">
            <a:off x="617660" y="3028950"/>
            <a:ext cx="10880481" cy="3143250"/>
          </a:xfrm>
          <a:prstGeom xmlns:a="http://schemas.openxmlformats.org/drawingml/2006/main" prst="rect">
            <a:avLst/>
          </a:prstGeom>
        </p:spPr>
      </p:pic>
      <p:sp>
        <p:nvSpPr>
          <p:cNvPr id="5" name="prompt-status">
            <a:extLst xmlns:a="http://schemas.openxmlformats.org/drawingml/2006/main">
              <a:ext uri="{FF2B5EF4-FFF2-40B4-BE49-F238E27FC236}">
                <a16:creationId xmlns:a16="http://schemas.microsoft.com/office/drawing/2014/main" id="{3AF38DF2-AA59-4148-AC06-6C152B08022C}"/>
              </a:ext>
            </a:extLst>
          </p:cNvPr>
          <p:cNvSpPr>
            <a:spLocks xmlns:a="http://schemas.openxmlformats.org/drawingml/2006/main" noGrp="1"/>
          </p:cNvSpPr>
          <p:nvPr/>
        </p:nvSpPr>
        <p:spPr>
          <a:xfrm xmlns:a="http://schemas.openxmlformats.org/drawingml/2006/main">
            <a:off x="609600" y="6315075"/>
            <a:ext cx="10896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Public beta available · reconstruction includes later local development</a:t>
            </a:r>
          </a:p>
        </p:txBody>
      </p:sp>
      <p:sp>
        <p:nvSpPr>
          <p:cNvPr id="6" name="slide-number">
            <a:extLst xmlns:a="http://schemas.openxmlformats.org/drawingml/2006/main">
              <a:ext uri="{FF2B5EF4-FFF2-40B4-BE49-F238E27FC236}">
                <a16:creationId xmlns:a16="http://schemas.microsoft.com/office/drawing/2014/main" id="{CDF8569F-D01E-4ACA-8BC3-C6622ED74791}"/>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269345986"/>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61C177CE-CFA7-4265-ADFC-4ACB9522BD5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DESIGNED LOCAL REGRESSION CASE</a:t>
            </a:r>
          </a:p>
        </p:txBody>
      </p:sp>
      <p:sp>
        <p:nvSpPr>
          <p:cNvPr id="2" name="headline">
            <a:extLst xmlns:a="http://schemas.openxmlformats.org/drawingml/2006/main">
              <a:ext uri="{FF2B5EF4-FFF2-40B4-BE49-F238E27FC236}">
                <a16:creationId xmlns:a16="http://schemas.microsoft.com/office/drawing/2014/main" id="{DF344D3F-53B0-4ADF-BE42-63A5C6B777BC}"/>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Cleaner language can lose the task</a:t>
            </a:r>
          </a:p>
        </p:txBody>
      </p:sp>
      <p:sp>
        <p:nvSpPr>
          <p:cNvPr id="3" name="before-label">
            <a:extLst xmlns:a="http://schemas.openxmlformats.org/drawingml/2006/main">
              <a:ext uri="{FF2B5EF4-FFF2-40B4-BE49-F238E27FC236}">
                <a16:creationId xmlns:a16="http://schemas.microsoft.com/office/drawing/2014/main" id="{5A4D8739-D6D2-4762-9FB2-465315DC9F82}"/>
              </a:ext>
            </a:extLst>
          </p:cNvPr>
          <p:cNvSpPr>
            <a:spLocks xmlns:a="http://schemas.openxmlformats.org/drawingml/2006/main" noGrp="1"/>
          </p:cNvSpPr>
          <p:nvPr/>
        </p:nvSpPr>
        <p:spPr>
          <a:xfrm xmlns:a="http://schemas.openxmlformats.org/drawingml/2006/main">
            <a:off x="609600" y="2476500"/>
            <a:ext cx="5953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 FIXTURE PROMPT</a:t>
            </a:r>
          </a:p>
        </p:txBody>
      </p:sp>
      <p:sp>
        <p:nvSpPr>
          <p:cNvPr id="4" name="after-label">
            <a:extLst xmlns:a="http://schemas.openxmlformats.org/drawingml/2006/main">
              <a:ext uri="{FF2B5EF4-FFF2-40B4-BE49-F238E27FC236}">
                <a16:creationId xmlns:a16="http://schemas.microsoft.com/office/drawing/2014/main" id="{0883D8FF-2191-4764-8E42-3226F20749FB}"/>
              </a:ext>
            </a:extLst>
          </p:cNvPr>
          <p:cNvSpPr>
            <a:spLocks xmlns:a="http://schemas.openxmlformats.org/drawingml/2006/main" noGrp="1"/>
          </p:cNvSpPr>
          <p:nvPr/>
        </p:nvSpPr>
        <p:spPr>
          <a:xfrm xmlns:a="http://schemas.openxmlformats.org/drawingml/2006/main">
            <a:off x="7181850" y="2476500"/>
            <a:ext cx="4314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SHORTER REWRITE</a:t>
            </a:r>
          </a:p>
        </p:txBody>
      </p:sp>
      <p:sp>
        <p:nvSpPr>
          <p:cNvPr id="5" name="before-prompt">
            <a:extLst xmlns:a="http://schemas.openxmlformats.org/drawingml/2006/main">
              <a:ext uri="{FF2B5EF4-FFF2-40B4-BE49-F238E27FC236}">
                <a16:creationId xmlns:a16="http://schemas.microsoft.com/office/drawing/2014/main" id="{7F75DE8D-3DAD-47C4-AFE9-FC143907D37F}"/>
              </a:ext>
            </a:extLst>
          </p:cNvPr>
          <p:cNvSpPr>
            <a:spLocks xmlns:a="http://schemas.openxmlformats.org/drawingml/2006/main" noGrp="1"/>
          </p:cNvSpPr>
          <p:nvPr/>
        </p:nvSpPr>
        <p:spPr>
          <a:xfrm xmlns:a="http://schemas.openxmlformats.org/drawingml/2006/main">
            <a:off x="609600" y="3057525"/>
            <a:ext cx="59055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valid JSON only with fields category, article_id, confidence, and suggested_response. If confidence is below 0.7, set suggested_response to needs_review. Success: parser accepts the response.</a:t>
            </a:r>
          </a:p>
        </p:txBody>
      </p:sp>
      <p:sp>
        <p:nvSpPr>
          <p:cNvPr id="6" name="after-prompt">
            <a:extLst xmlns:a="http://schemas.openxmlformats.org/drawingml/2006/main">
              <a:ext uri="{FF2B5EF4-FFF2-40B4-BE49-F238E27FC236}">
                <a16:creationId xmlns:a16="http://schemas.microsoft.com/office/drawing/2014/main" id="{7CB3DE37-53B1-4DA4-A1AA-8A11E3F9DEC0}"/>
              </a:ext>
            </a:extLst>
          </p:cNvPr>
          <p:cNvSpPr>
            <a:spLocks xmlns:a="http://schemas.openxmlformats.org/drawingml/2006/main" noGrp="1"/>
          </p:cNvSpPr>
          <p:nvPr/>
        </p:nvSpPr>
        <p:spPr>
          <a:xfrm xmlns:a="http://schemas.openxmlformats.org/drawingml/2006/main">
            <a:off x="7181850" y="3057525"/>
            <a:ext cx="43148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a clean structured answer with the best response for the user.</a:t>
            </a:r>
          </a:p>
        </p:txBody>
      </p:sp>
      <p:sp>
        <p:nvSpPr>
          <p:cNvPr id="7" name="expected-winner">
            <a:extLst xmlns:a="http://schemas.openxmlformats.org/drawingml/2006/main">
              <a:ext uri="{FF2B5EF4-FFF2-40B4-BE49-F238E27FC236}">
                <a16:creationId xmlns:a16="http://schemas.microsoft.com/office/drawing/2014/main" id="{CB1BC98D-AF47-4D98-B292-D9D314653073}"/>
              </a:ext>
            </a:extLst>
          </p:cNvPr>
          <p:cNvSpPr>
            <a:spLocks xmlns:a="http://schemas.openxmlformats.org/drawingml/2006/main" noGrp="1"/>
          </p:cNvSpPr>
          <p:nvPr/>
        </p:nvSpPr>
        <p:spPr>
          <a:xfrm xmlns:a="http://schemas.openxmlformats.org/drawingml/2006/main">
            <a:off x="609600" y="5486400"/>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244D3C"/>
                </a:solidFill>
                <a:latin typeface="Helvetica Neue"/>
                <a:ea typeface="Helvetica Neue"/>
                <a:cs typeface="Helvetica Neue"/>
              </a:defRPr>
            </a:pPr>
            <a:r>
              <a:rPr sz="2100" b="1">
                <a:solidFill>
                  <a:srgbClr val="244D3C"/>
                </a:solidFill>
                <a:latin typeface="Helvetica Neue"/>
                <a:ea typeface="Helvetica Neue"/>
                <a:cs typeface="Helvetica Neue"/>
              </a:rPr>
              <a:t>Expected winner: the original</a:t>
            </a:r>
          </a:p>
        </p:txBody>
      </p:sp>
      <p:sp>
        <p:nvSpPr>
          <p:cNvPr id="8" name="fixture-reason">
            <a:extLst xmlns:a="http://schemas.openxmlformats.org/drawingml/2006/main">
              <a:ext uri="{FF2B5EF4-FFF2-40B4-BE49-F238E27FC236}">
                <a16:creationId xmlns:a16="http://schemas.microsoft.com/office/drawing/2014/main" id="{B4D7C227-5476-430B-844E-ABCF3116A7F8}"/>
              </a:ext>
            </a:extLst>
          </p:cNvPr>
          <p:cNvSpPr>
            <a:spLocks xmlns:a="http://schemas.openxmlformats.org/drawingml/2006/main" noGrp="1"/>
          </p:cNvSpPr>
          <p:nvPr/>
        </p:nvSpPr>
        <p:spPr>
          <a:xfrm xmlns:a="http://schemas.openxmlformats.org/drawingml/2006/main">
            <a:off x="609600" y="607695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The rewrite loses named fields, JSON-only output and the low-confidence fallback.</a:t>
            </a:r>
          </a:p>
        </p:txBody>
      </p:sp>
      <p:sp>
        <p:nvSpPr>
          <p:cNvPr id="9" name="slide-number">
            <a:extLst xmlns:a="http://schemas.openxmlformats.org/drawingml/2006/main">
              <a:ext uri="{FF2B5EF4-FFF2-40B4-BE49-F238E27FC236}">
                <a16:creationId xmlns:a16="http://schemas.microsoft.com/office/drawing/2014/main" id="{E4085F09-83ED-4294-9EF5-25AE9192232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971996970"/>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7F8E748B-EDE5-4227-ABC5-064CC300171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HOST AND TOOL RESPONSIBILITIES</a:t>
            </a:r>
          </a:p>
        </p:txBody>
      </p:sp>
      <p:sp>
        <p:nvSpPr>
          <p:cNvPr id="2" name="headline">
            <a:extLst xmlns:a="http://schemas.openxmlformats.org/drawingml/2006/main">
              <a:ext uri="{FF2B5EF4-FFF2-40B4-BE49-F238E27FC236}">
                <a16:creationId xmlns:a16="http://schemas.microsoft.com/office/drawing/2014/main" id="{921503A4-5D44-4D45-B475-3B2DAEE70035}"/>
              </a:ext>
            </a:extLst>
          </p:cNvPr>
          <p:cNvSpPr>
            <a:spLocks xmlns:a="http://schemas.openxmlformats.org/drawingml/2006/main" noGrp="1"/>
          </p:cNvSpPr>
          <p:nvPr/>
        </p:nvSpPr>
        <p:spPr>
          <a:xfrm xmlns:a="http://schemas.openxmlformats.org/drawingml/2006/main">
            <a:off x="609600" y="1095375"/>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Structured checks support the conversation</a:t>
            </a:r>
          </a:p>
        </p:txBody>
      </p:sp>
      <p:sp>
        <p:nvSpPr>
          <p:cNvPr id="3" name="host-tool">
            <a:extLst xmlns:a="http://schemas.openxmlformats.org/drawingml/2006/main">
              <a:ext uri="{FF2B5EF4-FFF2-40B4-BE49-F238E27FC236}">
                <a16:creationId xmlns:a16="http://schemas.microsoft.com/office/drawing/2014/main" id="{BDB694A8-3878-41C4-A419-D9B4264A47C8}"/>
              </a:ext>
            </a:extLst>
          </p:cNvPr>
          <p:cNvSpPr>
            <a:spLocks xmlns:a="http://schemas.openxmlformats.org/drawingml/2006/main" noGrp="1"/>
          </p:cNvSpPr>
          <p:nvPr/>
        </p:nvSpPr>
        <p:spPr>
          <a:xfrm xmlns:a="http://schemas.openxmlformats.org/drawingml/2006/main">
            <a:off x="609600" y="2133600"/>
            <a:ext cx="106203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The host AI handles the dialogue and final language. My tool makes task requirements and tradeoffs available for review.</a:t>
            </a:r>
          </a:p>
        </p:txBody>
      </p:sp>
      <p:sp>
        <p:nvSpPr>
          <p:cNvPr id="4" name="prompt-next">
            <a:extLst xmlns:a="http://schemas.openxmlformats.org/drawingml/2006/main">
              <a:ext uri="{FF2B5EF4-FFF2-40B4-BE49-F238E27FC236}">
                <a16:creationId xmlns:a16="http://schemas.microsoft.com/office/drawing/2014/main" id="{F38ADA09-6476-48A2-975F-56E675CE3354}"/>
              </a:ext>
            </a:extLst>
          </p:cNvPr>
          <p:cNvSpPr>
            <a:spLocks xmlns:a="http://schemas.openxmlformats.org/drawingml/2006/main" noGrp="1"/>
          </p:cNvSpPr>
          <p:nvPr/>
        </p:nvSpPr>
        <p:spPr>
          <a:xfrm xmlns:a="http://schemas.openxmlformats.org/drawingml/2006/main">
            <a:off x="609600" y="6105525"/>
            <a:ext cx="1089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Next test: compare realistic prompt revisions against an agreed task rubric and human review.</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4c9480124d440ab"/>
          <a:stretch xmlns:a="http://schemas.openxmlformats.org/drawingml/2006/main"/>
        </p:blipFill>
        <p:spPr>
          <a:xfrm xmlns:a="http://schemas.openxmlformats.org/drawingml/2006/main">
            <a:off x="609926" y="3324225"/>
            <a:ext cx="10895948" cy="2152650"/>
          </a:xfrm>
          <a:prstGeom xmlns:a="http://schemas.openxmlformats.org/drawingml/2006/main" prst="rect">
            <a:avLst/>
          </a:prstGeom>
        </p:spPr>
      </p:pic>
      <p:sp>
        <p:nvSpPr>
          <p:cNvPr id="6" name="session-caption">
            <a:extLst xmlns:a="http://schemas.openxmlformats.org/drawingml/2006/main">
              <a:ext uri="{FF2B5EF4-FFF2-40B4-BE49-F238E27FC236}">
                <a16:creationId xmlns:a16="http://schemas.microsoft.com/office/drawing/2014/main" id="{CB048F33-A495-47A1-832E-92375106676D}"/>
              </a:ext>
            </a:extLst>
          </p:cNvPr>
          <p:cNvSpPr>
            <a:spLocks xmlns:a="http://schemas.openxmlformats.org/drawingml/2006/main" noGrp="1"/>
          </p:cNvSpPr>
          <p:nvPr/>
        </p:nvSpPr>
        <p:spPr>
          <a:xfrm xmlns:a="http://schemas.openxmlformats.org/drawingml/2006/main">
            <a:off x="609600" y="5695950"/>
            <a:ext cx="1089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public example session · proposed feature specification</a:t>
            </a:r>
          </a:p>
        </p:txBody>
      </p:sp>
      <p:sp>
        <p:nvSpPr>
          <p:cNvPr id="7" name="slide-number">
            <a:extLst xmlns:a="http://schemas.openxmlformats.org/drawingml/2006/main">
              <a:ext uri="{FF2B5EF4-FFF2-40B4-BE49-F238E27FC236}">
                <a16:creationId xmlns:a16="http://schemas.microsoft.com/office/drawing/2014/main" id="{37C9F5AB-E44D-4DF0-A680-F3E55554ED7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7644499"/>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3EDBF116-5437-419F-B6C5-4D7B801E5F5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WHITE CIRCLE</a:t>
            </a:r>
          </a:p>
        </p:txBody>
      </p:sp>
      <p:sp>
        <p:nvSpPr>
          <p:cNvPr id="2" name="headline">
            <a:extLst xmlns:a="http://schemas.openxmlformats.org/drawingml/2006/main">
              <a:ext uri="{FF2B5EF4-FFF2-40B4-BE49-F238E27FC236}">
                <a16:creationId xmlns:a16="http://schemas.microsoft.com/office/drawing/2014/main" id="{4B5767C2-7F22-42D2-BCA0-716959430C48}"/>
              </a:ext>
            </a:extLst>
          </p:cNvPr>
          <p:cNvSpPr>
            <a:spLocks xmlns:a="http://schemas.openxmlformats.org/drawingml/2006/main" noGrp="1"/>
          </p:cNvSpPr>
          <p:nvPr/>
        </p:nvSpPr>
        <p:spPr>
          <a:xfrm xmlns:a="http://schemas.openxmlformats.org/drawingml/2006/main">
            <a:off x="609600" y="1076325"/>
            <a:ext cx="106680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review flow for</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technical user</a:t>
            </a:r>
          </a:p>
        </p:txBody>
      </p:sp>
      <p:sp>
        <p:nvSpPr>
          <p:cNvPr id="3" name="purpose-heading">
            <a:extLst xmlns:a="http://schemas.openxmlformats.org/drawingml/2006/main">
              <a:ext uri="{FF2B5EF4-FFF2-40B4-BE49-F238E27FC236}">
                <a16:creationId xmlns:a16="http://schemas.microsoft.com/office/drawing/2014/main" id="{1604D057-AD98-4F0F-AF1E-EBF0294F24F7}"/>
              </a:ext>
            </a:extLst>
          </p:cNvPr>
          <p:cNvSpPr>
            <a:spLocks xmlns:a="http://schemas.openxmlformats.org/drawingml/2006/main" noGrp="1"/>
          </p:cNvSpPr>
          <p:nvPr/>
        </p:nvSpPr>
        <p:spPr>
          <a:xfrm xmlns:a="http://schemas.openxmlformats.org/drawingml/2006/main">
            <a:off x="609600" y="30384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Understand the decision</a:t>
            </a:r>
          </a:p>
        </p:txBody>
      </p:sp>
      <p:sp>
        <p:nvSpPr>
          <p:cNvPr id="4" name="purpose-body">
            <a:extLst xmlns:a="http://schemas.openxmlformats.org/drawingml/2006/main">
              <a:ext uri="{FF2B5EF4-FFF2-40B4-BE49-F238E27FC236}">
                <a16:creationId xmlns:a16="http://schemas.microsoft.com/office/drawing/2014/main" id="{167CD1FA-1FCF-4D62-BBE0-C34E2C2DA8CE}"/>
              </a:ext>
            </a:extLst>
          </p:cNvPr>
          <p:cNvSpPr>
            <a:spLocks xmlns:a="http://schemas.openxmlformats.org/drawingml/2006/main" noGrp="1"/>
          </p:cNvSpPr>
          <p:nvPr/>
        </p:nvSpPr>
        <p:spPr>
          <a:xfrm xmlns:a="http://schemas.openxmlformats.org/drawingml/2006/main">
            <a:off x="609600" y="3609975"/>
            <a:ext cx="4857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Observe how a user investigates a flagged interaction. Identify what they need before choosing a next action.</a:t>
            </a:r>
          </a:p>
        </p:txBody>
      </p:sp>
      <p:sp>
        <p:nvSpPr>
          <p:cNvPr id="5" name="structure-heading">
            <a:extLst xmlns:a="http://schemas.openxmlformats.org/drawingml/2006/main">
              <a:ext uri="{FF2B5EF4-FFF2-40B4-BE49-F238E27FC236}">
                <a16:creationId xmlns:a16="http://schemas.microsoft.com/office/drawing/2014/main" id="{69785FAF-08A3-438B-9E69-459C9A8E4283}"/>
              </a:ext>
            </a:extLst>
          </p:cNvPr>
          <p:cNvSpPr>
            <a:spLocks xmlns:a="http://schemas.openxmlformats.org/drawingml/2006/main" noGrp="1"/>
          </p:cNvSpPr>
          <p:nvPr/>
        </p:nvSpPr>
        <p:spPr>
          <a:xfrm xmlns:a="http://schemas.openxmlformats.org/drawingml/2006/main">
            <a:off x="6705600" y="303847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Map the states</a:t>
            </a:r>
          </a:p>
        </p:txBody>
      </p:sp>
      <p:sp>
        <p:nvSpPr>
          <p:cNvPr id="6" name="structure-body">
            <a:extLst xmlns:a="http://schemas.openxmlformats.org/drawingml/2006/main">
              <a:ext uri="{FF2B5EF4-FFF2-40B4-BE49-F238E27FC236}">
                <a16:creationId xmlns:a16="http://schemas.microsoft.com/office/drawing/2014/main" id="{171C1478-EC3D-4405-BBE0-F1CF44098DA6}"/>
              </a:ext>
            </a:extLst>
          </p:cNvPr>
          <p:cNvSpPr>
            <a:spLocks xmlns:a="http://schemas.openxmlformats.org/drawingml/2006/main" noGrp="1"/>
          </p:cNvSpPr>
          <p:nvPr/>
        </p:nvSpPr>
        <p:spPr>
          <a:xfrm xmlns:a="http://schemas.openxmlformats.org/drawingml/2006/main">
            <a:off x="6705600" y="3609975"/>
            <a:ext cx="4857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Work with product and research on available evidence, uncertain results and incomplete data.</a:t>
            </a:r>
          </a:p>
        </p:txBody>
      </p:sp>
      <p:sp>
        <p:nvSpPr>
          <p:cNvPr id="7" name="compare-heading">
            <a:extLst xmlns:a="http://schemas.openxmlformats.org/drawingml/2006/main">
              <a:ext uri="{FF2B5EF4-FFF2-40B4-BE49-F238E27FC236}">
                <a16:creationId xmlns:a16="http://schemas.microsoft.com/office/drawing/2014/main" id="{77905058-66E9-401B-87E1-580978463961}"/>
              </a:ext>
            </a:extLst>
          </p:cNvPr>
          <p:cNvSpPr>
            <a:spLocks xmlns:a="http://schemas.openxmlformats.org/drawingml/2006/main" noGrp="1"/>
          </p:cNvSpPr>
          <p:nvPr/>
        </p:nvSpPr>
        <p:spPr>
          <a:xfrm xmlns:a="http://schemas.openxmlformats.org/drawingml/2006/main">
            <a:off x="609600" y="49244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Prototype the alternatives</a:t>
            </a:r>
          </a:p>
        </p:txBody>
      </p:sp>
      <p:sp>
        <p:nvSpPr>
          <p:cNvPr id="8" name="compare-body">
            <a:extLst xmlns:a="http://schemas.openxmlformats.org/drawingml/2006/main">
              <a:ext uri="{FF2B5EF4-FFF2-40B4-BE49-F238E27FC236}">
                <a16:creationId xmlns:a16="http://schemas.microsoft.com/office/drawing/2014/main" id="{DB86EAAA-5F6E-4453-8A16-5CFCBA63EE5C}"/>
              </a:ext>
            </a:extLst>
          </p:cNvPr>
          <p:cNvSpPr>
            <a:spLocks xmlns:a="http://schemas.openxmlformats.org/drawingml/2006/main" noGrp="1"/>
          </p:cNvSpPr>
          <p:nvPr/>
        </p:nvSpPr>
        <p:spPr>
          <a:xfrm xmlns:a="http://schemas.openxmlformats.org/drawingml/2006/main">
            <a:off x="609600" y="5495925"/>
            <a:ext cx="4857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Use the existing Figma system to compare the flow, hierarchy and feedback with engineering.</a:t>
            </a:r>
          </a:p>
        </p:txBody>
      </p:sp>
      <p:sp>
        <p:nvSpPr>
          <p:cNvPr id="9" name="handoff-heading">
            <a:extLst xmlns:a="http://schemas.openxmlformats.org/drawingml/2006/main">
              <a:ext uri="{FF2B5EF4-FFF2-40B4-BE49-F238E27FC236}">
                <a16:creationId xmlns:a16="http://schemas.microsoft.com/office/drawing/2014/main" id="{6B276BE7-C796-4107-8316-7D8B65342519}"/>
              </a:ext>
            </a:extLst>
          </p:cNvPr>
          <p:cNvSpPr>
            <a:spLocks xmlns:a="http://schemas.openxmlformats.org/drawingml/2006/main" noGrp="1"/>
          </p:cNvSpPr>
          <p:nvPr/>
        </p:nvSpPr>
        <p:spPr>
          <a:xfrm xmlns:a="http://schemas.openxmlformats.org/drawingml/2006/main">
            <a:off x="6705600" y="492442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Test the next action</a:t>
            </a:r>
          </a:p>
        </p:txBody>
      </p:sp>
      <p:sp>
        <p:nvSpPr>
          <p:cNvPr id="10" name="handoff-body">
            <a:extLst xmlns:a="http://schemas.openxmlformats.org/drawingml/2006/main">
              <a:ext uri="{FF2B5EF4-FFF2-40B4-BE49-F238E27FC236}">
                <a16:creationId xmlns:a16="http://schemas.microsoft.com/office/drawing/2014/main" id="{F02F8A27-3A9F-4475-AA87-D150AFEE15A1}"/>
              </a:ext>
            </a:extLst>
          </p:cNvPr>
          <p:cNvSpPr>
            <a:spLocks xmlns:a="http://schemas.openxmlformats.org/drawingml/2006/main" noGrp="1"/>
          </p:cNvSpPr>
          <p:nvPr/>
        </p:nvSpPr>
        <p:spPr>
          <a:xfrm xmlns:a="http://schemas.openxmlformats.org/drawingml/2006/main">
            <a:off x="6705600" y="5495925"/>
            <a:ext cx="4857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Check whether users can explain the result and choose an appropriate action. Document what needs revision.</a:t>
            </a:r>
          </a:p>
        </p:txBody>
      </p:sp>
      <p:sp>
        <p:nvSpPr>
          <p:cNvPr id="11" name="slide-number">
            <a:extLst xmlns:a="http://schemas.openxmlformats.org/drawingml/2006/main">
              <a:ext uri="{FF2B5EF4-FFF2-40B4-BE49-F238E27FC236}">
                <a16:creationId xmlns:a16="http://schemas.microsoft.com/office/drawing/2014/main" id="{0364E670-2800-4B28-9147-4052B3847D7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1326955756"/>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6FF09387-89C7-49D1-9C34-12C8BF41747D}"/>
              </a:ext>
            </a:extLst>
          </p:cNvPr>
          <p:cNvSpPr>
            <a:spLocks xmlns:a="http://schemas.openxmlformats.org/drawingml/2006/main" noGrp="1"/>
          </p:cNvSpPr>
          <p:nvPr/>
        </p:nvSpPr>
        <p:spPr>
          <a:xfrm xmlns:a="http://schemas.openxmlformats.org/drawingml/2006/main">
            <a:off x="6096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WHITE CIRCLE · PRODUCT DESIGN</a:t>
            </a:r>
          </a:p>
        </p:txBody>
      </p:sp>
      <p:sp>
        <p:nvSpPr>
          <p:cNvPr id="2" name="headline">
            <a:extLst xmlns:a="http://schemas.openxmlformats.org/drawingml/2006/main">
              <a:ext uri="{FF2B5EF4-FFF2-40B4-BE49-F238E27FC236}">
                <a16:creationId xmlns:a16="http://schemas.microsoft.com/office/drawing/2014/main" id="{00BBE77C-35DD-47FE-955D-F8AB60247B5C}"/>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75" b="1">
                <a:solidFill>
                  <a:srgbClr val="F4F2E9"/>
                </a:solidFill>
                <a:latin typeface="Helvetica Neue"/>
                <a:ea typeface="Helvetica Neue"/>
                <a:cs typeface="Helvetica Neue"/>
              </a:defRPr>
            </a:pPr>
            <a:r>
              <a:rPr sz="4575" b="1">
                <a:solidFill>
                  <a:srgbClr val="F4F2E9"/>
                </a:solidFill>
                <a:latin typeface="Helvetica Neue"/>
                <a:ea typeface="Helvetica Neue"/>
                <a:cs typeface="Helvetica Neue"/>
              </a:rPr>
              <a:t>Let’s make technical</a:t>
            </a:r>
          </a:p>
          <a:p xmlns:a="http://schemas.openxmlformats.org/drawingml/2006/main">
            <a:pPr>
              <a:lnSpc>
                <a:spcPct val="110000"/>
              </a:lnSpc>
              <a:buNone/>
              <a:defRPr sz="4575" b="1">
                <a:solidFill>
                  <a:srgbClr val="F4F2E9"/>
                </a:solidFill>
                <a:latin typeface="Helvetica Neue"/>
                <a:ea typeface="Helvetica Neue"/>
                <a:cs typeface="Helvetica Neue"/>
              </a:defRPr>
            </a:pPr>
            <a:r>
              <a:rPr sz="4575" b="1">
                <a:solidFill>
                  <a:srgbClr val="F4F2E9"/>
                </a:solidFill>
                <a:latin typeface="Helvetica Neue"/>
                <a:ea typeface="Helvetica Neue"/>
                <a:cs typeface="Helvetica Neue"/>
              </a:rPr>
              <a:t>tools easier to use</a:t>
            </a:r>
          </a:p>
        </p:txBody>
      </p:sp>
      <p:sp>
        <p:nvSpPr>
          <p:cNvPr id="3" name="contact-intent">
            <a:extLst xmlns:a="http://schemas.openxmlformats.org/drawingml/2006/main">
              <a:ext uri="{FF2B5EF4-FFF2-40B4-BE49-F238E27FC236}">
                <a16:creationId xmlns:a16="http://schemas.microsoft.com/office/drawing/2014/main" id="{EF6B3107-6A8C-4FE2-AA61-237935634564}"/>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Mesa, Arizona. Full U.S. work authorization. Available to start as soon as possible.</a:t>
            </a:r>
          </a:p>
        </p:txBody>
      </p:sp>
      <p:sp>
        <p:nvSpPr>
          <p:cNvPr id="4" name="email">
            <a:extLst xmlns:a="http://schemas.openxmlformats.org/drawingml/2006/main">
              <a:ext uri="{FF2B5EF4-FFF2-40B4-BE49-F238E27FC236}">
                <a16:creationId xmlns:a16="http://schemas.microsoft.com/office/drawing/2014/main" id="{130081B3-1CB0-453D-B9D2-2070806AB102}"/>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ac5f6b7500dc4ea0"/>
              </a:rPr>
              <a:t>JonathanKyleHobson@gmail.com</a:t>
            </a:r>
          </a:p>
        </p:txBody>
      </p:sp>
      <p:sp>
        <p:nvSpPr>
          <p:cNvPr id="5" name="portfolio">
            <a:extLst xmlns:a="http://schemas.openxmlformats.org/drawingml/2006/main">
              <a:ext uri="{FF2B5EF4-FFF2-40B4-BE49-F238E27FC236}">
                <a16:creationId xmlns:a16="http://schemas.microsoft.com/office/drawing/2014/main" id="{0C20FC36-FB2A-4DE6-AFC7-D47A6C855A00}"/>
              </a:ext>
            </a:extLst>
          </p:cNvPr>
          <p:cNvSpPr>
            <a:spLocks xmlns:a="http://schemas.openxmlformats.org/drawingml/2006/main" noGrp="1"/>
          </p:cNvSpPr>
          <p:nvPr/>
        </p:nvSpPr>
        <p:spPr>
          <a:xfrm xmlns:a="http://schemas.openxmlformats.org/drawingml/2006/main">
            <a:off x="647700" y="57054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u="sng">
                <a:solidFill>
                  <a:srgbClr val="DBEB89"/>
                </a:solidFill>
                <a:latin typeface="Helvetica Neue"/>
                <a:ea typeface="Helvetica Neue"/>
                <a:cs typeface="Helvetica Neue"/>
              </a:defRPr>
            </a:pPr>
            <a:r>
              <a:rPr sz="1575" b="0" u="sng">
                <a:solidFill>
                  <a:srgbClr val="DBEB89"/>
                </a:solidFill>
                <a:latin typeface="Helvetica Neue"/>
                <a:ea typeface="Helvetica Neue"/>
                <a:cs typeface="Helvetica Neue"/>
                <a:hlinkClick xmlns:r="http://schemas.openxmlformats.org/officeDocument/2006/relationships" r:id="R333ad3fd63554254"/>
              </a:rPr>
              <a:t>jonathankhobson.github.io/application-portfolios/white-circle-product-designer</a:t>
            </a:r>
          </a:p>
        </p:txBody>
      </p:sp>
      <p:sp>
        <p:nvSpPr>
          <p:cNvPr id="6" name="slide-number">
            <a:extLst xmlns:a="http://schemas.openxmlformats.org/drawingml/2006/main">
              <a:ext uri="{FF2B5EF4-FFF2-40B4-BE49-F238E27FC236}">
                <a16:creationId xmlns:a16="http://schemas.microsoft.com/office/drawing/2014/main" id="{0B193316-807D-44ED-B94C-3D841BCA3AE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Tree>
    <p:extLst>
      <p:ext uri="{BB962C8B-B14F-4D97-AF65-F5344CB8AC3E}">
        <p14:creationId xmlns:p14="http://schemas.microsoft.com/office/powerpoint/2010/main" val="214572679"/>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2026-09-09T01:45:36.4860000Z</dcterms:created>
  <dcterms:modified xsi:type="dcterms:W3CDTF">2026-09-09T01:45:36.4860000Z</dcterms:modified>
</coreProperties>
</file>