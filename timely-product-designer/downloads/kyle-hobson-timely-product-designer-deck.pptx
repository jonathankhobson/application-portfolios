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08aa4963694d66" /><Relationship Type="http://schemas.openxmlformats.org/officeDocument/2006/relationships/extended-properties" Target="/docProps/app.xml" Id="R66d075b13a5449cc" /><Relationship Type="http://schemas.openxmlformats.org/officeDocument/2006/relationships/officeDocument" Target="/ppt/presentation.xml" Id="R74dee24d382c44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39d8bb1d6f4036"/>
  </p:sldMasterIdLst>
  <p:notesMasterIdLst>
    <p:notesMasterId xmlns:r="http://schemas.openxmlformats.org/officeDocument/2006/relationships" r:id="Rb3e47cb4c3d14c04"/>
  </p:notesMasterIdLst>
  <p:sldIdLst>
    <p:sldId xmlns:r="http://schemas.openxmlformats.org/officeDocument/2006/relationships" id="256" r:id="R0d1153e6552f46d5"/>
    <p:sldId xmlns:r="http://schemas.openxmlformats.org/officeDocument/2006/relationships" id="257" r:id="R7aea164d3a2d4bf9"/>
    <p:sldId xmlns:r="http://schemas.openxmlformats.org/officeDocument/2006/relationships" id="258" r:id="R9793812f0e4a48c4"/>
    <p:sldId xmlns:r="http://schemas.openxmlformats.org/officeDocument/2006/relationships" id="259" r:id="Rf6c646601bb14691"/>
    <p:sldId xmlns:r="http://schemas.openxmlformats.org/officeDocument/2006/relationships" id="260" r:id="R5f81c87749c94c95"/>
    <p:sldId xmlns:r="http://schemas.openxmlformats.org/officeDocument/2006/relationships" id="261" r:id="R798cf41a09514d6f"/>
    <p:sldId xmlns:r="http://schemas.openxmlformats.org/officeDocument/2006/relationships" id="262" r:id="R839ed8a44ce44a13"/>
    <p:sldId xmlns:r="http://schemas.openxmlformats.org/officeDocument/2006/relationships" id="263" r:id="R23197380b4b84b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0ffe95d3544dc3" /><Relationship Type="http://schemas.openxmlformats.org/officeDocument/2006/relationships/slideMaster" Target="/ppt/slideMasters/slideMaster1.xml" Id="R5839d8bb1d6f4036" /><Relationship Type="http://schemas.openxmlformats.org/officeDocument/2006/relationships/notesMaster" Target="/ppt/notesMasters/notesMaster1.xml" Id="Rb3e47cb4c3d14c04" /><Relationship Type="http://schemas.openxmlformats.org/officeDocument/2006/relationships/presProps" Target="/ppt/presProps.xml" Id="R40f550b624564524" /><Relationship Type="http://schemas.openxmlformats.org/officeDocument/2006/relationships/tableStyles" Target="/ppt/tableStyles.xml" Id="Ref8fc94a1d2c4ee7" /><Relationship Type="http://schemas.openxmlformats.org/officeDocument/2006/relationships/slide" Target="/ppt/slides/slide1.xml" Id="R0d1153e6552f46d5" /><Relationship Type="http://schemas.openxmlformats.org/officeDocument/2006/relationships/slide" Target="/ppt/slides/slide2.xml" Id="R7aea164d3a2d4bf9" /><Relationship Type="http://schemas.openxmlformats.org/officeDocument/2006/relationships/slide" Target="/ppt/slides/slide3.xml" Id="R9793812f0e4a48c4" /><Relationship Type="http://schemas.openxmlformats.org/officeDocument/2006/relationships/slide" Target="/ppt/slides/slide4.xml" Id="Rf6c646601bb14691" /><Relationship Type="http://schemas.openxmlformats.org/officeDocument/2006/relationships/slide" Target="/ppt/slides/slide5.xml" Id="R5f81c87749c94c95" /><Relationship Type="http://schemas.openxmlformats.org/officeDocument/2006/relationships/slide" Target="/ppt/slides/slide6.xml" Id="R798cf41a09514d6f" /><Relationship Type="http://schemas.openxmlformats.org/officeDocument/2006/relationships/slide" Target="/ppt/slides/slide7.xml" Id="R839ed8a44ce44a13" /><Relationship Type="http://schemas.openxmlformats.org/officeDocument/2006/relationships/slide" Target="/ppt/slides/slide8.xml" Id="R23197380b4b84b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71666795de43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aa4338c484479f" /><Relationship Type="http://schemas.openxmlformats.org/officeDocument/2006/relationships/notesMaster" Target="/ppt/notesMasters/notesMaster1.xml" Id="Rcd53b427f36043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296e3d259b4964" /><Relationship Type="http://schemas.openxmlformats.org/officeDocument/2006/relationships/notesMaster" Target="/ppt/notesMasters/notesMaster1.xml" Id="Rd00c09f9ad6e4a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fdcebcf9e644ce" /><Relationship Type="http://schemas.openxmlformats.org/officeDocument/2006/relationships/notesMaster" Target="/ppt/notesMasters/notesMaster1.xml" Id="R93a6603b95b447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7639f756944c58" /><Relationship Type="http://schemas.openxmlformats.org/officeDocument/2006/relationships/notesMaster" Target="/ppt/notesMasters/notesMaster1.xml" Id="Rfe967b600dbf48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97dae4b118493a" /><Relationship Type="http://schemas.openxmlformats.org/officeDocument/2006/relationships/notesMaster" Target="/ppt/notesMasters/notesMaster1.xml" Id="R7647ff903afc49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129a820f5a4220" /><Relationship Type="http://schemas.openxmlformats.org/officeDocument/2006/relationships/notesMaster" Target="/ppt/notesMasters/notesMaster1.xml" Id="Rf831aefc7f8c48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eeea1f9f074180" /><Relationship Type="http://schemas.openxmlformats.org/officeDocument/2006/relationships/notesMaster" Target="/ppt/notesMasters/notesMaster1.xml" Id="R52b3ea2a84484e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d4d8c36de647b0" /><Relationship Type="http://schemas.openxmlformats.org/officeDocument/2006/relationships/notesMaster" Target="/ppt/notesMasters/notesMaster1.xml" Id="Rc463c7b2d3ed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for Timely Product Designer, https://jobs.ashbyhq.com/timely/a39f8b47-fe51-4320-b76f-25101bf6c134 . Original operational software, research and education work. School master scheduling is a new domain. Existing paper-path art is decorative.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 explored About Me information models and widget families in original April–May 2026 design walkthroughs. Source: reviewed portfolio-suite design About Me case and original about-me-widget-system.png. Numbers and named content inside the design are interface example data, not measured outcomes. September 2 release evidence supports web/server feature release, not this exact variant or mobile rollout. Public case: https://jonathankhobson.github.io/portfolio/design/case/about-me/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FactorLab About Me design variant. Source about-me-comparison.png and reviewed design source map. Chart is retained as a source screenshot to show the actual interface design; it is not an editable analytic chart or report of real user performance. Kyle’s contribution was comparison language and interface reasoning; no measured user outcome or school-scheduling delivery is inferred.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FactorLab UX Designer &amp; Researcher (Contract), October 2025–Present. Original Kyle-authored Figma designs and March 27 error-state walkthrough. Entry, waiting, saved questions and response actions are organized with engineering annotations. These are design and handoff artifacts; the exact states are not verified as shipped. Public case: https://jonathankhobson.github.io/portfolio/design/case/flint/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Oak original DesignRecOak findings and recommendations, reviewed September 2026. Kyle led UX research and developed navigation/error-feedback recommendations with the lead UX designer. The public crop preserves the original proposed treatment; no production deployment, conversion gain or ownership of every design element is inferred. Public case: https://jonathankhobson.github.io/portfolio/design/case/oak/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Career claim map C06/C08/C14/C18: ASU Knowledge Enterprise instructional design, ASU Learning Innovations proposed prompt architecture, current Oppia volunteer exit-dialog review. Coursera original ai-course-goals.png is approved published-course evidence; no raw private correspondence is displayed. These are education and design contributions, not school-scheduling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starting approach for Timely Product Designer. No school-scheduling project, deployed optimizer, K-12 policy expertise or measured student result is claimed. Official product context: https://www.timelyschools.com/platform/ . Role: https://jobs.ashbyhq.com/timely/a39f8b47-fe51-4320-b76f-25101bf6c134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Candidate confirmed Mesa location, U.S. work authorization without sponsorship and ASAP start. Portfolio is isolated for the Timely Product Designer application. No prior Timely employment or school-scheduling delivery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24bf66b8046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ac0b533d52464a" /><Relationship Type="http://schemas.openxmlformats.org/officeDocument/2006/relationships/slideLayout" Target="/ppt/slideLayouts/slideLayout1.xml" Id="R941b6ce7c53340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1b6ce7c53340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a50c9f777491b" /><Relationship Type="http://schemas.openxmlformats.org/officeDocument/2006/relationships/image" Target="/ppt/media/image.png" Id="R6aee3f55adf24248" /><Relationship Type="http://schemas.openxmlformats.org/officeDocument/2006/relationships/notesSlide" Target="/ppt/notesSlides/notesSlide1.xml" Id="Rff0c23dbd7344d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a8c8f1e274624" /><Relationship Type="http://schemas.openxmlformats.org/officeDocument/2006/relationships/image" Target="/ppt/media/image2.png" Id="R4ff8bbd61d9f482c" /><Relationship Type="http://schemas.openxmlformats.org/officeDocument/2006/relationships/notesSlide" Target="/ppt/notesSlides/notesSlide2.xml" Id="R2012b5f1734d49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5476ee480456a" /><Relationship Type="http://schemas.openxmlformats.org/officeDocument/2006/relationships/image" Target="/ppt/media/image3.png" Id="Rdaa78618e4234ed0" /><Relationship Type="http://schemas.openxmlformats.org/officeDocument/2006/relationships/notesSlide" Target="/ppt/notesSlides/notesSlide3.xml" Id="Re9f75e3cea0641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5c834567944da" /><Relationship Type="http://schemas.openxmlformats.org/officeDocument/2006/relationships/image" Target="/ppt/media/image4.png" Id="R54c2b3cb148c4000" /><Relationship Type="http://schemas.openxmlformats.org/officeDocument/2006/relationships/image" Target="/ppt/media/image5.png" Id="R39e576b4e5ca4c6c" /><Relationship Type="http://schemas.openxmlformats.org/officeDocument/2006/relationships/notesSlide" Target="/ppt/notesSlides/notesSlide4.xml" Id="Raa75e183705c44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4ace7bfdb47af" /><Relationship Type="http://schemas.openxmlformats.org/officeDocument/2006/relationships/image" Target="/ppt/media/image6.png" Id="R7749c32ceed64303" /><Relationship Type="http://schemas.openxmlformats.org/officeDocument/2006/relationships/notesSlide" Target="/ppt/notesSlides/notesSlide5.xml" Id="R182e63f9df074b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09190113b4975" /><Relationship Type="http://schemas.openxmlformats.org/officeDocument/2006/relationships/image" Target="/ppt/media/image7.png" Id="R98e7e1277aa04277" /><Relationship Type="http://schemas.openxmlformats.org/officeDocument/2006/relationships/notesSlide" Target="/ppt/notesSlides/notesSlide6.xml" Id="R01d874fe87234f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9f0442ac24005" /><Relationship Type="http://schemas.openxmlformats.org/officeDocument/2006/relationships/notesSlide" Target="/ppt/notesSlides/notesSlide7.xml" Id="Re8077000af0c4e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3c398a06a4656" /><Relationship Type="http://schemas.openxmlformats.org/officeDocument/2006/relationships/hyperlink" Target="mailto:JonathanKyleHobson@gmail.com" TargetMode="External" Id="R27e755b6eb4148d9" /><Relationship Type="http://schemas.openxmlformats.org/officeDocument/2006/relationships/hyperlink" Target="https://jonathankhobson.github.io/application-portfolios/timely-product-designer/" TargetMode="External" Id="Rb775b863f2cd4312" /><Relationship Type="http://schemas.openxmlformats.org/officeDocument/2006/relationships/notesSlide" Target="/ppt/notesSlides/notesSlide8.xml" Id="Reb7a28e719924b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e3f55adf24248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7136F6D-0828-406E-925E-5576330B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KYLE HOBSON   /   TIMELY PRODUCT DESIGNER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E51B8A02-9DD1-44E0-BCB7-202B3943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7632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Make the complex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workable.</a:t>
            </a:r>
          </a:p>
        </p:txBody>
      </p:sp>
      <p:sp>
        <p:nvSpPr>
          <p:cNvPr id="4" name="cover-intro">
            <a:extLst xmlns:a="http://schemas.openxmlformats.org/drawingml/2006/main">
              <a:ext uri="{FF2B5EF4-FFF2-40B4-BE49-F238E27FC236}">
                <a16:creationId xmlns:a16="http://schemas.microsoft.com/office/drawing/2014/main" id="{1BC3812A-697F-46CD-85D1-6D161D9D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Product design, research and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education experience</a:t>
            </a:r>
          </a:p>
        </p:txBody>
      </p:sp>
      <p:sp>
        <p:nvSpPr>
          <p:cNvPr id="5" name="cover-role">
            <a:extLst xmlns:a="http://schemas.openxmlformats.org/drawingml/2006/main">
              <a:ext uri="{FF2B5EF4-FFF2-40B4-BE49-F238E27FC236}">
                <a16:creationId xmlns:a16="http://schemas.microsoft.com/office/drawing/2014/main" id="{CA662E2D-6C67-4FE5-A755-5828E172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Product Designer · Remote (US)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54EC52C-C190-4FBA-9985-6E8B3AE9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8032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1530C4B-F726-4B52-9338-3D0D26C9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SMARTTAGIT ABOUT ME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A4C83941-6418-4214-B317-AE715DF6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95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summary connected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to its evidence</a:t>
            </a:r>
          </a:p>
        </p:txBody>
      </p:sp>
      <p:sp>
        <p:nvSpPr>
          <p:cNvPr id="3" name="about-me-work">
            <a:extLst xmlns:a="http://schemas.openxmlformats.org/drawingml/2006/main">
              <a:ext uri="{FF2B5EF4-FFF2-40B4-BE49-F238E27FC236}">
                <a16:creationId xmlns:a16="http://schemas.microsoft.com/office/drawing/2014/main" id="{9614D038-B605-418D-AC6B-8BFE804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096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I explored feedback layouts, widget families and content density so people could inspect the basis of a summary and find a useful next action.</a:t>
            </a:r>
          </a:p>
        </p:txBody>
      </p:sp>
      <p:sp>
        <p:nvSpPr>
          <p:cNvPr id="4" name="about-me-boundary">
            <a:extLst xmlns:a="http://schemas.openxmlformats.org/drawingml/2006/main">
              <a:ext uri="{FF2B5EF4-FFF2-40B4-BE49-F238E27FC236}">
                <a16:creationId xmlns:a16="http://schemas.microsoft.com/office/drawing/2014/main" id="{F39F1FAE-31D9-4825-A5AF-7E170F71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6381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design iteration. About Me web/server changes released September 2, 2026; this pictured variant is not claimed as the final released layout.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8bbd61d9f482c"/>
          <a:stretch xmlns:a="http://schemas.openxmlformats.org/drawingml/2006/main"/>
        </p:blipFill>
        <p:spPr>
          <a:xfrm xmlns:a="http://schemas.openxmlformats.org/drawingml/2006/main">
            <a:off x="8142684" y="1381125"/>
            <a:ext cx="2802731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BC2CE3-B3CC-4920-B24D-DB095C58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4232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153051A-4618-426A-B2FB-B00A1ED4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ABOUT ME COMPARISON DESIGN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60CB91F6-34DF-4458-BB5B-ADBE3344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8966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comparison needs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careful explanation</a:t>
            </a:r>
          </a:p>
        </p:txBody>
      </p:sp>
      <p:sp>
        <p:nvSpPr>
          <p:cNvPr id="3" name="comparison-decision">
            <a:extLst xmlns:a="http://schemas.openxmlformats.org/drawingml/2006/main">
              <a:ext uri="{FF2B5EF4-FFF2-40B4-BE49-F238E27FC236}">
                <a16:creationId xmlns:a16="http://schemas.microsoft.com/office/drawing/2014/main" id="{522F94B6-6F70-4FF3-AEA4-127BDD2B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7720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caption describes how often a topic appears in a cohort. It avoids turning a difference into an unsupported performance judgment.</a:t>
            </a:r>
          </a:p>
        </p:txBody>
      </p:sp>
      <p:sp>
        <p:nvSpPr>
          <p:cNvPr id="4" name="comparison-boundary">
            <a:extLst xmlns:a="http://schemas.openxmlformats.org/drawingml/2006/main">
              <a:ext uri="{FF2B5EF4-FFF2-40B4-BE49-F238E27FC236}">
                <a16:creationId xmlns:a16="http://schemas.microsoft.com/office/drawing/2014/main" id="{CDD28AA7-0996-4494-A2E0-B5D976F8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interface design with example data. No measured performance result is shown.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78618e4234ed0"/>
          <a:stretch xmlns:a="http://schemas.openxmlformats.org/drawingml/2006/main"/>
        </p:blipFill>
        <p:spPr>
          <a:xfrm xmlns:a="http://schemas.openxmlformats.org/drawingml/2006/main">
            <a:off x="5924550" y="2763677"/>
            <a:ext cx="5572125" cy="3692847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D8396C-BE07-458F-BA94-7979E811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4157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D3A96A4-D619-4CAB-AEA5-9256CCAC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FACTORLAB   /   FLINT CONVERSATIONAL PRODUCT DESIGN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F628DC27-A455-4F6E-BD39-EA999641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905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Recovery depends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on what happened</a:t>
            </a:r>
          </a:p>
        </p:txBody>
      </p:sp>
      <p:sp>
        <p:nvSpPr>
          <p:cNvPr id="3" name="flint-specific">
            <a:extLst xmlns:a="http://schemas.openxmlformats.org/drawingml/2006/main">
              <a:ext uri="{FF2B5EF4-FFF2-40B4-BE49-F238E27FC236}">
                <a16:creationId xmlns:a16="http://schemas.microsoft.com/office/drawing/2014/main" id="{858AB634-8C5A-4AB6-A7EF-0590520E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476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An interrupted answer and a lost connection leave different information available. I designed their messages and actions, then annotated the behavior for engineering.</a:t>
            </a:r>
          </a:p>
        </p:txBody>
      </p:sp>
      <p:sp>
        <p:nvSpPr>
          <p:cNvPr id="4" name="flint-boundary">
            <a:extLst xmlns:a="http://schemas.openxmlformats.org/drawingml/2006/main">
              <a:ext uri="{FF2B5EF4-FFF2-40B4-BE49-F238E27FC236}">
                <a16:creationId xmlns:a16="http://schemas.microsoft.com/office/drawing/2014/main" id="{C2B4D9CF-B671-436C-8811-AD2ACF0E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5476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mobile designs and handoff. No claim that the pictured states are shipped.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2b3cb148c4000"/>
          <a:stretch xmlns:a="http://schemas.openxmlformats.org/drawingml/2006/main"/>
        </p:blipFill>
        <p:spPr>
          <a:xfrm xmlns:a="http://schemas.openxmlformats.org/drawingml/2006/main">
            <a:off x="6629400" y="1326390"/>
            <a:ext cx="2238375" cy="4795771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576b4e5ca4c6c"/>
          <a:stretch xmlns:a="http://schemas.openxmlformats.org/drawingml/2006/main"/>
        </p:blipFill>
        <p:spPr>
          <a:xfrm xmlns:a="http://schemas.openxmlformats.org/drawingml/2006/main">
            <a:off x="9210675" y="1326390"/>
            <a:ext cx="2238375" cy="4795771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23BD3B2-AA49-4DDE-814F-1A7D3161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96774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7E13E61-9EAC-42AD-9390-39A7F3AC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OAK AI   /   LEAD UX RESEARCHER, 2023–2025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7A228DC-5AF0-42D9-A4F9-3433A893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8966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finding becomes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 visible recommendation</a:t>
            </a:r>
          </a:p>
        </p:txBody>
      </p:sp>
      <p:sp>
        <p:nvSpPr>
          <p:cNvPr id="3" name="oak-reason">
            <a:extLst xmlns:a="http://schemas.openxmlformats.org/drawingml/2006/main">
              <a:ext uri="{FF2B5EF4-FFF2-40B4-BE49-F238E27FC236}">
                <a16:creationId xmlns:a16="http://schemas.microsoft.com/office/drawing/2014/main" id="{1E142DA4-CAEB-4DE8-9F6F-CC553EE7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762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The audit identified vague login feedback. I recommended locating the error beside the relevant field so people could see what to correct.</a:t>
            </a:r>
          </a:p>
        </p:txBody>
      </p:sp>
      <p:sp>
        <p:nvSpPr>
          <p:cNvPr id="4" name="oak-boundary">
            <a:extLst xmlns:a="http://schemas.openxmlformats.org/drawingml/2006/main">
              <a:ext uri="{FF2B5EF4-FFF2-40B4-BE49-F238E27FC236}">
                <a16:creationId xmlns:a16="http://schemas.microsoft.com/office/drawing/2014/main" id="{8BADB9D4-24BF-4FDB-BB7D-39FB9B08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proposed interface. This is evaluation and design guidance, not a measured conversion improvement.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9c32ceed64303"/>
          <a:stretch xmlns:a="http://schemas.openxmlformats.org/drawingml/2006/main"/>
        </p:blipFill>
        <p:spPr>
          <a:xfrm xmlns:a="http://schemas.openxmlformats.org/drawingml/2006/main">
            <a:off x="6207199" y="2790825"/>
            <a:ext cx="4997302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9B36D22-D3CE-4370-8EBB-DBE72418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1162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B8724F4-95C0-4641-BA12-E2FE1320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ASU · OPPIA · COURSERA   /   LEARNING AND EXPLANATION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4AFA2B86-9C01-49E1-ABE3-8DE0577D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896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Learning experience informs the interface</a:t>
            </a:r>
          </a:p>
        </p:txBody>
      </p:sp>
      <p:sp>
        <p:nvSpPr>
          <p:cNvPr id="3" name="learning-work">
            <a:extLst xmlns:a="http://schemas.openxmlformats.org/drawingml/2006/main">
              <a:ext uri="{FF2B5EF4-FFF2-40B4-BE49-F238E27FC236}">
                <a16:creationId xmlns:a16="http://schemas.microsoft.com/office/drawing/2014/main" id="{A680C5A9-9A73-4302-A8D2-8722472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7625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At ASU, I developed learning materials and proposed AI workflows with mentor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At Oppia, I questioned autosave and save-on-exit before finalizing dialog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My Coursera lesson makes iteration a practice activity.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7e1277aa04277"/>
          <a:stretch xmlns:a="http://schemas.openxmlformats.org/drawingml/2006/main"/>
        </p:blipFill>
        <p:spPr>
          <a:xfrm xmlns:a="http://schemas.openxmlformats.org/drawingml/2006/main">
            <a:off x="5907554" y="2771775"/>
            <a:ext cx="5596593" cy="3152775"/>
          </a:xfrm>
          <a:prstGeom xmlns:a="http://schemas.openxmlformats.org/drawingml/2006/main" prst="rect">
            <a:avLst/>
          </a:prstGeom>
        </p:spPr>
      </p:pic>
      <p:sp>
        <p:nvSpPr>
          <p:cNvPr id="5" name="learning-boundary">
            <a:extLst xmlns:a="http://schemas.openxmlformats.org/drawingml/2006/main">
              <a:ext uri="{FF2B5EF4-FFF2-40B4-BE49-F238E27FC236}">
                <a16:creationId xmlns:a16="http://schemas.microsoft.com/office/drawing/2014/main" id="{3EAD10A7-28D0-4E83-9226-8180DE76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Original 2024 Coursera lesson slide. ASU workflow was proposed; Oppia example is a design review.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253B9CE-D6C8-46CC-9836-AFCF1F23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9914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DFA944-5A3C-45C8-844A-148E454F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4D3C"/>
                </a:solidFill>
                <a:latin typeface="Helvetica Neue"/>
                <a:ea typeface="Helvetica Neue"/>
                <a:cs typeface="Helvetica Neue"/>
              </a:rPr>
              <a:t>TIMELY   /   PROPOSED STARTING APPROACH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409A2A78-CCE1-41F7-8808-83D0432F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896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Follow one difficult scheduling decision</a:t>
            </a:r>
          </a:p>
        </p:txBody>
      </p:sp>
      <p:sp>
        <p:nvSpPr>
          <p:cNvPr id="3" name="proposal-intro">
            <a:extLst xmlns:a="http://schemas.openxmlformats.org/drawingml/2006/main">
              <a:ext uri="{FF2B5EF4-FFF2-40B4-BE49-F238E27FC236}">
                <a16:creationId xmlns:a16="http://schemas.microsoft.com/office/drawing/2014/main" id="{121EB0A8-FA19-4CC0-91D2-DDA27A77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School scheduling would be a new domain. I would learn the constraints with your team before proposing a product change.</a:t>
            </a:r>
          </a:p>
        </p:txBody>
      </p:sp>
      <p:sp>
        <p:nvSpPr>
          <p:cNvPr id="4" name="proposal-steps">
            <a:extLst xmlns:a="http://schemas.openxmlformats.org/drawingml/2006/main">
              <a:ext uri="{FF2B5EF4-FFF2-40B4-BE49-F238E27FC236}">
                <a16:creationId xmlns:a16="http://schemas.microsoft.com/office/drawing/2014/main" id="{D84551EB-2A1D-4EB6-88B6-CB147660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477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Observe a scheduler working through one difficult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Map the information, constraints and handoffs involved.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Prototype a focused change and check comprehension.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92B25"/>
                </a:solidFill>
                <a:latin typeface="Helvetica Neue"/>
                <a:ea typeface="Helvetica Neue"/>
                <a:cs typeface="Helvetica Neue"/>
              </a:rPr>
              <a:t>Document the states and trade-offs with engineering.</a:t>
            </a:r>
          </a:p>
        </p:txBody>
      </p:sp>
      <p:sp>
        <p:nvSpPr>
          <p:cNvPr id="5" name="proposal-boundary">
            <a:extLst xmlns:a="http://schemas.openxmlformats.org/drawingml/2006/main">
              <a:ext uri="{FF2B5EF4-FFF2-40B4-BE49-F238E27FC236}">
                <a16:creationId xmlns:a16="http://schemas.microsoft.com/office/drawing/2014/main" id="{F4A511B7-64D7-4806-A3AB-29BEDAEE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Proposed approach, not a Timely project, product audit or measured scheduling result.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A9AA5B-4E78-4362-AC8C-960006B2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45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5040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4D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50DE1CF-AA3E-441F-A57C-2549E6D2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KYLE HOBSON   /   TIMELY PRODUCT DESIGNER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6BF2DB99-28B0-488F-91C8-1A2A2D26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76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Product Designer</a:t>
            </a:r>
          </a:p>
        </p:txBody>
      </p:sp>
      <p:sp>
        <p:nvSpPr>
          <p:cNvPr id="3" name="contact-intent">
            <a:extLst xmlns:a="http://schemas.openxmlformats.org/drawingml/2006/main">
              <a:ext uri="{FF2B5EF4-FFF2-40B4-BE49-F238E27FC236}">
                <a16:creationId xmlns:a16="http://schemas.microsoft.com/office/drawing/2014/main" id="{43FE8E44-9AB0-4856-AF68-6E6294A3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0572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Mesa, Arizona · Available for U.S. remote work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4F2E9"/>
                </a:solidFill>
                <a:latin typeface="Helvetica Neue"/>
                <a:ea typeface="Helvetica Neue"/>
                <a:cs typeface="Helvetica Neue"/>
              </a:rPr>
              <a:t>Research, workflows and education</a:t>
            </a:r>
          </a:p>
        </p:txBody>
      </p:sp>
      <p:sp>
        <p:nvSpPr>
          <p:cNvPr id="4" name="email">
            <a:extLst xmlns:a="http://schemas.openxmlformats.org/drawingml/2006/main">
              <a:ext uri="{FF2B5EF4-FFF2-40B4-BE49-F238E27FC236}">
                <a16:creationId xmlns:a16="http://schemas.microsoft.com/office/drawing/2014/main" id="{1E8D7D98-FC93-4EC3-B163-E38C7129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27e755b6eb4148d9"/>
              </a:rPr>
              <a:t>JonathanKyleHobson@gmail.com</a:t>
            </a:r>
          </a:p>
        </p:txBody>
      </p:sp>
      <p:sp>
        <p:nvSpPr>
          <p:cNvPr id="5" name="portfolio">
            <a:extLst xmlns:a="http://schemas.openxmlformats.org/drawingml/2006/main">
              <a:ext uri="{FF2B5EF4-FFF2-40B4-BE49-F238E27FC236}">
                <a16:creationId xmlns:a16="http://schemas.microsoft.com/office/drawing/2014/main" id="{6407D2C6-1E0F-42C6-AEB5-C18A7C1A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u="sng">
                <a:solidFill>
                  <a:srgbClr val="DBEB89"/>
                </a:solidFill>
                <a:latin typeface="Helvetica Neue"/>
                <a:ea typeface="Helvetica Neue"/>
                <a:cs typeface="Helvetica Neue"/>
                <a:hlinkClick xmlns:r="http://schemas.openxmlformats.org/officeDocument/2006/relationships" r:id="Rb775b863f2cd4312"/>
              </a:rPr>
              <a:t>View the Timely product design portfolio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F13383-33B5-41A5-89A0-8CF8CE50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627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BEB8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4600029"/>
      </p:ext>
    </p:extLst>
  </p:cSld>
</p:sld>
</file>

<file path=ppt/theme/theme1.xml><?xml version="1.0" encoding="utf-8"?>
<a:theme xmlns:a="http://schemas.openxmlformats.org/drawingml/2006/main" name="ChatGPT">
  <a:themeElements>
    <a:clrScheme name="Kyle Portfolio">
      <a:dk1>
        <a:srgbClr val="192B25"/>
      </a:dk1>
      <a:lt1>
        <a:srgbClr val="FFFFFF"/>
      </a:lt1>
      <a:dk2>
        <a:srgbClr val="244D3C"/>
      </a:dk2>
      <a:lt2>
        <a:srgbClr val="F4F2E9"/>
      </a:lt2>
      <a:accent1>
        <a:srgbClr val="244D3C"/>
      </a:accent1>
      <a:accent2>
        <a:srgbClr val="DBEB89"/>
      </a:accent2>
      <a:accent3>
        <a:srgbClr val="E1E8DB"/>
      </a:accent3>
      <a:accent4>
        <a:srgbClr val="58645D"/>
      </a:accent4>
      <a:accent5>
        <a:srgbClr val="192B25"/>
      </a:accent5>
      <a:accent6>
        <a:srgbClr val="F4F2E9"/>
      </a:accent6>
      <a:hlink>
        <a:srgbClr val="DBEB89"/>
      </a:hlink>
      <a:folHlink>
        <a:srgbClr val="DBEB8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Kyle Portfolio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2026-09-09T01:05:56.4810000Z</dcterms:created>
  <dcterms:modified xsi:type="dcterms:W3CDTF">2026-09-09T01:05:56.4810000Z</dcterms:modified>
</coreProperties>
</file>