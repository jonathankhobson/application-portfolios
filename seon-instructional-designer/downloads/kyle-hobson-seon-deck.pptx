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0370b7390bf4ed3" /><Relationship Type="http://schemas.openxmlformats.org/officeDocument/2006/relationships/extended-properties" Target="/docProps/app.xml" Id="R4e7cfb7674af47e5" /><Relationship Type="http://schemas.openxmlformats.org/officeDocument/2006/relationships/officeDocument" Target="/ppt/presentation.xml" Id="Rf551da6ebb27474a" /></Relationships>
</file>

<file path=ppt/presentation.xml><?xml version="1.0" encoding="utf-8"?>
<p:presentation xmlns:p="http://schemas.openxmlformats.org/presentationml/2006/main">
  <p:sldMasterIdLst>
    <p:sldMasterId xmlns:r="http://schemas.openxmlformats.org/officeDocument/2006/relationships" id="2147483648" r:id="R319227e81e7a4f4c"/>
  </p:sldMasterIdLst>
  <p:notesMasterIdLst>
    <p:notesMasterId xmlns:r="http://schemas.openxmlformats.org/officeDocument/2006/relationships" r:id="Rd9df6561353a4076"/>
  </p:notesMasterIdLst>
  <p:sldIdLst>
    <p:sldId xmlns:r="http://schemas.openxmlformats.org/officeDocument/2006/relationships" id="256" r:id="Rb4ba49d080e64c4b"/>
    <p:sldId xmlns:r="http://schemas.openxmlformats.org/officeDocument/2006/relationships" id="257" r:id="R4978d257087847e3"/>
    <p:sldId xmlns:r="http://schemas.openxmlformats.org/officeDocument/2006/relationships" id="258" r:id="R0c1ad49530fc4e51"/>
    <p:sldId xmlns:r="http://schemas.openxmlformats.org/officeDocument/2006/relationships" id="259" r:id="R628bf22a009d43cd"/>
    <p:sldId xmlns:r="http://schemas.openxmlformats.org/officeDocument/2006/relationships" id="260" r:id="Reb82f001b96a42ee"/>
    <p:sldId xmlns:r="http://schemas.openxmlformats.org/officeDocument/2006/relationships" id="261" r:id="Ra0fb936ef7f74a30"/>
    <p:sldId xmlns:r="http://schemas.openxmlformats.org/officeDocument/2006/relationships" id="262" r:id="R3d05cb1a023141ac"/>
    <p:sldId xmlns:r="http://schemas.openxmlformats.org/officeDocument/2006/relationships" id="263" r:id="Ra647a1c6a6af409e"/>
    <p:sldId xmlns:r="http://schemas.openxmlformats.org/officeDocument/2006/relationships" id="264" r:id="R77213eccf12140d2"/>
    <p:sldId xmlns:r="http://schemas.openxmlformats.org/officeDocument/2006/relationships" id="265" r:id="R9380946248db4177"/>
    <p:sldId xmlns:r="http://schemas.openxmlformats.org/officeDocument/2006/relationships" id="266" r:id="R39e6ccd3e1df4e69"/>
    <p:sldId xmlns:r="http://schemas.openxmlformats.org/officeDocument/2006/relationships" id="267" r:id="R62484d78d8af48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dfb55f4b6f4364" /><Relationship Type="http://schemas.openxmlformats.org/officeDocument/2006/relationships/slideMaster" Target="/ppt/slideMasters/slideMaster1.xml" Id="R319227e81e7a4f4c" /><Relationship Type="http://schemas.openxmlformats.org/officeDocument/2006/relationships/notesMaster" Target="/ppt/notesMasters/notesMaster1.xml" Id="Rd9df6561353a4076" /><Relationship Type="http://schemas.openxmlformats.org/officeDocument/2006/relationships/presProps" Target="/ppt/presProps.xml" Id="R24c0075cc6124b9b" /><Relationship Type="http://schemas.openxmlformats.org/officeDocument/2006/relationships/tableStyles" Target="/ppt/tableStyles.xml" Id="Rab464e4aa654407c" /><Relationship Type="http://schemas.openxmlformats.org/officeDocument/2006/relationships/slide" Target="/ppt/slides/slide1.xml" Id="Rb4ba49d080e64c4b" /><Relationship Type="http://schemas.openxmlformats.org/officeDocument/2006/relationships/slide" Target="/ppt/slides/slide2.xml" Id="R4978d257087847e3" /><Relationship Type="http://schemas.openxmlformats.org/officeDocument/2006/relationships/slide" Target="/ppt/slides/slide3.xml" Id="R0c1ad49530fc4e51" /><Relationship Type="http://schemas.openxmlformats.org/officeDocument/2006/relationships/slide" Target="/ppt/slides/slide4.xml" Id="R628bf22a009d43cd" /><Relationship Type="http://schemas.openxmlformats.org/officeDocument/2006/relationships/slide" Target="/ppt/slides/slide5.xml" Id="Reb82f001b96a42ee" /><Relationship Type="http://schemas.openxmlformats.org/officeDocument/2006/relationships/slide" Target="/ppt/slides/slide6.xml" Id="Ra0fb936ef7f74a30" /><Relationship Type="http://schemas.openxmlformats.org/officeDocument/2006/relationships/slide" Target="/ppt/slides/slide7.xml" Id="R3d05cb1a023141ac" /><Relationship Type="http://schemas.openxmlformats.org/officeDocument/2006/relationships/slide" Target="/ppt/slides/slide8.xml" Id="Ra647a1c6a6af409e" /><Relationship Type="http://schemas.openxmlformats.org/officeDocument/2006/relationships/slide" Target="/ppt/slides/slide9.xml" Id="R77213eccf12140d2" /><Relationship Type="http://schemas.openxmlformats.org/officeDocument/2006/relationships/slide" Target="/ppt/slides/slide10.xml" Id="R9380946248db4177" /><Relationship Type="http://schemas.openxmlformats.org/officeDocument/2006/relationships/slide" Target="/ppt/slides/slide11.xml" Id="R39e6ccd3e1df4e69" /><Relationship Type="http://schemas.openxmlformats.org/officeDocument/2006/relationships/slide" Target="/ppt/slides/slide12.xml" Id="R62484d78d8af48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e46f72fd7a45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87f9d26a20445c" /><Relationship Type="http://schemas.openxmlformats.org/officeDocument/2006/relationships/notesMaster" Target="/ppt/notesMasters/notesMaster1.xml" Id="Re44772080ceb42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902b999bef45d3" /><Relationship Type="http://schemas.openxmlformats.org/officeDocument/2006/relationships/notesMaster" Target="/ppt/notesMasters/notesMaster1.xml" Id="Ra93bef66503d47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2cf81a64644fb7" /><Relationship Type="http://schemas.openxmlformats.org/officeDocument/2006/relationships/notesMaster" Target="/ppt/notesMasters/notesMaster1.xml" Id="R9c9c9947e23c4c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f70d0734e44118" /><Relationship Type="http://schemas.openxmlformats.org/officeDocument/2006/relationships/notesMaster" Target="/ppt/notesMasters/notesMaster1.xml" Id="R5157ecbfbe7746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4070eae26742df" /><Relationship Type="http://schemas.openxmlformats.org/officeDocument/2006/relationships/notesMaster" Target="/ppt/notesMasters/notesMaster1.xml" Id="R020567437bb042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42f86a1cb04fc3" /><Relationship Type="http://schemas.openxmlformats.org/officeDocument/2006/relationships/notesMaster" Target="/ppt/notesMasters/notesMaster1.xml" Id="R1996e14c87ac43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9b32b2803947e8" /><Relationship Type="http://schemas.openxmlformats.org/officeDocument/2006/relationships/notesMaster" Target="/ppt/notesMasters/notesMaster1.xml" Id="R6eed95f834ba48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0b5367d0cd4786" /><Relationship Type="http://schemas.openxmlformats.org/officeDocument/2006/relationships/notesMaster" Target="/ppt/notesMasters/notesMaster1.xml" Id="R6900c33c343b41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fd5d3e5f354b29" /><Relationship Type="http://schemas.openxmlformats.org/officeDocument/2006/relationships/notesMaster" Target="/ppt/notesMasters/notesMaster1.xml" Id="R9b0ed6391f874c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b93af6e6344ab6" /><Relationship Type="http://schemas.openxmlformats.org/officeDocument/2006/relationships/notesMaster" Target="/ppt/notesMasters/notesMaster1.xml" Id="R8539ec3cf10540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cbf882a80e4f78" /><Relationship Type="http://schemas.openxmlformats.org/officeDocument/2006/relationships/notesMaster" Target="/ppt/notesMasters/notesMaster1.xml" Id="Ra1f202cf78144c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b569bf084b4826" /><Relationship Type="http://schemas.openxmlformats.org/officeDocument/2006/relationships/notesMaster" Target="/ppt/notesMasters/notesMaster1.xml" Id="R541ca96c7e7b47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SEON’s Instructional Designer opening. Cover artwork is a reviewed decorative image, not evidence. Selected proof comprises product evaluation, an audience survey, a published 2024 Coursera Guided Project, formal ASU instructional-design and AI roles, and a documented ASU proposal. Professional product/UX roles are not inflated into fifteen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ASU Knowledge Enterprise Instructional Designer Apr 2022–Oct 2024; Coursera Guided Project Instructor in2024; FactorLab UX Designer and Researcher, contract Oct2025–present. A separate ASU Learning Innovations AI Analyst appointment ran Feb–Oct2024. Overlapping appointments are not added into extra years. Full dates and titles appear in the resume.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official Coursera project, ChatGPT 4o for Beginners: Create Social Media Content, https://www.coursera.org/projects/chatgpt-beginners , checked September 8, 2026; original 2024 Task 3 lesson material. The course is beginner level, approximately one hour and publicly attributed to Jonathan “Kyle” Hobson. The original teaching slide is preserved with Coursera credit. It communicates learning goals; it does not establish completion, transfer or causal improvement. Moving enrollment/review counts are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2024 Coursera Task 3 recording at 03:35, preserved in the reviewed public source crop. The short prompt and initial draft are historical demonstration content. Brew Bliss is a fictional practice brand; model-generated business details are not verified client facts. This is a teaching artifact, not a marketing campaign, research finding or student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2024 Task 3 revision instruction at 03:35 and subsequent output at 04:00. The native prompt description paraphrases the visible instruction; the website retains the full original instruction including typos. The output crop shows the heading and first two paragraphs, not the complete answer. This retrospective interpretation discusses added detail and length. It is not a controlled experiment, verified marketing claim or proof of learner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2024 ASU Learning Innovations proposal and accompanying source brief. Kyle proposed a prompt workflow that condensed learner context, included mentor validation of context, personalized a task template, generated and refined tasks, included mentor confirmation or revision, and prepared structured learner-facing output and feedback. This editable reconstruction groups the original steps into six stages while retaining both mentor review gates. It is a proposal, not a deployed clinical system or a measured efficiency or learning outcome. The human review pattern is adjacent evidence for discussing review and learning-material accuracy with SEON; no prior SEON engagement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Task 3 summary slide from the 2024 Coursera lesson, with credit and historical wording preserved. The transfer check is a retrospective proposal from the reviewed portfolio: use a new task and ask the learner to explain the weakness, chosen revision and acceptance decision. These exact assessment questions are not claimed as administered in the course. The original summary’s general teaching claims are not presented as measured course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instructional approach for SEON’s current role, which prioritizes sales readiness and secondarily customer education. It is not a completed SEON engagement, a sales-enablement track record, a validated assessment, an Articulate Rise example or a promise of reduced ramp time. The product facts and review criteria would require SEON subject matter expert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SEON’s Instructional Designer opening. The intended portfolio destination is configured as a hyperlink. Live job listing: U.S. remote, full time; no salary published. This presentation is an application, not an acceptance of an offer or compensation.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d491c6a0e846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39c3eeddb84f7a" /><Relationship Type="http://schemas.openxmlformats.org/officeDocument/2006/relationships/slideLayout" Target="/ppt/slideLayouts/slideLayout1.xml" Id="R0cae1e408bd74d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ae1e408bd74d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a7239e5c814e71" /><Relationship Type="http://schemas.openxmlformats.org/officeDocument/2006/relationships/image" Target="/ppt/media/image.png" Id="Re418d0c2b0a54fd6" /><Relationship Type="http://schemas.openxmlformats.org/officeDocument/2006/relationships/notesSlide" Target="/ppt/notesSlides/notesSlide1.xml" Id="R0039e290c37d44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3b14c947e14f4f" /><Relationship Type="http://schemas.openxmlformats.org/officeDocument/2006/relationships/notesSlide" Target="/ppt/notesSlides/notesSlide2.xml" Id="R72b201d034744d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059d0c635041f2" /><Relationship Type="http://schemas.openxmlformats.org/officeDocument/2006/relationships/image" Target="/ppt/media/image2.png" Id="R840b62fca83d41c0" /><Relationship Type="http://schemas.openxmlformats.org/officeDocument/2006/relationships/notesSlide" Target="/ppt/notesSlides/notesSlide3.xml" Id="R3fd672912f8c45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7940105d48463b" /><Relationship Type="http://schemas.openxmlformats.org/officeDocument/2006/relationships/image" Target="/ppt/media/image3.png" Id="Rb9dfc3ec5027428b" /><Relationship Type="http://schemas.openxmlformats.org/officeDocument/2006/relationships/notesSlide" Target="/ppt/notesSlides/notesSlide4.xml" Id="R4e8402a411f84c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a77e72f9584d1e" /><Relationship Type="http://schemas.openxmlformats.org/officeDocument/2006/relationships/image" Target="/ppt/media/image4.png" Id="R1184477a01b54c81" /><Relationship Type="http://schemas.openxmlformats.org/officeDocument/2006/relationships/notesSlide" Target="/ppt/notesSlides/notesSlide5.xml" Id="R0658b61634994b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417a7f923f44d6" /><Relationship Type="http://schemas.openxmlformats.org/officeDocument/2006/relationships/notesSlide" Target="/ppt/notesSlides/notesSlide6.xml" Id="R3c4a70b0902b4a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24c6c5651b472b" /><Relationship Type="http://schemas.openxmlformats.org/officeDocument/2006/relationships/image" Target="/ppt/media/image5.png" Id="R93936d8a64c94f38" /><Relationship Type="http://schemas.openxmlformats.org/officeDocument/2006/relationships/notesSlide" Target="/ppt/notesSlides/notesSlide7.xml" Id="R8f185fec3eb540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12d65227924e8e" /><Relationship Type="http://schemas.openxmlformats.org/officeDocument/2006/relationships/image" Target="/ppt/media/image6.png" Id="R1662105eaabd4889" /><Relationship Type="http://schemas.openxmlformats.org/officeDocument/2006/relationships/chart" Target="/ppt/slides/charts/chart1.xml" Id="R7fb86db0d97a413f" /><Relationship Type="http://schemas.openxmlformats.org/officeDocument/2006/relationships/notesSlide" Target="/ppt/notesSlides/notesSlide8.xml" Id="R02c3d04353404b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ee80c926cc4d3e" /><Relationship Type="http://schemas.openxmlformats.org/officeDocument/2006/relationships/image" Target="/ppt/media/image7.png" Id="R6915956bcf6647b8" /><Relationship Type="http://schemas.openxmlformats.org/officeDocument/2006/relationships/image" Target="/ppt/media/image8.png" Id="Ra119c4dc809c43ec" /><Relationship Type="http://schemas.openxmlformats.org/officeDocument/2006/relationships/image" Target="/ppt/media/image9.png" Id="R1b299891054e4156" /><Relationship Type="http://schemas.openxmlformats.org/officeDocument/2006/relationships/notesSlide" Target="/ppt/notesSlides/notesSlide9.xml" Id="R5487ec5c86074b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d5dbe584964c82" /><Relationship Type="http://schemas.openxmlformats.org/officeDocument/2006/relationships/image" Target="/ppt/media/image10.png" Id="R4d9ac3741018465d" /><Relationship Type="http://schemas.openxmlformats.org/officeDocument/2006/relationships/notesSlide" Target="/ppt/notesSlides/notesSlide10.xml" Id="Rbb5e18e7b6aa42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64a9a06fdf4086" /><Relationship Type="http://schemas.openxmlformats.org/officeDocument/2006/relationships/image" Target="/ppt/media/image.jpeg" Id="R88874ae8d3e941e4" /><Relationship Type="http://schemas.openxmlformats.org/officeDocument/2006/relationships/notesSlide" Target="/ppt/notesSlides/notesSlide11.xml" Id="R8a45f6aac2cc42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da44d51940c4d99" /><Relationship Type="http://schemas.openxmlformats.org/officeDocument/2006/relationships/hyperlink" Target="mailto:JonathanKyleHobson@gmail.com" TargetMode="External" Id="R5b6a81bca40c496d" /><Relationship Type="http://schemas.openxmlformats.org/officeDocument/2006/relationships/hyperlink" Target="https://jonathankhobson.github.io/application-portfolios/seon-instructional-designer/" TargetMode="External" Id="Rfa6bada70e8b46e9" /><Relationship Type="http://schemas.openxmlformats.org/officeDocument/2006/relationships/notesSlide" Target="/ppt/notesSlides/notesSlide12.xml" Id="Rd88f6656a85345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418d0c2b0a54fd6"/>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5A5D0E9F-40DE-4702-AC17-97337EAF36E2}"/>
              </a:ext>
            </a:extLst>
          </p:cNvPr>
          <p:cNvSpPr>
            <a:spLocks xmlns:a="http://schemas.openxmlformats.org/drawingml/2006/main" noGrp="1"/>
          </p:cNvSpPr>
          <p:nvPr/>
        </p:nvSpPr>
        <p:spPr>
          <a:xfrm xmlns:a="http://schemas.openxmlformats.org/drawingml/2006/main">
            <a:off x="609600" y="5143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SEON · INSTRUCTIONAL DESIGN</a:t>
            </a:r>
          </a:p>
        </p:txBody>
      </p:sp>
      <p:sp>
        <p:nvSpPr>
          <p:cNvPr id="3" name="headline">
            <a:extLst xmlns:a="http://schemas.openxmlformats.org/drawingml/2006/main">
              <a:ext uri="{FF2B5EF4-FFF2-40B4-BE49-F238E27FC236}">
                <a16:creationId xmlns:a16="http://schemas.microsoft.com/office/drawing/2014/main" id="{90B446E3-4A76-462E-BB38-F7A308F2876E}"/>
              </a:ext>
            </a:extLst>
          </p:cNvPr>
          <p:cNvSpPr>
            <a:spLocks xmlns:a="http://schemas.openxmlformats.org/drawingml/2006/main" noGrp="1"/>
          </p:cNvSpPr>
          <p:nvPr/>
        </p:nvSpPr>
        <p:spPr>
          <a:xfrm xmlns:a="http://schemas.openxmlformats.org/drawingml/2006/main">
            <a:off x="609600" y="1552575"/>
            <a:ext cx="97155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Make the learning</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useful</a:t>
            </a:r>
          </a:p>
        </p:txBody>
      </p:sp>
      <p:sp>
        <p:nvSpPr>
          <p:cNvPr id="4" name="cover-intro">
            <a:extLst xmlns:a="http://schemas.openxmlformats.org/drawingml/2006/main">
              <a:ext uri="{FF2B5EF4-FFF2-40B4-BE49-F238E27FC236}">
                <a16:creationId xmlns:a16="http://schemas.microsoft.com/office/drawing/2014/main" id="{19749363-59D3-4A90-80C9-86C4686C01EC}"/>
              </a:ext>
            </a:extLst>
          </p:cNvPr>
          <p:cNvSpPr>
            <a:spLocks xmlns:a="http://schemas.openxmlformats.org/drawingml/2006/main" noGrp="1"/>
          </p:cNvSpPr>
          <p:nvPr/>
        </p:nvSpPr>
        <p:spPr>
          <a:xfrm xmlns:a="http://schemas.openxmlformats.org/drawingml/2006/main">
            <a:off x="647700" y="3971925"/>
            <a:ext cx="990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Digital learning, product research, and practice</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that help people explain what they know.</a:t>
            </a:r>
          </a:p>
        </p:txBody>
      </p:sp>
      <p:sp>
        <p:nvSpPr>
          <p:cNvPr id="5" name="cover-scope">
            <a:extLst xmlns:a="http://schemas.openxmlformats.org/drawingml/2006/main">
              <a:ext uri="{FF2B5EF4-FFF2-40B4-BE49-F238E27FC236}">
                <a16:creationId xmlns:a16="http://schemas.microsoft.com/office/drawing/2014/main" id="{C9B7C869-E680-4DF6-AEFC-BA344D3D09C3}"/>
              </a:ext>
            </a:extLst>
          </p:cNvPr>
          <p:cNvSpPr>
            <a:spLocks xmlns:a="http://schemas.openxmlformats.org/drawingml/2006/main" noGrp="1"/>
          </p:cNvSpPr>
          <p:nvPr/>
        </p:nvSpPr>
        <p:spPr>
          <a:xfrm xmlns:a="http://schemas.openxmlformats.org/drawingml/2006/main">
            <a:off x="647700" y="60007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Selected for SEON · Instructional Designer · September 2026</a:t>
            </a:r>
          </a:p>
        </p:txBody>
      </p:sp>
      <p:sp>
        <p:nvSpPr>
          <p:cNvPr id="6" name="slide-number">
            <a:extLst xmlns:a="http://schemas.openxmlformats.org/drawingml/2006/main">
              <a:ext uri="{FF2B5EF4-FFF2-40B4-BE49-F238E27FC236}">
                <a16:creationId xmlns:a16="http://schemas.microsoft.com/office/drawing/2014/main" id="{807DAE37-9316-44EB-AF5F-8B06096DBCD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797615403"/>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6327FFF1-81A8-4387-B77A-1F8B476ABBC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EXPERIENCE   /   INSTRUCTIONAL DESIGN AND PRODUCT LEARNING</a:t>
            </a:r>
          </a:p>
        </p:txBody>
      </p:sp>
      <p:sp>
        <p:nvSpPr>
          <p:cNvPr id="2" name="headline">
            <a:extLst xmlns:a="http://schemas.openxmlformats.org/drawingml/2006/main">
              <a:ext uri="{FF2B5EF4-FFF2-40B4-BE49-F238E27FC236}">
                <a16:creationId xmlns:a16="http://schemas.microsoft.com/office/drawing/2014/main" id="{2C73BD6A-7D55-4D0B-A02A-B91F732FAB5E}"/>
              </a:ext>
            </a:extLst>
          </p:cNvPr>
          <p:cNvSpPr>
            <a:spLocks xmlns:a="http://schemas.openxmlformats.org/drawingml/2006/main" noGrp="1"/>
          </p:cNvSpPr>
          <p:nvPr/>
        </p:nvSpPr>
        <p:spPr>
          <a:xfrm xmlns:a="http://schemas.openxmlformats.org/drawingml/2006/main">
            <a:off x="609600" y="1095375"/>
            <a:ext cx="108966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Learning built from</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teaching and research</a:t>
            </a:r>
          </a:p>
        </p:txBody>
      </p:sp>
      <p:sp>
        <p:nvSpPr>
          <p:cNvPr id="3" name="date-0">
            <a:extLst xmlns:a="http://schemas.openxmlformats.org/drawingml/2006/main">
              <a:ext uri="{FF2B5EF4-FFF2-40B4-BE49-F238E27FC236}">
                <a16:creationId xmlns:a16="http://schemas.microsoft.com/office/drawing/2014/main" id="{5E2C7933-118E-4DAF-94A4-83360675C16E}"/>
              </a:ext>
            </a:extLst>
          </p:cNvPr>
          <p:cNvSpPr>
            <a:spLocks xmlns:a="http://schemas.openxmlformats.org/drawingml/2006/main" noGrp="1"/>
          </p:cNvSpPr>
          <p:nvPr/>
        </p:nvSpPr>
        <p:spPr>
          <a:xfrm xmlns:a="http://schemas.openxmlformats.org/drawingml/2006/main">
            <a:off x="609600" y="3114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APR 2022–OCT 2024</a:t>
            </a:r>
          </a:p>
        </p:txBody>
      </p:sp>
      <p:sp>
        <p:nvSpPr>
          <p:cNvPr id="4" name="org-0">
            <a:extLst xmlns:a="http://schemas.openxmlformats.org/drawingml/2006/main">
              <a:ext uri="{FF2B5EF4-FFF2-40B4-BE49-F238E27FC236}">
                <a16:creationId xmlns:a16="http://schemas.microsoft.com/office/drawing/2014/main" id="{5A9CB307-C420-4900-A745-533A33D25E2C}"/>
              </a:ext>
            </a:extLst>
          </p:cNvPr>
          <p:cNvSpPr>
            <a:spLocks xmlns:a="http://schemas.openxmlformats.org/drawingml/2006/main" noGrp="1"/>
          </p:cNvSpPr>
          <p:nvPr/>
        </p:nvSpPr>
        <p:spPr>
          <a:xfrm xmlns:a="http://schemas.openxmlformats.org/drawingml/2006/main">
            <a:off x="609600" y="36099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ASU</a:t>
            </a:r>
          </a:p>
        </p:txBody>
      </p:sp>
      <p:sp>
        <p:nvSpPr>
          <p:cNvPr id="5" name="role-0">
            <a:extLst xmlns:a="http://schemas.openxmlformats.org/drawingml/2006/main">
              <a:ext uri="{FF2B5EF4-FFF2-40B4-BE49-F238E27FC236}">
                <a16:creationId xmlns:a16="http://schemas.microsoft.com/office/drawing/2014/main" id="{9F30A0CE-478C-4730-9CD6-D8DDCF2CA307}"/>
              </a:ext>
            </a:extLst>
          </p:cNvPr>
          <p:cNvSpPr>
            <a:spLocks xmlns:a="http://schemas.openxmlformats.org/drawingml/2006/main" noGrp="1"/>
          </p:cNvSpPr>
          <p:nvPr/>
        </p:nvSpPr>
        <p:spPr>
          <a:xfrm xmlns:a="http://schemas.openxmlformats.org/drawingml/2006/main">
            <a:off x="609600" y="4476750"/>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Instructional Designer</a:t>
            </a:r>
          </a:p>
        </p:txBody>
      </p:sp>
      <p:sp>
        <p:nvSpPr>
          <p:cNvPr id="6" name="scope-0">
            <a:extLst xmlns:a="http://schemas.openxmlformats.org/drawingml/2006/main">
              <a:ext uri="{FF2B5EF4-FFF2-40B4-BE49-F238E27FC236}">
                <a16:creationId xmlns:a16="http://schemas.microsoft.com/office/drawing/2014/main" id="{B71EFEB9-86EC-4067-878A-F36306210C36}"/>
              </a:ext>
            </a:extLst>
          </p:cNvPr>
          <p:cNvSpPr>
            <a:spLocks xmlns:a="http://schemas.openxmlformats.org/drawingml/2006/main" noGrp="1"/>
          </p:cNvSpPr>
          <p:nvPr/>
        </p:nvSpPr>
        <p:spPr>
          <a:xfrm xmlns:a="http://schemas.openxmlformats.org/drawingml/2006/main">
            <a:off x="609600" y="5229225"/>
            <a:ext cx="333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Digital materials, workshops, and accessible learning practices.</a:t>
            </a:r>
          </a:p>
        </p:txBody>
      </p:sp>
      <p:sp>
        <p:nvSpPr>
          <p:cNvPr id="7" name="date-1">
            <a:extLst xmlns:a="http://schemas.openxmlformats.org/drawingml/2006/main">
              <a:ext uri="{FF2B5EF4-FFF2-40B4-BE49-F238E27FC236}">
                <a16:creationId xmlns:a16="http://schemas.microsoft.com/office/drawing/2014/main" id="{42D6D9D1-ADA4-49FE-9C57-C1C671320859}"/>
              </a:ext>
            </a:extLst>
          </p:cNvPr>
          <p:cNvSpPr>
            <a:spLocks xmlns:a="http://schemas.openxmlformats.org/drawingml/2006/main" noGrp="1"/>
          </p:cNvSpPr>
          <p:nvPr/>
        </p:nvSpPr>
        <p:spPr>
          <a:xfrm xmlns:a="http://schemas.openxmlformats.org/drawingml/2006/main">
            <a:off x="4400550" y="3114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2024</a:t>
            </a:r>
          </a:p>
        </p:txBody>
      </p:sp>
      <p:sp>
        <p:nvSpPr>
          <p:cNvPr id="8" name="org-1">
            <a:extLst xmlns:a="http://schemas.openxmlformats.org/drawingml/2006/main">
              <a:ext uri="{FF2B5EF4-FFF2-40B4-BE49-F238E27FC236}">
                <a16:creationId xmlns:a16="http://schemas.microsoft.com/office/drawing/2014/main" id="{B2C9CD1B-34C9-4A66-95FE-1B86DAEFA9F7}"/>
              </a:ext>
            </a:extLst>
          </p:cNvPr>
          <p:cNvSpPr>
            <a:spLocks xmlns:a="http://schemas.openxmlformats.org/drawingml/2006/main" noGrp="1"/>
          </p:cNvSpPr>
          <p:nvPr/>
        </p:nvSpPr>
        <p:spPr>
          <a:xfrm xmlns:a="http://schemas.openxmlformats.org/drawingml/2006/main">
            <a:off x="4400550" y="36099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Coursera</a:t>
            </a:r>
          </a:p>
        </p:txBody>
      </p:sp>
      <p:sp>
        <p:nvSpPr>
          <p:cNvPr id="9" name="role-1">
            <a:extLst xmlns:a="http://schemas.openxmlformats.org/drawingml/2006/main">
              <a:ext uri="{FF2B5EF4-FFF2-40B4-BE49-F238E27FC236}">
                <a16:creationId xmlns:a16="http://schemas.microsoft.com/office/drawing/2014/main" id="{B38EA3D1-F016-4A86-A369-43850C4F7B5D}"/>
              </a:ext>
            </a:extLst>
          </p:cNvPr>
          <p:cNvSpPr>
            <a:spLocks xmlns:a="http://schemas.openxmlformats.org/drawingml/2006/main" noGrp="1"/>
          </p:cNvSpPr>
          <p:nvPr/>
        </p:nvSpPr>
        <p:spPr>
          <a:xfrm xmlns:a="http://schemas.openxmlformats.org/drawingml/2006/main">
            <a:off x="4400550" y="4476750"/>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Guided Project Instructor</a:t>
            </a:r>
          </a:p>
        </p:txBody>
      </p:sp>
      <p:sp>
        <p:nvSpPr>
          <p:cNvPr id="10" name="scope-1">
            <a:extLst xmlns:a="http://schemas.openxmlformats.org/drawingml/2006/main">
              <a:ext uri="{FF2B5EF4-FFF2-40B4-BE49-F238E27FC236}">
                <a16:creationId xmlns:a16="http://schemas.microsoft.com/office/drawing/2014/main" id="{7CF879E6-52F0-4569-AF77-90ABBF54F3FB}"/>
              </a:ext>
            </a:extLst>
          </p:cNvPr>
          <p:cNvSpPr>
            <a:spLocks xmlns:a="http://schemas.openxmlformats.org/drawingml/2006/main" noGrp="1"/>
          </p:cNvSpPr>
          <p:nvPr/>
        </p:nvSpPr>
        <p:spPr>
          <a:xfrm xmlns:a="http://schemas.openxmlformats.org/drawingml/2006/main">
            <a:off x="4400550" y="5229225"/>
            <a:ext cx="333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 published beginner project with original lesson demonstrations.</a:t>
            </a:r>
          </a:p>
        </p:txBody>
      </p:sp>
      <p:sp>
        <p:nvSpPr>
          <p:cNvPr id="11" name="date-2">
            <a:extLst xmlns:a="http://schemas.openxmlformats.org/drawingml/2006/main">
              <a:ext uri="{FF2B5EF4-FFF2-40B4-BE49-F238E27FC236}">
                <a16:creationId xmlns:a16="http://schemas.microsoft.com/office/drawing/2014/main" id="{D3B216C7-9578-4FA3-98B1-D9E1A03E7E34}"/>
              </a:ext>
            </a:extLst>
          </p:cNvPr>
          <p:cNvSpPr>
            <a:spLocks xmlns:a="http://schemas.openxmlformats.org/drawingml/2006/main" noGrp="1"/>
          </p:cNvSpPr>
          <p:nvPr/>
        </p:nvSpPr>
        <p:spPr>
          <a:xfrm xmlns:a="http://schemas.openxmlformats.org/drawingml/2006/main">
            <a:off x="8191500" y="31146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OCT 2025–PRESENT</a:t>
            </a:r>
          </a:p>
        </p:txBody>
      </p:sp>
      <p:sp>
        <p:nvSpPr>
          <p:cNvPr id="12" name="org-2">
            <a:extLst xmlns:a="http://schemas.openxmlformats.org/drawingml/2006/main">
              <a:ext uri="{FF2B5EF4-FFF2-40B4-BE49-F238E27FC236}">
                <a16:creationId xmlns:a16="http://schemas.microsoft.com/office/drawing/2014/main" id="{56386F17-4B7E-41CA-9F99-E624B1580E37}"/>
              </a:ext>
            </a:extLst>
          </p:cNvPr>
          <p:cNvSpPr>
            <a:spLocks xmlns:a="http://schemas.openxmlformats.org/drawingml/2006/main" noGrp="1"/>
          </p:cNvSpPr>
          <p:nvPr/>
        </p:nvSpPr>
        <p:spPr>
          <a:xfrm xmlns:a="http://schemas.openxmlformats.org/drawingml/2006/main">
            <a:off x="8191500" y="36099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FactorLab</a:t>
            </a:r>
          </a:p>
        </p:txBody>
      </p:sp>
      <p:sp>
        <p:nvSpPr>
          <p:cNvPr id="13" name="role-2">
            <a:extLst xmlns:a="http://schemas.openxmlformats.org/drawingml/2006/main">
              <a:ext uri="{FF2B5EF4-FFF2-40B4-BE49-F238E27FC236}">
                <a16:creationId xmlns:a16="http://schemas.microsoft.com/office/drawing/2014/main" id="{F85EF194-9715-4851-8AE5-A6FC63613B8A}"/>
              </a:ext>
            </a:extLst>
          </p:cNvPr>
          <p:cNvSpPr>
            <a:spLocks xmlns:a="http://schemas.openxmlformats.org/drawingml/2006/main" noGrp="1"/>
          </p:cNvSpPr>
          <p:nvPr/>
        </p:nvSpPr>
        <p:spPr>
          <a:xfrm xmlns:a="http://schemas.openxmlformats.org/drawingml/2006/main">
            <a:off x="8191500" y="4476750"/>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UX Designer &amp; Researcher</a:t>
            </a:r>
          </a:p>
        </p:txBody>
      </p:sp>
      <p:sp>
        <p:nvSpPr>
          <p:cNvPr id="14" name="scope-2">
            <a:extLst xmlns:a="http://schemas.openxmlformats.org/drawingml/2006/main">
              <a:ext uri="{FF2B5EF4-FFF2-40B4-BE49-F238E27FC236}">
                <a16:creationId xmlns:a16="http://schemas.microsoft.com/office/drawing/2014/main" id="{0110A906-2BAE-458C-8554-61386B84D469}"/>
              </a:ext>
            </a:extLst>
          </p:cNvPr>
          <p:cNvSpPr>
            <a:spLocks xmlns:a="http://schemas.openxmlformats.org/drawingml/2006/main" noGrp="1"/>
          </p:cNvSpPr>
          <p:nvPr/>
        </p:nvSpPr>
        <p:spPr>
          <a:xfrm xmlns:a="http://schemas.openxmlformats.org/drawingml/2006/main">
            <a:off x="8191500" y="5229225"/>
            <a:ext cx="333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Product feedback, conversational flows, and engineering partnership.</a:t>
            </a:r>
          </a:p>
        </p:txBody>
      </p:sp>
      <p:sp>
        <p:nvSpPr>
          <p:cNvPr id="15" name="slide-number">
            <a:extLst xmlns:a="http://schemas.openxmlformats.org/drawingml/2006/main">
              <a:ext uri="{FF2B5EF4-FFF2-40B4-BE49-F238E27FC236}">
                <a16:creationId xmlns:a16="http://schemas.microsoft.com/office/drawing/2014/main" id="{3F64BF8A-55F3-4BEB-A158-7603FB14F7D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393089172"/>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3338D283-10F8-48E2-B838-95E0EA2582F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PUBLISHED GUIDED PROJECT, 2024</a:t>
            </a:r>
          </a:p>
        </p:txBody>
      </p:sp>
      <p:sp>
        <p:nvSpPr>
          <p:cNvPr id="2" name="headline">
            <a:extLst xmlns:a="http://schemas.openxmlformats.org/drawingml/2006/main">
              <a:ext uri="{FF2B5EF4-FFF2-40B4-BE49-F238E27FC236}">
                <a16:creationId xmlns:a16="http://schemas.microsoft.com/office/drawing/2014/main" id="{642D248C-6F70-4A28-AE2F-74C753388780}"/>
              </a:ext>
            </a:extLst>
          </p:cNvPr>
          <p:cNvSpPr>
            <a:spLocks xmlns:a="http://schemas.openxmlformats.org/drawingml/2006/main" noGrp="1"/>
          </p:cNvSpPr>
          <p:nvPr/>
        </p:nvSpPr>
        <p:spPr>
          <a:xfrm xmlns:a="http://schemas.openxmlformats.org/drawingml/2006/main">
            <a:off x="609600" y="1104900"/>
            <a:ext cx="60007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Give beginners a task</a:t>
            </a:r>
          </a:p>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they can practice</a:t>
            </a:r>
          </a:p>
        </p:txBody>
      </p:sp>
      <p:sp>
        <p:nvSpPr>
          <p:cNvPr id="3" name="course-role">
            <a:extLst xmlns:a="http://schemas.openxmlformats.org/drawingml/2006/main">
              <a:ext uri="{FF2B5EF4-FFF2-40B4-BE49-F238E27FC236}">
                <a16:creationId xmlns:a16="http://schemas.microsoft.com/office/drawing/2014/main" id="{85D934BF-B7F3-45A0-85F2-530DD81791D7}"/>
              </a:ext>
            </a:extLst>
          </p:cNvPr>
          <p:cNvSpPr>
            <a:spLocks xmlns:a="http://schemas.openxmlformats.org/drawingml/2006/main" noGrp="1"/>
          </p:cNvSpPr>
          <p:nvPr/>
        </p:nvSpPr>
        <p:spPr>
          <a:xfrm xmlns:a="http://schemas.openxmlformats.org/drawingml/2006/main">
            <a:off x="609600" y="3105150"/>
            <a:ext cx="45053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and taught a one-hour beginner project on AI-assisted social content.</a:t>
            </a:r>
          </a:p>
        </p:txBody>
      </p:sp>
      <p:sp>
        <p:nvSpPr>
          <p:cNvPr id="4" name="course-method">
            <a:extLst xmlns:a="http://schemas.openxmlformats.org/drawingml/2006/main">
              <a:ext uri="{FF2B5EF4-FFF2-40B4-BE49-F238E27FC236}">
                <a16:creationId xmlns:a16="http://schemas.microsoft.com/office/drawing/2014/main" id="{A19DD2D6-3C25-4A18-ACE9-55D2B0F0D9BE}"/>
              </a:ext>
            </a:extLst>
          </p:cNvPr>
          <p:cNvSpPr>
            <a:spLocks xmlns:a="http://schemas.openxmlformats.org/drawingml/2006/main" noGrp="1"/>
          </p:cNvSpPr>
          <p:nvPr/>
        </p:nvSpPr>
        <p:spPr>
          <a:xfrm xmlns:a="http://schemas.openxmlformats.org/drawingml/2006/main">
            <a:off x="609600" y="4810125"/>
            <a:ext cx="45053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Learners draft, compare and revise content, then organize a weekly calendar.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40b62fca83d41c0"/>
          <a:stretch xmlns:a="http://schemas.openxmlformats.org/drawingml/2006/main"/>
        </p:blipFill>
        <p:spPr>
          <a:xfrm xmlns:a="http://schemas.openxmlformats.org/drawingml/2006/main">
            <a:off x="5638800" y="2439195"/>
            <a:ext cx="5915025" cy="3332160"/>
          </a:xfrm>
          <a:prstGeom xmlns:a="http://schemas.openxmlformats.org/drawingml/2006/main" prst="rect">
            <a:avLst/>
          </a:prstGeom>
        </p:spPr>
      </p:pic>
      <p:sp>
        <p:nvSpPr>
          <p:cNvPr id="6" name="course-caption">
            <a:extLst xmlns:a="http://schemas.openxmlformats.org/drawingml/2006/main">
              <a:ext uri="{FF2B5EF4-FFF2-40B4-BE49-F238E27FC236}">
                <a16:creationId xmlns:a16="http://schemas.microsoft.com/office/drawing/2014/main" id="{750B7568-ADB4-4430-835F-DA54DC0741B4}"/>
              </a:ext>
            </a:extLst>
          </p:cNvPr>
          <p:cNvSpPr>
            <a:spLocks xmlns:a="http://schemas.openxmlformats.org/drawingml/2006/main" noGrp="1"/>
          </p:cNvSpPr>
          <p:nvPr/>
        </p:nvSpPr>
        <p:spPr>
          <a:xfrm xmlns:a="http://schemas.openxmlformats.org/drawingml/2006/main">
            <a:off x="5638800" y="6019800"/>
            <a:ext cx="5915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lesson goals · Published teaching, not measured learner improvement</a:t>
            </a:r>
          </a:p>
        </p:txBody>
      </p:sp>
      <p:sp>
        <p:nvSpPr>
          <p:cNvPr id="7" name="slide-number">
            <a:extLst xmlns:a="http://schemas.openxmlformats.org/drawingml/2006/main">
              <a:ext uri="{FF2B5EF4-FFF2-40B4-BE49-F238E27FC236}">
                <a16:creationId xmlns:a16="http://schemas.microsoft.com/office/drawing/2014/main" id="{D9A2B59C-B85B-4D0F-8BED-B94BCAE1CAC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461197382"/>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2BF62E9A-F9CB-429A-B083-023BDC23038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C239233B-2699-433B-B433-6585EDC87886}"/>
              </a:ext>
            </a:extLst>
          </p:cNvPr>
          <p:cNvSpPr>
            <a:spLocks xmlns:a="http://schemas.openxmlformats.org/drawingml/2006/main" noGrp="1"/>
          </p:cNvSpPr>
          <p:nvPr/>
        </p:nvSpPr>
        <p:spPr>
          <a:xfrm xmlns:a="http://schemas.openxmlformats.org/drawingml/2006/main">
            <a:off x="609600" y="1095375"/>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Start with a draft a learner can inspect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9dfc3ec5027428b"/>
          <a:stretch xmlns:a="http://schemas.openxmlformats.org/drawingml/2006/main"/>
        </p:blipFill>
        <p:spPr>
          <a:xfrm xmlns:a="http://schemas.openxmlformats.org/drawingml/2006/main">
            <a:off x="609600" y="2479576"/>
            <a:ext cx="7429500" cy="3460947"/>
          </a:xfrm>
          <a:prstGeom xmlns:a="http://schemas.openxmlformats.org/drawingml/2006/main" prst="rect">
            <a:avLst/>
          </a:prstGeom>
        </p:spPr>
      </p:pic>
      <p:sp>
        <p:nvSpPr>
          <p:cNvPr id="4" name="draft-review">
            <a:extLst xmlns:a="http://schemas.openxmlformats.org/drawingml/2006/main">
              <a:ext uri="{FF2B5EF4-FFF2-40B4-BE49-F238E27FC236}">
                <a16:creationId xmlns:a16="http://schemas.microsoft.com/office/drawing/2014/main" id="{64A99F7D-746B-4D68-8680-0DF96C9F5122}"/>
              </a:ext>
            </a:extLst>
          </p:cNvPr>
          <p:cNvSpPr>
            <a:spLocks xmlns:a="http://schemas.openxmlformats.org/drawingml/2006/main" noGrp="1"/>
          </p:cNvSpPr>
          <p:nvPr/>
        </p:nvSpPr>
        <p:spPr>
          <a:xfrm xmlns:a="http://schemas.openxmlformats.org/drawingml/2006/main">
            <a:off x="8524875" y="2571750"/>
            <a:ext cx="3000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1">
                <a:solidFill>
                  <a:srgbClr val="244D3C"/>
                </a:solidFill>
                <a:latin typeface="Helvetica Neue"/>
                <a:ea typeface="Helvetica Neue"/>
                <a:cs typeface="Helvetica Neue"/>
              </a:defRPr>
            </a:pPr>
            <a:r>
              <a:rPr sz="2025" b="1">
                <a:solidFill>
                  <a:srgbClr val="244D3C"/>
                </a:solidFill>
                <a:latin typeface="Helvetica Neue"/>
                <a:ea typeface="Helvetica Neue"/>
                <a:cs typeface="Helvetica Neue"/>
              </a:rPr>
              <a:t>A familiar café task gives the learner something concrete to examine.</a:t>
            </a:r>
          </a:p>
        </p:txBody>
      </p:sp>
      <p:sp>
        <p:nvSpPr>
          <p:cNvPr id="5" name="draft-limit">
            <a:extLst xmlns:a="http://schemas.openxmlformats.org/drawingml/2006/main">
              <a:ext uri="{FF2B5EF4-FFF2-40B4-BE49-F238E27FC236}">
                <a16:creationId xmlns:a16="http://schemas.microsoft.com/office/drawing/2014/main" id="{F7EBF8D6-2852-44AE-92B6-DB0D5F4663ED}"/>
              </a:ext>
            </a:extLst>
          </p:cNvPr>
          <p:cNvSpPr>
            <a:spLocks xmlns:a="http://schemas.openxmlformats.org/drawingml/2006/main" noGrp="1"/>
          </p:cNvSpPr>
          <p:nvPr/>
        </p:nvSpPr>
        <p:spPr>
          <a:xfrm xmlns:a="http://schemas.openxmlformats.org/drawingml/2006/main">
            <a:off x="8524875" y="4333875"/>
            <a:ext cx="3000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model adds business details that the prompt did not establish. Those details need judgment.</a:t>
            </a:r>
          </a:p>
        </p:txBody>
      </p:sp>
      <p:sp>
        <p:nvSpPr>
          <p:cNvPr id="6" name="draft-caption">
            <a:extLst xmlns:a="http://schemas.openxmlformats.org/drawingml/2006/main">
              <a:ext uri="{FF2B5EF4-FFF2-40B4-BE49-F238E27FC236}">
                <a16:creationId xmlns:a16="http://schemas.microsoft.com/office/drawing/2014/main" id="{DAFF8826-D3E2-4079-BA52-4F16ACB47968}"/>
              </a:ext>
            </a:extLst>
          </p:cNvPr>
          <p:cNvSpPr>
            <a:spLocks xmlns:a="http://schemas.openxmlformats.org/drawingml/2006/main" noGrp="1"/>
          </p:cNvSpPr>
          <p:nvPr/>
        </p:nvSpPr>
        <p:spPr>
          <a:xfrm xmlns:a="http://schemas.openxmlformats.org/drawingml/2006/main">
            <a:off x="609600" y="6191250"/>
            <a:ext cx="1090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Original recording · Task 3 at 03:35 · Brew Bliss is fictional practice material</a:t>
            </a:r>
          </a:p>
        </p:txBody>
      </p:sp>
      <p:sp>
        <p:nvSpPr>
          <p:cNvPr id="7" name="slide-number">
            <a:extLst xmlns:a="http://schemas.openxmlformats.org/drawingml/2006/main">
              <a:ext uri="{FF2B5EF4-FFF2-40B4-BE49-F238E27FC236}">
                <a16:creationId xmlns:a16="http://schemas.microsoft.com/office/drawing/2014/main" id="{BD085121-DFE4-4D28-B545-0C5E2012F4A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115110044"/>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BA46E8E0-03E2-4F9E-8723-4BA2163F320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REVISION AND REVIEW</a:t>
            </a:r>
          </a:p>
        </p:txBody>
      </p:sp>
      <p:sp>
        <p:nvSpPr>
          <p:cNvPr id="2" name="headline">
            <a:extLst xmlns:a="http://schemas.openxmlformats.org/drawingml/2006/main">
              <a:ext uri="{FF2B5EF4-FFF2-40B4-BE49-F238E27FC236}">
                <a16:creationId xmlns:a16="http://schemas.microsoft.com/office/drawing/2014/main" id="{D4187B90-07F8-4FD5-9D32-88FFAD5F20AE}"/>
              </a:ext>
            </a:extLst>
          </p:cNvPr>
          <p:cNvSpPr>
            <a:spLocks xmlns:a="http://schemas.openxmlformats.org/drawingml/2006/main" noGrp="1"/>
          </p:cNvSpPr>
          <p:nvPr/>
        </p:nvSpPr>
        <p:spPr>
          <a:xfrm xmlns:a="http://schemas.openxmlformats.org/drawingml/2006/main">
            <a:off x="609600" y="1095375"/>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the revision visible</a:t>
            </a:r>
          </a:p>
        </p:txBody>
      </p:sp>
      <p:sp>
        <p:nvSpPr>
          <p:cNvPr id="3" name="revision-prompt">
            <a:extLst xmlns:a="http://schemas.openxmlformats.org/drawingml/2006/main">
              <a:ext uri="{FF2B5EF4-FFF2-40B4-BE49-F238E27FC236}">
                <a16:creationId xmlns:a16="http://schemas.microsoft.com/office/drawing/2014/main" id="{DF3D47F2-EFF5-4992-A7A4-E5A526E59F9C}"/>
              </a:ext>
            </a:extLst>
          </p:cNvPr>
          <p:cNvSpPr>
            <a:spLocks xmlns:a="http://schemas.openxmlformats.org/drawingml/2006/main" noGrp="1"/>
          </p:cNvSpPr>
          <p:nvPr/>
        </p:nvSpPr>
        <p:spPr>
          <a:xfrm xmlns:a="http://schemas.openxmlformats.org/drawingml/2006/main">
            <a:off x="609600" y="2133600"/>
            <a:ext cx="1089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Recorded revision: ask for sensory detail and a friendly invitation.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184477a01b54c81"/>
          <a:stretch xmlns:a="http://schemas.openxmlformats.org/drawingml/2006/main"/>
        </p:blipFill>
        <p:spPr>
          <a:xfrm xmlns:a="http://schemas.openxmlformats.org/drawingml/2006/main">
            <a:off x="612246" y="2867025"/>
            <a:ext cx="7471833" cy="3362325"/>
          </a:xfrm>
          <a:prstGeom xmlns:a="http://schemas.openxmlformats.org/drawingml/2006/main" prst="rect">
            <a:avLst/>
          </a:prstGeom>
        </p:spPr>
      </p:pic>
      <p:sp>
        <p:nvSpPr>
          <p:cNvPr id="5" name="revision-review">
            <a:extLst xmlns:a="http://schemas.openxmlformats.org/drawingml/2006/main">
              <a:ext uri="{FF2B5EF4-FFF2-40B4-BE49-F238E27FC236}">
                <a16:creationId xmlns:a16="http://schemas.microsoft.com/office/drawing/2014/main" id="{0F52B8B3-76A1-4FA9-8A0B-E9E40B92DA43}"/>
              </a:ext>
            </a:extLst>
          </p:cNvPr>
          <p:cNvSpPr>
            <a:spLocks xmlns:a="http://schemas.openxmlformats.org/drawingml/2006/main" noGrp="1"/>
          </p:cNvSpPr>
          <p:nvPr/>
        </p:nvSpPr>
        <p:spPr>
          <a:xfrm xmlns:a="http://schemas.openxmlformats.org/drawingml/2006/main">
            <a:off x="8524875" y="2990850"/>
            <a:ext cx="3000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192B25"/>
                </a:solidFill>
                <a:latin typeface="Helvetica Neue"/>
                <a:ea typeface="Helvetica Neue"/>
                <a:cs typeface="Helvetica Neue"/>
              </a:defRPr>
            </a:pPr>
            <a:r>
              <a:rPr sz="2100" b="1">
                <a:solidFill>
                  <a:srgbClr val="192B25"/>
                </a:solidFill>
                <a:latin typeface="Helvetica Neue"/>
                <a:ea typeface="Helvetica Neue"/>
                <a:cs typeface="Helvetica Neue"/>
              </a:rPr>
              <a:t>The next draft is richer—and longer.</a:t>
            </a:r>
          </a:p>
        </p:txBody>
      </p:sp>
      <p:sp>
        <p:nvSpPr>
          <p:cNvPr id="6" name="revision-judgment">
            <a:extLst xmlns:a="http://schemas.openxmlformats.org/drawingml/2006/main">
              <a:ext uri="{FF2B5EF4-FFF2-40B4-BE49-F238E27FC236}">
                <a16:creationId xmlns:a16="http://schemas.microsoft.com/office/drawing/2014/main" id="{92080043-1D1C-4D82-85E7-BC60E32BAB5A}"/>
              </a:ext>
            </a:extLst>
          </p:cNvPr>
          <p:cNvSpPr>
            <a:spLocks xmlns:a="http://schemas.openxmlformats.org/drawingml/2006/main" noGrp="1"/>
          </p:cNvSpPr>
          <p:nvPr/>
        </p:nvSpPr>
        <p:spPr>
          <a:xfrm xmlns:a="http://schemas.openxmlformats.org/drawingml/2006/main">
            <a:off x="8524875" y="4657725"/>
            <a:ext cx="30003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Review the added claims, the audience and the length before deciding what to change next.</a:t>
            </a:r>
          </a:p>
        </p:txBody>
      </p:sp>
      <p:sp>
        <p:nvSpPr>
          <p:cNvPr id="7" name="slide-number">
            <a:extLst xmlns:a="http://schemas.openxmlformats.org/drawingml/2006/main">
              <a:ext uri="{FF2B5EF4-FFF2-40B4-BE49-F238E27FC236}">
                <a16:creationId xmlns:a16="http://schemas.microsoft.com/office/drawing/2014/main" id="{0019D72F-916E-467B-8154-CB2001A9582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2068969283"/>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35" name="section-label">
            <a:extLst xmlns:a="http://schemas.openxmlformats.org/drawingml/2006/main">
              <a:ext uri="{FF2B5EF4-FFF2-40B4-BE49-F238E27FC236}">
                <a16:creationId xmlns:a16="http://schemas.microsoft.com/office/drawing/2014/main" id="{3BA44109-09CA-4C71-BFC1-B678DB692A1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2024 WORKFLOW PROPOSAL</a:t>
            </a:r>
          </a:p>
        </p:txBody>
      </p:sp>
      <p:sp>
        <p:nvSpPr>
          <p:cNvPr id="2" name="headline">
            <a:extLst xmlns:a="http://schemas.openxmlformats.org/drawingml/2006/main">
              <a:ext uri="{FF2B5EF4-FFF2-40B4-BE49-F238E27FC236}">
                <a16:creationId xmlns:a16="http://schemas.microsoft.com/office/drawing/2014/main" id="{6F753C26-C1D6-4655-A37B-ED1D7436796E}"/>
              </a:ext>
            </a:extLst>
          </p:cNvPr>
          <p:cNvSpPr>
            <a:spLocks xmlns:a="http://schemas.openxmlformats.org/drawingml/2006/main" noGrp="1"/>
          </p:cNvSpPr>
          <p:nvPr/>
        </p:nvSpPr>
        <p:spPr>
          <a:xfrm xmlns:a="http://schemas.openxmlformats.org/drawingml/2006/main">
            <a:off x="609600" y="109537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192B25"/>
                </a:solidFill>
                <a:latin typeface="Helvetica Neue"/>
                <a:ea typeface="Helvetica Neue"/>
                <a:cs typeface="Helvetica Neue"/>
              </a:defRPr>
            </a:pPr>
            <a:r>
              <a:rPr sz="3300" b="1">
                <a:solidFill>
                  <a:srgbClr val="192B25"/>
                </a:solidFill>
                <a:latin typeface="Helvetica Neue"/>
                <a:ea typeface="Helvetica Neue"/>
                <a:cs typeface="Helvetica Neue"/>
              </a:rPr>
              <a:t>Human review before learner-facing tasks</a:t>
            </a:r>
          </a:p>
        </p:txBody>
      </p:sp>
      <p:sp>
        <p:nvSpPr>
          <p:cNvPr id="3" name="asu-context">
            <a:extLst xmlns:a="http://schemas.openxmlformats.org/drawingml/2006/main">
              <a:ext uri="{FF2B5EF4-FFF2-40B4-BE49-F238E27FC236}">
                <a16:creationId xmlns:a16="http://schemas.microsoft.com/office/drawing/2014/main" id="{62B5C69F-A8AE-4BA1-A66C-3BF0314BD256}"/>
              </a:ext>
            </a:extLst>
          </p:cNvPr>
          <p:cNvSpPr>
            <a:spLocks xmlns:a="http://schemas.openxmlformats.org/drawingml/2006/main" noGrp="1"/>
          </p:cNvSpPr>
          <p:nvPr/>
        </p:nvSpPr>
        <p:spPr>
          <a:xfrm xmlns:a="http://schemas.openxmlformats.org/drawingml/2006/main">
            <a:off x="609600" y="204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staged prompt workflow for personalized learner tasks.</a:t>
            </a:r>
          </a:p>
        </p:txBody>
      </p:sp>
      <p:sp>
        <p:nvSpPr>
          <p:cNvPr id="4" name="workflow-node-01">
            <a:extLst xmlns:a="http://schemas.openxmlformats.org/drawingml/2006/main">
              <a:ext uri="{FF2B5EF4-FFF2-40B4-BE49-F238E27FC236}">
                <a16:creationId xmlns:a16="http://schemas.microsoft.com/office/drawing/2014/main" id="{FA4805C4-DCD4-4337-A080-4B4F6D2A6E09}"/>
              </a:ext>
            </a:extLst>
          </p:cNvPr>
          <p:cNvSpPr>
            <a:spLocks xmlns:a="http://schemas.openxmlformats.org/drawingml/2006/main" noGrp="1"/>
          </p:cNvSpPr>
          <p:nvPr/>
        </p:nvSpPr>
        <p:spPr>
          <a:xfrm xmlns:a="http://schemas.openxmlformats.org/drawingml/2006/main">
            <a:off x="6096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node-index-01">
            <a:extLst xmlns:a="http://schemas.openxmlformats.org/drawingml/2006/main">
              <a:ext uri="{FF2B5EF4-FFF2-40B4-BE49-F238E27FC236}">
                <a16:creationId xmlns:a16="http://schemas.microsoft.com/office/drawing/2014/main" id="{FF272846-3FFD-40D1-B3D3-AD0DDF6AA471}"/>
              </a:ext>
            </a:extLst>
          </p:cNvPr>
          <p:cNvSpPr>
            <a:spLocks xmlns:a="http://schemas.openxmlformats.org/drawingml/2006/main" noGrp="1"/>
          </p:cNvSpPr>
          <p:nvPr/>
        </p:nvSpPr>
        <p:spPr>
          <a:xfrm xmlns:a="http://schemas.openxmlformats.org/drawingml/2006/main">
            <a:off x="7810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01</a:t>
            </a:r>
          </a:p>
        </p:txBody>
      </p:sp>
      <p:sp>
        <p:nvSpPr>
          <p:cNvPr id="6" name="node-label-01">
            <a:extLst xmlns:a="http://schemas.openxmlformats.org/drawingml/2006/main">
              <a:ext uri="{FF2B5EF4-FFF2-40B4-BE49-F238E27FC236}">
                <a16:creationId xmlns:a16="http://schemas.microsoft.com/office/drawing/2014/main" id="{6A385AAD-7B74-46C9-89F1-2BA316F58433}"/>
              </a:ext>
            </a:extLst>
          </p:cNvPr>
          <p:cNvSpPr>
            <a:spLocks xmlns:a="http://schemas.openxmlformats.org/drawingml/2006/main" noGrp="1"/>
          </p:cNvSpPr>
          <p:nvPr/>
        </p:nvSpPr>
        <p:spPr>
          <a:xfrm xmlns:a="http://schemas.openxmlformats.org/drawingml/2006/main">
            <a:off x="7810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Condense learner context</a:t>
            </a:r>
          </a:p>
        </p:txBody>
      </p:sp>
      <p:sp>
        <p:nvSpPr>
          <p:cNvPr id="7" name="node-detail-01">
            <a:extLst xmlns:a="http://schemas.openxmlformats.org/drawingml/2006/main">
              <a:ext uri="{FF2B5EF4-FFF2-40B4-BE49-F238E27FC236}">
                <a16:creationId xmlns:a16="http://schemas.microsoft.com/office/drawing/2014/main" id="{093465F3-048E-4193-87AE-92D21708BACB}"/>
              </a:ext>
            </a:extLst>
          </p:cNvPr>
          <p:cNvSpPr>
            <a:spLocks xmlns:a="http://schemas.openxmlformats.org/drawingml/2006/main" noGrp="1"/>
          </p:cNvSpPr>
          <p:nvPr/>
        </p:nvSpPr>
        <p:spPr>
          <a:xfrm xmlns:a="http://schemas.openxmlformats.org/drawingml/2006/main">
            <a:off x="7810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context for review.</a:t>
            </a:r>
          </a:p>
        </p:txBody>
      </p:sp>
      <p:sp>
        <p:nvSpPr>
          <p:cNvPr id="8" name="workflow-node-02">
            <a:extLst xmlns:a="http://schemas.openxmlformats.org/drawingml/2006/main">
              <a:ext uri="{FF2B5EF4-FFF2-40B4-BE49-F238E27FC236}">
                <a16:creationId xmlns:a16="http://schemas.microsoft.com/office/drawing/2014/main" id="{0F7E929F-776F-474A-98E8-EC4BF5B033A8}"/>
              </a:ext>
            </a:extLst>
          </p:cNvPr>
          <p:cNvSpPr>
            <a:spLocks xmlns:a="http://schemas.openxmlformats.org/drawingml/2006/main" noGrp="1"/>
          </p:cNvSpPr>
          <p:nvPr/>
        </p:nvSpPr>
        <p:spPr>
          <a:xfrm xmlns:a="http://schemas.openxmlformats.org/drawingml/2006/main">
            <a:off x="4324350" y="2895600"/>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9" name="node-index-02">
            <a:extLst xmlns:a="http://schemas.openxmlformats.org/drawingml/2006/main">
              <a:ext uri="{FF2B5EF4-FFF2-40B4-BE49-F238E27FC236}">
                <a16:creationId xmlns:a16="http://schemas.microsoft.com/office/drawing/2014/main" id="{242E2020-E15C-42C3-9054-52BF04C5FC67}"/>
              </a:ext>
            </a:extLst>
          </p:cNvPr>
          <p:cNvSpPr>
            <a:spLocks xmlns:a="http://schemas.openxmlformats.org/drawingml/2006/main" noGrp="1"/>
          </p:cNvSpPr>
          <p:nvPr/>
        </p:nvSpPr>
        <p:spPr>
          <a:xfrm xmlns:a="http://schemas.openxmlformats.org/drawingml/2006/main">
            <a:off x="449580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02</a:t>
            </a:r>
          </a:p>
        </p:txBody>
      </p:sp>
      <p:sp>
        <p:nvSpPr>
          <p:cNvPr id="10" name="node-label-02">
            <a:extLst xmlns:a="http://schemas.openxmlformats.org/drawingml/2006/main">
              <a:ext uri="{FF2B5EF4-FFF2-40B4-BE49-F238E27FC236}">
                <a16:creationId xmlns:a16="http://schemas.microsoft.com/office/drawing/2014/main" id="{6DB31FD0-C9B5-4BBF-90C1-99E846D67C47}"/>
              </a:ext>
            </a:extLst>
          </p:cNvPr>
          <p:cNvSpPr>
            <a:spLocks xmlns:a="http://schemas.openxmlformats.org/drawingml/2006/main" noGrp="1"/>
          </p:cNvSpPr>
          <p:nvPr/>
        </p:nvSpPr>
        <p:spPr>
          <a:xfrm xmlns:a="http://schemas.openxmlformats.org/drawingml/2006/main">
            <a:off x="449580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validates context</a:t>
            </a:r>
          </a:p>
        </p:txBody>
      </p:sp>
      <p:sp>
        <p:nvSpPr>
          <p:cNvPr id="11" name="node-detail-02">
            <a:extLst xmlns:a="http://schemas.openxmlformats.org/drawingml/2006/main">
              <a:ext uri="{FF2B5EF4-FFF2-40B4-BE49-F238E27FC236}">
                <a16:creationId xmlns:a16="http://schemas.microsoft.com/office/drawing/2014/main" id="{1B2531EF-2078-4EB6-B5F1-F6925B63C924}"/>
              </a:ext>
            </a:extLst>
          </p:cNvPr>
          <p:cNvSpPr>
            <a:spLocks xmlns:a="http://schemas.openxmlformats.org/drawingml/2006/main" noGrp="1"/>
          </p:cNvSpPr>
          <p:nvPr/>
        </p:nvSpPr>
        <p:spPr>
          <a:xfrm xmlns:a="http://schemas.openxmlformats.org/drawingml/2006/main">
            <a:off x="449580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Check the interpretation.</a:t>
            </a:r>
          </a:p>
        </p:txBody>
      </p:sp>
      <p:sp>
        <p:nvSpPr>
          <p:cNvPr id="12" name="workflow-node-03">
            <a:extLst xmlns:a="http://schemas.openxmlformats.org/drawingml/2006/main">
              <a:ext uri="{FF2B5EF4-FFF2-40B4-BE49-F238E27FC236}">
                <a16:creationId xmlns:a16="http://schemas.microsoft.com/office/drawing/2014/main" id="{26AEFCFF-C36A-4885-81CA-55A9F096CAE6}"/>
              </a:ext>
            </a:extLst>
          </p:cNvPr>
          <p:cNvSpPr>
            <a:spLocks xmlns:a="http://schemas.openxmlformats.org/drawingml/2006/main" noGrp="1"/>
          </p:cNvSpPr>
          <p:nvPr/>
        </p:nvSpPr>
        <p:spPr>
          <a:xfrm xmlns:a="http://schemas.openxmlformats.org/drawingml/2006/main">
            <a:off x="80391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node-index-03">
            <a:extLst xmlns:a="http://schemas.openxmlformats.org/drawingml/2006/main">
              <a:ext uri="{FF2B5EF4-FFF2-40B4-BE49-F238E27FC236}">
                <a16:creationId xmlns:a16="http://schemas.microsoft.com/office/drawing/2014/main" id="{D7BA177F-1D5F-4D07-9F9E-05854F1DD24B}"/>
              </a:ext>
            </a:extLst>
          </p:cNvPr>
          <p:cNvSpPr>
            <a:spLocks xmlns:a="http://schemas.openxmlformats.org/drawingml/2006/main" noGrp="1"/>
          </p:cNvSpPr>
          <p:nvPr/>
        </p:nvSpPr>
        <p:spPr>
          <a:xfrm xmlns:a="http://schemas.openxmlformats.org/drawingml/2006/main">
            <a:off x="82105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03</a:t>
            </a:r>
          </a:p>
        </p:txBody>
      </p:sp>
      <p:sp>
        <p:nvSpPr>
          <p:cNvPr id="14" name="node-label-03">
            <a:extLst xmlns:a="http://schemas.openxmlformats.org/drawingml/2006/main">
              <a:ext uri="{FF2B5EF4-FFF2-40B4-BE49-F238E27FC236}">
                <a16:creationId xmlns:a16="http://schemas.microsoft.com/office/drawing/2014/main" id="{B07D9FC6-447E-463A-A470-29C06DE237E3}"/>
              </a:ext>
            </a:extLst>
          </p:cNvPr>
          <p:cNvSpPr>
            <a:spLocks xmlns:a="http://schemas.openxmlformats.org/drawingml/2006/main" noGrp="1"/>
          </p:cNvSpPr>
          <p:nvPr/>
        </p:nvSpPr>
        <p:spPr>
          <a:xfrm xmlns:a="http://schemas.openxmlformats.org/drawingml/2006/main">
            <a:off x="82105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Personalize task template</a:t>
            </a:r>
          </a:p>
        </p:txBody>
      </p:sp>
      <p:sp>
        <p:nvSpPr>
          <p:cNvPr id="15" name="node-detail-03">
            <a:extLst xmlns:a="http://schemas.openxmlformats.org/drawingml/2006/main">
              <a:ext uri="{FF2B5EF4-FFF2-40B4-BE49-F238E27FC236}">
                <a16:creationId xmlns:a16="http://schemas.microsoft.com/office/drawing/2014/main" id="{AC24A84C-F2E5-4EEE-8EAC-9AF13D0CCF5A}"/>
              </a:ext>
            </a:extLst>
          </p:cNvPr>
          <p:cNvSpPr>
            <a:spLocks xmlns:a="http://schemas.openxmlformats.org/drawingml/2006/main" noGrp="1"/>
          </p:cNvSpPr>
          <p:nvPr/>
        </p:nvSpPr>
        <p:spPr>
          <a:xfrm xmlns:a="http://schemas.openxmlformats.org/drawingml/2006/main">
            <a:off x="82105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Use the reviewed context.</a:t>
            </a:r>
          </a:p>
        </p:txBody>
      </p:sp>
      <p:sp>
        <p:nvSpPr>
          <p:cNvPr id="16" name="workflow-node-04">
            <a:extLst xmlns:a="http://schemas.openxmlformats.org/drawingml/2006/main">
              <a:ext uri="{FF2B5EF4-FFF2-40B4-BE49-F238E27FC236}">
                <a16:creationId xmlns:a16="http://schemas.microsoft.com/office/drawing/2014/main" id="{880F8D8F-FB0C-4120-9750-C9905AF72ECB}"/>
              </a:ext>
            </a:extLst>
          </p:cNvPr>
          <p:cNvSpPr>
            <a:spLocks xmlns:a="http://schemas.openxmlformats.org/drawingml/2006/main" noGrp="1"/>
          </p:cNvSpPr>
          <p:nvPr/>
        </p:nvSpPr>
        <p:spPr>
          <a:xfrm xmlns:a="http://schemas.openxmlformats.org/drawingml/2006/main">
            <a:off x="80391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node-index-04">
            <a:extLst xmlns:a="http://schemas.openxmlformats.org/drawingml/2006/main">
              <a:ext uri="{FF2B5EF4-FFF2-40B4-BE49-F238E27FC236}">
                <a16:creationId xmlns:a16="http://schemas.microsoft.com/office/drawing/2014/main" id="{276AF9CA-EFA2-4EDD-AA05-07E5E011CB30}"/>
              </a:ext>
            </a:extLst>
          </p:cNvPr>
          <p:cNvSpPr>
            <a:spLocks xmlns:a="http://schemas.openxmlformats.org/drawingml/2006/main" noGrp="1"/>
          </p:cNvSpPr>
          <p:nvPr/>
        </p:nvSpPr>
        <p:spPr>
          <a:xfrm xmlns:a="http://schemas.openxmlformats.org/drawingml/2006/main">
            <a:off x="82105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04</a:t>
            </a:r>
          </a:p>
        </p:txBody>
      </p:sp>
      <p:sp>
        <p:nvSpPr>
          <p:cNvPr id="18" name="node-label-04">
            <a:extLst xmlns:a="http://schemas.openxmlformats.org/drawingml/2006/main">
              <a:ext uri="{FF2B5EF4-FFF2-40B4-BE49-F238E27FC236}">
                <a16:creationId xmlns:a16="http://schemas.microsoft.com/office/drawing/2014/main" id="{22D5E325-FD67-4FD9-A7FB-4F963FAE4904}"/>
              </a:ext>
            </a:extLst>
          </p:cNvPr>
          <p:cNvSpPr>
            <a:spLocks xmlns:a="http://schemas.openxmlformats.org/drawingml/2006/main" noGrp="1"/>
          </p:cNvSpPr>
          <p:nvPr/>
        </p:nvSpPr>
        <p:spPr>
          <a:xfrm xmlns:a="http://schemas.openxmlformats.org/drawingml/2006/main">
            <a:off x="82105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Generate and refine tasks</a:t>
            </a:r>
          </a:p>
        </p:txBody>
      </p:sp>
      <p:sp>
        <p:nvSpPr>
          <p:cNvPr id="19" name="node-detail-04">
            <a:extLst xmlns:a="http://schemas.openxmlformats.org/drawingml/2006/main">
              <a:ext uri="{FF2B5EF4-FFF2-40B4-BE49-F238E27FC236}">
                <a16:creationId xmlns:a16="http://schemas.microsoft.com/office/drawing/2014/main" id="{EA62219D-890E-4084-AE91-13C2682666ED}"/>
              </a:ext>
            </a:extLst>
          </p:cNvPr>
          <p:cNvSpPr>
            <a:spLocks xmlns:a="http://schemas.openxmlformats.org/drawingml/2006/main" noGrp="1"/>
          </p:cNvSpPr>
          <p:nvPr/>
        </p:nvSpPr>
        <p:spPr>
          <a:xfrm xmlns:a="http://schemas.openxmlformats.org/drawingml/2006/main">
            <a:off x="82105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candidate tasks.</a:t>
            </a:r>
          </a:p>
        </p:txBody>
      </p:sp>
      <p:sp>
        <p:nvSpPr>
          <p:cNvPr id="20" name="workflow-node-05">
            <a:extLst xmlns:a="http://schemas.openxmlformats.org/drawingml/2006/main">
              <a:ext uri="{FF2B5EF4-FFF2-40B4-BE49-F238E27FC236}">
                <a16:creationId xmlns:a16="http://schemas.microsoft.com/office/drawing/2014/main" id="{901FA120-E581-4219-A3D1-12D6B087C372}"/>
              </a:ext>
            </a:extLst>
          </p:cNvPr>
          <p:cNvSpPr>
            <a:spLocks xmlns:a="http://schemas.openxmlformats.org/drawingml/2006/main" noGrp="1"/>
          </p:cNvSpPr>
          <p:nvPr/>
        </p:nvSpPr>
        <p:spPr>
          <a:xfrm xmlns:a="http://schemas.openxmlformats.org/drawingml/2006/main">
            <a:off x="4324350" y="4657725"/>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21" name="node-index-05">
            <a:extLst xmlns:a="http://schemas.openxmlformats.org/drawingml/2006/main">
              <a:ext uri="{FF2B5EF4-FFF2-40B4-BE49-F238E27FC236}">
                <a16:creationId xmlns:a16="http://schemas.microsoft.com/office/drawing/2014/main" id="{4188FBD5-76BF-4F10-9122-04EA12529E87}"/>
              </a:ext>
            </a:extLst>
          </p:cNvPr>
          <p:cNvSpPr>
            <a:spLocks xmlns:a="http://schemas.openxmlformats.org/drawingml/2006/main" noGrp="1"/>
          </p:cNvSpPr>
          <p:nvPr/>
        </p:nvSpPr>
        <p:spPr>
          <a:xfrm xmlns:a="http://schemas.openxmlformats.org/drawingml/2006/main">
            <a:off x="449580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05</a:t>
            </a:r>
          </a:p>
        </p:txBody>
      </p:sp>
      <p:sp>
        <p:nvSpPr>
          <p:cNvPr id="22" name="node-label-05">
            <a:extLst xmlns:a="http://schemas.openxmlformats.org/drawingml/2006/main">
              <a:ext uri="{FF2B5EF4-FFF2-40B4-BE49-F238E27FC236}">
                <a16:creationId xmlns:a16="http://schemas.microsoft.com/office/drawing/2014/main" id="{784C50F8-1CFF-44F4-B7F8-36CA2128FA50}"/>
              </a:ext>
            </a:extLst>
          </p:cNvPr>
          <p:cNvSpPr>
            <a:spLocks xmlns:a="http://schemas.openxmlformats.org/drawingml/2006/main" noGrp="1"/>
          </p:cNvSpPr>
          <p:nvPr/>
        </p:nvSpPr>
        <p:spPr>
          <a:xfrm xmlns:a="http://schemas.openxmlformats.org/drawingml/2006/main">
            <a:off x="449580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confirms tasks</a:t>
            </a:r>
          </a:p>
        </p:txBody>
      </p:sp>
      <p:sp>
        <p:nvSpPr>
          <p:cNvPr id="23" name="node-detail-05">
            <a:extLst xmlns:a="http://schemas.openxmlformats.org/drawingml/2006/main">
              <a:ext uri="{FF2B5EF4-FFF2-40B4-BE49-F238E27FC236}">
                <a16:creationId xmlns:a16="http://schemas.microsoft.com/office/drawing/2014/main" id="{4EC84C0D-8762-421B-B7FB-AA0A220B998C}"/>
              </a:ext>
            </a:extLst>
          </p:cNvPr>
          <p:cNvSpPr>
            <a:spLocks xmlns:a="http://schemas.openxmlformats.org/drawingml/2006/main" noGrp="1"/>
          </p:cNvSpPr>
          <p:nvPr/>
        </p:nvSpPr>
        <p:spPr>
          <a:xfrm xmlns:a="http://schemas.openxmlformats.org/drawingml/2006/main">
            <a:off x="449580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Approve or revise the tasks.</a:t>
            </a:r>
          </a:p>
        </p:txBody>
      </p:sp>
      <p:sp>
        <p:nvSpPr>
          <p:cNvPr id="24" name="workflow-node-06">
            <a:extLst xmlns:a="http://schemas.openxmlformats.org/drawingml/2006/main">
              <a:ext uri="{FF2B5EF4-FFF2-40B4-BE49-F238E27FC236}">
                <a16:creationId xmlns:a16="http://schemas.microsoft.com/office/drawing/2014/main" id="{51276AD1-ACA7-4808-8947-6C1ED0BBEE7B}"/>
              </a:ext>
            </a:extLst>
          </p:cNvPr>
          <p:cNvSpPr>
            <a:spLocks xmlns:a="http://schemas.openxmlformats.org/drawingml/2006/main" noGrp="1"/>
          </p:cNvSpPr>
          <p:nvPr/>
        </p:nvSpPr>
        <p:spPr>
          <a:xfrm xmlns:a="http://schemas.openxmlformats.org/drawingml/2006/main">
            <a:off x="6096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node-index-06">
            <a:extLst xmlns:a="http://schemas.openxmlformats.org/drawingml/2006/main">
              <a:ext uri="{FF2B5EF4-FFF2-40B4-BE49-F238E27FC236}">
                <a16:creationId xmlns:a16="http://schemas.microsoft.com/office/drawing/2014/main" id="{0F7D4942-49CE-4A76-8DC2-4266279A153D}"/>
              </a:ext>
            </a:extLst>
          </p:cNvPr>
          <p:cNvSpPr>
            <a:spLocks xmlns:a="http://schemas.openxmlformats.org/drawingml/2006/main" noGrp="1"/>
          </p:cNvSpPr>
          <p:nvPr/>
        </p:nvSpPr>
        <p:spPr>
          <a:xfrm xmlns:a="http://schemas.openxmlformats.org/drawingml/2006/main">
            <a:off x="7810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06</a:t>
            </a:r>
          </a:p>
        </p:txBody>
      </p:sp>
      <p:sp>
        <p:nvSpPr>
          <p:cNvPr id="26" name="node-label-06">
            <a:extLst xmlns:a="http://schemas.openxmlformats.org/drawingml/2006/main">
              <a:ext uri="{FF2B5EF4-FFF2-40B4-BE49-F238E27FC236}">
                <a16:creationId xmlns:a16="http://schemas.microsoft.com/office/drawing/2014/main" id="{39C400CB-1A49-4800-8DA2-C0248CE8D37A}"/>
              </a:ext>
            </a:extLst>
          </p:cNvPr>
          <p:cNvSpPr>
            <a:spLocks xmlns:a="http://schemas.openxmlformats.org/drawingml/2006/main" noGrp="1"/>
          </p:cNvSpPr>
          <p:nvPr/>
        </p:nvSpPr>
        <p:spPr>
          <a:xfrm xmlns:a="http://schemas.openxmlformats.org/drawingml/2006/main">
            <a:off x="7810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Prepare learner-facing output</a:t>
            </a:r>
          </a:p>
        </p:txBody>
      </p:sp>
      <p:sp>
        <p:nvSpPr>
          <p:cNvPr id="27" name="node-detail-06">
            <a:extLst xmlns:a="http://schemas.openxmlformats.org/drawingml/2006/main">
              <a:ext uri="{FF2B5EF4-FFF2-40B4-BE49-F238E27FC236}">
                <a16:creationId xmlns:a16="http://schemas.microsoft.com/office/drawing/2014/main" id="{7C62A937-C0E6-43B9-B852-F4ACA89110A0}"/>
              </a:ext>
            </a:extLst>
          </p:cNvPr>
          <p:cNvSpPr>
            <a:spLocks xmlns:a="http://schemas.openxmlformats.org/drawingml/2006/main" noGrp="1"/>
          </p:cNvSpPr>
          <p:nvPr/>
        </p:nvSpPr>
        <p:spPr>
          <a:xfrm xmlns:a="http://schemas.openxmlformats.org/drawingml/2006/main">
            <a:off x="7810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Structured output and feedback.</a:t>
            </a:r>
          </a:p>
        </p:txBody>
      </p:sp>
      <p:sp>
        <p:nvSpPr>
          <p:cNvPr id="28" name="workflow-arrow-0">
            <a:extLst xmlns:a="http://schemas.openxmlformats.org/drawingml/2006/main">
              <a:ext uri="{FF2B5EF4-FFF2-40B4-BE49-F238E27FC236}">
                <a16:creationId xmlns:a16="http://schemas.microsoft.com/office/drawing/2014/main" id="{EB13FDCB-3451-489E-B801-42D0C6110F5D}"/>
              </a:ext>
            </a:extLst>
          </p:cNvPr>
          <p:cNvSpPr>
            <a:spLocks xmlns:a="http://schemas.openxmlformats.org/drawingml/2006/main" noGrp="1"/>
          </p:cNvSpPr>
          <p:nvPr/>
        </p:nvSpPr>
        <p:spPr>
          <a:xfrm xmlns:a="http://schemas.openxmlformats.org/drawingml/2006/main">
            <a:off x="400050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29" name="workflow-arrow-1">
            <a:extLst xmlns:a="http://schemas.openxmlformats.org/drawingml/2006/main">
              <a:ext uri="{FF2B5EF4-FFF2-40B4-BE49-F238E27FC236}">
                <a16:creationId xmlns:a16="http://schemas.microsoft.com/office/drawing/2014/main" id="{0B44E103-1A0D-48C2-B558-8B3E291E5281}"/>
              </a:ext>
            </a:extLst>
          </p:cNvPr>
          <p:cNvSpPr>
            <a:spLocks xmlns:a="http://schemas.openxmlformats.org/drawingml/2006/main" noGrp="1"/>
          </p:cNvSpPr>
          <p:nvPr/>
        </p:nvSpPr>
        <p:spPr>
          <a:xfrm xmlns:a="http://schemas.openxmlformats.org/drawingml/2006/main">
            <a:off x="771525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0" name="workflow-arrow-2">
            <a:extLst xmlns:a="http://schemas.openxmlformats.org/drawingml/2006/main">
              <a:ext uri="{FF2B5EF4-FFF2-40B4-BE49-F238E27FC236}">
                <a16:creationId xmlns:a16="http://schemas.microsoft.com/office/drawing/2014/main" id="{FB32F553-773E-48DD-8773-A562C196F9D9}"/>
              </a:ext>
            </a:extLst>
          </p:cNvPr>
          <p:cNvSpPr>
            <a:spLocks xmlns:a="http://schemas.openxmlformats.org/drawingml/2006/main" noGrp="1"/>
          </p:cNvSpPr>
          <p:nvPr/>
        </p:nvSpPr>
        <p:spPr>
          <a:xfrm xmlns:a="http://schemas.openxmlformats.org/drawingml/2006/main">
            <a:off x="9525000" y="42576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1" name="workflow-arrow-3">
            <a:extLst xmlns:a="http://schemas.openxmlformats.org/drawingml/2006/main">
              <a:ext uri="{FF2B5EF4-FFF2-40B4-BE49-F238E27FC236}">
                <a16:creationId xmlns:a16="http://schemas.microsoft.com/office/drawing/2014/main" id="{781EDFEA-B472-4A88-8303-77C78A2DB439}"/>
              </a:ext>
            </a:extLst>
          </p:cNvPr>
          <p:cNvSpPr>
            <a:spLocks xmlns:a="http://schemas.openxmlformats.org/drawingml/2006/main" noGrp="1"/>
          </p:cNvSpPr>
          <p:nvPr/>
        </p:nvSpPr>
        <p:spPr>
          <a:xfrm xmlns:a="http://schemas.openxmlformats.org/drawingml/2006/main">
            <a:off x="771525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2" name="workflow-arrow-4">
            <a:extLst xmlns:a="http://schemas.openxmlformats.org/drawingml/2006/main">
              <a:ext uri="{FF2B5EF4-FFF2-40B4-BE49-F238E27FC236}">
                <a16:creationId xmlns:a16="http://schemas.microsoft.com/office/drawing/2014/main" id="{1C6C4927-BC28-47EE-A33B-7CDD5C1EA28A}"/>
              </a:ext>
            </a:extLst>
          </p:cNvPr>
          <p:cNvSpPr>
            <a:spLocks xmlns:a="http://schemas.openxmlformats.org/drawingml/2006/main" noGrp="1"/>
          </p:cNvSpPr>
          <p:nvPr/>
        </p:nvSpPr>
        <p:spPr>
          <a:xfrm xmlns:a="http://schemas.openxmlformats.org/drawingml/2006/main">
            <a:off x="400050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3" name="asu-limit">
            <a:extLst xmlns:a="http://schemas.openxmlformats.org/drawingml/2006/main">
              <a:ext uri="{FF2B5EF4-FFF2-40B4-BE49-F238E27FC236}">
                <a16:creationId xmlns:a16="http://schemas.microsoft.com/office/drawing/2014/main" id="{DBBC79B0-D940-4CE6-A411-9495F024B274}"/>
              </a:ext>
            </a:extLst>
          </p:cNvPr>
          <p:cNvSpPr>
            <a:spLocks xmlns:a="http://schemas.openxmlformats.org/drawingml/2006/main" noGrp="1"/>
          </p:cNvSpPr>
          <p:nvPr/>
        </p:nvSpPr>
        <p:spPr>
          <a:xfrm xmlns:a="http://schemas.openxmlformats.org/drawingml/2006/main">
            <a:off x="609600" y="6191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Simplified reconstruction · Documented proposal; no deployment or measured efficiency claimed.</a:t>
            </a:r>
          </a:p>
        </p:txBody>
      </p:sp>
      <p:sp>
        <p:nvSpPr>
          <p:cNvPr id="34" name="slide-number">
            <a:extLst xmlns:a="http://schemas.openxmlformats.org/drawingml/2006/main">
              <a:ext uri="{FF2B5EF4-FFF2-40B4-BE49-F238E27FC236}">
                <a16:creationId xmlns:a16="http://schemas.microsoft.com/office/drawing/2014/main" id="{05D826BC-2A62-40C0-9FA6-C080F48CD78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2058196870"/>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14914C45-64BD-4F9B-88F9-C4EE75ADA27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51D664DD-0329-4F5D-943C-6BB002403665}"/>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9450E54B-7A52-4C30-B9B1-EA1E37E3A53F}"/>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2DE511A0-4D10-47D2-87DF-5BD2120C2592}"/>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83984792-F079-4932-AA81-4B0AA5F9D38B}"/>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3936d8a64c94f38"/>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71B32353-8169-43D9-9E7D-36FBC3D3CA1F}"/>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931042D8-2906-4EED-9508-31836E29B23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666223556"/>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1271916E-5F51-4D0C-8FF5-AE9DEA127C8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731412F6-B35C-462C-9A51-84CE9259891A}"/>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662105eaabd4889"/>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2B326B64-369D-47FB-8793-30A18801FC38}"/>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7fb86db0d97a413f"/>
          </a:graphicData>
        </a:graphic>
      </p:graphicFrame>
      <p:sp>
        <p:nvSpPr>
          <p:cNvPr id="6" name="barrier-limit">
            <a:extLst xmlns:a="http://schemas.openxmlformats.org/drawingml/2006/main">
              <a:ext uri="{FF2B5EF4-FFF2-40B4-BE49-F238E27FC236}">
                <a16:creationId xmlns:a16="http://schemas.microsoft.com/office/drawing/2014/main" id="{F0DB6FFA-0EAC-40C5-878E-A9F25871C7FF}"/>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8E8BE355-6A4E-4095-B7A6-6E4A968CEE8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268379435"/>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F1325653-1EBA-4F8D-8282-D67D85FE1AD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422D3C39-D6BE-4561-819F-3FB4E39AA3BC}"/>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998CC432-CB50-42D8-A4D2-990F73C415EB}"/>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73A268A6-365C-4435-A27A-9031F2484BB5}"/>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FE440A10-D032-4A0A-B1C3-A56F162A8EE1}"/>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EE09C3D4-C2F6-4875-BB95-E14200B986D3}"/>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915956bcf6647b8"/>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119c4dc809c43ec"/>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1ED29F42-6E1C-4D39-943C-0264352F697E}"/>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b299891054e4156"/>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9AD00597-1002-40A4-8EE5-FB5462AB3FC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2051517228"/>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A20CAEE-9F07-4E7F-9DB6-B8DC96467FC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SUMMARY AND PROPOSED NEXT CHECK</a:t>
            </a:r>
          </a:p>
        </p:txBody>
      </p:sp>
      <p:sp>
        <p:nvSpPr>
          <p:cNvPr id="2" name="headline">
            <a:extLst xmlns:a="http://schemas.openxmlformats.org/drawingml/2006/main">
              <a:ext uri="{FF2B5EF4-FFF2-40B4-BE49-F238E27FC236}">
                <a16:creationId xmlns:a16="http://schemas.microsoft.com/office/drawing/2014/main" id="{32FF1843-774B-49BD-8E71-BDFB13506250}"/>
              </a:ext>
            </a:extLst>
          </p:cNvPr>
          <p:cNvSpPr>
            <a:spLocks xmlns:a="http://schemas.openxmlformats.org/drawingml/2006/main" noGrp="1"/>
          </p:cNvSpPr>
          <p:nvPr/>
        </p:nvSpPr>
        <p:spPr>
          <a:xfrm xmlns:a="http://schemas.openxmlformats.org/drawingml/2006/main">
            <a:off x="609600" y="1104900"/>
            <a:ext cx="5429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Check whether</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the skill transfers</a:t>
            </a:r>
          </a:p>
        </p:txBody>
      </p:sp>
      <p:sp>
        <p:nvSpPr>
          <p:cNvPr id="3" name="transfer-proposal">
            <a:extLst xmlns:a="http://schemas.openxmlformats.org/drawingml/2006/main">
              <a:ext uri="{FF2B5EF4-FFF2-40B4-BE49-F238E27FC236}">
                <a16:creationId xmlns:a16="http://schemas.microsoft.com/office/drawing/2014/main" id="{4C7D2060-A66A-4EDE-AD65-028FD59E50EA}"/>
              </a:ext>
            </a:extLst>
          </p:cNvPr>
          <p:cNvSpPr>
            <a:spLocks xmlns:a="http://schemas.openxmlformats.org/drawingml/2006/main" noGrp="1"/>
          </p:cNvSpPr>
          <p:nvPr/>
        </p:nvSpPr>
        <p:spPr>
          <a:xfrm xmlns:a="http://schemas.openxmlformats.org/drawingml/2006/main">
            <a:off x="609600" y="3171825"/>
            <a:ext cx="45148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For a different task, I would ask a learner to identify an unsupported detail, choose a revision, and explain why the next draft serves the goal.</a:t>
            </a:r>
          </a:p>
        </p:txBody>
      </p:sp>
      <p:sp>
        <p:nvSpPr>
          <p:cNvPr id="4" name="transfer-limit">
            <a:extLst xmlns:a="http://schemas.openxmlformats.org/drawingml/2006/main">
              <a:ext uri="{FF2B5EF4-FFF2-40B4-BE49-F238E27FC236}">
                <a16:creationId xmlns:a16="http://schemas.microsoft.com/office/drawing/2014/main" id="{02405D4F-9D88-48AE-B120-2DAAF1D4B55C}"/>
              </a:ext>
            </a:extLst>
          </p:cNvPr>
          <p:cNvSpPr>
            <a:spLocks xmlns:a="http://schemas.openxmlformats.org/drawingml/2006/main" noGrp="1"/>
          </p:cNvSpPr>
          <p:nvPr/>
        </p:nvSpPr>
        <p:spPr>
          <a:xfrm xmlns:a="http://schemas.openxmlformats.org/drawingml/2006/main">
            <a:off x="609600" y="5457825"/>
            <a:ext cx="4514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This is a proposed assessment drawn from the lesson, not a reported learner study.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d9ac3741018465d"/>
          <a:stretch xmlns:a="http://schemas.openxmlformats.org/drawingml/2006/main"/>
        </p:blipFill>
        <p:spPr>
          <a:xfrm xmlns:a="http://schemas.openxmlformats.org/drawingml/2006/main">
            <a:off x="5621856" y="2619375"/>
            <a:ext cx="5920339" cy="3352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FCE365AE-A612-4BCD-9C2F-A9598821583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1229854585"/>
      </p:ext>
    </p:extLst>
  </p:cSld>
</p:sld>
</file>

<file path=ppt/slides/slide1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1578781-2BF0-460F-88F8-D3931081F17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SEON SALES READINESS</a:t>
            </a:r>
          </a:p>
        </p:txBody>
      </p:sp>
      <p:sp>
        <p:nvSpPr>
          <p:cNvPr id="2" name="headline">
            <a:extLst xmlns:a="http://schemas.openxmlformats.org/drawingml/2006/main">
              <a:ext uri="{FF2B5EF4-FFF2-40B4-BE49-F238E27FC236}">
                <a16:creationId xmlns:a16="http://schemas.microsoft.com/office/drawing/2014/main" id="{723F4850-DFC6-4F64-A081-AEC79FD3520F}"/>
              </a:ext>
            </a:extLst>
          </p:cNvPr>
          <p:cNvSpPr>
            <a:spLocks xmlns:a="http://schemas.openxmlformats.org/drawingml/2006/main" noGrp="1"/>
          </p:cNvSpPr>
          <p:nvPr/>
        </p:nvSpPr>
        <p:spPr>
          <a:xfrm xmlns:a="http://schemas.openxmlformats.org/drawingml/2006/main">
            <a:off x="609600" y="1323975"/>
            <a:ext cx="63436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Practice the product</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conversation</a:t>
            </a:r>
          </a:p>
        </p:txBody>
      </p:sp>
      <p:sp>
        <p:nvSpPr>
          <p:cNvPr id="3" name="design-question">
            <a:extLst xmlns:a="http://schemas.openxmlformats.org/drawingml/2006/main">
              <a:ext uri="{FF2B5EF4-FFF2-40B4-BE49-F238E27FC236}">
                <a16:creationId xmlns:a16="http://schemas.microsoft.com/office/drawing/2014/main" id="{AF5959AB-A182-40D9-9AAF-4132772A19DC}"/>
              </a:ext>
            </a:extLst>
          </p:cNvPr>
          <p:cNvSpPr>
            <a:spLocks xmlns:a="http://schemas.openxmlformats.org/drawingml/2006/main" noGrp="1"/>
          </p:cNvSpPr>
          <p:nvPr/>
        </p:nvSpPr>
        <p:spPr>
          <a:xfrm xmlns:a="http://schemas.openxmlformats.org/drawingml/2006/main">
            <a:off x="609600" y="3333750"/>
            <a:ext cx="54578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Can a new hire explain a capability, its limits, and when to involve a specialist?</a:t>
            </a:r>
          </a:p>
        </p:txBody>
      </p:sp>
      <p:sp>
        <p:nvSpPr>
          <p:cNvPr id="4" name="design-plan">
            <a:extLst xmlns:a="http://schemas.openxmlformats.org/drawingml/2006/main">
              <a:ext uri="{FF2B5EF4-FFF2-40B4-BE49-F238E27FC236}">
                <a16:creationId xmlns:a16="http://schemas.microsoft.com/office/drawing/2014/main" id="{DC2F4DEB-1F69-460E-A0AD-3147444A9E66}"/>
              </a:ext>
            </a:extLst>
          </p:cNvPr>
          <p:cNvSpPr>
            <a:spLocks xmlns:a="http://schemas.openxmlformats.org/drawingml/2006/main" noGrp="1"/>
          </p:cNvSpPr>
          <p:nvPr/>
        </p:nvSpPr>
        <p:spPr>
          <a:xfrm xmlns:a="http://schemas.openxmlformats.org/drawingml/2006/main">
            <a:off x="609600" y="4953000"/>
            <a:ext cx="54578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Choose one difficult conversation with an SME. Build a demonstration, practice scenario and review guide. Observe the explanation, then revise the material.</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8874ae8d3e941e4"/>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6C4E7B8B-5E01-4DEA-BD9A-0CC660A7F0E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11</a:t>
            </a:r>
          </a:p>
        </p:txBody>
      </p:sp>
    </p:spTree>
    <p:extLst>
      <p:ext uri="{BB962C8B-B14F-4D97-AF65-F5344CB8AC3E}">
        <p14:creationId xmlns:p14="http://schemas.microsoft.com/office/powerpoint/2010/main" val="1734836648"/>
      </p:ext>
    </p:extLst>
  </p:cSld>
</p:sld>
</file>

<file path=ppt/slides/slide12.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D6CB39F-76AC-49D9-AA34-C8F6FA2550BC}"/>
              </a:ext>
            </a:extLst>
          </p:cNvPr>
          <p:cNvSpPr>
            <a:spLocks xmlns:a="http://schemas.openxmlformats.org/drawingml/2006/main" noGrp="1"/>
          </p:cNvSpPr>
          <p:nvPr/>
        </p:nvSpPr>
        <p:spPr>
          <a:xfrm xmlns:a="http://schemas.openxmlformats.org/drawingml/2006/main">
            <a:off x="609600" y="5238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SEON · INSTRUCTIONAL DESIGN</a:t>
            </a:r>
          </a:p>
        </p:txBody>
      </p:sp>
      <p:sp>
        <p:nvSpPr>
          <p:cNvPr id="2" name="headline">
            <a:extLst xmlns:a="http://schemas.openxmlformats.org/drawingml/2006/main">
              <a:ext uri="{FF2B5EF4-FFF2-40B4-BE49-F238E27FC236}">
                <a16:creationId xmlns:a16="http://schemas.microsoft.com/office/drawing/2014/main" id="{829AE778-70B5-47AC-9EF4-5E492289C3AE}"/>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next step clearer</a:t>
            </a:r>
          </a:p>
        </p:txBody>
      </p:sp>
      <p:sp>
        <p:nvSpPr>
          <p:cNvPr id="3" name="contact-intent">
            <a:extLst xmlns:a="http://schemas.openxmlformats.org/drawingml/2006/main">
              <a:ext uri="{FF2B5EF4-FFF2-40B4-BE49-F238E27FC236}">
                <a16:creationId xmlns:a16="http://schemas.microsoft.com/office/drawing/2014/main" id="{F8AF82E0-5C01-4E06-A8B2-1F706950CA6E}"/>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Available for remote work in the United States and ready to start as soon as possible.</a:t>
            </a:r>
          </a:p>
        </p:txBody>
      </p:sp>
      <p:sp>
        <p:nvSpPr>
          <p:cNvPr id="4" name="email">
            <a:extLst xmlns:a="http://schemas.openxmlformats.org/drawingml/2006/main">
              <a:ext uri="{FF2B5EF4-FFF2-40B4-BE49-F238E27FC236}">
                <a16:creationId xmlns:a16="http://schemas.microsoft.com/office/drawing/2014/main" id="{9513C479-4653-4C03-A763-D03E711A4DFC}"/>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5b6a81bca40c496d"/>
              </a:rPr>
              <a:t>JonathanKyleHobson@gmail.com</a:t>
            </a:r>
          </a:p>
        </p:txBody>
      </p:sp>
      <p:sp>
        <p:nvSpPr>
          <p:cNvPr id="5" name="portfolio">
            <a:extLst xmlns:a="http://schemas.openxmlformats.org/drawingml/2006/main">
              <a:ext uri="{FF2B5EF4-FFF2-40B4-BE49-F238E27FC236}">
                <a16:creationId xmlns:a16="http://schemas.microsoft.com/office/drawing/2014/main" id="{119D2DB8-CFDE-42B0-87B5-3C64A19B8F65}"/>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fa6bada70e8b46e9"/>
              </a:rPr>
              <a:t>jonathankhobson.github.io/application-portfolios/seon-instructional-designer</a:t>
            </a:r>
          </a:p>
        </p:txBody>
      </p:sp>
      <p:sp>
        <p:nvSpPr>
          <p:cNvPr id="6" name="slide-number">
            <a:extLst xmlns:a="http://schemas.openxmlformats.org/drawingml/2006/main">
              <a:ext uri="{FF2B5EF4-FFF2-40B4-BE49-F238E27FC236}">
                <a16:creationId xmlns:a16="http://schemas.microsoft.com/office/drawing/2014/main" id="{98162B72-0665-4C55-9E18-A22B02DCCEA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12</a:t>
            </a:r>
          </a:p>
        </p:txBody>
      </p:sp>
    </p:spTree>
    <p:extLst>
      <p:ext uri="{BB962C8B-B14F-4D97-AF65-F5344CB8AC3E}">
        <p14:creationId xmlns:p14="http://schemas.microsoft.com/office/powerpoint/2010/main" val="939065651"/>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2026-09-08T23:25:06.9770000Z</dcterms:created>
  <dcterms:modified xsi:type="dcterms:W3CDTF">2026-09-08T23:25:06.9770000Z</dcterms:modified>
</coreProperties>
</file>