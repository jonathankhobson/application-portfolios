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70632f460604476" /><Relationship Type="http://schemas.openxmlformats.org/officeDocument/2006/relationships/extended-properties" Target="/docProps/app.xml" Id="Rb7e3f12400ea4e1f" /><Relationship Type="http://schemas.openxmlformats.org/officeDocument/2006/relationships/officeDocument" Target="/ppt/presentation.xml" Id="R84efb8a92b37470a" /></Relationships>
</file>

<file path=ppt/presentation.xml><?xml version="1.0" encoding="utf-8"?>
<p:presentation xmlns:p="http://schemas.openxmlformats.org/presentationml/2006/main">
  <p:sldMasterIdLst>
    <p:sldMasterId xmlns:r="http://schemas.openxmlformats.org/officeDocument/2006/relationships" id="2147483648" r:id="R461c08348d704bd1"/>
  </p:sldMasterIdLst>
  <p:notesMasterIdLst>
    <p:notesMasterId xmlns:r="http://schemas.openxmlformats.org/officeDocument/2006/relationships" r:id="R0e627f5faf204f1c"/>
  </p:notesMasterIdLst>
  <p:sldIdLst>
    <p:sldId xmlns:r="http://schemas.openxmlformats.org/officeDocument/2006/relationships" id="256" r:id="R5bfbaeff5ed6494f"/>
    <p:sldId xmlns:r="http://schemas.openxmlformats.org/officeDocument/2006/relationships" id="257" r:id="Rf8d38c5678844a71"/>
    <p:sldId xmlns:r="http://schemas.openxmlformats.org/officeDocument/2006/relationships" id="258" r:id="R2b056dc4402642de"/>
    <p:sldId xmlns:r="http://schemas.openxmlformats.org/officeDocument/2006/relationships" id="259" r:id="Rb5495673910849a6"/>
    <p:sldId xmlns:r="http://schemas.openxmlformats.org/officeDocument/2006/relationships" id="260" r:id="R573a1d21e61c469e"/>
    <p:sldId xmlns:r="http://schemas.openxmlformats.org/officeDocument/2006/relationships" id="261" r:id="R7940dd5c2b6545b2"/>
    <p:sldId xmlns:r="http://schemas.openxmlformats.org/officeDocument/2006/relationships" id="262" r:id="Rd4a0314e27fa4c74"/>
    <p:sldId xmlns:r="http://schemas.openxmlformats.org/officeDocument/2006/relationships" id="263" r:id="Rd92a6a65b9c04390"/>
    <p:sldId xmlns:r="http://schemas.openxmlformats.org/officeDocument/2006/relationships" id="264" r:id="Rde7603fb4396456e"/>
    <p:sldId xmlns:r="http://schemas.openxmlformats.org/officeDocument/2006/relationships" id="265" r:id="Rc71a04cb6f824f63"/>
    <p:sldId xmlns:r="http://schemas.openxmlformats.org/officeDocument/2006/relationships" id="266" r:id="Rb6c2b6d2f5854bdd"/>
    <p:sldId xmlns:r="http://schemas.openxmlformats.org/officeDocument/2006/relationships" id="267" r:id="R29b64b059d7e49f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d1c1af66ce341d2" /><Relationship Type="http://schemas.openxmlformats.org/officeDocument/2006/relationships/slideMaster" Target="/ppt/slideMasters/slideMaster1.xml" Id="R461c08348d704bd1" /><Relationship Type="http://schemas.openxmlformats.org/officeDocument/2006/relationships/notesMaster" Target="/ppt/notesMasters/notesMaster1.xml" Id="R0e627f5faf204f1c" /><Relationship Type="http://schemas.openxmlformats.org/officeDocument/2006/relationships/presProps" Target="/ppt/presProps.xml" Id="R30e25f5124dc4d07" /><Relationship Type="http://schemas.openxmlformats.org/officeDocument/2006/relationships/tableStyles" Target="/ppt/tableStyles.xml" Id="R54feb411db1c4802" /><Relationship Type="http://schemas.openxmlformats.org/officeDocument/2006/relationships/slide" Target="/ppt/slides/slide1.xml" Id="R5bfbaeff5ed6494f" /><Relationship Type="http://schemas.openxmlformats.org/officeDocument/2006/relationships/slide" Target="/ppt/slides/slide2.xml" Id="Rf8d38c5678844a71" /><Relationship Type="http://schemas.openxmlformats.org/officeDocument/2006/relationships/slide" Target="/ppt/slides/slide3.xml" Id="R2b056dc4402642de" /><Relationship Type="http://schemas.openxmlformats.org/officeDocument/2006/relationships/slide" Target="/ppt/slides/slide4.xml" Id="Rb5495673910849a6" /><Relationship Type="http://schemas.openxmlformats.org/officeDocument/2006/relationships/slide" Target="/ppt/slides/slide5.xml" Id="R573a1d21e61c469e" /><Relationship Type="http://schemas.openxmlformats.org/officeDocument/2006/relationships/slide" Target="/ppt/slides/slide6.xml" Id="R7940dd5c2b6545b2" /><Relationship Type="http://schemas.openxmlformats.org/officeDocument/2006/relationships/slide" Target="/ppt/slides/slide7.xml" Id="Rd4a0314e27fa4c74" /><Relationship Type="http://schemas.openxmlformats.org/officeDocument/2006/relationships/slide" Target="/ppt/slides/slide8.xml" Id="Rd92a6a65b9c04390" /><Relationship Type="http://schemas.openxmlformats.org/officeDocument/2006/relationships/slide" Target="/ppt/slides/slide9.xml" Id="Rde7603fb4396456e" /><Relationship Type="http://schemas.openxmlformats.org/officeDocument/2006/relationships/slide" Target="/ppt/slides/slide10.xml" Id="Rc71a04cb6f824f63" /><Relationship Type="http://schemas.openxmlformats.org/officeDocument/2006/relationships/slide" Target="/ppt/slides/slide11.xml" Id="Rb6c2b6d2f5854bdd" /><Relationship Type="http://schemas.openxmlformats.org/officeDocument/2006/relationships/slide" Target="/ppt/slides/slide12.xml" Id="R29b64b059d7e49f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0ca141910a747a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e7cc6cd866c4981" /><Relationship Type="http://schemas.openxmlformats.org/officeDocument/2006/relationships/notesMaster" Target="/ppt/notesMasters/notesMaster1.xml" Id="R1cbce502f16144e0" /></Relationships>
</file>

<file path=ppt/notesSlides/_rels/notesSlide2.xml.rels>&#65279;<?xml version="1.0" encoding="utf-8"?><Relationships xmlns="http://schemas.openxmlformats.org/package/2006/relationships"><Relationship Type="http://schemas.openxmlformats.org/officeDocument/2006/relationships/slide" Target="/ppt/slides/slide2.xml" Id="R18ef7e5121214388" /><Relationship Type="http://schemas.openxmlformats.org/officeDocument/2006/relationships/notesMaster" Target="/ppt/notesMasters/notesMaster1.xml" Id="R3c11f3ddb4894b09" /></Relationships>
</file>

<file path=ppt/notesSlides/_rels/notesSlide3.xml.rels>&#65279;<?xml version="1.0" encoding="utf-8"?><Relationships xmlns="http://schemas.openxmlformats.org/package/2006/relationships"><Relationship Type="http://schemas.openxmlformats.org/officeDocument/2006/relationships/slide" Target="/ppt/slides/slide3.xml" Id="Rffe6396796b14153" /><Relationship Type="http://schemas.openxmlformats.org/officeDocument/2006/relationships/notesMaster" Target="/ppt/notesMasters/notesMaster1.xml" Id="Rcb1d354c00a74d75" /></Relationships>
</file>

<file path=ppt/notesSlides/_rels/notesSlide4.xml.rels>&#65279;<?xml version="1.0" encoding="utf-8"?><Relationships xmlns="http://schemas.openxmlformats.org/package/2006/relationships"><Relationship Type="http://schemas.openxmlformats.org/officeDocument/2006/relationships/slide" Target="/ppt/slides/slide4.xml" Id="R5305abcccae94faf" /><Relationship Type="http://schemas.openxmlformats.org/officeDocument/2006/relationships/notesMaster" Target="/ppt/notesMasters/notesMaster1.xml" Id="Rbbe57d53ffe6476e" /></Relationships>
</file>

<file path=ppt/notesSlides/_rels/notesSlide5.xml.rels>&#65279;<?xml version="1.0" encoding="utf-8"?><Relationships xmlns="http://schemas.openxmlformats.org/package/2006/relationships"><Relationship Type="http://schemas.openxmlformats.org/officeDocument/2006/relationships/slide" Target="/ppt/slides/slide5.xml" Id="R86e38e06a86f4ab3" /><Relationship Type="http://schemas.openxmlformats.org/officeDocument/2006/relationships/notesMaster" Target="/ppt/notesMasters/notesMaster1.xml" Id="Rb8d86e4362d24d00"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1266c6b9d34f9f" /><Relationship Type="http://schemas.openxmlformats.org/officeDocument/2006/relationships/notesMaster" Target="/ppt/notesMasters/notesMaster1.xml" Id="Ra207471964144d09" /></Relationships>
</file>

<file path=ppt/notesSlides/_rels/notesSlide7.xml.rels>&#65279;<?xml version="1.0" encoding="utf-8"?><Relationships xmlns="http://schemas.openxmlformats.org/package/2006/relationships"><Relationship Type="http://schemas.openxmlformats.org/officeDocument/2006/relationships/slide" Target="/ppt/slides/slide7.xml" Id="R8c898bcfa14c4056" /><Relationship Type="http://schemas.openxmlformats.org/officeDocument/2006/relationships/notesMaster" Target="/ppt/notesMasters/notesMaster1.xml" Id="Rf26f5430749d4134" /></Relationships>
</file>

<file path=ppt/notesSlides/_rels/notesSlide8.xml.rels>&#65279;<?xml version="1.0" encoding="utf-8"?><Relationships xmlns="http://schemas.openxmlformats.org/package/2006/relationships"><Relationship Type="http://schemas.openxmlformats.org/officeDocument/2006/relationships/slide" Target="/ppt/slides/slide8.xml" Id="R6057d1c45cdf48a6" /><Relationship Type="http://schemas.openxmlformats.org/officeDocument/2006/relationships/notesMaster" Target="/ppt/notesMasters/notesMaster1.xml" Id="Ra1887b81cd9d4768" /></Relationships>
</file>

<file path=ppt/notesSlides/_rels/notesSlide9.xml.rels>&#65279;<?xml version="1.0" encoding="utf-8"?><Relationships xmlns="http://schemas.openxmlformats.org/package/2006/relationships"><Relationship Type="http://schemas.openxmlformats.org/officeDocument/2006/relationships/slide" Target="/ppt/slides/slide9.xml" Id="R278f98dd2b674d61" /><Relationship Type="http://schemas.openxmlformats.org/officeDocument/2006/relationships/notesMaster" Target="/ppt/notesMasters/notesMaster1.xml" Id="R1d01583b67894b6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81c335efa074339" /><Relationship Type="http://schemas.openxmlformats.org/officeDocument/2006/relationships/notesMaster" Target="/ppt/notesMasters/notesMaster1.xml" Id="R3876d36003cd4d0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b6edce4dd0e4967" /><Relationship Type="http://schemas.openxmlformats.org/officeDocument/2006/relationships/notesMaster" Target="/ppt/notesMasters/notesMaster1.xml" Id="Rb4f7336ccf944a2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cb060ca6df6479a" /><Relationship Type="http://schemas.openxmlformats.org/officeDocument/2006/relationships/notesMaster" Target="/ppt/notesMasters/notesMaster1.xml" Id="Rdf8e0358894b456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for Unitek Learning’s Full Time Instructional Designer — Higher Ed opening. Cover artwork is a reviewed decorative image, not evidence. Selected proof comprises a published 2024 Coursera Guided Project, formal ASU instructional-design/AI roles, a documented ASU proposal and adjacent Oak research. No Canvas, Articulate, LMS reporting or healthcare curriculum expertise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Formal roles and dates follow the current reviewed career materials. ASU Knowledge Enterprise: Instructional Designer, April 2022–October 2024. ASU Learning Innovations: AI Analyst, February–October 2024. The official Coursera page attributes the published Guided Project to Jonathan “Kyle” Hobson; original materials are from 2024. These overlapping activities are not summed into additional years. ASU instructional-material work is not relabeled as verified Canvas publishing, full-course LMS ownership, healthcare curriculum design or a four-year online-course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official Coursera project, ChatGPT 4o for Beginners: Create Social Media Content, https://www.coursera.org/projects/chatgpt-beginners , checked September 8, 2026; original 2024 Task 3 lesson material. The course is beginner level, approximately one hour and publicly attributed to Jonathan “Kyle” Hobson. The original teaching slide is preserved with Coursera credit. It communicates learning goals; it does not establish completion, transfer or causal improvement. Moving enrollment/review counts are omitted.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2024 Coursera Task 3 recording at 03:35, preserved in the reviewed public source crop. The short prompt and initial draft are historical demonstration content. Brew Bliss is a fictional practice brand; model-generated business details are not verified client facts. This is a teaching artifact, not a marketing campaign, research finding or student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2024 Task 3 revision instruction at 03:35 and subsequent output at 04:00. The native prompt description paraphrases the visible instruction; the website retains the full original instruction including typos. The output crop shows the heading and first two paragraphs, not the complete answer. This retrospective interpretation discusses added detail and length. It is not a controlled experiment, verified marketing claim or proof of learner transfer.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reviewed 2024 ASU Learning Innovations proposal and accompanying source brief. Kyle proposed a prompt workflow that condensed learner context, included mentor validation of context, personalized a task template, generated and refined tasks, included mentor confirmation or revision, and prepared structured learner-facing output and feedback. This editable reconstruction groups the original steps into six stages while retaining both mentor review gates. It is a proposal, not a deployed clinical system or a measured efficiency or learning outcome. The human review pattern is adjacent evidence for discussing learning workflows at Unitek Learning; no prior Unitek Learning engagement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Oak + Qasim audience survey, March 2025. Kyle’s reviewed portfolio identifies his role as leading survey design, launch and analysis. Original source: Survey #1 Phase 2 — Findings Report: Understanding Audience Pain Points &amp; Value-Aligned Actions, page 4. The report records 1,459 complete submissions as of March 14, 2025 while the survey remained live. This is a voluntary creator/advocacy audience sample, with predominantly older, female and highly educated respondents. Self-reported needs and preferences do not establish future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 Qasim March 2025 findings report, page 14, shown unchanged at left. Native editable chart reproduces the report’s values: decision fatigue 60%; financial constraints 40%; time limitations 38%; lack of clear action steps 35%; trust issues 20%. The chart workbook is a new snapshot of these literal reported values, not the original response data. Per-item denominators, skip logic and response-level quality checks were not recovered. These are reported survey percentages, not independently recalculated estimates or population prevalence.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Oak desktop evaluation and error-messaging recommendation artifact. The shown crops retain original interface pixels and exclude the identity-bearing example field. Original and Proposed labels distinguish the existing interface from the recommendation. The evaluation identified error feedback that did not explain recovery, and the recommendation made a specific correction visible near the password field. This is a recommendation, not a measured usability improvement or a claim that the exact variant shipped.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Task 3 summary slide from the 2024 Coursera lesson, with credit and historical wording preserved. The transfer check is a retrospective proposal from the reviewed portfolio: use a new task and ask the learner to explain the weakness, chosen revision and acceptance decision. These exact assessment questions are not claimed as administered in the course. The original summary’s general teaching claims are not presented as measured course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approach informed by the official Unitek Learning Full Time Instructional Designer — Higher Ed listing, posting 744000147045639, checked September 8, 2026. This is a course-review direction, not a completed Unitek engagement, healthcare curriculum or compliance certification. Faculty and institutional requirements govern the scope. No LMS tool expertise, clinical content, learner outcome, promised production schedule or salary acceptance is invented.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for the Unitek Learning higher-education instructional-design opening. The portfolio destination is configured as a hyperlink. The employer lists three office days per week in Tempe. No salary range is published and no rate acceptance is promised.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bd01784266d41d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940dbe217b94490" /><Relationship Type="http://schemas.openxmlformats.org/officeDocument/2006/relationships/slideLayout" Target="/ppt/slideLayouts/slideLayout1.xml" Id="R86863225bbf946c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6863225bbf946c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df5164061854c0d" /><Relationship Type="http://schemas.openxmlformats.org/officeDocument/2006/relationships/image" Target="/ppt/media/image.png" Id="R17e1b5a6f02a4356" /><Relationship Type="http://schemas.openxmlformats.org/officeDocument/2006/relationships/notesSlide" Target="/ppt/notesSlides/notesSlide1.xml" Id="Raa8bb6f5e85a4ab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2bea56aad384f3b" /><Relationship Type="http://schemas.openxmlformats.org/officeDocument/2006/relationships/notesSlide" Target="/ppt/notesSlides/notesSlide2.xml" Id="R101b9abf0a31428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005da4d540b48aa" /><Relationship Type="http://schemas.openxmlformats.org/officeDocument/2006/relationships/image" Target="/ppt/media/image2.png" Id="R1369c0fdab464d10" /><Relationship Type="http://schemas.openxmlformats.org/officeDocument/2006/relationships/notesSlide" Target="/ppt/notesSlides/notesSlide3.xml" Id="R8b6ca0655749469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cbf6f38f9824ce4" /><Relationship Type="http://schemas.openxmlformats.org/officeDocument/2006/relationships/image" Target="/ppt/media/image3.png" Id="Re9767b9893ab40b2" /><Relationship Type="http://schemas.openxmlformats.org/officeDocument/2006/relationships/notesSlide" Target="/ppt/notesSlides/notesSlide4.xml" Id="Rd6bf4b4927764b7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12c6de2a9fd4c3a" /><Relationship Type="http://schemas.openxmlformats.org/officeDocument/2006/relationships/image" Target="/ppt/media/image4.png" Id="R541b5ff2d8644e07" /><Relationship Type="http://schemas.openxmlformats.org/officeDocument/2006/relationships/notesSlide" Target="/ppt/notesSlides/notesSlide5.xml" Id="R263d9bf21dd94e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c55ebee94ce474f" /><Relationship Type="http://schemas.openxmlformats.org/officeDocument/2006/relationships/notesSlide" Target="/ppt/notesSlides/notesSlide6.xml" Id="R70dee52c5b234ed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353549c58974112" /><Relationship Type="http://schemas.openxmlformats.org/officeDocument/2006/relationships/image" Target="/ppt/media/image5.png" Id="R1851f162075141f5" /><Relationship Type="http://schemas.openxmlformats.org/officeDocument/2006/relationships/notesSlide" Target="/ppt/notesSlides/notesSlide7.xml" Id="Rfbe5fd1d8099446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3184006897949d1" /><Relationship Type="http://schemas.openxmlformats.org/officeDocument/2006/relationships/image" Target="/ppt/media/image6.png" Id="Rfde853b15dbd46dc" /><Relationship Type="http://schemas.openxmlformats.org/officeDocument/2006/relationships/chart" Target="/ppt/slides/charts/chart1.xml" Id="R06a53f342f794576" /><Relationship Type="http://schemas.openxmlformats.org/officeDocument/2006/relationships/notesSlide" Target="/ppt/notesSlides/notesSlide8.xml" Id="R1afd48658d734fb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a6d5ed9e0ec47d9" /><Relationship Type="http://schemas.openxmlformats.org/officeDocument/2006/relationships/image" Target="/ppt/media/image7.png" Id="R8c9faf0f2cc0463d" /><Relationship Type="http://schemas.openxmlformats.org/officeDocument/2006/relationships/image" Target="/ppt/media/image8.png" Id="Rb8a143ce96804025" /><Relationship Type="http://schemas.openxmlformats.org/officeDocument/2006/relationships/image" Target="/ppt/media/image9.png" Id="R20a54e78745d490a" /><Relationship Type="http://schemas.openxmlformats.org/officeDocument/2006/relationships/notesSlide" Target="/ppt/notesSlides/notesSlide9.xml" Id="R0a876ca665ed4fa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bd31eba8b3f473d" /><Relationship Type="http://schemas.openxmlformats.org/officeDocument/2006/relationships/image" Target="/ppt/media/image10.png" Id="Rae2951b5dd634a29" /><Relationship Type="http://schemas.openxmlformats.org/officeDocument/2006/relationships/notesSlide" Target="/ppt/notesSlides/notesSlide10.xml" Id="R5da10eb9aeaf475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2e6d94bcf1f4733" /><Relationship Type="http://schemas.openxmlformats.org/officeDocument/2006/relationships/image" Target="/ppt/media/image.jpeg" Id="R5ad40227c3374993" /><Relationship Type="http://schemas.openxmlformats.org/officeDocument/2006/relationships/notesSlide" Target="/ppt/notesSlides/notesSlide11.xml" Id="Rcb59e5092a51411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6a4a9d391ab44f1" /><Relationship Type="http://schemas.openxmlformats.org/officeDocument/2006/relationships/hyperlink" Target="mailto:JonathanKyleHobson@gmail.com" TargetMode="External" Id="Rf5ce254f79a849d8" /><Relationship Type="http://schemas.openxmlformats.org/officeDocument/2006/relationships/hyperlink" Target="https://jonathankhobson.github.io/application-portfolios/unitek-instructional-designer/" TargetMode="External" Id="R9af30b75ecbe4cdf" /><Relationship Type="http://schemas.openxmlformats.org/officeDocument/2006/relationships/notesSlide" Target="/ppt/notesSlides/notesSlide12.xml" Id="R8501776649b64ad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Reported barrier</c:v>
          </c:tx>
          <c:spPr>
            <a:solidFill xmlns:a="http://schemas.openxmlformats.org/drawingml/2006/main">
              <a:srgbClr val="244D3C"/>
            </a:solidFill>
          </c:spPr>
          <c:cat>
            <c:strRef>
              <c:f>'Chart Data'!$A$2:$A$6</c:f>
              <c:strCache>
                <c:ptCount val="5"/>
                <c:pt idx="0">
                  <c:v>Trust issues</c:v>
                </c:pt>
                <c:pt idx="1">
                  <c:v>Unclear action steps</c:v>
                </c:pt>
                <c:pt idx="2">
                  <c:v>Time limitations</c:v>
                </c:pt>
                <c:pt idx="3">
                  <c:v>Financial constraints</c:v>
                </c:pt>
                <c:pt idx="4">
                  <c:v>Decision fatigue</c:v>
                </c:pt>
              </c:strCache>
            </c:strRef>
          </c:cat>
          <c:val>
            <c:numRef>
              <c:f>'Chart Data'!$B$2:$B$6</c:f>
              <c:numCache>
                <c:formatCode>0%</c:formatCode>
                <c:ptCount val="5"/>
                <c:pt idx="0">
                  <c:v>0.2</c:v>
                </c:pt>
                <c:pt idx="1">
                  <c:v>0.35</c:v>
                </c:pt>
                <c:pt idx="2">
                  <c:v>0.38</c:v>
                </c:pt>
                <c:pt idx="3">
                  <c:v>0.4</c:v>
                </c:pt>
                <c:pt idx="4">
                  <c:v>0.6</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244D3C"/>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2"/>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a:solidFill>
                  <a:srgbClr val="192B25"/>
                </a:solidFill>
                <a:latin typeface="Helvetica Neue"/>
                <a:ea typeface="Helvetica Neue"/>
                <a:cs typeface="Helvetica Neue"/>
              </a:defRPr>
            </a:pPr>
          </a:p>
        </c:txPr>
        <c:crossAx val="48672768"/>
      </c:catAx>
      <c:valAx>
        <c:axId val="48672768"/>
        <c:scaling>
          <c:orientation val="minMax"/>
          <c:max val="0.7"/>
          <c:min val="0"/>
        </c:scaling>
        <c:delete val="0"/>
        <c:axPos val="b"/>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8645D"/>
                </a:solidFill>
                <a:latin typeface="Helvetica Neue"/>
                <a:ea typeface="Helvetica Neue"/>
                <a:cs typeface="Helvetica Neue"/>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7e1b5a6f02a4356"/>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ection-label">
            <a:extLst xmlns:a="http://schemas.openxmlformats.org/drawingml/2006/main">
              <a:ext uri="{FF2B5EF4-FFF2-40B4-BE49-F238E27FC236}">
                <a16:creationId xmlns:a16="http://schemas.microsoft.com/office/drawing/2014/main" id="{63936ACB-C64A-4274-87DC-4FACA9DFBDDB}"/>
              </a:ext>
            </a:extLst>
          </p:cNvPr>
          <p:cNvSpPr>
            <a:spLocks xmlns:a="http://schemas.openxmlformats.org/drawingml/2006/main" noGrp="1"/>
          </p:cNvSpPr>
          <p:nvPr/>
        </p:nvSpPr>
        <p:spPr>
          <a:xfrm xmlns:a="http://schemas.openxmlformats.org/drawingml/2006/main">
            <a:off x="609600" y="5143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KYLE HOBSON   /   UNITEK LEARNING · INSTRUCTIONAL DESIGN</a:t>
            </a:r>
          </a:p>
        </p:txBody>
      </p:sp>
      <p:sp>
        <p:nvSpPr>
          <p:cNvPr id="3" name="headline">
            <a:extLst xmlns:a="http://schemas.openxmlformats.org/drawingml/2006/main">
              <a:ext uri="{FF2B5EF4-FFF2-40B4-BE49-F238E27FC236}">
                <a16:creationId xmlns:a16="http://schemas.microsoft.com/office/drawing/2014/main" id="{CE6AD925-6B73-4501-83AC-340C741E3EDA}"/>
              </a:ext>
            </a:extLst>
          </p:cNvPr>
          <p:cNvSpPr>
            <a:spLocks xmlns:a="http://schemas.openxmlformats.org/drawingml/2006/main" noGrp="1"/>
          </p:cNvSpPr>
          <p:nvPr/>
        </p:nvSpPr>
        <p:spPr>
          <a:xfrm xmlns:a="http://schemas.openxmlformats.org/drawingml/2006/main">
            <a:off x="609600" y="1552575"/>
            <a:ext cx="80867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500" b="1">
                <a:solidFill>
                  <a:srgbClr val="192B25"/>
                </a:solidFill>
                <a:latin typeface="Helvetica Neue"/>
                <a:ea typeface="Helvetica Neue"/>
                <a:cs typeface="Helvetica Neue"/>
              </a:defRPr>
            </a:pPr>
            <a:r>
              <a:rPr sz="4500" b="1">
                <a:solidFill>
                  <a:srgbClr val="192B25"/>
                </a:solidFill>
                <a:latin typeface="Helvetica Neue"/>
                <a:ea typeface="Helvetica Neue"/>
                <a:cs typeface="Helvetica Neue"/>
              </a:rPr>
              <a:t>Learning with a</a:t>
            </a:r>
          </a:p>
          <a:p xmlns:a="http://schemas.openxmlformats.org/drawingml/2006/main">
            <a:pPr>
              <a:lnSpc>
                <a:spcPct val="110000"/>
              </a:lnSpc>
              <a:buNone/>
              <a:defRPr sz="4500" b="1">
                <a:solidFill>
                  <a:srgbClr val="192B25"/>
                </a:solidFill>
                <a:latin typeface="Helvetica Neue"/>
                <a:ea typeface="Helvetica Neue"/>
                <a:cs typeface="Helvetica Neue"/>
              </a:defRPr>
            </a:pPr>
            <a:r>
              <a:rPr sz="4500" b="1">
                <a:solidFill>
                  <a:srgbClr val="192B25"/>
                </a:solidFill>
                <a:latin typeface="Helvetica Neue"/>
                <a:ea typeface="Helvetica Neue"/>
                <a:cs typeface="Helvetica Neue"/>
              </a:rPr>
              <a:t>clear next step</a:t>
            </a:r>
          </a:p>
        </p:txBody>
      </p:sp>
      <p:sp>
        <p:nvSpPr>
          <p:cNvPr id="4" name="cover-intro">
            <a:extLst xmlns:a="http://schemas.openxmlformats.org/drawingml/2006/main">
              <a:ext uri="{FF2B5EF4-FFF2-40B4-BE49-F238E27FC236}">
                <a16:creationId xmlns:a16="http://schemas.microsoft.com/office/drawing/2014/main" id="{C96C6EA5-E5C5-4D85-9211-E37AC860560F}"/>
              </a:ext>
            </a:extLst>
          </p:cNvPr>
          <p:cNvSpPr>
            <a:spLocks xmlns:a="http://schemas.openxmlformats.org/drawingml/2006/main" noGrp="1"/>
          </p:cNvSpPr>
          <p:nvPr/>
        </p:nvSpPr>
        <p:spPr>
          <a:xfrm xmlns:a="http://schemas.openxmlformats.org/drawingml/2006/main">
            <a:off x="647700" y="3971925"/>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Published teaching, higher-education work,</a:t>
            </a:r>
          </a:p>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and research that helps refine an experience.</a:t>
            </a:r>
          </a:p>
        </p:txBody>
      </p:sp>
      <p:sp>
        <p:nvSpPr>
          <p:cNvPr id="5" name="cover-scope">
            <a:extLst xmlns:a="http://schemas.openxmlformats.org/drawingml/2006/main">
              <a:ext uri="{FF2B5EF4-FFF2-40B4-BE49-F238E27FC236}">
                <a16:creationId xmlns:a16="http://schemas.microsoft.com/office/drawing/2014/main" id="{0C8A531E-C4D2-4A1B-BE16-9E88DCAA5138}"/>
              </a:ext>
            </a:extLst>
          </p:cNvPr>
          <p:cNvSpPr>
            <a:spLocks xmlns:a="http://schemas.openxmlformats.org/drawingml/2006/main" noGrp="1"/>
          </p:cNvSpPr>
          <p:nvPr/>
        </p:nvSpPr>
        <p:spPr>
          <a:xfrm xmlns:a="http://schemas.openxmlformats.org/drawingml/2006/main">
            <a:off x="647700" y="6000750"/>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192B25"/>
                </a:solidFill>
                <a:latin typeface="Helvetica Neue"/>
                <a:ea typeface="Helvetica Neue"/>
                <a:cs typeface="Helvetica Neue"/>
              </a:defRPr>
            </a:pPr>
            <a:r>
              <a:rPr sz="1425" b="0">
                <a:solidFill>
                  <a:srgbClr val="192B25"/>
                </a:solidFill>
                <a:latin typeface="Helvetica Neue"/>
                <a:ea typeface="Helvetica Neue"/>
                <a:cs typeface="Helvetica Neue"/>
              </a:rPr>
              <a:t>Selected for Unitek Learning · Higher Ed · September 2026</a:t>
            </a:r>
          </a:p>
        </p:txBody>
      </p:sp>
      <p:sp>
        <p:nvSpPr>
          <p:cNvPr id="6" name="slide-number">
            <a:extLst xmlns:a="http://schemas.openxmlformats.org/drawingml/2006/main">
              <a:ext uri="{FF2B5EF4-FFF2-40B4-BE49-F238E27FC236}">
                <a16:creationId xmlns:a16="http://schemas.microsoft.com/office/drawing/2014/main" id="{E7041A84-417A-40AE-8992-EB49C44178B9}"/>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01</a:t>
            </a:r>
          </a:p>
        </p:txBody>
      </p:sp>
    </p:spTree>
    <p:extLst>
      <p:ext uri="{BB962C8B-B14F-4D97-AF65-F5344CB8AC3E}">
        <p14:creationId xmlns:p14="http://schemas.microsoft.com/office/powerpoint/2010/main" val="26929966"/>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6" name="section-label">
            <a:extLst xmlns:a="http://schemas.openxmlformats.org/drawingml/2006/main">
              <a:ext uri="{FF2B5EF4-FFF2-40B4-BE49-F238E27FC236}">
                <a16:creationId xmlns:a16="http://schemas.microsoft.com/office/drawing/2014/main" id="{6F9B40B5-B3A4-4C35-9DD7-4C4036E57C4A}"/>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EXPERIENCE   /   LEARNING MATERIALS AND GUIDED PRACTICE</a:t>
            </a:r>
          </a:p>
        </p:txBody>
      </p:sp>
      <p:sp>
        <p:nvSpPr>
          <p:cNvPr id="2" name="headline">
            <a:extLst xmlns:a="http://schemas.openxmlformats.org/drawingml/2006/main">
              <a:ext uri="{FF2B5EF4-FFF2-40B4-BE49-F238E27FC236}">
                <a16:creationId xmlns:a16="http://schemas.microsoft.com/office/drawing/2014/main" id="{C71FB42A-325D-4F7A-B89D-99A790AE2CA8}"/>
              </a:ext>
            </a:extLst>
          </p:cNvPr>
          <p:cNvSpPr>
            <a:spLocks xmlns:a="http://schemas.openxmlformats.org/drawingml/2006/main" noGrp="1"/>
          </p:cNvSpPr>
          <p:nvPr/>
        </p:nvSpPr>
        <p:spPr>
          <a:xfrm xmlns:a="http://schemas.openxmlformats.org/drawingml/2006/main">
            <a:off x="609600" y="1095375"/>
            <a:ext cx="108966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Higher-education work</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and published teaching</a:t>
            </a:r>
          </a:p>
        </p:txBody>
      </p:sp>
      <p:sp>
        <p:nvSpPr>
          <p:cNvPr id="3" name="date-0">
            <a:extLst xmlns:a="http://schemas.openxmlformats.org/drawingml/2006/main">
              <a:ext uri="{FF2B5EF4-FFF2-40B4-BE49-F238E27FC236}">
                <a16:creationId xmlns:a16="http://schemas.microsoft.com/office/drawing/2014/main" id="{9AA99F09-B39E-4252-B668-E99543C4CCAF}"/>
              </a:ext>
            </a:extLst>
          </p:cNvPr>
          <p:cNvSpPr>
            <a:spLocks xmlns:a="http://schemas.openxmlformats.org/drawingml/2006/main" noGrp="1"/>
          </p:cNvSpPr>
          <p:nvPr/>
        </p:nvSpPr>
        <p:spPr>
          <a:xfrm xmlns:a="http://schemas.openxmlformats.org/drawingml/2006/main">
            <a:off x="609600" y="31146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APR 2022–OCT 2024</a:t>
            </a:r>
          </a:p>
        </p:txBody>
      </p:sp>
      <p:sp>
        <p:nvSpPr>
          <p:cNvPr id="4" name="org-0">
            <a:extLst xmlns:a="http://schemas.openxmlformats.org/drawingml/2006/main">
              <a:ext uri="{FF2B5EF4-FFF2-40B4-BE49-F238E27FC236}">
                <a16:creationId xmlns:a16="http://schemas.microsoft.com/office/drawing/2014/main" id="{4DBC8A18-1523-42B2-BD9B-621CF6CC49FD}"/>
              </a:ext>
            </a:extLst>
          </p:cNvPr>
          <p:cNvSpPr>
            <a:spLocks xmlns:a="http://schemas.openxmlformats.org/drawingml/2006/main" noGrp="1"/>
          </p:cNvSpPr>
          <p:nvPr/>
        </p:nvSpPr>
        <p:spPr>
          <a:xfrm xmlns:a="http://schemas.openxmlformats.org/drawingml/2006/main">
            <a:off x="609600" y="36099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1">
                <a:solidFill>
                  <a:srgbClr val="192B25"/>
                </a:solidFill>
                <a:latin typeface="Helvetica Neue"/>
                <a:ea typeface="Helvetica Neue"/>
                <a:cs typeface="Helvetica Neue"/>
              </a:defRPr>
            </a:pPr>
            <a:r>
              <a:rPr sz="2175" b="1">
                <a:solidFill>
                  <a:srgbClr val="192B25"/>
                </a:solidFill>
                <a:latin typeface="Helvetica Neue"/>
                <a:ea typeface="Helvetica Neue"/>
                <a:cs typeface="Helvetica Neue"/>
              </a:rPr>
              <a:t>ASU Knowledge Enterprise</a:t>
            </a:r>
          </a:p>
        </p:txBody>
      </p:sp>
      <p:sp>
        <p:nvSpPr>
          <p:cNvPr id="5" name="role-0">
            <a:extLst xmlns:a="http://schemas.openxmlformats.org/drawingml/2006/main">
              <a:ext uri="{FF2B5EF4-FFF2-40B4-BE49-F238E27FC236}">
                <a16:creationId xmlns:a16="http://schemas.microsoft.com/office/drawing/2014/main" id="{0C9138A1-9427-4506-96E0-CBCDA1BDF33A}"/>
              </a:ext>
            </a:extLst>
          </p:cNvPr>
          <p:cNvSpPr>
            <a:spLocks xmlns:a="http://schemas.openxmlformats.org/drawingml/2006/main" noGrp="1"/>
          </p:cNvSpPr>
          <p:nvPr/>
        </p:nvSpPr>
        <p:spPr>
          <a:xfrm xmlns:a="http://schemas.openxmlformats.org/drawingml/2006/main">
            <a:off x="609600" y="44767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1">
                <a:solidFill>
                  <a:srgbClr val="244D3C"/>
                </a:solidFill>
                <a:latin typeface="Helvetica Neue"/>
                <a:ea typeface="Helvetica Neue"/>
                <a:cs typeface="Helvetica Neue"/>
              </a:defRPr>
            </a:pPr>
            <a:r>
              <a:rPr sz="1575" b="1">
                <a:solidFill>
                  <a:srgbClr val="244D3C"/>
                </a:solidFill>
                <a:latin typeface="Helvetica Neue"/>
                <a:ea typeface="Helvetica Neue"/>
                <a:cs typeface="Helvetica Neue"/>
              </a:rPr>
              <a:t>Instructional Designer</a:t>
            </a:r>
          </a:p>
        </p:txBody>
      </p:sp>
      <p:sp>
        <p:nvSpPr>
          <p:cNvPr id="6" name="scope-0">
            <a:extLst xmlns:a="http://schemas.openxmlformats.org/drawingml/2006/main">
              <a:ext uri="{FF2B5EF4-FFF2-40B4-BE49-F238E27FC236}">
                <a16:creationId xmlns:a16="http://schemas.microsoft.com/office/drawing/2014/main" id="{0FA12369-8135-4826-806E-CAE2A22A041C}"/>
              </a:ext>
            </a:extLst>
          </p:cNvPr>
          <p:cNvSpPr>
            <a:spLocks xmlns:a="http://schemas.openxmlformats.org/drawingml/2006/main" noGrp="1"/>
          </p:cNvSpPr>
          <p:nvPr/>
        </p:nvSpPr>
        <p:spPr>
          <a:xfrm xmlns:a="http://schemas.openxmlformats.org/drawingml/2006/main">
            <a:off x="609600" y="5076825"/>
            <a:ext cx="3333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Digital learning materials, workshops and accessibility improvements.</a:t>
            </a:r>
          </a:p>
        </p:txBody>
      </p:sp>
      <p:sp>
        <p:nvSpPr>
          <p:cNvPr id="7" name="date-1">
            <a:extLst xmlns:a="http://schemas.openxmlformats.org/drawingml/2006/main">
              <a:ext uri="{FF2B5EF4-FFF2-40B4-BE49-F238E27FC236}">
                <a16:creationId xmlns:a16="http://schemas.microsoft.com/office/drawing/2014/main" id="{A642B9DE-5834-452C-A6CE-6C7A051FF7F2}"/>
              </a:ext>
            </a:extLst>
          </p:cNvPr>
          <p:cNvSpPr>
            <a:spLocks xmlns:a="http://schemas.openxmlformats.org/drawingml/2006/main" noGrp="1"/>
          </p:cNvSpPr>
          <p:nvPr/>
        </p:nvSpPr>
        <p:spPr>
          <a:xfrm xmlns:a="http://schemas.openxmlformats.org/drawingml/2006/main">
            <a:off x="4400550" y="31146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2024</a:t>
            </a:r>
          </a:p>
        </p:txBody>
      </p:sp>
      <p:sp>
        <p:nvSpPr>
          <p:cNvPr id="8" name="org-1">
            <a:extLst xmlns:a="http://schemas.openxmlformats.org/drawingml/2006/main">
              <a:ext uri="{FF2B5EF4-FFF2-40B4-BE49-F238E27FC236}">
                <a16:creationId xmlns:a16="http://schemas.microsoft.com/office/drawing/2014/main" id="{8B319CDF-E683-4454-B4F5-2EFCD9BA29C7}"/>
              </a:ext>
            </a:extLst>
          </p:cNvPr>
          <p:cNvSpPr>
            <a:spLocks xmlns:a="http://schemas.openxmlformats.org/drawingml/2006/main" noGrp="1"/>
          </p:cNvSpPr>
          <p:nvPr/>
        </p:nvSpPr>
        <p:spPr>
          <a:xfrm xmlns:a="http://schemas.openxmlformats.org/drawingml/2006/main">
            <a:off x="4400550" y="36099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1">
                <a:solidFill>
                  <a:srgbClr val="192B25"/>
                </a:solidFill>
                <a:latin typeface="Helvetica Neue"/>
                <a:ea typeface="Helvetica Neue"/>
                <a:cs typeface="Helvetica Neue"/>
              </a:defRPr>
            </a:pPr>
            <a:r>
              <a:rPr sz="2175" b="1">
                <a:solidFill>
                  <a:srgbClr val="192B25"/>
                </a:solidFill>
                <a:latin typeface="Helvetica Neue"/>
                <a:ea typeface="Helvetica Neue"/>
                <a:cs typeface="Helvetica Neue"/>
              </a:rPr>
              <a:t>Coursera Guided Project</a:t>
            </a:r>
          </a:p>
        </p:txBody>
      </p:sp>
      <p:sp>
        <p:nvSpPr>
          <p:cNvPr id="9" name="role-1">
            <a:extLst xmlns:a="http://schemas.openxmlformats.org/drawingml/2006/main">
              <a:ext uri="{FF2B5EF4-FFF2-40B4-BE49-F238E27FC236}">
                <a16:creationId xmlns:a16="http://schemas.microsoft.com/office/drawing/2014/main" id="{6BCDD4C8-A5FB-4830-A442-5E90E300F2A8}"/>
              </a:ext>
            </a:extLst>
          </p:cNvPr>
          <p:cNvSpPr>
            <a:spLocks xmlns:a="http://schemas.openxmlformats.org/drawingml/2006/main" noGrp="1"/>
          </p:cNvSpPr>
          <p:nvPr/>
        </p:nvSpPr>
        <p:spPr>
          <a:xfrm xmlns:a="http://schemas.openxmlformats.org/drawingml/2006/main">
            <a:off x="4400550" y="44767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1">
                <a:solidFill>
                  <a:srgbClr val="244D3C"/>
                </a:solidFill>
                <a:latin typeface="Helvetica Neue"/>
                <a:ea typeface="Helvetica Neue"/>
                <a:cs typeface="Helvetica Neue"/>
              </a:defRPr>
            </a:pPr>
            <a:r>
              <a:rPr sz="1575" b="1">
                <a:solidFill>
                  <a:srgbClr val="244D3C"/>
                </a:solidFill>
                <a:latin typeface="Helvetica Neue"/>
                <a:ea typeface="Helvetica Neue"/>
                <a:cs typeface="Helvetica Neue"/>
              </a:rPr>
              <a:t>Instructor</a:t>
            </a:r>
          </a:p>
        </p:txBody>
      </p:sp>
      <p:sp>
        <p:nvSpPr>
          <p:cNvPr id="10" name="scope-1">
            <a:extLst xmlns:a="http://schemas.openxmlformats.org/drawingml/2006/main">
              <a:ext uri="{FF2B5EF4-FFF2-40B4-BE49-F238E27FC236}">
                <a16:creationId xmlns:a16="http://schemas.microsoft.com/office/drawing/2014/main" id="{2E424D5B-89B9-43E0-84AC-6454E4EDA8EC}"/>
              </a:ext>
            </a:extLst>
          </p:cNvPr>
          <p:cNvSpPr>
            <a:spLocks xmlns:a="http://schemas.openxmlformats.org/drawingml/2006/main" noGrp="1"/>
          </p:cNvSpPr>
          <p:nvPr/>
        </p:nvSpPr>
        <p:spPr>
          <a:xfrm xmlns:a="http://schemas.openxmlformats.org/drawingml/2006/main">
            <a:off x="4400550" y="5076825"/>
            <a:ext cx="3333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Beginner task sequence, prompt examples and original lesson demonstrations.</a:t>
            </a:r>
          </a:p>
        </p:txBody>
      </p:sp>
      <p:sp>
        <p:nvSpPr>
          <p:cNvPr id="11" name="date-2">
            <a:extLst xmlns:a="http://schemas.openxmlformats.org/drawingml/2006/main">
              <a:ext uri="{FF2B5EF4-FFF2-40B4-BE49-F238E27FC236}">
                <a16:creationId xmlns:a16="http://schemas.microsoft.com/office/drawing/2014/main" id="{727630CE-D403-4089-9A83-23F276183BBD}"/>
              </a:ext>
            </a:extLst>
          </p:cNvPr>
          <p:cNvSpPr>
            <a:spLocks xmlns:a="http://schemas.openxmlformats.org/drawingml/2006/main" noGrp="1"/>
          </p:cNvSpPr>
          <p:nvPr/>
        </p:nvSpPr>
        <p:spPr>
          <a:xfrm xmlns:a="http://schemas.openxmlformats.org/drawingml/2006/main">
            <a:off x="8191500" y="31146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FEB–OCT 2024</a:t>
            </a:r>
          </a:p>
        </p:txBody>
      </p:sp>
      <p:sp>
        <p:nvSpPr>
          <p:cNvPr id="12" name="org-2">
            <a:extLst xmlns:a="http://schemas.openxmlformats.org/drawingml/2006/main">
              <a:ext uri="{FF2B5EF4-FFF2-40B4-BE49-F238E27FC236}">
                <a16:creationId xmlns:a16="http://schemas.microsoft.com/office/drawing/2014/main" id="{3E1AD53C-5B8E-4B82-A23C-1B28913BA8DE}"/>
              </a:ext>
            </a:extLst>
          </p:cNvPr>
          <p:cNvSpPr>
            <a:spLocks xmlns:a="http://schemas.openxmlformats.org/drawingml/2006/main" noGrp="1"/>
          </p:cNvSpPr>
          <p:nvPr/>
        </p:nvSpPr>
        <p:spPr>
          <a:xfrm xmlns:a="http://schemas.openxmlformats.org/drawingml/2006/main">
            <a:off x="8191500" y="36099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1">
                <a:solidFill>
                  <a:srgbClr val="192B25"/>
                </a:solidFill>
                <a:latin typeface="Helvetica Neue"/>
                <a:ea typeface="Helvetica Neue"/>
                <a:cs typeface="Helvetica Neue"/>
              </a:defRPr>
            </a:pPr>
            <a:r>
              <a:rPr sz="2175" b="1">
                <a:solidFill>
                  <a:srgbClr val="192B25"/>
                </a:solidFill>
                <a:latin typeface="Helvetica Neue"/>
                <a:ea typeface="Helvetica Neue"/>
                <a:cs typeface="Helvetica Neue"/>
              </a:rPr>
              <a:t>ASU Learning Innovations</a:t>
            </a:r>
          </a:p>
        </p:txBody>
      </p:sp>
      <p:sp>
        <p:nvSpPr>
          <p:cNvPr id="13" name="role-2">
            <a:extLst xmlns:a="http://schemas.openxmlformats.org/drawingml/2006/main">
              <a:ext uri="{FF2B5EF4-FFF2-40B4-BE49-F238E27FC236}">
                <a16:creationId xmlns:a16="http://schemas.microsoft.com/office/drawing/2014/main" id="{114754FF-4713-4A1A-905C-29ACE9E6CEFE}"/>
              </a:ext>
            </a:extLst>
          </p:cNvPr>
          <p:cNvSpPr>
            <a:spLocks xmlns:a="http://schemas.openxmlformats.org/drawingml/2006/main" noGrp="1"/>
          </p:cNvSpPr>
          <p:nvPr/>
        </p:nvSpPr>
        <p:spPr>
          <a:xfrm xmlns:a="http://schemas.openxmlformats.org/drawingml/2006/main">
            <a:off x="8191500" y="44767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1">
                <a:solidFill>
                  <a:srgbClr val="244D3C"/>
                </a:solidFill>
                <a:latin typeface="Helvetica Neue"/>
                <a:ea typeface="Helvetica Neue"/>
                <a:cs typeface="Helvetica Neue"/>
              </a:defRPr>
            </a:pPr>
            <a:r>
              <a:rPr sz="1575" b="1">
                <a:solidFill>
                  <a:srgbClr val="244D3C"/>
                </a:solidFill>
                <a:latin typeface="Helvetica Neue"/>
                <a:ea typeface="Helvetica Neue"/>
                <a:cs typeface="Helvetica Neue"/>
              </a:rPr>
              <a:t>AI Analyst</a:t>
            </a:r>
          </a:p>
        </p:txBody>
      </p:sp>
      <p:sp>
        <p:nvSpPr>
          <p:cNvPr id="14" name="scope-2">
            <a:extLst xmlns:a="http://schemas.openxmlformats.org/drawingml/2006/main">
              <a:ext uri="{FF2B5EF4-FFF2-40B4-BE49-F238E27FC236}">
                <a16:creationId xmlns:a16="http://schemas.microsoft.com/office/drawing/2014/main" id="{9FB057E0-B026-41AD-8B53-8905FF7F06B8}"/>
              </a:ext>
            </a:extLst>
          </p:cNvPr>
          <p:cNvSpPr>
            <a:spLocks xmlns:a="http://schemas.openxmlformats.org/drawingml/2006/main" noGrp="1"/>
          </p:cNvSpPr>
          <p:nvPr/>
        </p:nvSpPr>
        <p:spPr>
          <a:xfrm xmlns:a="http://schemas.openxmlformats.org/drawingml/2006/main">
            <a:off x="8191500" y="5076825"/>
            <a:ext cx="3333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Voice/chat flows and a proposed mentor-reviewed learner-task workflow.</a:t>
            </a:r>
          </a:p>
        </p:txBody>
      </p:sp>
      <p:sp>
        <p:nvSpPr>
          <p:cNvPr id="15" name="slide-number">
            <a:extLst xmlns:a="http://schemas.openxmlformats.org/drawingml/2006/main">
              <a:ext uri="{FF2B5EF4-FFF2-40B4-BE49-F238E27FC236}">
                <a16:creationId xmlns:a16="http://schemas.microsoft.com/office/drawing/2014/main" id="{DB463830-66C7-4B1B-921F-0631214CCE98}"/>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Tree>
    <p:extLst>
      <p:ext uri="{BB962C8B-B14F-4D97-AF65-F5344CB8AC3E}">
        <p14:creationId xmlns:p14="http://schemas.microsoft.com/office/powerpoint/2010/main" val="1467382465"/>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D3F65942-E2D9-46CA-8C04-16527EE57825}"/>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PUBLISHED GUIDED PROJECT, 2024</a:t>
            </a:r>
          </a:p>
        </p:txBody>
      </p:sp>
      <p:sp>
        <p:nvSpPr>
          <p:cNvPr id="2" name="headline">
            <a:extLst xmlns:a="http://schemas.openxmlformats.org/drawingml/2006/main">
              <a:ext uri="{FF2B5EF4-FFF2-40B4-BE49-F238E27FC236}">
                <a16:creationId xmlns:a16="http://schemas.microsoft.com/office/drawing/2014/main" id="{ACFD5B17-DBCF-4142-A1F6-26594B090496}"/>
              </a:ext>
            </a:extLst>
          </p:cNvPr>
          <p:cNvSpPr>
            <a:spLocks xmlns:a="http://schemas.openxmlformats.org/drawingml/2006/main" noGrp="1"/>
          </p:cNvSpPr>
          <p:nvPr/>
        </p:nvSpPr>
        <p:spPr>
          <a:xfrm xmlns:a="http://schemas.openxmlformats.org/drawingml/2006/main">
            <a:off x="609600" y="1104900"/>
            <a:ext cx="60007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375" b="1">
                <a:solidFill>
                  <a:srgbClr val="192B25"/>
                </a:solidFill>
                <a:latin typeface="Helvetica Neue"/>
                <a:ea typeface="Helvetica Neue"/>
                <a:cs typeface="Helvetica Neue"/>
              </a:defRPr>
            </a:pPr>
            <a:r>
              <a:rPr sz="3375" b="1">
                <a:solidFill>
                  <a:srgbClr val="192B25"/>
                </a:solidFill>
                <a:latin typeface="Helvetica Neue"/>
                <a:ea typeface="Helvetica Neue"/>
                <a:cs typeface="Helvetica Neue"/>
              </a:rPr>
              <a:t>Give beginners a task</a:t>
            </a:r>
          </a:p>
          <a:p xmlns:a="http://schemas.openxmlformats.org/drawingml/2006/main">
            <a:pPr>
              <a:lnSpc>
                <a:spcPct val="110000"/>
              </a:lnSpc>
              <a:buNone/>
              <a:defRPr sz="3375" b="1">
                <a:solidFill>
                  <a:srgbClr val="192B25"/>
                </a:solidFill>
                <a:latin typeface="Helvetica Neue"/>
                <a:ea typeface="Helvetica Neue"/>
                <a:cs typeface="Helvetica Neue"/>
              </a:defRPr>
            </a:pPr>
            <a:r>
              <a:rPr sz="3375" b="1">
                <a:solidFill>
                  <a:srgbClr val="192B25"/>
                </a:solidFill>
                <a:latin typeface="Helvetica Neue"/>
                <a:ea typeface="Helvetica Neue"/>
                <a:cs typeface="Helvetica Neue"/>
              </a:rPr>
              <a:t>they can practice</a:t>
            </a:r>
          </a:p>
        </p:txBody>
      </p:sp>
      <p:sp>
        <p:nvSpPr>
          <p:cNvPr id="3" name="course-role">
            <a:extLst xmlns:a="http://schemas.openxmlformats.org/drawingml/2006/main">
              <a:ext uri="{FF2B5EF4-FFF2-40B4-BE49-F238E27FC236}">
                <a16:creationId xmlns:a16="http://schemas.microsoft.com/office/drawing/2014/main" id="{21A6EE6D-D08C-4FDF-B527-5EFF8B0D1F4F}"/>
              </a:ext>
            </a:extLst>
          </p:cNvPr>
          <p:cNvSpPr>
            <a:spLocks xmlns:a="http://schemas.openxmlformats.org/drawingml/2006/main" noGrp="1"/>
          </p:cNvSpPr>
          <p:nvPr/>
        </p:nvSpPr>
        <p:spPr>
          <a:xfrm xmlns:a="http://schemas.openxmlformats.org/drawingml/2006/main">
            <a:off x="609600" y="3105150"/>
            <a:ext cx="45053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created and taught a one-hour beginner project on AI-assisted social content.</a:t>
            </a:r>
          </a:p>
        </p:txBody>
      </p:sp>
      <p:sp>
        <p:nvSpPr>
          <p:cNvPr id="4" name="course-method">
            <a:extLst xmlns:a="http://schemas.openxmlformats.org/drawingml/2006/main">
              <a:ext uri="{FF2B5EF4-FFF2-40B4-BE49-F238E27FC236}">
                <a16:creationId xmlns:a16="http://schemas.microsoft.com/office/drawing/2014/main" id="{87E000A6-2A9D-4300-8598-320BFE47E0C7}"/>
              </a:ext>
            </a:extLst>
          </p:cNvPr>
          <p:cNvSpPr>
            <a:spLocks xmlns:a="http://schemas.openxmlformats.org/drawingml/2006/main" noGrp="1"/>
          </p:cNvSpPr>
          <p:nvPr/>
        </p:nvSpPr>
        <p:spPr>
          <a:xfrm xmlns:a="http://schemas.openxmlformats.org/drawingml/2006/main">
            <a:off x="609600" y="4810125"/>
            <a:ext cx="45053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Learners draft, compare and revise content, then organize a weekly calendar.</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369c0fdab464d10"/>
          <a:stretch xmlns:a="http://schemas.openxmlformats.org/drawingml/2006/main"/>
        </p:blipFill>
        <p:spPr>
          <a:xfrm xmlns:a="http://schemas.openxmlformats.org/drawingml/2006/main">
            <a:off x="5638800" y="2439195"/>
            <a:ext cx="5915025" cy="3332160"/>
          </a:xfrm>
          <a:prstGeom xmlns:a="http://schemas.openxmlformats.org/drawingml/2006/main" prst="rect">
            <a:avLst/>
          </a:prstGeom>
        </p:spPr>
      </p:pic>
      <p:sp>
        <p:nvSpPr>
          <p:cNvPr id="6" name="course-caption">
            <a:extLst xmlns:a="http://schemas.openxmlformats.org/drawingml/2006/main">
              <a:ext uri="{FF2B5EF4-FFF2-40B4-BE49-F238E27FC236}">
                <a16:creationId xmlns:a16="http://schemas.microsoft.com/office/drawing/2014/main" id="{5A88A3A5-E817-4659-8891-D5AB5C7393D4}"/>
              </a:ext>
            </a:extLst>
          </p:cNvPr>
          <p:cNvSpPr>
            <a:spLocks xmlns:a="http://schemas.openxmlformats.org/drawingml/2006/main" noGrp="1"/>
          </p:cNvSpPr>
          <p:nvPr/>
        </p:nvSpPr>
        <p:spPr>
          <a:xfrm xmlns:a="http://schemas.openxmlformats.org/drawingml/2006/main">
            <a:off x="5638800" y="6019800"/>
            <a:ext cx="59150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lesson goals · Published teaching, not measured learner improvement</a:t>
            </a:r>
          </a:p>
        </p:txBody>
      </p:sp>
      <p:sp>
        <p:nvSpPr>
          <p:cNvPr id="7" name="slide-number">
            <a:extLst xmlns:a="http://schemas.openxmlformats.org/drawingml/2006/main">
              <a:ext uri="{FF2B5EF4-FFF2-40B4-BE49-F238E27FC236}">
                <a16:creationId xmlns:a16="http://schemas.microsoft.com/office/drawing/2014/main" id="{0D069437-AA43-41CC-99E0-8013DBDBEBA5}"/>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Tree>
    <p:extLst>
      <p:ext uri="{BB962C8B-B14F-4D97-AF65-F5344CB8AC3E}">
        <p14:creationId xmlns:p14="http://schemas.microsoft.com/office/powerpoint/2010/main" val="1570782485"/>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86A323F0-FC7C-4CF3-82C8-2259EA1DE7BD}"/>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RECORDED PRACTICE SEQUENCE</a:t>
            </a:r>
          </a:p>
        </p:txBody>
      </p:sp>
      <p:sp>
        <p:nvSpPr>
          <p:cNvPr id="2" name="headline">
            <a:extLst xmlns:a="http://schemas.openxmlformats.org/drawingml/2006/main">
              <a:ext uri="{FF2B5EF4-FFF2-40B4-BE49-F238E27FC236}">
                <a16:creationId xmlns:a16="http://schemas.microsoft.com/office/drawing/2014/main" id="{2D29B314-C57D-4743-805B-CFC86D08E1BB}"/>
              </a:ext>
            </a:extLst>
          </p:cNvPr>
          <p:cNvSpPr>
            <a:spLocks xmlns:a="http://schemas.openxmlformats.org/drawingml/2006/main" noGrp="1"/>
          </p:cNvSpPr>
          <p:nvPr/>
        </p:nvSpPr>
        <p:spPr>
          <a:xfrm xmlns:a="http://schemas.openxmlformats.org/drawingml/2006/main">
            <a:off x="609600" y="1095375"/>
            <a:ext cx="10896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Start with a draft a learner can inspect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9767b9893ab40b2"/>
          <a:stretch xmlns:a="http://schemas.openxmlformats.org/drawingml/2006/main"/>
        </p:blipFill>
        <p:spPr>
          <a:xfrm xmlns:a="http://schemas.openxmlformats.org/drawingml/2006/main">
            <a:off x="609600" y="2479576"/>
            <a:ext cx="7429500" cy="3460947"/>
          </a:xfrm>
          <a:prstGeom xmlns:a="http://schemas.openxmlformats.org/drawingml/2006/main" prst="rect">
            <a:avLst/>
          </a:prstGeom>
        </p:spPr>
      </p:pic>
      <p:sp>
        <p:nvSpPr>
          <p:cNvPr id="4" name="draft-review">
            <a:extLst xmlns:a="http://schemas.openxmlformats.org/drawingml/2006/main">
              <a:ext uri="{FF2B5EF4-FFF2-40B4-BE49-F238E27FC236}">
                <a16:creationId xmlns:a16="http://schemas.microsoft.com/office/drawing/2014/main" id="{3E9E4A09-A1FC-4CE5-A084-DCD6CAD3B5A3}"/>
              </a:ext>
            </a:extLst>
          </p:cNvPr>
          <p:cNvSpPr>
            <a:spLocks xmlns:a="http://schemas.openxmlformats.org/drawingml/2006/main" noGrp="1"/>
          </p:cNvSpPr>
          <p:nvPr/>
        </p:nvSpPr>
        <p:spPr>
          <a:xfrm xmlns:a="http://schemas.openxmlformats.org/drawingml/2006/main">
            <a:off x="8524875" y="2571750"/>
            <a:ext cx="30003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1">
                <a:solidFill>
                  <a:srgbClr val="244D3C"/>
                </a:solidFill>
                <a:latin typeface="Helvetica Neue"/>
                <a:ea typeface="Helvetica Neue"/>
                <a:cs typeface="Helvetica Neue"/>
              </a:defRPr>
            </a:pPr>
            <a:r>
              <a:rPr sz="2025" b="1">
                <a:solidFill>
                  <a:srgbClr val="244D3C"/>
                </a:solidFill>
                <a:latin typeface="Helvetica Neue"/>
                <a:ea typeface="Helvetica Neue"/>
                <a:cs typeface="Helvetica Neue"/>
              </a:rPr>
              <a:t>A familiar café task gives the learner something concrete to examine.</a:t>
            </a:r>
          </a:p>
        </p:txBody>
      </p:sp>
      <p:sp>
        <p:nvSpPr>
          <p:cNvPr id="5" name="draft-limit">
            <a:extLst xmlns:a="http://schemas.openxmlformats.org/drawingml/2006/main">
              <a:ext uri="{FF2B5EF4-FFF2-40B4-BE49-F238E27FC236}">
                <a16:creationId xmlns:a16="http://schemas.microsoft.com/office/drawing/2014/main" id="{E4343C90-371C-49E3-806E-0B7CFAD48CE0}"/>
              </a:ext>
            </a:extLst>
          </p:cNvPr>
          <p:cNvSpPr>
            <a:spLocks xmlns:a="http://schemas.openxmlformats.org/drawingml/2006/main" noGrp="1"/>
          </p:cNvSpPr>
          <p:nvPr/>
        </p:nvSpPr>
        <p:spPr>
          <a:xfrm xmlns:a="http://schemas.openxmlformats.org/drawingml/2006/main">
            <a:off x="8524875" y="4333875"/>
            <a:ext cx="300037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The model adds business details that the prompt did not establish. Those details need judgment.</a:t>
            </a:r>
          </a:p>
        </p:txBody>
      </p:sp>
      <p:sp>
        <p:nvSpPr>
          <p:cNvPr id="6" name="draft-caption">
            <a:extLst xmlns:a="http://schemas.openxmlformats.org/drawingml/2006/main">
              <a:ext uri="{FF2B5EF4-FFF2-40B4-BE49-F238E27FC236}">
                <a16:creationId xmlns:a16="http://schemas.microsoft.com/office/drawing/2014/main" id="{8D0F3E11-273F-4EC2-BBE2-2D2090706AB2}"/>
              </a:ext>
            </a:extLst>
          </p:cNvPr>
          <p:cNvSpPr>
            <a:spLocks xmlns:a="http://schemas.openxmlformats.org/drawingml/2006/main" noGrp="1"/>
          </p:cNvSpPr>
          <p:nvPr/>
        </p:nvSpPr>
        <p:spPr>
          <a:xfrm xmlns:a="http://schemas.openxmlformats.org/drawingml/2006/main">
            <a:off x="609600" y="6191250"/>
            <a:ext cx="10906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Original recording · Task 3 at 03:35 · Brew Bliss is fictional practice material</a:t>
            </a:r>
          </a:p>
        </p:txBody>
      </p:sp>
      <p:sp>
        <p:nvSpPr>
          <p:cNvPr id="7" name="slide-number">
            <a:extLst xmlns:a="http://schemas.openxmlformats.org/drawingml/2006/main">
              <a:ext uri="{FF2B5EF4-FFF2-40B4-BE49-F238E27FC236}">
                <a16:creationId xmlns:a16="http://schemas.microsoft.com/office/drawing/2014/main" id="{F6F94349-1A82-4B15-9AA2-25B22D61FCE1}"/>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Tree>
    <p:extLst>
      <p:ext uri="{BB962C8B-B14F-4D97-AF65-F5344CB8AC3E}">
        <p14:creationId xmlns:p14="http://schemas.microsoft.com/office/powerpoint/2010/main" val="2008685561"/>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F4B381C2-63BD-47D9-8B42-0BAE3A9C759F}"/>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REVISION AND REVIEW</a:t>
            </a:r>
          </a:p>
        </p:txBody>
      </p:sp>
      <p:sp>
        <p:nvSpPr>
          <p:cNvPr id="2" name="headline">
            <a:extLst xmlns:a="http://schemas.openxmlformats.org/drawingml/2006/main">
              <a:ext uri="{FF2B5EF4-FFF2-40B4-BE49-F238E27FC236}">
                <a16:creationId xmlns:a16="http://schemas.microsoft.com/office/drawing/2014/main" id="{65B0A12C-1E2E-4078-B384-C37B8DF7BEB7}"/>
              </a:ext>
            </a:extLst>
          </p:cNvPr>
          <p:cNvSpPr>
            <a:spLocks xmlns:a="http://schemas.openxmlformats.org/drawingml/2006/main" noGrp="1"/>
          </p:cNvSpPr>
          <p:nvPr/>
        </p:nvSpPr>
        <p:spPr>
          <a:xfrm xmlns:a="http://schemas.openxmlformats.org/drawingml/2006/main">
            <a:off x="609600" y="1095375"/>
            <a:ext cx="10896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Make the revision visible</a:t>
            </a:r>
          </a:p>
        </p:txBody>
      </p:sp>
      <p:sp>
        <p:nvSpPr>
          <p:cNvPr id="3" name="revision-prompt">
            <a:extLst xmlns:a="http://schemas.openxmlformats.org/drawingml/2006/main">
              <a:ext uri="{FF2B5EF4-FFF2-40B4-BE49-F238E27FC236}">
                <a16:creationId xmlns:a16="http://schemas.microsoft.com/office/drawing/2014/main" id="{9C5C3A84-CBEC-4680-A5FE-76CA30EEB74F}"/>
              </a:ext>
            </a:extLst>
          </p:cNvPr>
          <p:cNvSpPr>
            <a:spLocks xmlns:a="http://schemas.openxmlformats.org/drawingml/2006/main" noGrp="1"/>
          </p:cNvSpPr>
          <p:nvPr/>
        </p:nvSpPr>
        <p:spPr>
          <a:xfrm xmlns:a="http://schemas.openxmlformats.org/drawingml/2006/main">
            <a:off x="609600" y="2133600"/>
            <a:ext cx="10896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Recorded revision: ask for sensory detail and a friendly invitation.</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41b5ff2d8644e07"/>
          <a:stretch xmlns:a="http://schemas.openxmlformats.org/drawingml/2006/main"/>
        </p:blipFill>
        <p:spPr>
          <a:xfrm xmlns:a="http://schemas.openxmlformats.org/drawingml/2006/main">
            <a:off x="612246" y="2867025"/>
            <a:ext cx="7471833" cy="3362325"/>
          </a:xfrm>
          <a:prstGeom xmlns:a="http://schemas.openxmlformats.org/drawingml/2006/main" prst="rect">
            <a:avLst/>
          </a:prstGeom>
        </p:spPr>
      </p:pic>
      <p:sp>
        <p:nvSpPr>
          <p:cNvPr id="5" name="revision-review">
            <a:extLst xmlns:a="http://schemas.openxmlformats.org/drawingml/2006/main">
              <a:ext uri="{FF2B5EF4-FFF2-40B4-BE49-F238E27FC236}">
                <a16:creationId xmlns:a16="http://schemas.microsoft.com/office/drawing/2014/main" id="{66E6EC75-55DD-4332-BB3A-D2322457998D}"/>
              </a:ext>
            </a:extLst>
          </p:cNvPr>
          <p:cNvSpPr>
            <a:spLocks xmlns:a="http://schemas.openxmlformats.org/drawingml/2006/main" noGrp="1"/>
          </p:cNvSpPr>
          <p:nvPr/>
        </p:nvSpPr>
        <p:spPr>
          <a:xfrm xmlns:a="http://schemas.openxmlformats.org/drawingml/2006/main">
            <a:off x="8524875" y="2990850"/>
            <a:ext cx="30003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1">
                <a:solidFill>
                  <a:srgbClr val="192B25"/>
                </a:solidFill>
                <a:latin typeface="Helvetica Neue"/>
                <a:ea typeface="Helvetica Neue"/>
                <a:cs typeface="Helvetica Neue"/>
              </a:defRPr>
            </a:pPr>
            <a:r>
              <a:rPr sz="2100" b="1">
                <a:solidFill>
                  <a:srgbClr val="192B25"/>
                </a:solidFill>
                <a:latin typeface="Helvetica Neue"/>
                <a:ea typeface="Helvetica Neue"/>
                <a:cs typeface="Helvetica Neue"/>
              </a:rPr>
              <a:t>The next draft is richer—and longer.</a:t>
            </a:r>
          </a:p>
        </p:txBody>
      </p:sp>
      <p:sp>
        <p:nvSpPr>
          <p:cNvPr id="6" name="revision-judgment">
            <a:extLst xmlns:a="http://schemas.openxmlformats.org/drawingml/2006/main">
              <a:ext uri="{FF2B5EF4-FFF2-40B4-BE49-F238E27FC236}">
                <a16:creationId xmlns:a16="http://schemas.microsoft.com/office/drawing/2014/main" id="{12FF5C1F-F43C-41D0-B8A8-0BD5C96FEA64}"/>
              </a:ext>
            </a:extLst>
          </p:cNvPr>
          <p:cNvSpPr>
            <a:spLocks xmlns:a="http://schemas.openxmlformats.org/drawingml/2006/main" noGrp="1"/>
          </p:cNvSpPr>
          <p:nvPr/>
        </p:nvSpPr>
        <p:spPr>
          <a:xfrm xmlns:a="http://schemas.openxmlformats.org/drawingml/2006/main">
            <a:off x="8524875" y="4657725"/>
            <a:ext cx="3000375"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Review the added claims, the audience and the length before deciding what to change next.</a:t>
            </a:r>
          </a:p>
        </p:txBody>
      </p:sp>
      <p:sp>
        <p:nvSpPr>
          <p:cNvPr id="7" name="slide-number">
            <a:extLst xmlns:a="http://schemas.openxmlformats.org/drawingml/2006/main">
              <a:ext uri="{FF2B5EF4-FFF2-40B4-BE49-F238E27FC236}">
                <a16:creationId xmlns:a16="http://schemas.microsoft.com/office/drawing/2014/main" id="{8E38D810-1D4A-438C-8F18-825C31325885}"/>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Tree>
    <p:extLst>
      <p:ext uri="{BB962C8B-B14F-4D97-AF65-F5344CB8AC3E}">
        <p14:creationId xmlns:p14="http://schemas.microsoft.com/office/powerpoint/2010/main" val="416624997"/>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35" name="section-label">
            <a:extLst xmlns:a="http://schemas.openxmlformats.org/drawingml/2006/main">
              <a:ext uri="{FF2B5EF4-FFF2-40B4-BE49-F238E27FC236}">
                <a16:creationId xmlns:a16="http://schemas.microsoft.com/office/drawing/2014/main" id="{FE3D511D-763A-4D02-B1E3-BDDE22724E0A}"/>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ASU LEARNING INNOVATIONS   /   2024 WORKFLOW PROPOSAL</a:t>
            </a:r>
          </a:p>
        </p:txBody>
      </p:sp>
      <p:sp>
        <p:nvSpPr>
          <p:cNvPr id="2" name="headline">
            <a:extLst xmlns:a="http://schemas.openxmlformats.org/drawingml/2006/main">
              <a:ext uri="{FF2B5EF4-FFF2-40B4-BE49-F238E27FC236}">
                <a16:creationId xmlns:a16="http://schemas.microsoft.com/office/drawing/2014/main" id="{EC6B16ED-3A54-4810-B6F0-812DAC2A3688}"/>
              </a:ext>
            </a:extLst>
          </p:cNvPr>
          <p:cNvSpPr>
            <a:spLocks xmlns:a="http://schemas.openxmlformats.org/drawingml/2006/main" noGrp="1"/>
          </p:cNvSpPr>
          <p:nvPr/>
        </p:nvSpPr>
        <p:spPr>
          <a:xfrm xmlns:a="http://schemas.openxmlformats.org/drawingml/2006/main">
            <a:off x="609600" y="109537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300" b="1">
                <a:solidFill>
                  <a:srgbClr val="192B25"/>
                </a:solidFill>
                <a:latin typeface="Helvetica Neue"/>
                <a:ea typeface="Helvetica Neue"/>
                <a:cs typeface="Helvetica Neue"/>
              </a:defRPr>
            </a:pPr>
            <a:r>
              <a:rPr sz="3300" b="1">
                <a:solidFill>
                  <a:srgbClr val="192B25"/>
                </a:solidFill>
                <a:latin typeface="Helvetica Neue"/>
                <a:ea typeface="Helvetica Neue"/>
                <a:cs typeface="Helvetica Neue"/>
              </a:rPr>
              <a:t>Human review before learner-facing tasks</a:t>
            </a:r>
          </a:p>
        </p:txBody>
      </p:sp>
      <p:sp>
        <p:nvSpPr>
          <p:cNvPr id="3" name="asu-context">
            <a:extLst xmlns:a="http://schemas.openxmlformats.org/drawingml/2006/main">
              <a:ext uri="{FF2B5EF4-FFF2-40B4-BE49-F238E27FC236}">
                <a16:creationId xmlns:a16="http://schemas.microsoft.com/office/drawing/2014/main" id="{9E853ECE-90AA-427C-B9A9-10807CE5EFEC}"/>
              </a:ext>
            </a:extLst>
          </p:cNvPr>
          <p:cNvSpPr>
            <a:spLocks xmlns:a="http://schemas.openxmlformats.org/drawingml/2006/main" noGrp="1"/>
          </p:cNvSpPr>
          <p:nvPr/>
        </p:nvSpPr>
        <p:spPr>
          <a:xfrm xmlns:a="http://schemas.openxmlformats.org/drawingml/2006/main">
            <a:off x="609600" y="20478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 staged prompt workflow for personalized learner tasks.</a:t>
            </a:r>
          </a:p>
        </p:txBody>
      </p:sp>
      <p:sp>
        <p:nvSpPr>
          <p:cNvPr id="4" name="workflow-node-01">
            <a:extLst xmlns:a="http://schemas.openxmlformats.org/drawingml/2006/main">
              <a:ext uri="{FF2B5EF4-FFF2-40B4-BE49-F238E27FC236}">
                <a16:creationId xmlns:a16="http://schemas.microsoft.com/office/drawing/2014/main" id="{43AAF57B-9857-43D3-B8B4-DD82CEEA43DF}"/>
              </a:ext>
            </a:extLst>
          </p:cNvPr>
          <p:cNvSpPr>
            <a:spLocks xmlns:a="http://schemas.openxmlformats.org/drawingml/2006/main" noGrp="1"/>
          </p:cNvSpPr>
          <p:nvPr/>
        </p:nvSpPr>
        <p:spPr>
          <a:xfrm xmlns:a="http://schemas.openxmlformats.org/drawingml/2006/main">
            <a:off x="609600" y="2895600"/>
            <a:ext cx="3333750" cy="12477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5" name="node-index-01">
            <a:extLst xmlns:a="http://schemas.openxmlformats.org/drawingml/2006/main">
              <a:ext uri="{FF2B5EF4-FFF2-40B4-BE49-F238E27FC236}">
                <a16:creationId xmlns:a16="http://schemas.microsoft.com/office/drawing/2014/main" id="{F9024CDE-848D-4E8A-B9B3-8BF5A7720D32}"/>
              </a:ext>
            </a:extLst>
          </p:cNvPr>
          <p:cNvSpPr>
            <a:spLocks xmlns:a="http://schemas.openxmlformats.org/drawingml/2006/main" noGrp="1"/>
          </p:cNvSpPr>
          <p:nvPr/>
        </p:nvSpPr>
        <p:spPr>
          <a:xfrm xmlns:a="http://schemas.openxmlformats.org/drawingml/2006/main">
            <a:off x="781050" y="3028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01</a:t>
            </a:r>
          </a:p>
        </p:txBody>
      </p:sp>
      <p:sp>
        <p:nvSpPr>
          <p:cNvPr id="6" name="node-label-01">
            <a:extLst xmlns:a="http://schemas.openxmlformats.org/drawingml/2006/main">
              <a:ext uri="{FF2B5EF4-FFF2-40B4-BE49-F238E27FC236}">
                <a16:creationId xmlns:a16="http://schemas.microsoft.com/office/drawing/2014/main" id="{D6C67914-62A6-4859-B50C-076DF1775A21}"/>
              </a:ext>
            </a:extLst>
          </p:cNvPr>
          <p:cNvSpPr>
            <a:spLocks xmlns:a="http://schemas.openxmlformats.org/drawingml/2006/main" noGrp="1"/>
          </p:cNvSpPr>
          <p:nvPr/>
        </p:nvSpPr>
        <p:spPr>
          <a:xfrm xmlns:a="http://schemas.openxmlformats.org/drawingml/2006/main">
            <a:off x="781050" y="3305175"/>
            <a:ext cx="2990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92B25"/>
                </a:solidFill>
                <a:latin typeface="Helvetica Neue"/>
                <a:ea typeface="Helvetica Neue"/>
                <a:cs typeface="Helvetica Neue"/>
              </a:defRPr>
            </a:pPr>
            <a:r>
              <a:rPr sz="1650" b="1">
                <a:solidFill>
                  <a:srgbClr val="192B25"/>
                </a:solidFill>
                <a:latin typeface="Helvetica Neue"/>
                <a:ea typeface="Helvetica Neue"/>
                <a:cs typeface="Helvetica Neue"/>
              </a:rPr>
              <a:t>Condense learner context</a:t>
            </a:r>
          </a:p>
        </p:txBody>
      </p:sp>
      <p:sp>
        <p:nvSpPr>
          <p:cNvPr id="7" name="node-detail-01">
            <a:extLst xmlns:a="http://schemas.openxmlformats.org/drawingml/2006/main">
              <a:ext uri="{FF2B5EF4-FFF2-40B4-BE49-F238E27FC236}">
                <a16:creationId xmlns:a16="http://schemas.microsoft.com/office/drawing/2014/main" id="{4DE7A14C-4379-4ABC-A674-A739FDCD0407}"/>
              </a:ext>
            </a:extLst>
          </p:cNvPr>
          <p:cNvSpPr>
            <a:spLocks xmlns:a="http://schemas.openxmlformats.org/drawingml/2006/main" noGrp="1"/>
          </p:cNvSpPr>
          <p:nvPr/>
        </p:nvSpPr>
        <p:spPr>
          <a:xfrm xmlns:a="http://schemas.openxmlformats.org/drawingml/2006/main">
            <a:off x="781050" y="3800475"/>
            <a:ext cx="2990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Prepare context for review.</a:t>
            </a:r>
          </a:p>
        </p:txBody>
      </p:sp>
      <p:sp>
        <p:nvSpPr>
          <p:cNvPr id="8" name="workflow-node-02">
            <a:extLst xmlns:a="http://schemas.openxmlformats.org/drawingml/2006/main">
              <a:ext uri="{FF2B5EF4-FFF2-40B4-BE49-F238E27FC236}">
                <a16:creationId xmlns:a16="http://schemas.microsoft.com/office/drawing/2014/main" id="{505F6675-C242-4BE7-A81C-9A23C278886A}"/>
              </a:ext>
            </a:extLst>
          </p:cNvPr>
          <p:cNvSpPr>
            <a:spLocks xmlns:a="http://schemas.openxmlformats.org/drawingml/2006/main" noGrp="1"/>
          </p:cNvSpPr>
          <p:nvPr/>
        </p:nvSpPr>
        <p:spPr>
          <a:xfrm xmlns:a="http://schemas.openxmlformats.org/drawingml/2006/main">
            <a:off x="4324350" y="2895600"/>
            <a:ext cx="3333750" cy="1247775"/>
          </a:xfrm>
          <a:prstGeom xmlns:a="http://schemas.openxmlformats.org/drawingml/2006/main" prst="rect">
            <a:avLst/>
          </a:prstGeom>
          <a:solidFill xmlns:a="http://schemas.openxmlformats.org/drawingml/2006/main">
            <a:srgbClr val="E1E8DB"/>
          </a:solidFill>
          <a:ln xmlns:a="http://schemas.openxmlformats.org/drawingml/2006/main" w="19050">
            <a:solidFill>
              <a:srgbClr val="244D3C"/>
            </a:solidFill>
          </a:ln>
        </p:spPr>
      </p:sp>
      <p:sp>
        <p:nvSpPr>
          <p:cNvPr id="9" name="node-index-02">
            <a:extLst xmlns:a="http://schemas.openxmlformats.org/drawingml/2006/main">
              <a:ext uri="{FF2B5EF4-FFF2-40B4-BE49-F238E27FC236}">
                <a16:creationId xmlns:a16="http://schemas.microsoft.com/office/drawing/2014/main" id="{B2BB5C35-05D6-4908-9BA9-4F6C2C9FECF0}"/>
              </a:ext>
            </a:extLst>
          </p:cNvPr>
          <p:cNvSpPr>
            <a:spLocks xmlns:a="http://schemas.openxmlformats.org/drawingml/2006/main" noGrp="1"/>
          </p:cNvSpPr>
          <p:nvPr/>
        </p:nvSpPr>
        <p:spPr>
          <a:xfrm xmlns:a="http://schemas.openxmlformats.org/drawingml/2006/main">
            <a:off x="4495800" y="3028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02</a:t>
            </a:r>
          </a:p>
        </p:txBody>
      </p:sp>
      <p:sp>
        <p:nvSpPr>
          <p:cNvPr id="10" name="node-label-02">
            <a:extLst xmlns:a="http://schemas.openxmlformats.org/drawingml/2006/main">
              <a:ext uri="{FF2B5EF4-FFF2-40B4-BE49-F238E27FC236}">
                <a16:creationId xmlns:a16="http://schemas.microsoft.com/office/drawing/2014/main" id="{5BCEBE49-F818-49B8-9688-DB87ED0AC6B6}"/>
              </a:ext>
            </a:extLst>
          </p:cNvPr>
          <p:cNvSpPr>
            <a:spLocks xmlns:a="http://schemas.openxmlformats.org/drawingml/2006/main" noGrp="1"/>
          </p:cNvSpPr>
          <p:nvPr/>
        </p:nvSpPr>
        <p:spPr>
          <a:xfrm xmlns:a="http://schemas.openxmlformats.org/drawingml/2006/main">
            <a:off x="4495800" y="3305175"/>
            <a:ext cx="2990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92B25"/>
                </a:solidFill>
                <a:latin typeface="Helvetica Neue"/>
                <a:ea typeface="Helvetica Neue"/>
                <a:cs typeface="Helvetica Neue"/>
              </a:defRPr>
            </a:pPr>
            <a:r>
              <a:rPr sz="1650" b="1">
                <a:solidFill>
                  <a:srgbClr val="192B25"/>
                </a:solidFill>
                <a:latin typeface="Helvetica Neue"/>
                <a:ea typeface="Helvetica Neue"/>
                <a:cs typeface="Helvetica Neue"/>
              </a:rPr>
              <a:t>Mentor validates context</a:t>
            </a:r>
          </a:p>
        </p:txBody>
      </p:sp>
      <p:sp>
        <p:nvSpPr>
          <p:cNvPr id="11" name="node-detail-02">
            <a:extLst xmlns:a="http://schemas.openxmlformats.org/drawingml/2006/main">
              <a:ext uri="{FF2B5EF4-FFF2-40B4-BE49-F238E27FC236}">
                <a16:creationId xmlns:a16="http://schemas.microsoft.com/office/drawing/2014/main" id="{48BDFB67-FB01-4D11-B246-06BA76F00138}"/>
              </a:ext>
            </a:extLst>
          </p:cNvPr>
          <p:cNvSpPr>
            <a:spLocks xmlns:a="http://schemas.openxmlformats.org/drawingml/2006/main" noGrp="1"/>
          </p:cNvSpPr>
          <p:nvPr/>
        </p:nvSpPr>
        <p:spPr>
          <a:xfrm xmlns:a="http://schemas.openxmlformats.org/drawingml/2006/main">
            <a:off x="4495800" y="3800475"/>
            <a:ext cx="2990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Check the interpretation.</a:t>
            </a:r>
          </a:p>
        </p:txBody>
      </p:sp>
      <p:sp>
        <p:nvSpPr>
          <p:cNvPr id="12" name="workflow-node-03">
            <a:extLst xmlns:a="http://schemas.openxmlformats.org/drawingml/2006/main">
              <a:ext uri="{FF2B5EF4-FFF2-40B4-BE49-F238E27FC236}">
                <a16:creationId xmlns:a16="http://schemas.microsoft.com/office/drawing/2014/main" id="{2BC12BC0-5586-487D-974B-97F17D2DDC91}"/>
              </a:ext>
            </a:extLst>
          </p:cNvPr>
          <p:cNvSpPr>
            <a:spLocks xmlns:a="http://schemas.openxmlformats.org/drawingml/2006/main" noGrp="1"/>
          </p:cNvSpPr>
          <p:nvPr/>
        </p:nvSpPr>
        <p:spPr>
          <a:xfrm xmlns:a="http://schemas.openxmlformats.org/drawingml/2006/main">
            <a:off x="8039100" y="2895600"/>
            <a:ext cx="3333750" cy="12477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3" name="node-index-03">
            <a:extLst xmlns:a="http://schemas.openxmlformats.org/drawingml/2006/main">
              <a:ext uri="{FF2B5EF4-FFF2-40B4-BE49-F238E27FC236}">
                <a16:creationId xmlns:a16="http://schemas.microsoft.com/office/drawing/2014/main" id="{98206391-1AD7-41E4-ADF4-559D46A12D40}"/>
              </a:ext>
            </a:extLst>
          </p:cNvPr>
          <p:cNvSpPr>
            <a:spLocks xmlns:a="http://schemas.openxmlformats.org/drawingml/2006/main" noGrp="1"/>
          </p:cNvSpPr>
          <p:nvPr/>
        </p:nvSpPr>
        <p:spPr>
          <a:xfrm xmlns:a="http://schemas.openxmlformats.org/drawingml/2006/main">
            <a:off x="8210550" y="3028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03</a:t>
            </a:r>
          </a:p>
        </p:txBody>
      </p:sp>
      <p:sp>
        <p:nvSpPr>
          <p:cNvPr id="14" name="node-label-03">
            <a:extLst xmlns:a="http://schemas.openxmlformats.org/drawingml/2006/main">
              <a:ext uri="{FF2B5EF4-FFF2-40B4-BE49-F238E27FC236}">
                <a16:creationId xmlns:a16="http://schemas.microsoft.com/office/drawing/2014/main" id="{AAD76CAE-17A4-4B5F-BB4B-38DAE7BB9D7D}"/>
              </a:ext>
            </a:extLst>
          </p:cNvPr>
          <p:cNvSpPr>
            <a:spLocks xmlns:a="http://schemas.openxmlformats.org/drawingml/2006/main" noGrp="1"/>
          </p:cNvSpPr>
          <p:nvPr/>
        </p:nvSpPr>
        <p:spPr>
          <a:xfrm xmlns:a="http://schemas.openxmlformats.org/drawingml/2006/main">
            <a:off x="8210550" y="3305175"/>
            <a:ext cx="2990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92B25"/>
                </a:solidFill>
                <a:latin typeface="Helvetica Neue"/>
                <a:ea typeface="Helvetica Neue"/>
                <a:cs typeface="Helvetica Neue"/>
              </a:defRPr>
            </a:pPr>
            <a:r>
              <a:rPr sz="1650" b="1">
                <a:solidFill>
                  <a:srgbClr val="192B25"/>
                </a:solidFill>
                <a:latin typeface="Helvetica Neue"/>
                <a:ea typeface="Helvetica Neue"/>
                <a:cs typeface="Helvetica Neue"/>
              </a:rPr>
              <a:t>Personalize task template</a:t>
            </a:r>
          </a:p>
        </p:txBody>
      </p:sp>
      <p:sp>
        <p:nvSpPr>
          <p:cNvPr id="15" name="node-detail-03">
            <a:extLst xmlns:a="http://schemas.openxmlformats.org/drawingml/2006/main">
              <a:ext uri="{FF2B5EF4-FFF2-40B4-BE49-F238E27FC236}">
                <a16:creationId xmlns:a16="http://schemas.microsoft.com/office/drawing/2014/main" id="{037CFC7E-A9AC-4A97-810A-000494C82A13}"/>
              </a:ext>
            </a:extLst>
          </p:cNvPr>
          <p:cNvSpPr>
            <a:spLocks xmlns:a="http://schemas.openxmlformats.org/drawingml/2006/main" noGrp="1"/>
          </p:cNvSpPr>
          <p:nvPr/>
        </p:nvSpPr>
        <p:spPr>
          <a:xfrm xmlns:a="http://schemas.openxmlformats.org/drawingml/2006/main">
            <a:off x="8210550" y="3800475"/>
            <a:ext cx="2990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Use the reviewed context.</a:t>
            </a:r>
          </a:p>
        </p:txBody>
      </p:sp>
      <p:sp>
        <p:nvSpPr>
          <p:cNvPr id="16" name="workflow-node-04">
            <a:extLst xmlns:a="http://schemas.openxmlformats.org/drawingml/2006/main">
              <a:ext uri="{FF2B5EF4-FFF2-40B4-BE49-F238E27FC236}">
                <a16:creationId xmlns:a16="http://schemas.microsoft.com/office/drawing/2014/main" id="{90FE4A34-07B2-445D-A320-BD19C4DFFC6B}"/>
              </a:ext>
            </a:extLst>
          </p:cNvPr>
          <p:cNvSpPr>
            <a:spLocks xmlns:a="http://schemas.openxmlformats.org/drawingml/2006/main" noGrp="1"/>
          </p:cNvSpPr>
          <p:nvPr/>
        </p:nvSpPr>
        <p:spPr>
          <a:xfrm xmlns:a="http://schemas.openxmlformats.org/drawingml/2006/main">
            <a:off x="8039100" y="4657725"/>
            <a:ext cx="3333750" cy="12477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7" name="node-index-04">
            <a:extLst xmlns:a="http://schemas.openxmlformats.org/drawingml/2006/main">
              <a:ext uri="{FF2B5EF4-FFF2-40B4-BE49-F238E27FC236}">
                <a16:creationId xmlns:a16="http://schemas.microsoft.com/office/drawing/2014/main" id="{0CCEFC64-638B-4D5B-8966-295BDE084155}"/>
              </a:ext>
            </a:extLst>
          </p:cNvPr>
          <p:cNvSpPr>
            <a:spLocks xmlns:a="http://schemas.openxmlformats.org/drawingml/2006/main" noGrp="1"/>
          </p:cNvSpPr>
          <p:nvPr/>
        </p:nvSpPr>
        <p:spPr>
          <a:xfrm xmlns:a="http://schemas.openxmlformats.org/drawingml/2006/main">
            <a:off x="8210550" y="479107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04</a:t>
            </a:r>
          </a:p>
        </p:txBody>
      </p:sp>
      <p:sp>
        <p:nvSpPr>
          <p:cNvPr id="18" name="node-label-04">
            <a:extLst xmlns:a="http://schemas.openxmlformats.org/drawingml/2006/main">
              <a:ext uri="{FF2B5EF4-FFF2-40B4-BE49-F238E27FC236}">
                <a16:creationId xmlns:a16="http://schemas.microsoft.com/office/drawing/2014/main" id="{C7749368-57DE-49DD-8818-A9A2EAC62E7D}"/>
              </a:ext>
            </a:extLst>
          </p:cNvPr>
          <p:cNvSpPr>
            <a:spLocks xmlns:a="http://schemas.openxmlformats.org/drawingml/2006/main" noGrp="1"/>
          </p:cNvSpPr>
          <p:nvPr/>
        </p:nvSpPr>
        <p:spPr>
          <a:xfrm xmlns:a="http://schemas.openxmlformats.org/drawingml/2006/main">
            <a:off x="8210550" y="5067300"/>
            <a:ext cx="2990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92B25"/>
                </a:solidFill>
                <a:latin typeface="Helvetica Neue"/>
                <a:ea typeface="Helvetica Neue"/>
                <a:cs typeface="Helvetica Neue"/>
              </a:defRPr>
            </a:pPr>
            <a:r>
              <a:rPr sz="1650" b="1">
                <a:solidFill>
                  <a:srgbClr val="192B25"/>
                </a:solidFill>
                <a:latin typeface="Helvetica Neue"/>
                <a:ea typeface="Helvetica Neue"/>
                <a:cs typeface="Helvetica Neue"/>
              </a:rPr>
              <a:t>Generate and refine tasks</a:t>
            </a:r>
          </a:p>
        </p:txBody>
      </p:sp>
      <p:sp>
        <p:nvSpPr>
          <p:cNvPr id="19" name="node-detail-04">
            <a:extLst xmlns:a="http://schemas.openxmlformats.org/drawingml/2006/main">
              <a:ext uri="{FF2B5EF4-FFF2-40B4-BE49-F238E27FC236}">
                <a16:creationId xmlns:a16="http://schemas.microsoft.com/office/drawing/2014/main" id="{30A19F66-0DC9-41B3-A6E2-3DF2A4680713}"/>
              </a:ext>
            </a:extLst>
          </p:cNvPr>
          <p:cNvSpPr>
            <a:spLocks xmlns:a="http://schemas.openxmlformats.org/drawingml/2006/main" noGrp="1"/>
          </p:cNvSpPr>
          <p:nvPr/>
        </p:nvSpPr>
        <p:spPr>
          <a:xfrm xmlns:a="http://schemas.openxmlformats.org/drawingml/2006/main">
            <a:off x="8210550" y="5562600"/>
            <a:ext cx="2990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Prepare candidate tasks.</a:t>
            </a:r>
          </a:p>
        </p:txBody>
      </p:sp>
      <p:sp>
        <p:nvSpPr>
          <p:cNvPr id="20" name="workflow-node-05">
            <a:extLst xmlns:a="http://schemas.openxmlformats.org/drawingml/2006/main">
              <a:ext uri="{FF2B5EF4-FFF2-40B4-BE49-F238E27FC236}">
                <a16:creationId xmlns:a16="http://schemas.microsoft.com/office/drawing/2014/main" id="{37EDA94C-A0C7-4A6B-A263-5AE7B4A4F834}"/>
              </a:ext>
            </a:extLst>
          </p:cNvPr>
          <p:cNvSpPr>
            <a:spLocks xmlns:a="http://schemas.openxmlformats.org/drawingml/2006/main" noGrp="1"/>
          </p:cNvSpPr>
          <p:nvPr/>
        </p:nvSpPr>
        <p:spPr>
          <a:xfrm xmlns:a="http://schemas.openxmlformats.org/drawingml/2006/main">
            <a:off x="4324350" y="4657725"/>
            <a:ext cx="3333750" cy="1247775"/>
          </a:xfrm>
          <a:prstGeom xmlns:a="http://schemas.openxmlformats.org/drawingml/2006/main" prst="rect">
            <a:avLst/>
          </a:prstGeom>
          <a:solidFill xmlns:a="http://schemas.openxmlformats.org/drawingml/2006/main">
            <a:srgbClr val="E1E8DB"/>
          </a:solidFill>
          <a:ln xmlns:a="http://schemas.openxmlformats.org/drawingml/2006/main" w="19050">
            <a:solidFill>
              <a:srgbClr val="244D3C"/>
            </a:solidFill>
          </a:ln>
        </p:spPr>
      </p:sp>
      <p:sp>
        <p:nvSpPr>
          <p:cNvPr id="21" name="node-index-05">
            <a:extLst xmlns:a="http://schemas.openxmlformats.org/drawingml/2006/main">
              <a:ext uri="{FF2B5EF4-FFF2-40B4-BE49-F238E27FC236}">
                <a16:creationId xmlns:a16="http://schemas.microsoft.com/office/drawing/2014/main" id="{D8C052EE-25DF-411B-AF69-9BB12D92B719}"/>
              </a:ext>
            </a:extLst>
          </p:cNvPr>
          <p:cNvSpPr>
            <a:spLocks xmlns:a="http://schemas.openxmlformats.org/drawingml/2006/main" noGrp="1"/>
          </p:cNvSpPr>
          <p:nvPr/>
        </p:nvSpPr>
        <p:spPr>
          <a:xfrm xmlns:a="http://schemas.openxmlformats.org/drawingml/2006/main">
            <a:off x="4495800" y="479107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05</a:t>
            </a:r>
          </a:p>
        </p:txBody>
      </p:sp>
      <p:sp>
        <p:nvSpPr>
          <p:cNvPr id="22" name="node-label-05">
            <a:extLst xmlns:a="http://schemas.openxmlformats.org/drawingml/2006/main">
              <a:ext uri="{FF2B5EF4-FFF2-40B4-BE49-F238E27FC236}">
                <a16:creationId xmlns:a16="http://schemas.microsoft.com/office/drawing/2014/main" id="{2DBB4D4D-9F5F-4602-A5EF-5CE25A329A7B}"/>
              </a:ext>
            </a:extLst>
          </p:cNvPr>
          <p:cNvSpPr>
            <a:spLocks xmlns:a="http://schemas.openxmlformats.org/drawingml/2006/main" noGrp="1"/>
          </p:cNvSpPr>
          <p:nvPr/>
        </p:nvSpPr>
        <p:spPr>
          <a:xfrm xmlns:a="http://schemas.openxmlformats.org/drawingml/2006/main">
            <a:off x="4495800" y="5067300"/>
            <a:ext cx="2990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92B25"/>
                </a:solidFill>
                <a:latin typeface="Helvetica Neue"/>
                <a:ea typeface="Helvetica Neue"/>
                <a:cs typeface="Helvetica Neue"/>
              </a:defRPr>
            </a:pPr>
            <a:r>
              <a:rPr sz="1650" b="1">
                <a:solidFill>
                  <a:srgbClr val="192B25"/>
                </a:solidFill>
                <a:latin typeface="Helvetica Neue"/>
                <a:ea typeface="Helvetica Neue"/>
                <a:cs typeface="Helvetica Neue"/>
              </a:rPr>
              <a:t>Mentor confirms tasks</a:t>
            </a:r>
          </a:p>
        </p:txBody>
      </p:sp>
      <p:sp>
        <p:nvSpPr>
          <p:cNvPr id="23" name="node-detail-05">
            <a:extLst xmlns:a="http://schemas.openxmlformats.org/drawingml/2006/main">
              <a:ext uri="{FF2B5EF4-FFF2-40B4-BE49-F238E27FC236}">
                <a16:creationId xmlns:a16="http://schemas.microsoft.com/office/drawing/2014/main" id="{1475B481-C338-4F68-BD50-1506E65B16CE}"/>
              </a:ext>
            </a:extLst>
          </p:cNvPr>
          <p:cNvSpPr>
            <a:spLocks xmlns:a="http://schemas.openxmlformats.org/drawingml/2006/main" noGrp="1"/>
          </p:cNvSpPr>
          <p:nvPr/>
        </p:nvSpPr>
        <p:spPr>
          <a:xfrm xmlns:a="http://schemas.openxmlformats.org/drawingml/2006/main">
            <a:off x="4495800" y="5562600"/>
            <a:ext cx="2990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Approve or revise the tasks.</a:t>
            </a:r>
          </a:p>
        </p:txBody>
      </p:sp>
      <p:sp>
        <p:nvSpPr>
          <p:cNvPr id="24" name="workflow-node-06">
            <a:extLst xmlns:a="http://schemas.openxmlformats.org/drawingml/2006/main">
              <a:ext uri="{FF2B5EF4-FFF2-40B4-BE49-F238E27FC236}">
                <a16:creationId xmlns:a16="http://schemas.microsoft.com/office/drawing/2014/main" id="{F9BF0580-31D7-4708-8EA6-37930CBC0822}"/>
              </a:ext>
            </a:extLst>
          </p:cNvPr>
          <p:cNvSpPr>
            <a:spLocks xmlns:a="http://schemas.openxmlformats.org/drawingml/2006/main" noGrp="1"/>
          </p:cNvSpPr>
          <p:nvPr/>
        </p:nvSpPr>
        <p:spPr>
          <a:xfrm xmlns:a="http://schemas.openxmlformats.org/drawingml/2006/main">
            <a:off x="609600" y="4657725"/>
            <a:ext cx="3333750" cy="12477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 name="node-index-06">
            <a:extLst xmlns:a="http://schemas.openxmlformats.org/drawingml/2006/main">
              <a:ext uri="{FF2B5EF4-FFF2-40B4-BE49-F238E27FC236}">
                <a16:creationId xmlns:a16="http://schemas.microsoft.com/office/drawing/2014/main" id="{AFDE7295-8965-43DA-A32E-DB9F34B24CBF}"/>
              </a:ext>
            </a:extLst>
          </p:cNvPr>
          <p:cNvSpPr>
            <a:spLocks xmlns:a="http://schemas.openxmlformats.org/drawingml/2006/main" noGrp="1"/>
          </p:cNvSpPr>
          <p:nvPr/>
        </p:nvSpPr>
        <p:spPr>
          <a:xfrm xmlns:a="http://schemas.openxmlformats.org/drawingml/2006/main">
            <a:off x="781050" y="479107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06</a:t>
            </a:r>
          </a:p>
        </p:txBody>
      </p:sp>
      <p:sp>
        <p:nvSpPr>
          <p:cNvPr id="26" name="node-label-06">
            <a:extLst xmlns:a="http://schemas.openxmlformats.org/drawingml/2006/main">
              <a:ext uri="{FF2B5EF4-FFF2-40B4-BE49-F238E27FC236}">
                <a16:creationId xmlns:a16="http://schemas.microsoft.com/office/drawing/2014/main" id="{60F4F471-0D9C-4179-822E-2BB9DD3480AF}"/>
              </a:ext>
            </a:extLst>
          </p:cNvPr>
          <p:cNvSpPr>
            <a:spLocks xmlns:a="http://schemas.openxmlformats.org/drawingml/2006/main" noGrp="1"/>
          </p:cNvSpPr>
          <p:nvPr/>
        </p:nvSpPr>
        <p:spPr>
          <a:xfrm xmlns:a="http://schemas.openxmlformats.org/drawingml/2006/main">
            <a:off x="781050" y="5067300"/>
            <a:ext cx="2990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92B25"/>
                </a:solidFill>
                <a:latin typeface="Helvetica Neue"/>
                <a:ea typeface="Helvetica Neue"/>
                <a:cs typeface="Helvetica Neue"/>
              </a:defRPr>
            </a:pPr>
            <a:r>
              <a:rPr sz="1650" b="1">
                <a:solidFill>
                  <a:srgbClr val="192B25"/>
                </a:solidFill>
                <a:latin typeface="Helvetica Neue"/>
                <a:ea typeface="Helvetica Neue"/>
                <a:cs typeface="Helvetica Neue"/>
              </a:rPr>
              <a:t>Prepare learner-facing output</a:t>
            </a:r>
          </a:p>
        </p:txBody>
      </p:sp>
      <p:sp>
        <p:nvSpPr>
          <p:cNvPr id="27" name="node-detail-06">
            <a:extLst xmlns:a="http://schemas.openxmlformats.org/drawingml/2006/main">
              <a:ext uri="{FF2B5EF4-FFF2-40B4-BE49-F238E27FC236}">
                <a16:creationId xmlns:a16="http://schemas.microsoft.com/office/drawing/2014/main" id="{EC10A75D-6D75-4A9A-A63D-1CAB0B6EAC54}"/>
              </a:ext>
            </a:extLst>
          </p:cNvPr>
          <p:cNvSpPr>
            <a:spLocks xmlns:a="http://schemas.openxmlformats.org/drawingml/2006/main" noGrp="1"/>
          </p:cNvSpPr>
          <p:nvPr/>
        </p:nvSpPr>
        <p:spPr>
          <a:xfrm xmlns:a="http://schemas.openxmlformats.org/drawingml/2006/main">
            <a:off x="781050" y="5562600"/>
            <a:ext cx="2990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Structured output and feedback.</a:t>
            </a:r>
          </a:p>
        </p:txBody>
      </p:sp>
      <p:sp>
        <p:nvSpPr>
          <p:cNvPr id="28" name="workflow-arrow-0">
            <a:extLst xmlns:a="http://schemas.openxmlformats.org/drawingml/2006/main">
              <a:ext uri="{FF2B5EF4-FFF2-40B4-BE49-F238E27FC236}">
                <a16:creationId xmlns:a16="http://schemas.microsoft.com/office/drawing/2014/main" id="{DB9F1C99-6298-46FC-A8E1-D5014F53522D}"/>
              </a:ext>
            </a:extLst>
          </p:cNvPr>
          <p:cNvSpPr>
            <a:spLocks xmlns:a="http://schemas.openxmlformats.org/drawingml/2006/main" noGrp="1"/>
          </p:cNvSpPr>
          <p:nvPr/>
        </p:nvSpPr>
        <p:spPr>
          <a:xfrm xmlns:a="http://schemas.openxmlformats.org/drawingml/2006/main">
            <a:off x="4000500" y="3324225"/>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a:t>
            </a:r>
          </a:p>
        </p:txBody>
      </p:sp>
      <p:sp>
        <p:nvSpPr>
          <p:cNvPr id="29" name="workflow-arrow-1">
            <a:extLst xmlns:a="http://schemas.openxmlformats.org/drawingml/2006/main">
              <a:ext uri="{FF2B5EF4-FFF2-40B4-BE49-F238E27FC236}">
                <a16:creationId xmlns:a16="http://schemas.microsoft.com/office/drawing/2014/main" id="{C35C1D4B-82D6-4009-8B51-7A6BFCAB0317}"/>
              </a:ext>
            </a:extLst>
          </p:cNvPr>
          <p:cNvSpPr>
            <a:spLocks xmlns:a="http://schemas.openxmlformats.org/drawingml/2006/main" noGrp="1"/>
          </p:cNvSpPr>
          <p:nvPr/>
        </p:nvSpPr>
        <p:spPr>
          <a:xfrm xmlns:a="http://schemas.openxmlformats.org/drawingml/2006/main">
            <a:off x="7715250" y="3324225"/>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a:t>
            </a:r>
          </a:p>
        </p:txBody>
      </p:sp>
      <p:sp>
        <p:nvSpPr>
          <p:cNvPr id="30" name="workflow-arrow-2">
            <a:extLst xmlns:a="http://schemas.openxmlformats.org/drawingml/2006/main">
              <a:ext uri="{FF2B5EF4-FFF2-40B4-BE49-F238E27FC236}">
                <a16:creationId xmlns:a16="http://schemas.microsoft.com/office/drawing/2014/main" id="{213F434A-908E-4C91-B4D8-34609899AF08}"/>
              </a:ext>
            </a:extLst>
          </p:cNvPr>
          <p:cNvSpPr>
            <a:spLocks xmlns:a="http://schemas.openxmlformats.org/drawingml/2006/main" noGrp="1"/>
          </p:cNvSpPr>
          <p:nvPr/>
        </p:nvSpPr>
        <p:spPr>
          <a:xfrm xmlns:a="http://schemas.openxmlformats.org/drawingml/2006/main">
            <a:off x="9525000" y="4257675"/>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a:t>
            </a:r>
          </a:p>
        </p:txBody>
      </p:sp>
      <p:sp>
        <p:nvSpPr>
          <p:cNvPr id="31" name="workflow-arrow-3">
            <a:extLst xmlns:a="http://schemas.openxmlformats.org/drawingml/2006/main">
              <a:ext uri="{FF2B5EF4-FFF2-40B4-BE49-F238E27FC236}">
                <a16:creationId xmlns:a16="http://schemas.microsoft.com/office/drawing/2014/main" id="{1CBBECC0-96CA-4F7E-85AE-0C1238B31655}"/>
              </a:ext>
            </a:extLst>
          </p:cNvPr>
          <p:cNvSpPr>
            <a:spLocks xmlns:a="http://schemas.openxmlformats.org/drawingml/2006/main" noGrp="1"/>
          </p:cNvSpPr>
          <p:nvPr/>
        </p:nvSpPr>
        <p:spPr>
          <a:xfrm xmlns:a="http://schemas.openxmlformats.org/drawingml/2006/main">
            <a:off x="7715250" y="5086350"/>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a:t>
            </a:r>
          </a:p>
        </p:txBody>
      </p:sp>
      <p:sp>
        <p:nvSpPr>
          <p:cNvPr id="32" name="workflow-arrow-4">
            <a:extLst xmlns:a="http://schemas.openxmlformats.org/drawingml/2006/main">
              <a:ext uri="{FF2B5EF4-FFF2-40B4-BE49-F238E27FC236}">
                <a16:creationId xmlns:a16="http://schemas.microsoft.com/office/drawing/2014/main" id="{76EC2868-4A9B-4F31-B6B9-339B4F649B4D}"/>
              </a:ext>
            </a:extLst>
          </p:cNvPr>
          <p:cNvSpPr>
            <a:spLocks xmlns:a="http://schemas.openxmlformats.org/drawingml/2006/main" noGrp="1"/>
          </p:cNvSpPr>
          <p:nvPr/>
        </p:nvSpPr>
        <p:spPr>
          <a:xfrm xmlns:a="http://schemas.openxmlformats.org/drawingml/2006/main">
            <a:off x="4000500" y="5086350"/>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a:t>
            </a:r>
          </a:p>
        </p:txBody>
      </p:sp>
      <p:sp>
        <p:nvSpPr>
          <p:cNvPr id="33" name="asu-limit">
            <a:extLst xmlns:a="http://schemas.openxmlformats.org/drawingml/2006/main">
              <a:ext uri="{FF2B5EF4-FFF2-40B4-BE49-F238E27FC236}">
                <a16:creationId xmlns:a16="http://schemas.microsoft.com/office/drawing/2014/main" id="{53BE79BE-CE88-4221-902D-D0041B4454E6}"/>
              </a:ext>
            </a:extLst>
          </p:cNvPr>
          <p:cNvSpPr>
            <a:spLocks xmlns:a="http://schemas.openxmlformats.org/drawingml/2006/main" noGrp="1"/>
          </p:cNvSpPr>
          <p:nvPr/>
        </p:nvSpPr>
        <p:spPr>
          <a:xfrm xmlns:a="http://schemas.openxmlformats.org/drawingml/2006/main">
            <a:off x="609600" y="6191250"/>
            <a:ext cx="1093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Simplified reconstruction · Documented proposal; no deployment or measured efficiency claimed.</a:t>
            </a:r>
          </a:p>
        </p:txBody>
      </p:sp>
      <p:sp>
        <p:nvSpPr>
          <p:cNvPr id="34" name="slide-number">
            <a:extLst xmlns:a="http://schemas.openxmlformats.org/drawingml/2006/main">
              <a:ext uri="{FF2B5EF4-FFF2-40B4-BE49-F238E27FC236}">
                <a16:creationId xmlns:a16="http://schemas.microsoft.com/office/drawing/2014/main" id="{6BEAB30F-2BFC-47BF-BD7C-021BA691A300}"/>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Tree>
    <p:extLst>
      <p:ext uri="{BB962C8B-B14F-4D97-AF65-F5344CB8AC3E}">
        <p14:creationId xmlns:p14="http://schemas.microsoft.com/office/powerpoint/2010/main" val="1413098358"/>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ection-label">
            <a:extLst xmlns:a="http://schemas.openxmlformats.org/drawingml/2006/main">
              <a:ext uri="{FF2B5EF4-FFF2-40B4-BE49-F238E27FC236}">
                <a16:creationId xmlns:a16="http://schemas.microsoft.com/office/drawing/2014/main" id="{4816C619-DD70-48BA-84E1-43C2C61B647E}"/>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 QASIM   /   AUDIENCE SURVEY, MARCH 2025</a:t>
            </a:r>
          </a:p>
        </p:txBody>
      </p:sp>
      <p:sp>
        <p:nvSpPr>
          <p:cNvPr id="2" name="headline">
            <a:extLst xmlns:a="http://schemas.openxmlformats.org/drawingml/2006/main">
              <a:ext uri="{FF2B5EF4-FFF2-40B4-BE49-F238E27FC236}">
                <a16:creationId xmlns:a16="http://schemas.microsoft.com/office/drawing/2014/main" id="{58907D03-87A4-47BC-9CF0-2C36BDDC4A38}"/>
              </a:ext>
            </a:extLst>
          </p:cNvPr>
          <p:cNvSpPr>
            <a:spLocks xmlns:a="http://schemas.openxmlformats.org/drawingml/2006/main" noGrp="1"/>
          </p:cNvSpPr>
          <p:nvPr/>
        </p:nvSpPr>
        <p:spPr>
          <a:xfrm xmlns:a="http://schemas.openxmlformats.org/drawingml/2006/main">
            <a:off x="609600" y="1104900"/>
            <a:ext cx="54197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What keeps interest</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from becoming action?</a:t>
            </a:r>
          </a:p>
        </p:txBody>
      </p:sp>
      <p:sp>
        <p:nvSpPr>
          <p:cNvPr id="3" name="survey-role">
            <a:extLst xmlns:a="http://schemas.openxmlformats.org/drawingml/2006/main">
              <a:ext uri="{FF2B5EF4-FFF2-40B4-BE49-F238E27FC236}">
                <a16:creationId xmlns:a16="http://schemas.microsoft.com/office/drawing/2014/main" id="{4714785C-7AAB-4280-A95C-3F037558BE95}"/>
              </a:ext>
            </a:extLst>
          </p:cNvPr>
          <p:cNvSpPr>
            <a:spLocks xmlns:a="http://schemas.openxmlformats.org/drawingml/2006/main" noGrp="1"/>
          </p:cNvSpPr>
          <p:nvPr/>
        </p:nvSpPr>
        <p:spPr>
          <a:xfrm xmlns:a="http://schemas.openxmlformats.org/drawingml/2006/main">
            <a:off x="609600" y="2781300"/>
            <a:ext cx="5267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1">
                <a:solidFill>
                  <a:srgbClr val="244D3C"/>
                </a:solidFill>
                <a:latin typeface="Helvetica Neue"/>
                <a:ea typeface="Helvetica Neue"/>
                <a:cs typeface="Helvetica Neue"/>
              </a:defRPr>
            </a:pPr>
            <a:r>
              <a:rPr sz="1575" b="1">
                <a:solidFill>
                  <a:srgbClr val="244D3C"/>
                </a:solidFill>
                <a:latin typeface="Helvetica Neue"/>
                <a:ea typeface="Helvetica Neue"/>
                <a:cs typeface="Helvetica Neue"/>
              </a:rPr>
              <a:t>I led survey design, launch and analysis.</a:t>
            </a:r>
          </a:p>
        </p:txBody>
      </p:sp>
      <p:sp>
        <p:nvSpPr>
          <p:cNvPr id="4" name="survey-method">
            <a:extLst xmlns:a="http://schemas.openxmlformats.org/drawingml/2006/main">
              <a:ext uri="{FF2B5EF4-FFF2-40B4-BE49-F238E27FC236}">
                <a16:creationId xmlns:a16="http://schemas.microsoft.com/office/drawing/2014/main" id="{D18EF603-D397-4F19-AA6D-186BA5A066DB}"/>
              </a:ext>
            </a:extLst>
          </p:cNvPr>
          <p:cNvSpPr>
            <a:spLocks xmlns:a="http://schemas.openxmlformats.org/drawingml/2006/main" noGrp="1"/>
          </p:cNvSpPr>
          <p:nvPr/>
        </p:nvSpPr>
        <p:spPr>
          <a:xfrm xmlns:a="http://schemas.openxmlformats.org/drawingml/2006/main">
            <a:off x="609600" y="3533775"/>
            <a:ext cx="49434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combined structured questions about barriers with open responses about what would help.</a:t>
            </a:r>
          </a:p>
        </p:txBody>
      </p:sp>
      <p:sp>
        <p:nvSpPr>
          <p:cNvPr id="5" name="survey-tradeoff">
            <a:extLst xmlns:a="http://schemas.openxmlformats.org/drawingml/2006/main">
              <a:ext uri="{FF2B5EF4-FFF2-40B4-BE49-F238E27FC236}">
                <a16:creationId xmlns:a16="http://schemas.microsoft.com/office/drawing/2014/main" id="{C7629D62-F57B-4CB5-BCE8-089ECE6A1DA4}"/>
              </a:ext>
            </a:extLst>
          </p:cNvPr>
          <p:cNvSpPr>
            <a:spLocks xmlns:a="http://schemas.openxmlformats.org/drawingml/2006/main" noGrp="1"/>
          </p:cNvSpPr>
          <p:nvPr/>
        </p:nvSpPr>
        <p:spPr>
          <a:xfrm xmlns:a="http://schemas.openxmlformats.org/drawingml/2006/main">
            <a:off x="609600" y="5019675"/>
            <a:ext cx="49434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A voluntary audience sample surfaced reported needs. It could not establish future use or purchase.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851f162075141f5"/>
          <a:stretch xmlns:a="http://schemas.openxmlformats.org/drawingml/2006/main"/>
        </p:blipFill>
        <p:spPr>
          <a:xfrm xmlns:a="http://schemas.openxmlformats.org/drawingml/2006/main">
            <a:off x="6438900" y="1896618"/>
            <a:ext cx="5086350" cy="3255264"/>
          </a:xfrm>
          <a:prstGeom xmlns:a="http://schemas.openxmlformats.org/drawingml/2006/main" prst="rect">
            <a:avLst/>
          </a:prstGeom>
        </p:spPr>
      </p:pic>
      <p:sp>
        <p:nvSpPr>
          <p:cNvPr id="7" name="sample-caption">
            <a:extLst xmlns:a="http://schemas.openxmlformats.org/drawingml/2006/main">
              <a:ext uri="{FF2B5EF4-FFF2-40B4-BE49-F238E27FC236}">
                <a16:creationId xmlns:a16="http://schemas.microsoft.com/office/drawing/2014/main" id="{00BFD712-931E-44CC-8C2F-A1E33833EFEA}"/>
              </a:ext>
            </a:extLst>
          </p:cNvPr>
          <p:cNvSpPr>
            <a:spLocks xmlns:a="http://schemas.openxmlformats.org/drawingml/2006/main" noGrp="1"/>
          </p:cNvSpPr>
          <p:nvPr/>
        </p:nvSpPr>
        <p:spPr>
          <a:xfrm xmlns:a="http://schemas.openxmlformats.org/drawingml/2006/main">
            <a:off x="6477000" y="5629275"/>
            <a:ext cx="49434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1,459 complete submissions</a:t>
            </a:r>
          </a:p>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March 14, 2025 · survey still live</a:t>
            </a:r>
          </a:p>
        </p:txBody>
      </p:sp>
      <p:sp>
        <p:nvSpPr>
          <p:cNvPr id="8" name="slide-number">
            <a:extLst xmlns:a="http://schemas.openxmlformats.org/drawingml/2006/main">
              <a:ext uri="{FF2B5EF4-FFF2-40B4-BE49-F238E27FC236}">
                <a16:creationId xmlns:a16="http://schemas.microsoft.com/office/drawing/2014/main" id="{50689263-D380-498D-9E09-FC8E235286B7}"/>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Tree>
    <p:extLst>
      <p:ext uri="{BB962C8B-B14F-4D97-AF65-F5344CB8AC3E}">
        <p14:creationId xmlns:p14="http://schemas.microsoft.com/office/powerpoint/2010/main" val="393441719"/>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18614C15-011B-4584-887E-4A85DCEE993E}"/>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 QASIM   /   REPORTED BARRIERS</a:t>
            </a:r>
          </a:p>
        </p:txBody>
      </p:sp>
      <p:sp>
        <p:nvSpPr>
          <p:cNvPr id="2" name="headline">
            <a:extLst xmlns:a="http://schemas.openxmlformats.org/drawingml/2006/main">
              <a:ext uri="{FF2B5EF4-FFF2-40B4-BE49-F238E27FC236}">
                <a16:creationId xmlns:a16="http://schemas.microsoft.com/office/drawing/2014/main" id="{659F15D6-E70F-404E-A69A-0A43820B914D}"/>
              </a:ext>
            </a:extLst>
          </p:cNvPr>
          <p:cNvSpPr>
            <a:spLocks xmlns:a="http://schemas.openxmlformats.org/drawingml/2006/main" noGrp="1"/>
          </p:cNvSpPr>
          <p:nvPr/>
        </p:nvSpPr>
        <p:spPr>
          <a:xfrm xmlns:a="http://schemas.openxmlformats.org/drawingml/2006/main">
            <a:off x="609600" y="1104900"/>
            <a:ext cx="109442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Reported barriers to taking action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de853b15dbd46dc"/>
          <a:stretch xmlns:a="http://schemas.openxmlformats.org/drawingml/2006/main"/>
        </p:blipFill>
        <p:spPr>
          <a:xfrm xmlns:a="http://schemas.openxmlformats.org/drawingml/2006/main">
            <a:off x="612246" y="2752725"/>
            <a:ext cx="4233333" cy="2381250"/>
          </a:xfrm>
          <a:prstGeom xmlns:a="http://schemas.openxmlformats.org/drawingml/2006/main" prst="rect">
            <a:avLst/>
          </a:prstGeom>
        </p:spPr>
      </p:pic>
      <p:sp>
        <p:nvSpPr>
          <p:cNvPr id="4" name="original-report-caption">
            <a:extLst xmlns:a="http://schemas.openxmlformats.org/drawingml/2006/main">
              <a:ext uri="{FF2B5EF4-FFF2-40B4-BE49-F238E27FC236}">
                <a16:creationId xmlns:a16="http://schemas.microsoft.com/office/drawing/2014/main" id="{2424E408-4FFA-47DF-AE87-70ACD4E0C37A}"/>
              </a:ext>
            </a:extLst>
          </p:cNvPr>
          <p:cNvSpPr>
            <a:spLocks xmlns:a="http://schemas.openxmlformats.org/drawingml/2006/main" noGrp="1"/>
          </p:cNvSpPr>
          <p:nvPr/>
        </p:nvSpPr>
        <p:spPr>
          <a:xfrm xmlns:a="http://schemas.openxmlformats.org/drawingml/2006/main">
            <a:off x="609600" y="5410200"/>
            <a:ext cx="4238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findings report · March 2025</a:t>
            </a:r>
          </a:p>
        </p:txBody>
      </p:sp>
      <p:graphicFrame>
        <p:nvGraphicFramePr>
          <p:cNvPr id="12" name="Chart"/>
          <p:cNvGraphicFramePr/>
          <p:nvPr/>
        </p:nvGraphicFramePr>
        <p:xfrm>
          <a:off xmlns:a="http://schemas.openxmlformats.org/drawingml/2006/main" x="5114925" y="2143125"/>
          <a:ext xmlns:a="http://schemas.openxmlformats.org/drawingml/2006/main" cx="6457950" cy="3590925"/>
        </p:xfrm>
        <a:graphic xmlns:a="http://schemas.openxmlformats.org/drawingml/2006/main">
          <a:graphicData uri="http://schemas.openxmlformats.org/drawingml/2006/chart">
            <c:chart xmlns:r="http://schemas.openxmlformats.org/officeDocument/2006/relationships" xmlns:c="http://schemas.openxmlformats.org/drawingml/2006/chart" r:id="R06a53f342f794576"/>
          </a:graphicData>
        </a:graphic>
      </p:graphicFrame>
      <p:sp>
        <p:nvSpPr>
          <p:cNvPr id="6" name="barrier-limit">
            <a:extLst xmlns:a="http://schemas.openxmlformats.org/drawingml/2006/main">
              <a:ext uri="{FF2B5EF4-FFF2-40B4-BE49-F238E27FC236}">
                <a16:creationId xmlns:a16="http://schemas.microsoft.com/office/drawing/2014/main" id="{7E1AB245-690C-40FA-B260-DE741FE3D2A0}"/>
              </a:ext>
            </a:extLst>
          </p:cNvPr>
          <p:cNvSpPr>
            <a:spLocks xmlns:a="http://schemas.openxmlformats.org/drawingml/2006/main" noGrp="1"/>
          </p:cNvSpPr>
          <p:nvPr/>
        </p:nvSpPr>
        <p:spPr>
          <a:xfrm xmlns:a="http://schemas.openxmlformats.org/drawingml/2006/main">
            <a:off x="609600" y="6096000"/>
            <a:ext cx="10944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Reported percentages · per-item response base unavailable · voluntary audience sample</a:t>
            </a:r>
          </a:p>
        </p:txBody>
      </p:sp>
      <p:sp>
        <p:nvSpPr>
          <p:cNvPr id="7" name="slide-number">
            <a:extLst xmlns:a="http://schemas.openxmlformats.org/drawingml/2006/main">
              <a:ext uri="{FF2B5EF4-FFF2-40B4-BE49-F238E27FC236}">
                <a16:creationId xmlns:a16="http://schemas.microsoft.com/office/drawing/2014/main" id="{A27085CA-AD12-4AAB-8631-2CA91C01E81E}"/>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Tree>
    <p:extLst>
      <p:ext uri="{BB962C8B-B14F-4D97-AF65-F5344CB8AC3E}">
        <p14:creationId xmlns:p14="http://schemas.microsoft.com/office/powerpoint/2010/main" val="961935091"/>
      </p:ext>
    </p:extLst>
  </p:cSld>
</p:sld>
</file>

<file path=ppt/slides/slide9.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2" name="section-label">
            <a:extLst xmlns:a="http://schemas.openxmlformats.org/drawingml/2006/main">
              <a:ext uri="{FF2B5EF4-FFF2-40B4-BE49-F238E27FC236}">
                <a16:creationId xmlns:a16="http://schemas.microsoft.com/office/drawing/2014/main" id="{DE71B53D-CC2C-40D0-9C87-72CAABD4518E}"/>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ERROR RECOVERY RECOMMENDATION</a:t>
            </a:r>
          </a:p>
        </p:txBody>
      </p:sp>
      <p:sp>
        <p:nvSpPr>
          <p:cNvPr id="2" name="headline">
            <a:extLst xmlns:a="http://schemas.openxmlformats.org/drawingml/2006/main">
              <a:ext uri="{FF2B5EF4-FFF2-40B4-BE49-F238E27FC236}">
                <a16:creationId xmlns:a16="http://schemas.microsoft.com/office/drawing/2014/main" id="{E14BF44E-2356-4BDA-B10C-EA35EE35B0B0}"/>
              </a:ext>
            </a:extLst>
          </p:cNvPr>
          <p:cNvSpPr>
            <a:spLocks xmlns:a="http://schemas.openxmlformats.org/drawingml/2006/main" noGrp="1"/>
          </p:cNvSpPr>
          <p:nvPr/>
        </p:nvSpPr>
        <p:spPr>
          <a:xfrm xmlns:a="http://schemas.openxmlformats.org/drawingml/2006/main">
            <a:off x="609600" y="1104900"/>
            <a:ext cx="55721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Recovery feedback</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needed a clearer location</a:t>
            </a:r>
          </a:p>
        </p:txBody>
      </p:sp>
      <p:sp>
        <p:nvSpPr>
          <p:cNvPr id="3" name="error-observation">
            <a:extLst xmlns:a="http://schemas.openxmlformats.org/drawingml/2006/main">
              <a:ext uri="{FF2B5EF4-FFF2-40B4-BE49-F238E27FC236}">
                <a16:creationId xmlns:a16="http://schemas.microsoft.com/office/drawing/2014/main" id="{405E0F08-AB10-431B-968A-74F48337B413}"/>
              </a:ext>
            </a:extLst>
          </p:cNvPr>
          <p:cNvSpPr>
            <a:spLocks xmlns:a="http://schemas.openxmlformats.org/drawingml/2006/main" noGrp="1"/>
          </p:cNvSpPr>
          <p:nvPr/>
        </p:nvSpPr>
        <p:spPr>
          <a:xfrm xmlns:a="http://schemas.openxmlformats.org/drawingml/2006/main">
            <a:off x="609600" y="3105150"/>
            <a:ext cx="34004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The existing error appeared at the page footer, away from the login fields.</a:t>
            </a:r>
          </a:p>
        </p:txBody>
      </p:sp>
      <p:sp>
        <p:nvSpPr>
          <p:cNvPr id="4" name="error-recommendation">
            <a:extLst xmlns:a="http://schemas.openxmlformats.org/drawingml/2006/main">
              <a:ext uri="{FF2B5EF4-FFF2-40B4-BE49-F238E27FC236}">
                <a16:creationId xmlns:a16="http://schemas.microsoft.com/office/drawing/2014/main" id="{1C04B07A-1907-447D-9B74-290C28BA6C43}"/>
              </a:ext>
            </a:extLst>
          </p:cNvPr>
          <p:cNvSpPr>
            <a:spLocks xmlns:a="http://schemas.openxmlformats.org/drawingml/2006/main" noGrp="1"/>
          </p:cNvSpPr>
          <p:nvPr/>
        </p:nvSpPr>
        <p:spPr>
          <a:xfrm xmlns:a="http://schemas.openxmlformats.org/drawingml/2006/main">
            <a:off x="609600" y="4819650"/>
            <a:ext cx="34004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1">
                <a:solidFill>
                  <a:srgbClr val="244D3C"/>
                </a:solidFill>
                <a:latin typeface="Helvetica Neue"/>
                <a:ea typeface="Helvetica Neue"/>
                <a:cs typeface="Helvetica Neue"/>
              </a:defRPr>
            </a:pPr>
            <a:r>
              <a:rPr sz="1800" b="1">
                <a:solidFill>
                  <a:srgbClr val="244D3C"/>
                </a:solidFill>
                <a:latin typeface="Helvetica Neue"/>
                <a:ea typeface="Helvetica Neue"/>
                <a:cs typeface="Helvetica Neue"/>
              </a:rPr>
              <a:t>I recommended placing the correction beside the field where someone could act.</a:t>
            </a:r>
          </a:p>
        </p:txBody>
      </p:sp>
      <p:sp>
        <p:nvSpPr>
          <p:cNvPr id="5" name="original-label">
            <a:extLst xmlns:a="http://schemas.openxmlformats.org/drawingml/2006/main">
              <a:ext uri="{FF2B5EF4-FFF2-40B4-BE49-F238E27FC236}">
                <a16:creationId xmlns:a16="http://schemas.microsoft.com/office/drawing/2014/main" id="{071CFBF3-52B9-4A4B-BCB7-98F5395E5B0E}"/>
              </a:ext>
            </a:extLst>
          </p:cNvPr>
          <p:cNvSpPr>
            <a:spLocks xmlns:a="http://schemas.openxmlformats.org/drawingml/2006/main" noGrp="1"/>
          </p:cNvSpPr>
          <p:nvPr/>
        </p:nvSpPr>
        <p:spPr>
          <a:xfrm xmlns:a="http://schemas.openxmlformats.org/drawingml/2006/main">
            <a:off x="4419600" y="2609850"/>
            <a:ext cx="3257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a:t>
            </a:r>
          </a:p>
        </p:txBody>
      </p:sp>
      <p:sp>
        <p:nvSpPr>
          <p:cNvPr id="6" name="proposed-label">
            <a:extLst xmlns:a="http://schemas.openxmlformats.org/drawingml/2006/main">
              <a:ext uri="{FF2B5EF4-FFF2-40B4-BE49-F238E27FC236}">
                <a16:creationId xmlns:a16="http://schemas.microsoft.com/office/drawing/2014/main" id="{EC093B44-C665-4139-A09E-0E3D8DA51D1C}"/>
              </a:ext>
            </a:extLst>
          </p:cNvPr>
          <p:cNvSpPr>
            <a:spLocks xmlns:a="http://schemas.openxmlformats.org/drawingml/2006/main" noGrp="1"/>
          </p:cNvSpPr>
          <p:nvPr/>
        </p:nvSpPr>
        <p:spPr>
          <a:xfrm xmlns:a="http://schemas.openxmlformats.org/drawingml/2006/main">
            <a:off x="8086725" y="2609850"/>
            <a:ext cx="3257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Proposed</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c9faf0f2cc0463d"/>
          <a:stretch xmlns:a="http://schemas.openxmlformats.org/drawingml/2006/main"/>
        </p:blipFill>
        <p:spPr>
          <a:xfrm xmlns:a="http://schemas.openxmlformats.org/drawingml/2006/main">
            <a:off x="4419600" y="3079091"/>
            <a:ext cx="3257550" cy="2642918"/>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b8a143ce96804025"/>
          <a:stretch xmlns:a="http://schemas.openxmlformats.org/drawingml/2006/main"/>
        </p:blipFill>
        <p:spPr>
          <a:xfrm xmlns:a="http://schemas.openxmlformats.org/drawingml/2006/main">
            <a:off x="8086725" y="3233261"/>
            <a:ext cx="3257550" cy="2334578"/>
          </a:xfrm>
          <a:prstGeom xmlns:a="http://schemas.openxmlformats.org/drawingml/2006/main" prst="rect">
            <a:avLst/>
          </a:prstGeom>
        </p:spPr>
      </p:pic>
      <p:sp>
        <p:nvSpPr>
          <p:cNvPr id="9" name="footer-label">
            <a:extLst xmlns:a="http://schemas.openxmlformats.org/drawingml/2006/main">
              <a:ext uri="{FF2B5EF4-FFF2-40B4-BE49-F238E27FC236}">
                <a16:creationId xmlns:a16="http://schemas.microsoft.com/office/drawing/2014/main" id="{22BAFC25-9093-421B-AEE5-05FE0044CA16}"/>
              </a:ext>
            </a:extLst>
          </p:cNvPr>
          <p:cNvSpPr>
            <a:spLocks xmlns:a="http://schemas.openxmlformats.org/drawingml/2006/main" noGrp="1"/>
          </p:cNvSpPr>
          <p:nvPr/>
        </p:nvSpPr>
        <p:spPr>
          <a:xfrm xmlns:a="http://schemas.openxmlformats.org/drawingml/2006/main">
            <a:off x="4419600" y="5876925"/>
            <a:ext cx="3257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Original page-footer error</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20a54e78745d490a"/>
          <a:stretch xmlns:a="http://schemas.openxmlformats.org/drawingml/2006/main"/>
        </p:blipFill>
        <p:spPr>
          <a:xfrm xmlns:a="http://schemas.openxmlformats.org/drawingml/2006/main">
            <a:off x="4419600" y="6182704"/>
            <a:ext cx="3257550" cy="312368"/>
          </a:xfrm>
          <a:prstGeom xmlns:a="http://schemas.openxmlformats.org/drawingml/2006/main" prst="rect">
            <a:avLst/>
          </a:prstGeom>
        </p:spPr>
      </p:pic>
      <p:sp>
        <p:nvSpPr>
          <p:cNvPr id="11" name="slide-number">
            <a:extLst xmlns:a="http://schemas.openxmlformats.org/drawingml/2006/main">
              <a:ext uri="{FF2B5EF4-FFF2-40B4-BE49-F238E27FC236}">
                <a16:creationId xmlns:a16="http://schemas.microsoft.com/office/drawing/2014/main" id="{8CE59FE1-035A-43E1-80C5-7889A1343BA1}"/>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Tree>
    <p:extLst>
      <p:ext uri="{BB962C8B-B14F-4D97-AF65-F5344CB8AC3E}">
        <p14:creationId xmlns:p14="http://schemas.microsoft.com/office/powerpoint/2010/main" val="81418581"/>
      </p:ext>
    </p:extLst>
  </p:cSld>
</p:sld>
</file>

<file path=ppt/slides/slide10.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B2CAA064-DEFB-4662-9E7A-2A988723EC89}"/>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ORIGINAL SUMMARY AND PROPOSED NEXT CHECK</a:t>
            </a:r>
          </a:p>
        </p:txBody>
      </p:sp>
      <p:sp>
        <p:nvSpPr>
          <p:cNvPr id="2" name="headline">
            <a:extLst xmlns:a="http://schemas.openxmlformats.org/drawingml/2006/main">
              <a:ext uri="{FF2B5EF4-FFF2-40B4-BE49-F238E27FC236}">
                <a16:creationId xmlns:a16="http://schemas.microsoft.com/office/drawing/2014/main" id="{8F96EFF7-BFF6-4FA1-B0C4-FE0ED37BA6D2}"/>
              </a:ext>
            </a:extLst>
          </p:cNvPr>
          <p:cNvSpPr>
            <a:spLocks xmlns:a="http://schemas.openxmlformats.org/drawingml/2006/main" noGrp="1"/>
          </p:cNvSpPr>
          <p:nvPr/>
        </p:nvSpPr>
        <p:spPr>
          <a:xfrm xmlns:a="http://schemas.openxmlformats.org/drawingml/2006/main">
            <a:off x="609600" y="1104900"/>
            <a:ext cx="54292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Check whether</a:t>
            </a:r>
          </a:p>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the skill transfers</a:t>
            </a:r>
          </a:p>
        </p:txBody>
      </p:sp>
      <p:sp>
        <p:nvSpPr>
          <p:cNvPr id="3" name="transfer-proposal">
            <a:extLst xmlns:a="http://schemas.openxmlformats.org/drawingml/2006/main">
              <a:ext uri="{FF2B5EF4-FFF2-40B4-BE49-F238E27FC236}">
                <a16:creationId xmlns:a16="http://schemas.microsoft.com/office/drawing/2014/main" id="{2C439B87-9222-426A-A00A-1713F72C0219}"/>
              </a:ext>
            </a:extLst>
          </p:cNvPr>
          <p:cNvSpPr>
            <a:spLocks xmlns:a="http://schemas.openxmlformats.org/drawingml/2006/main" noGrp="1"/>
          </p:cNvSpPr>
          <p:nvPr/>
        </p:nvSpPr>
        <p:spPr>
          <a:xfrm xmlns:a="http://schemas.openxmlformats.org/drawingml/2006/main">
            <a:off x="609600" y="3171825"/>
            <a:ext cx="45148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For a different task, I would ask a learner to identify an unsupported detail, choose a revision, and explain why the next draft serves the goal.</a:t>
            </a:r>
          </a:p>
        </p:txBody>
      </p:sp>
      <p:sp>
        <p:nvSpPr>
          <p:cNvPr id="4" name="transfer-limit">
            <a:extLst xmlns:a="http://schemas.openxmlformats.org/drawingml/2006/main">
              <a:ext uri="{FF2B5EF4-FFF2-40B4-BE49-F238E27FC236}">
                <a16:creationId xmlns:a16="http://schemas.microsoft.com/office/drawing/2014/main" id="{C0365B0A-E815-45C3-BEB2-42E89C90991B}"/>
              </a:ext>
            </a:extLst>
          </p:cNvPr>
          <p:cNvSpPr>
            <a:spLocks xmlns:a="http://schemas.openxmlformats.org/drawingml/2006/main" noGrp="1"/>
          </p:cNvSpPr>
          <p:nvPr/>
        </p:nvSpPr>
        <p:spPr>
          <a:xfrm xmlns:a="http://schemas.openxmlformats.org/drawingml/2006/main">
            <a:off x="609600" y="5457825"/>
            <a:ext cx="45148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This is a proposed assessment drawn from the lesson, not a reported learner study.</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e2951b5dd634a29"/>
          <a:stretch xmlns:a="http://schemas.openxmlformats.org/drawingml/2006/main"/>
        </p:blipFill>
        <p:spPr>
          <a:xfrm xmlns:a="http://schemas.openxmlformats.org/drawingml/2006/main">
            <a:off x="5621856" y="2619375"/>
            <a:ext cx="5920339" cy="335280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EFA41576-8F6D-41DC-BFF0-4874A89F14F2}"/>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10</a:t>
            </a:r>
          </a:p>
        </p:txBody>
      </p:sp>
    </p:spTree>
    <p:extLst>
      <p:ext uri="{BB962C8B-B14F-4D97-AF65-F5344CB8AC3E}">
        <p14:creationId xmlns:p14="http://schemas.microsoft.com/office/powerpoint/2010/main" val="822413080"/>
      </p:ext>
    </p:extLst>
  </p:cSld>
</p:sld>
</file>

<file path=ppt/slides/slide1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FA569BA1-F0F3-484A-84CC-DFD6F51E2593}"/>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PROPOSED APPROACH   /   UNITEK LEARNING</a:t>
            </a:r>
          </a:p>
        </p:txBody>
      </p:sp>
      <p:sp>
        <p:nvSpPr>
          <p:cNvPr id="2" name="headline">
            <a:extLst xmlns:a="http://schemas.openxmlformats.org/drawingml/2006/main">
              <a:ext uri="{FF2B5EF4-FFF2-40B4-BE49-F238E27FC236}">
                <a16:creationId xmlns:a16="http://schemas.microsoft.com/office/drawing/2014/main" id="{392E3FA7-5789-4227-BE31-24127219773B}"/>
              </a:ext>
            </a:extLst>
          </p:cNvPr>
          <p:cNvSpPr>
            <a:spLocks xmlns:a="http://schemas.openxmlformats.org/drawingml/2006/main" noGrp="1"/>
          </p:cNvSpPr>
          <p:nvPr/>
        </p:nvSpPr>
        <p:spPr>
          <a:xfrm xmlns:a="http://schemas.openxmlformats.org/drawingml/2006/main">
            <a:off x="609600" y="1323975"/>
            <a:ext cx="6343650"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Review one course unit</a:t>
            </a:r>
          </a:p>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with the team</a:t>
            </a:r>
          </a:p>
        </p:txBody>
      </p:sp>
      <p:sp>
        <p:nvSpPr>
          <p:cNvPr id="3" name="course-question">
            <a:extLst xmlns:a="http://schemas.openxmlformats.org/drawingml/2006/main">
              <a:ext uri="{FF2B5EF4-FFF2-40B4-BE49-F238E27FC236}">
                <a16:creationId xmlns:a16="http://schemas.microsoft.com/office/drawing/2014/main" id="{335AA894-1011-4439-88A8-41E68B74CDFE}"/>
              </a:ext>
            </a:extLst>
          </p:cNvPr>
          <p:cNvSpPr>
            <a:spLocks xmlns:a="http://schemas.openxmlformats.org/drawingml/2006/main" noGrp="1"/>
          </p:cNvSpPr>
          <p:nvPr/>
        </p:nvSpPr>
        <p:spPr>
          <a:xfrm xmlns:a="http://schemas.openxmlformats.org/drawingml/2006/main">
            <a:off x="609600" y="3333750"/>
            <a:ext cx="54578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Start with a faculty-approved unit. Clarify the learner outcome, the practice activity, and what would show understanding.</a:t>
            </a:r>
          </a:p>
        </p:txBody>
      </p:sp>
      <p:sp>
        <p:nvSpPr>
          <p:cNvPr id="4" name="course-plan">
            <a:extLst xmlns:a="http://schemas.openxmlformats.org/drawingml/2006/main">
              <a:ext uri="{FF2B5EF4-FFF2-40B4-BE49-F238E27FC236}">
                <a16:creationId xmlns:a16="http://schemas.microsoft.com/office/drawing/2014/main" id="{05312426-AC56-4F41-B3A2-DD51E82D6207}"/>
              </a:ext>
            </a:extLst>
          </p:cNvPr>
          <p:cNvSpPr>
            <a:spLocks xmlns:a="http://schemas.openxmlformats.org/drawingml/2006/main" noGrp="1"/>
          </p:cNvSpPr>
          <p:nvPr/>
        </p:nvSpPr>
        <p:spPr>
          <a:xfrm xmlns:a="http://schemas.openxmlformats.org/drawingml/2006/main">
            <a:off x="609600" y="4953000"/>
            <a:ext cx="545782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Work with subject matter experts on accuracy. Review instructions, navigation, media and feedback, then use learner and faculty input to choose specific revisions.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ad40227c3374993"/>
          <a:stretch xmlns:a="http://schemas.openxmlformats.org/drawingml/2006/main"/>
        </p:blipFill>
        <p:spPr>
          <a:xfrm xmlns:a="http://schemas.openxmlformats.org/drawingml/2006/main">
            <a:off x="7010400" y="1447800"/>
            <a:ext cx="4876800" cy="487680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E6963E10-8433-4D76-BC7D-D9A926BAD84D}"/>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11</a:t>
            </a:r>
          </a:p>
        </p:txBody>
      </p:sp>
    </p:spTree>
    <p:extLst>
      <p:ext uri="{BB962C8B-B14F-4D97-AF65-F5344CB8AC3E}">
        <p14:creationId xmlns:p14="http://schemas.microsoft.com/office/powerpoint/2010/main" val="1222357241"/>
      </p:ext>
    </p:extLst>
  </p:cSld>
</p:sld>
</file>

<file path=ppt/slides/slide12.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8B6E5A36-734C-4F5C-9484-56E22F95CE14}"/>
              </a:ext>
            </a:extLst>
          </p:cNvPr>
          <p:cNvSpPr>
            <a:spLocks xmlns:a="http://schemas.openxmlformats.org/drawingml/2006/main" noGrp="1"/>
          </p:cNvSpPr>
          <p:nvPr/>
        </p:nvSpPr>
        <p:spPr>
          <a:xfrm xmlns:a="http://schemas.openxmlformats.org/drawingml/2006/main">
            <a:off x="609600" y="5238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UNITEK LEARNING · INSTRUCTIONAL DESIGN</a:t>
            </a:r>
          </a:p>
        </p:txBody>
      </p:sp>
      <p:sp>
        <p:nvSpPr>
          <p:cNvPr id="2" name="headline">
            <a:extLst xmlns:a="http://schemas.openxmlformats.org/drawingml/2006/main">
              <a:ext uri="{FF2B5EF4-FFF2-40B4-BE49-F238E27FC236}">
                <a16:creationId xmlns:a16="http://schemas.microsoft.com/office/drawing/2014/main" id="{40526581-DD57-43CE-A388-A5C8D32693CB}"/>
              </a:ext>
            </a:extLst>
          </p:cNvPr>
          <p:cNvSpPr>
            <a:spLocks xmlns:a="http://schemas.openxmlformats.org/drawingml/2006/main" noGrp="1"/>
          </p:cNvSpPr>
          <p:nvPr/>
        </p:nvSpPr>
        <p:spPr>
          <a:xfrm xmlns:a="http://schemas.openxmlformats.org/drawingml/2006/main">
            <a:off x="609600" y="1647825"/>
            <a:ext cx="10287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800" b="1">
                <a:solidFill>
                  <a:srgbClr val="F4F2E9"/>
                </a:solidFill>
                <a:latin typeface="Helvetica Neue"/>
                <a:ea typeface="Helvetica Neue"/>
                <a:cs typeface="Helvetica Neue"/>
              </a:defRPr>
            </a:pPr>
            <a:r>
              <a:rPr sz="4800" b="1">
                <a:solidFill>
                  <a:srgbClr val="F4F2E9"/>
                </a:solidFill>
                <a:latin typeface="Helvetica Neue"/>
                <a:ea typeface="Helvetica Neue"/>
                <a:cs typeface="Helvetica Neue"/>
              </a:rPr>
              <a:t>Let’s talk about</a:t>
            </a:r>
          </a:p>
          <a:p xmlns:a="http://schemas.openxmlformats.org/drawingml/2006/main">
            <a:pPr>
              <a:lnSpc>
                <a:spcPct val="110000"/>
              </a:lnSpc>
              <a:buNone/>
              <a:defRPr sz="4800" b="1">
                <a:solidFill>
                  <a:srgbClr val="F4F2E9"/>
                </a:solidFill>
                <a:latin typeface="Helvetica Neue"/>
                <a:ea typeface="Helvetica Neue"/>
                <a:cs typeface="Helvetica Neue"/>
              </a:defRPr>
            </a:pPr>
            <a:r>
              <a:rPr sz="4800" b="1">
                <a:solidFill>
                  <a:srgbClr val="F4F2E9"/>
                </a:solidFill>
                <a:latin typeface="Helvetica Neue"/>
                <a:ea typeface="Helvetica Neue"/>
                <a:cs typeface="Helvetica Neue"/>
              </a:rPr>
              <a:t>the next course</a:t>
            </a:r>
          </a:p>
        </p:txBody>
      </p:sp>
      <p:sp>
        <p:nvSpPr>
          <p:cNvPr id="3" name="contact-intent">
            <a:extLst xmlns:a="http://schemas.openxmlformats.org/drawingml/2006/main">
              <a:ext uri="{FF2B5EF4-FFF2-40B4-BE49-F238E27FC236}">
                <a16:creationId xmlns:a16="http://schemas.microsoft.com/office/drawing/2014/main" id="{91F1BFA8-AAA7-4DEC-BAB9-E23E501299DC}"/>
              </a:ext>
            </a:extLst>
          </p:cNvPr>
          <p:cNvSpPr>
            <a:spLocks xmlns:a="http://schemas.openxmlformats.org/drawingml/2006/main" noGrp="1"/>
          </p:cNvSpPr>
          <p:nvPr/>
        </p:nvSpPr>
        <p:spPr>
          <a:xfrm xmlns:a="http://schemas.openxmlformats.org/drawingml/2006/main">
            <a:off x="647700" y="3943350"/>
            <a:ext cx="100203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Based in Mesa, Arizona. Open to the Tempe hybrid role and ready to start as soon as possible.</a:t>
            </a:r>
          </a:p>
        </p:txBody>
      </p:sp>
      <p:sp>
        <p:nvSpPr>
          <p:cNvPr id="4" name="email">
            <a:extLst xmlns:a="http://schemas.openxmlformats.org/drawingml/2006/main">
              <a:ext uri="{FF2B5EF4-FFF2-40B4-BE49-F238E27FC236}">
                <a16:creationId xmlns:a16="http://schemas.microsoft.com/office/drawing/2014/main" id="{DC2C1B11-45CD-43CE-B229-1003D5AF64FD}"/>
              </a:ext>
            </a:extLst>
          </p:cNvPr>
          <p:cNvSpPr>
            <a:spLocks xmlns:a="http://schemas.openxmlformats.org/drawingml/2006/main" noGrp="1"/>
          </p:cNvSpPr>
          <p:nvPr/>
        </p:nvSpPr>
        <p:spPr>
          <a:xfrm xmlns:a="http://schemas.openxmlformats.org/drawingml/2006/main">
            <a:off x="647700" y="5057775"/>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f5ce254f79a849d8"/>
              </a:rPr>
              <a:t>JonathanKyleHobson@gmail.com</a:t>
            </a:r>
          </a:p>
        </p:txBody>
      </p:sp>
      <p:sp>
        <p:nvSpPr>
          <p:cNvPr id="5" name="portfolio">
            <a:extLst xmlns:a="http://schemas.openxmlformats.org/drawingml/2006/main">
              <a:ext uri="{FF2B5EF4-FFF2-40B4-BE49-F238E27FC236}">
                <a16:creationId xmlns:a16="http://schemas.microsoft.com/office/drawing/2014/main" id="{A8136749-8D6B-47A0-8FE5-949FACB393CF}"/>
              </a:ext>
            </a:extLst>
          </p:cNvPr>
          <p:cNvSpPr>
            <a:spLocks xmlns:a="http://schemas.openxmlformats.org/drawingml/2006/main" noGrp="1"/>
          </p:cNvSpPr>
          <p:nvPr/>
        </p:nvSpPr>
        <p:spPr>
          <a:xfrm xmlns:a="http://schemas.openxmlformats.org/drawingml/2006/main">
            <a:off x="647700" y="570547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u="sng">
                <a:solidFill>
                  <a:srgbClr val="DBEB89"/>
                </a:solidFill>
                <a:latin typeface="Helvetica Neue"/>
                <a:ea typeface="Helvetica Neue"/>
                <a:cs typeface="Helvetica Neue"/>
              </a:defRPr>
            </a:pPr>
            <a:r>
              <a:rPr sz="1575" b="0" u="sng">
                <a:solidFill>
                  <a:srgbClr val="DBEB89"/>
                </a:solidFill>
                <a:latin typeface="Helvetica Neue"/>
                <a:ea typeface="Helvetica Neue"/>
                <a:cs typeface="Helvetica Neue"/>
                <a:hlinkClick xmlns:r="http://schemas.openxmlformats.org/officeDocument/2006/relationships" r:id="R9af30b75ecbe4cdf"/>
              </a:rPr>
              <a:t>jonathankhobson.github.io/application-portfolios/unitek-instructional-designer</a:t>
            </a:r>
          </a:p>
        </p:txBody>
      </p:sp>
      <p:sp>
        <p:nvSpPr>
          <p:cNvPr id="6" name="slide-number">
            <a:extLst xmlns:a="http://schemas.openxmlformats.org/drawingml/2006/main">
              <a:ext uri="{FF2B5EF4-FFF2-40B4-BE49-F238E27FC236}">
                <a16:creationId xmlns:a16="http://schemas.microsoft.com/office/drawing/2014/main" id="{34492612-FB3D-47BC-AE28-128FC43374F6}"/>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12</a:t>
            </a:r>
          </a:p>
        </p:txBody>
      </p:sp>
    </p:spTree>
    <p:extLst>
      <p:ext uri="{BB962C8B-B14F-4D97-AF65-F5344CB8AC3E}">
        <p14:creationId xmlns:p14="http://schemas.microsoft.com/office/powerpoint/2010/main" val="556529841"/>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2026-09-08T22:34:39.1000000Z</dcterms:created>
  <dcterms:modified xsi:type="dcterms:W3CDTF">2026-09-08T22:34:39.1000000Z</dcterms:modified>
</coreProperties>
</file>