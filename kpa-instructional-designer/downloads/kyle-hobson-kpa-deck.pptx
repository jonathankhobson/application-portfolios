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99ba20f02c4e74" /><Relationship Type="http://schemas.openxmlformats.org/officeDocument/2006/relationships/extended-properties" Target="/docProps/app.xml" Id="R5f60a7da6c054a9d" /><Relationship Type="http://schemas.openxmlformats.org/officeDocument/2006/relationships/officeDocument" Target="/ppt/presentation.xml" Id="R68fb0e350ff74d02" /></Relationships>
</file>

<file path=ppt/presentation.xml><?xml version="1.0" encoding="utf-8"?>
<p:presentation xmlns:p="http://schemas.openxmlformats.org/presentationml/2006/main">
  <p:sldMasterIdLst>
    <p:sldMasterId xmlns:r="http://schemas.openxmlformats.org/officeDocument/2006/relationships" id="2147483648" r:id="Rbe010bb10e094574"/>
  </p:sldMasterIdLst>
  <p:notesMasterIdLst>
    <p:notesMasterId xmlns:r="http://schemas.openxmlformats.org/officeDocument/2006/relationships" r:id="R0e6ad57bc45347d1"/>
  </p:notesMasterIdLst>
  <p:sldIdLst>
    <p:sldId xmlns:r="http://schemas.openxmlformats.org/officeDocument/2006/relationships" id="256" r:id="R0bac75c54846413d"/>
    <p:sldId xmlns:r="http://schemas.openxmlformats.org/officeDocument/2006/relationships" id="257" r:id="R0724948261bb4287"/>
    <p:sldId xmlns:r="http://schemas.openxmlformats.org/officeDocument/2006/relationships" id="258" r:id="Rfb87949fa2d74379"/>
    <p:sldId xmlns:r="http://schemas.openxmlformats.org/officeDocument/2006/relationships" id="259" r:id="R05996fb0ce4b4661"/>
    <p:sldId xmlns:r="http://schemas.openxmlformats.org/officeDocument/2006/relationships" id="260" r:id="R220332408311457b"/>
    <p:sldId xmlns:r="http://schemas.openxmlformats.org/officeDocument/2006/relationships" id="261" r:id="Rc14f13551b4a4390"/>
    <p:sldId xmlns:r="http://schemas.openxmlformats.org/officeDocument/2006/relationships" id="262" r:id="Raa1b825fe1db49da"/>
    <p:sldId xmlns:r="http://schemas.openxmlformats.org/officeDocument/2006/relationships" id="263" r:id="R7a4fbcd5fe9b4b58"/>
    <p:sldId xmlns:r="http://schemas.openxmlformats.org/officeDocument/2006/relationships" id="264" r:id="R3e47f578475244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5554d86b6d4349" /><Relationship Type="http://schemas.openxmlformats.org/officeDocument/2006/relationships/slideMaster" Target="/ppt/slideMasters/slideMaster1.xml" Id="Rbe010bb10e094574" /><Relationship Type="http://schemas.openxmlformats.org/officeDocument/2006/relationships/notesMaster" Target="/ppt/notesMasters/notesMaster1.xml" Id="R0e6ad57bc45347d1" /><Relationship Type="http://schemas.openxmlformats.org/officeDocument/2006/relationships/presProps" Target="/ppt/presProps.xml" Id="R76781741c7004e3c" /><Relationship Type="http://schemas.openxmlformats.org/officeDocument/2006/relationships/tableStyles" Target="/ppt/tableStyles.xml" Id="Rb3417f55373f4cce" /><Relationship Type="http://schemas.openxmlformats.org/officeDocument/2006/relationships/slide" Target="/ppt/slides/slide1.xml" Id="R0bac75c54846413d" /><Relationship Type="http://schemas.openxmlformats.org/officeDocument/2006/relationships/slide" Target="/ppt/slides/slide2.xml" Id="R0724948261bb4287" /><Relationship Type="http://schemas.openxmlformats.org/officeDocument/2006/relationships/slide" Target="/ppt/slides/slide3.xml" Id="Rfb87949fa2d74379" /><Relationship Type="http://schemas.openxmlformats.org/officeDocument/2006/relationships/slide" Target="/ppt/slides/slide4.xml" Id="R05996fb0ce4b4661" /><Relationship Type="http://schemas.openxmlformats.org/officeDocument/2006/relationships/slide" Target="/ppt/slides/slide5.xml" Id="R220332408311457b" /><Relationship Type="http://schemas.openxmlformats.org/officeDocument/2006/relationships/slide" Target="/ppt/slides/slide6.xml" Id="Rc14f13551b4a4390" /><Relationship Type="http://schemas.openxmlformats.org/officeDocument/2006/relationships/slide" Target="/ppt/slides/slide7.xml" Id="Raa1b825fe1db49da" /><Relationship Type="http://schemas.openxmlformats.org/officeDocument/2006/relationships/slide" Target="/ppt/slides/slide8.xml" Id="R7a4fbcd5fe9b4b58" /><Relationship Type="http://schemas.openxmlformats.org/officeDocument/2006/relationships/slide" Target="/ppt/slides/slide9.xml" Id="R3e47f578475244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ddb06818ad40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00a0ecf7264c06" /><Relationship Type="http://schemas.openxmlformats.org/officeDocument/2006/relationships/notesMaster" Target="/ppt/notesMasters/notesMaster1.xml" Id="R77811813587c40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c9e7832da64f1c" /><Relationship Type="http://schemas.openxmlformats.org/officeDocument/2006/relationships/notesMaster" Target="/ppt/notesMasters/notesMaster1.xml" Id="R279d178908a147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88265cc1ff4efb" /><Relationship Type="http://schemas.openxmlformats.org/officeDocument/2006/relationships/notesMaster" Target="/ppt/notesMasters/notesMaster1.xml" Id="R812088f2f8b644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4399da11df4b13" /><Relationship Type="http://schemas.openxmlformats.org/officeDocument/2006/relationships/notesMaster" Target="/ppt/notesMasters/notesMaster1.xml" Id="Rfb5049ebbb2145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28be3902aa46b2" /><Relationship Type="http://schemas.openxmlformats.org/officeDocument/2006/relationships/notesMaster" Target="/ppt/notesMasters/notesMaster1.xml" Id="Rd68d4d62d6bc44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cfd9d1181b4be3" /><Relationship Type="http://schemas.openxmlformats.org/officeDocument/2006/relationships/notesMaster" Target="/ppt/notesMasters/notesMaster1.xml" Id="R5fc87b4afa974a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750d61035f4d97" /><Relationship Type="http://schemas.openxmlformats.org/officeDocument/2006/relationships/notesMaster" Target="/ppt/notesMasters/notesMaster1.xml" Id="Rafbb83c263e445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1944a1784f4587" /><Relationship Type="http://schemas.openxmlformats.org/officeDocument/2006/relationships/notesMaster" Target="/ppt/notesMasters/notesMaster1.xml" Id="Rcdc447fef6744b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ca32efd80341b3" /><Relationship Type="http://schemas.openxmlformats.org/officeDocument/2006/relationships/notesMaster" Target="/ppt/notesMasters/notesMaster1.xml" Id="R7e93d1edbf624d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KPA Instructional Designer, Lever posting fca3d929-665b-421d-8933-e3fbf89ad268. Mostly remote U.S. role with occasional Lafayette CO meetings. Job source: https://jobs.lever.co/kpaonline/fca3d929-665b-421d-8933-e3fbf89ad268 . The approved paper-path illustration is decorative,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evidence: ASU Knowledge Enterprise, Instructional Designer, April 2022–October 2024. MS User Experience with UX Research concentration, ASU, May 2024; BS Technical Communication with UX concentration, ASU, May 2023. The concise role scope is reviewed evidence; this slide does not claim specific SCORM/LMS production tools or measured learning gains. Public profile: https://www.linkedin.com/in/jonathankylehobson/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the official Coursera page https://www.coursera.org/projects/chatgpt-beginners . The image is an original course slide. Enrollments describe reach, not course completion or measured skill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recording at 02:30. This initial fictional Brew Bliss cafe draft gives learners material to inspect and revise. Later lesson steps demonstrate a more specific instruction and its resulting draft. It is not a client campaign or evidence of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reviewed in the September 2026 portfolio. Design and handoff evidence; exact pictured state is not claimed to be shipped. Its relevance to end-user documentation is adjacent: Kyle is explaining product behavior, showing product-design evidence with adjacent application to learning materials.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developer-authored Prompt Compass local regression fixture, May 2026. Both prompts are exact fixture values. This is a designed evaluation example, not a client incident, production-model benchmark, or measured ROI. The public beta release is https://github.com/JonathanKHobson/prompt-compass/releases/tag/v0.1.0-beta.3 . Relevant to updating technical training: a clearer or shorter instruction still needs to preserve conditions and review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displayed proposed approach to Kyle. The reconstruction shows the mentor review steps without claiming production deployment, model training, or measurable savings. Reviewed AI case: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with KPA’s Training &amp; Content Team. This is not a completed KPA course or a claim of regulatory/SCORM/Articulate expertise. Review boundaries and specific examples should be agreed with the subject matter expert. Primary source: https://jobs.lever.co/kpaonline/fca3d929-665b-421d-8933-e3fbf89ad268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and work-authorization statements are candidate-confirmed for this application. Portfolio link targets the separately prepared KPA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e2319eea764a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8648efcb8b4c9f" /><Relationship Type="http://schemas.openxmlformats.org/officeDocument/2006/relationships/slideLayout" Target="/ppt/slideLayouts/slideLayout1.xml" Id="R1fdda7198a6145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dda7198a6145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7a1f34e9ad4a65" /><Relationship Type="http://schemas.openxmlformats.org/officeDocument/2006/relationships/image" Target="/ppt/media/image.png" Id="R74c2532752eb4391" /><Relationship Type="http://schemas.openxmlformats.org/officeDocument/2006/relationships/notesSlide" Target="/ppt/notesSlides/notesSlide1.xml" Id="R4688c7ef130d4a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6f846f6e804f37" /><Relationship Type="http://schemas.openxmlformats.org/officeDocument/2006/relationships/image" Target="/ppt/media/image.jpeg" Id="Rf6576c4a32f94311" /><Relationship Type="http://schemas.openxmlformats.org/officeDocument/2006/relationships/notesSlide" Target="/ppt/notesSlides/notesSlide2.xml" Id="R3b279fe4b72d4a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df09b74eb1b4db9" /><Relationship Type="http://schemas.openxmlformats.org/officeDocument/2006/relationships/image" Target="/ppt/media/image2.png" Id="R8ced8deb400d46cb" /><Relationship Type="http://schemas.openxmlformats.org/officeDocument/2006/relationships/notesSlide" Target="/ppt/notesSlides/notesSlide3.xml" Id="Rb34cef266f4e42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e4766be5fa4b43" /><Relationship Type="http://schemas.openxmlformats.org/officeDocument/2006/relationships/image" Target="/ppt/media/image3.png" Id="Ra0093b4c499b4b7c" /><Relationship Type="http://schemas.openxmlformats.org/officeDocument/2006/relationships/notesSlide" Target="/ppt/notesSlides/notesSlide4.xml" Id="Rc57223d506154f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52e31b05be467c" /><Relationship Type="http://schemas.openxmlformats.org/officeDocument/2006/relationships/image" Target="/ppt/media/image4.png" Id="Rf99d83a93d524d00" /><Relationship Type="http://schemas.openxmlformats.org/officeDocument/2006/relationships/image" Target="/ppt/media/image5.png" Id="Rb8e7ed8568e14361" /><Relationship Type="http://schemas.openxmlformats.org/officeDocument/2006/relationships/notesSlide" Target="/ppt/notesSlides/notesSlide5.xml" Id="R9016c19fb11543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d2165bc2b14cd1" /><Relationship Type="http://schemas.openxmlformats.org/officeDocument/2006/relationships/notesSlide" Target="/ppt/notesSlides/notesSlide6.xml" Id="R5afffa612b7045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4e7e9386eb474d" /><Relationship Type="http://schemas.openxmlformats.org/officeDocument/2006/relationships/image" Target="/ppt/media/image6.png" Id="R7f111eb4ec454c7b" /><Relationship Type="http://schemas.openxmlformats.org/officeDocument/2006/relationships/notesSlide" Target="/ppt/notesSlides/notesSlide7.xml" Id="Rafbb874ba5d340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5a0dee5fe34c7e" /><Relationship Type="http://schemas.openxmlformats.org/officeDocument/2006/relationships/notesSlide" Target="/ppt/notesSlides/notesSlide8.xml" Id="R0911b406b22a43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f5ec4ca2984504" /><Relationship Type="http://schemas.openxmlformats.org/officeDocument/2006/relationships/hyperlink" Target="mailto:JonathanKyleHobson@gmail.com" TargetMode="External" Id="Rb3b8db65945c4dd0" /><Relationship Type="http://schemas.openxmlformats.org/officeDocument/2006/relationships/hyperlink" Target="https://jonathankhobson.github.io/application-portfolios/kpa-instructional-designer/" TargetMode="External" Id="Rfc354e0126b14ef9" /><Relationship Type="http://schemas.openxmlformats.org/officeDocument/2006/relationships/notesSlide" Target="/ppt/notesSlides/notesSlide9.xml" Id="R6210df9a437a47b5"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4c2532752eb4391"/>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643EB429-932E-4C20-9D91-39903F59F401}"/>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KPA</a:t>
            </a:r>
          </a:p>
        </p:txBody>
      </p:sp>
      <p:sp>
        <p:nvSpPr>
          <p:cNvPr id="3" name="headline">
            <a:extLst xmlns:a="http://schemas.openxmlformats.org/drawingml/2006/main">
              <a:ext uri="{FF2B5EF4-FFF2-40B4-BE49-F238E27FC236}">
                <a16:creationId xmlns:a16="http://schemas.microsoft.com/office/drawing/2014/main" id="{762A1C49-5092-43AC-881A-FA59D3397DEC}"/>
              </a:ext>
            </a:extLst>
          </p:cNvPr>
          <p:cNvSpPr>
            <a:spLocks xmlns:a="http://schemas.openxmlformats.org/drawingml/2006/main" noGrp="1"/>
          </p:cNvSpPr>
          <p:nvPr/>
        </p:nvSpPr>
        <p:spPr>
          <a:xfrm xmlns:a="http://schemas.openxmlformats.org/drawingml/2006/main">
            <a:off x="609600" y="1485900"/>
            <a:ext cx="8382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Make complex tasks</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easier to learn</a:t>
            </a:r>
          </a:p>
        </p:txBody>
      </p:sp>
      <p:sp>
        <p:nvSpPr>
          <p:cNvPr id="4" name="cover-intro">
            <a:extLst xmlns:a="http://schemas.openxmlformats.org/drawingml/2006/main">
              <a:ext uri="{FF2B5EF4-FFF2-40B4-BE49-F238E27FC236}">
                <a16:creationId xmlns:a16="http://schemas.microsoft.com/office/drawing/2014/main" id="{4AFA2D2F-D214-4CE5-B708-F6F8AB42FD3D}"/>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Selected learning materials, product guidance</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content review examples</a:t>
            </a:r>
          </a:p>
        </p:txBody>
      </p:sp>
      <p:sp>
        <p:nvSpPr>
          <p:cNvPr id="5" name="cover-role">
            <a:extLst xmlns:a="http://schemas.openxmlformats.org/drawingml/2006/main">
              <a:ext uri="{FF2B5EF4-FFF2-40B4-BE49-F238E27FC236}">
                <a16:creationId xmlns:a16="http://schemas.microsoft.com/office/drawing/2014/main" id="{2FE8539E-5C18-4DFC-959C-276E0513D977}"/>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Instructional Designer · Training &amp; Content · U.S. remote</a:t>
            </a:r>
          </a:p>
        </p:txBody>
      </p:sp>
      <p:sp>
        <p:nvSpPr>
          <p:cNvPr id="6" name="slide-number">
            <a:extLst xmlns:a="http://schemas.openxmlformats.org/drawingml/2006/main">
              <a:ext uri="{FF2B5EF4-FFF2-40B4-BE49-F238E27FC236}">
                <a16:creationId xmlns:a16="http://schemas.microsoft.com/office/drawing/2014/main" id="{AC631216-FA55-4127-94B2-1B10F8DABE3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593369770"/>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24CE9D8-7233-4595-B64C-613F5A0C22C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INSTRUCTIONAL DESIGNER</a:t>
            </a:r>
          </a:p>
        </p:txBody>
      </p:sp>
      <p:sp>
        <p:nvSpPr>
          <p:cNvPr id="2" name="headline">
            <a:extLst xmlns:a="http://schemas.openxmlformats.org/drawingml/2006/main">
              <a:ext uri="{FF2B5EF4-FFF2-40B4-BE49-F238E27FC236}">
                <a16:creationId xmlns:a16="http://schemas.microsoft.com/office/drawing/2014/main" id="{B689A376-CD40-4AF4-A729-03855EB22C39}"/>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Learning design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grounded in the task</a:t>
            </a:r>
          </a:p>
        </p:txBody>
      </p:sp>
      <p:sp>
        <p:nvSpPr>
          <p:cNvPr id="3" name="asu-direct">
            <a:extLst xmlns:a="http://schemas.openxmlformats.org/drawingml/2006/main">
              <a:ext uri="{FF2B5EF4-FFF2-40B4-BE49-F238E27FC236}">
                <a16:creationId xmlns:a16="http://schemas.microsoft.com/office/drawing/2014/main" id="{9CAFCAF9-2B4A-421E-830E-29DC3B9D5DDF}"/>
              </a:ext>
            </a:extLst>
          </p:cNvPr>
          <p:cNvSpPr>
            <a:spLocks xmlns:a="http://schemas.openxmlformats.org/drawingml/2006/main" noGrp="1"/>
          </p:cNvSpPr>
          <p:nvPr/>
        </p:nvSpPr>
        <p:spPr>
          <a:xfrm xmlns:a="http://schemas.openxmlformats.org/drawingml/2006/main">
            <a:off x="609600" y="320040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Knowledge Enterprise, I developed digital learning materials and workshops with accessibility improvements and AI-supported content workflows.</a:t>
            </a:r>
          </a:p>
        </p:txBody>
      </p:sp>
      <p:sp>
        <p:nvSpPr>
          <p:cNvPr id="4" name="background">
            <a:extLst xmlns:a="http://schemas.openxmlformats.org/drawingml/2006/main">
              <a:ext uri="{FF2B5EF4-FFF2-40B4-BE49-F238E27FC236}">
                <a16:creationId xmlns:a16="http://schemas.microsoft.com/office/drawing/2014/main" id="{DDEFA13B-35DC-4ED0-B5EC-219E4AE4A11C}"/>
              </a:ext>
            </a:extLst>
          </p:cNvPr>
          <p:cNvSpPr>
            <a:spLocks xmlns:a="http://schemas.openxmlformats.org/drawingml/2006/main" noGrp="1"/>
          </p:cNvSpPr>
          <p:nvPr/>
        </p:nvSpPr>
        <p:spPr>
          <a:xfrm xmlns:a="http://schemas.openxmlformats.org/drawingml/2006/main">
            <a:off x="609600" y="5133975"/>
            <a:ext cx="5905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April 2022–October 2024</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MS in User Experience · BS in Technical Communication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6576c4a32f94311"/>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9426875F-B4B9-4EC9-B43D-9D0F8BC4891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2049509503"/>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170A54A-F539-4480-B6BB-C9F18697830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CB70B2DA-136F-45A1-AACF-8D3FF18F151D}"/>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practical sequence for beginners</a:t>
            </a:r>
          </a:p>
        </p:txBody>
      </p:sp>
      <p:sp>
        <p:nvSpPr>
          <p:cNvPr id="3" name="course-title">
            <a:extLst xmlns:a="http://schemas.openxmlformats.org/drawingml/2006/main">
              <a:ext uri="{FF2B5EF4-FFF2-40B4-BE49-F238E27FC236}">
                <a16:creationId xmlns:a16="http://schemas.microsoft.com/office/drawing/2014/main" id="{3EE3B0F9-F180-48D2-9217-F18BB24316E6}"/>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ced8deb400d46cb"/>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reach">
            <a:extLst xmlns:a="http://schemas.openxmlformats.org/drawingml/2006/main">
              <a:ext uri="{FF2B5EF4-FFF2-40B4-BE49-F238E27FC236}">
                <a16:creationId xmlns:a16="http://schemas.microsoft.com/office/drawing/2014/main" id="{32E3E5DC-BB89-4D4E-8208-FCA0CDAA9C21}"/>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44ADAAE1-98E8-4658-8FCF-3B9AAAB2888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853109140"/>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DD97E418-A2EF-4205-85BC-5634BAB338C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CF435454-B2A3-4E1B-9579-EC792EB5126E}"/>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concrete change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learners can inspect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0093b4c499b4b7c"/>
          <a:stretch xmlns:a="http://schemas.openxmlformats.org/drawingml/2006/main"/>
        </p:blipFill>
        <p:spPr>
          <a:xfrm xmlns:a="http://schemas.openxmlformats.org/drawingml/2006/main">
            <a:off x="609600" y="247702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024510C4-5024-4C14-9E78-E0D0C6BA37B8}"/>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next step is to make the request more specific and compare the result.</a:t>
            </a:r>
          </a:p>
        </p:txBody>
      </p:sp>
      <p:sp>
        <p:nvSpPr>
          <p:cNvPr id="5" name="slide-number">
            <a:extLst xmlns:a="http://schemas.openxmlformats.org/drawingml/2006/main">
              <a:ext uri="{FF2B5EF4-FFF2-40B4-BE49-F238E27FC236}">
                <a16:creationId xmlns:a16="http://schemas.microsoft.com/office/drawing/2014/main" id="{DDF4876A-D9B4-4A86-9585-D54AEC13992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726643325"/>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E7901085-FD1A-4C8B-A710-ED420BDC4B0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A25E4F0C-6CBF-46F5-A27F-89FE1E749C4F}"/>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Recovery guidance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has to describe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real state</a:t>
            </a:r>
          </a:p>
        </p:txBody>
      </p:sp>
      <p:sp>
        <p:nvSpPr>
          <p:cNvPr id="3" name="flint-specific">
            <a:extLst xmlns:a="http://schemas.openxmlformats.org/drawingml/2006/main">
              <a:ext uri="{FF2B5EF4-FFF2-40B4-BE49-F238E27FC236}">
                <a16:creationId xmlns:a16="http://schemas.microsoft.com/office/drawing/2014/main" id="{907B71E4-FA49-4DBE-A7D6-7FE67D57140B}"/>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75D8B917-BD3C-4733-82B6-D628FCBDF217}"/>
              </a:ext>
            </a:extLst>
          </p:cNvPr>
          <p:cNvSpPr>
            <a:spLocks xmlns:a="http://schemas.openxmlformats.org/drawingml/2006/main" noGrp="1"/>
          </p:cNvSpPr>
          <p:nvPr/>
        </p:nvSpPr>
        <p:spPr>
          <a:xfrm xmlns:a="http://schemas.openxmlformats.org/drawingml/2006/main">
            <a:off x="609600" y="54673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For KPA learning materials: explain the condition, then the action a learner should take.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99d83a93d524d00"/>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8e7ed8568e14361"/>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FE98E553-D087-4242-B729-395B9ABC750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441672894"/>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6B9BBA67-2FA2-4CCA-8A43-FB13B60C0CF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DESIGNED LOCAL REGRESSION CASE</a:t>
            </a:r>
          </a:p>
        </p:txBody>
      </p:sp>
      <p:sp>
        <p:nvSpPr>
          <p:cNvPr id="2" name="headline">
            <a:extLst xmlns:a="http://schemas.openxmlformats.org/drawingml/2006/main">
              <a:ext uri="{FF2B5EF4-FFF2-40B4-BE49-F238E27FC236}">
                <a16:creationId xmlns:a16="http://schemas.microsoft.com/office/drawing/2014/main" id="{DB0FD5A6-A81B-47B5-876C-97788FB2E0A8}"/>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rewrite must preserve the requirement</a:t>
            </a:r>
          </a:p>
        </p:txBody>
      </p:sp>
      <p:sp>
        <p:nvSpPr>
          <p:cNvPr id="3" name="before-label">
            <a:extLst xmlns:a="http://schemas.openxmlformats.org/drawingml/2006/main">
              <a:ext uri="{FF2B5EF4-FFF2-40B4-BE49-F238E27FC236}">
                <a16:creationId xmlns:a16="http://schemas.microsoft.com/office/drawing/2014/main" id="{012008D3-567D-4B44-B693-4834541CDBB6}"/>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397AB0E1-387E-4677-8CF3-890AB3C7153E}"/>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3009C70C-3E3F-49B7-B070-900CE22D9161}"/>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123A4E26-B409-4D7D-AA8C-55F86031F9B0}"/>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DB37B3FB-17A3-42F4-8E84-A4BAD11325E7}"/>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EFA1F796-B30F-4156-A1AE-480DFA27F6E0}"/>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review condition.</a:t>
            </a:r>
          </a:p>
        </p:txBody>
      </p:sp>
      <p:sp>
        <p:nvSpPr>
          <p:cNvPr id="9" name="slide-number">
            <a:extLst xmlns:a="http://schemas.openxmlformats.org/drawingml/2006/main">
              <a:ext uri="{FF2B5EF4-FFF2-40B4-BE49-F238E27FC236}">
                <a16:creationId xmlns:a16="http://schemas.microsoft.com/office/drawing/2014/main" id="{EF3E67B5-EA95-44F5-A0EB-5D5393D0B04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871336636"/>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CC39D0C-5648-4C8B-A304-F3A7FEE6D15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9BFBFDF1-385C-471E-8D5B-8BA58F7F4CFC}"/>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Technical content needs</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review owner</a:t>
            </a:r>
          </a:p>
        </p:txBody>
      </p:sp>
      <p:sp>
        <p:nvSpPr>
          <p:cNvPr id="3" name="asu-purpose">
            <a:extLst xmlns:a="http://schemas.openxmlformats.org/drawingml/2006/main">
              <a:ext uri="{FF2B5EF4-FFF2-40B4-BE49-F238E27FC236}">
                <a16:creationId xmlns:a16="http://schemas.microsoft.com/office/drawing/2014/main" id="{04D43792-7700-4620-A8E1-4F394E34FDEA}"/>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f111eb4ec454c7b"/>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A2EEA92E-BFB8-4DF1-BBB5-982EB4E53F85}"/>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2522573B-483A-4A7D-99CD-B3449101E0A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290223729"/>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1ACD263-6D82-49F6-854F-37B9B02B945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KPA   /   PROPOSED FIRST CONTRIBUTION</a:t>
            </a:r>
          </a:p>
        </p:txBody>
      </p:sp>
      <p:sp>
        <p:nvSpPr>
          <p:cNvPr id="2" name="headline">
            <a:extLst xmlns:a="http://schemas.openxmlformats.org/drawingml/2006/main">
              <a:ext uri="{FF2B5EF4-FFF2-40B4-BE49-F238E27FC236}">
                <a16:creationId xmlns:a16="http://schemas.microsoft.com/office/drawing/2014/main" id="{5DC87BD8-1320-406C-A13D-EE6680D00884}"/>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One decision.</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useful practice task.</a:t>
            </a:r>
          </a:p>
        </p:txBody>
      </p:sp>
      <p:sp>
        <p:nvSpPr>
          <p:cNvPr id="3" name="proposal-intro">
            <a:extLst xmlns:a="http://schemas.openxmlformats.org/drawingml/2006/main">
              <a:ext uri="{FF2B5EF4-FFF2-40B4-BE49-F238E27FC236}">
                <a16:creationId xmlns:a16="http://schemas.microsoft.com/office/drawing/2014/main" id="{587E450D-BA38-44C8-B81E-59890A5718D5}"/>
              </a:ext>
            </a:extLst>
          </p:cNvPr>
          <p:cNvSpPr>
            <a:spLocks xmlns:a="http://schemas.openxmlformats.org/drawingml/2006/main" noGrp="1"/>
          </p:cNvSpPr>
          <p:nvPr/>
        </p:nvSpPr>
        <p:spPr>
          <a:xfrm xmlns:a="http://schemas.openxmlformats.org/drawingml/2006/main">
            <a:off x="609600" y="24574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KPA, I would start with one learner decision and an approved source, then agree on the example, practice task and review owner.</a:t>
            </a:r>
          </a:p>
        </p:txBody>
      </p:sp>
      <p:sp>
        <p:nvSpPr>
          <p:cNvPr id="4" name="proposal-steps">
            <a:extLst xmlns:a="http://schemas.openxmlformats.org/drawingml/2006/main">
              <a:ext uri="{FF2B5EF4-FFF2-40B4-BE49-F238E27FC236}">
                <a16:creationId xmlns:a16="http://schemas.microsoft.com/office/drawing/2014/main" id="{9E9250C8-7FC2-46AA-99B6-503C4C34D2E4}"/>
              </a:ext>
            </a:extLst>
          </p:cNvPr>
          <p:cNvSpPr>
            <a:spLocks xmlns:a="http://schemas.openxmlformats.org/drawingml/2006/main" noGrp="1"/>
          </p:cNvSpPr>
          <p:nvPr/>
        </p:nvSpPr>
        <p:spPr>
          <a:xfrm xmlns:a="http://schemas.openxmlformats.org/drawingml/2006/main">
            <a:off x="609600" y="3486150"/>
            <a:ext cx="10334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Identify the decision and the conditions that change the correct action.</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Build a worked example, a practice activity and useful feedback.</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Review accuracy and accessibility with the subject matter expert.</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Track source versions and revisions so the lesson stays consistent.</a:t>
            </a:r>
          </a:p>
        </p:txBody>
      </p:sp>
      <p:sp>
        <p:nvSpPr>
          <p:cNvPr id="5" name="proposal-boundary">
            <a:extLst xmlns:a="http://schemas.openxmlformats.org/drawingml/2006/main">
              <a:ext uri="{FF2B5EF4-FFF2-40B4-BE49-F238E27FC236}">
                <a16:creationId xmlns:a16="http://schemas.microsoft.com/office/drawing/2014/main" id="{CC7CADEF-8BBC-4743-90E8-D725D49E3EE2}"/>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first assignment; regulatory interpretation stays with KPA’s subject matter expert.</a:t>
            </a:r>
          </a:p>
        </p:txBody>
      </p:sp>
      <p:sp>
        <p:nvSpPr>
          <p:cNvPr id="6" name="slide-number">
            <a:extLst xmlns:a="http://schemas.openxmlformats.org/drawingml/2006/main">
              <a:ext uri="{FF2B5EF4-FFF2-40B4-BE49-F238E27FC236}">
                <a16:creationId xmlns:a16="http://schemas.microsoft.com/office/drawing/2014/main" id="{2158856D-B5D2-4913-ADFF-7372E2B1AD9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971439532"/>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776D901-99AC-4F8A-A57F-2943A387D25D}"/>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KPA APPLICATION</a:t>
            </a:r>
          </a:p>
        </p:txBody>
      </p:sp>
      <p:sp>
        <p:nvSpPr>
          <p:cNvPr id="2" name="headline">
            <a:extLst xmlns:a="http://schemas.openxmlformats.org/drawingml/2006/main">
              <a:ext uri="{FF2B5EF4-FFF2-40B4-BE49-F238E27FC236}">
                <a16:creationId xmlns:a16="http://schemas.microsoft.com/office/drawing/2014/main" id="{92236DF8-C049-4136-AED9-65E874D474A8}"/>
              </a:ext>
            </a:extLst>
          </p:cNvPr>
          <p:cNvSpPr>
            <a:spLocks xmlns:a="http://schemas.openxmlformats.org/drawingml/2006/main" noGrp="1"/>
          </p:cNvSpPr>
          <p:nvPr/>
        </p:nvSpPr>
        <p:spPr>
          <a:xfrm xmlns:a="http://schemas.openxmlformats.org/drawingml/2006/main">
            <a:off x="609600" y="1457325"/>
            <a:ext cx="1076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Instructional</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Designer</a:t>
            </a:r>
          </a:p>
        </p:txBody>
      </p:sp>
      <p:sp>
        <p:nvSpPr>
          <p:cNvPr id="3" name="contact-intent">
            <a:extLst xmlns:a="http://schemas.openxmlformats.org/drawingml/2006/main">
              <a:ext uri="{FF2B5EF4-FFF2-40B4-BE49-F238E27FC236}">
                <a16:creationId xmlns:a16="http://schemas.microsoft.com/office/drawing/2014/main" id="{F063E490-DE6B-44DC-A30F-BB5EEE34AB7E}"/>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Open to occasional Lafayette meetings.</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for U.S. work without sponsorship. Available ASAP.</a:t>
            </a:r>
          </a:p>
        </p:txBody>
      </p:sp>
      <p:sp>
        <p:nvSpPr>
          <p:cNvPr id="4" name="email">
            <a:extLst xmlns:a="http://schemas.openxmlformats.org/drawingml/2006/main">
              <a:ext uri="{FF2B5EF4-FFF2-40B4-BE49-F238E27FC236}">
                <a16:creationId xmlns:a16="http://schemas.microsoft.com/office/drawing/2014/main" id="{02C45D9E-39D6-4B55-8757-37B3F3C8BDA0}"/>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b3b8db65945c4dd0"/>
              </a:rPr>
              <a:t>JonathanKyleHobson@gmail.com</a:t>
            </a:r>
          </a:p>
        </p:txBody>
      </p:sp>
      <p:sp>
        <p:nvSpPr>
          <p:cNvPr id="5" name="portfolio">
            <a:extLst xmlns:a="http://schemas.openxmlformats.org/drawingml/2006/main">
              <a:ext uri="{FF2B5EF4-FFF2-40B4-BE49-F238E27FC236}">
                <a16:creationId xmlns:a16="http://schemas.microsoft.com/office/drawing/2014/main" id="{2CF43F05-E7C3-43F1-B935-87DCCF41CCED}"/>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fc354e0126b14ef9"/>
              </a:rPr>
              <a:t>View the tailored KPA portfolio</a:t>
            </a:r>
          </a:p>
        </p:txBody>
      </p:sp>
      <p:sp>
        <p:nvSpPr>
          <p:cNvPr id="6" name="slide-number">
            <a:extLst xmlns:a="http://schemas.openxmlformats.org/drawingml/2006/main">
              <a:ext uri="{FF2B5EF4-FFF2-40B4-BE49-F238E27FC236}">
                <a16:creationId xmlns:a16="http://schemas.microsoft.com/office/drawing/2014/main" id="{D8EFCD56-327C-4FF5-8200-123AE127789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1787697062"/>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2026-09-08T21:26:36.1790000Z</dcterms:created>
  <dcterms:modified xsi:type="dcterms:W3CDTF">2026-09-08T21:26:36.1800000Z</dcterms:modified>
</coreProperties>
</file>