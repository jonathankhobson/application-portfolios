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38f055782b443a7" /><Relationship Type="http://schemas.openxmlformats.org/officeDocument/2006/relationships/extended-properties" Target="/docProps/app.xml" Id="R2841991b51a2459e" /><Relationship Type="http://schemas.openxmlformats.org/officeDocument/2006/relationships/officeDocument" Target="/ppt/presentation.xml" Id="Rbff89b7a5b99431b" /></Relationships>
</file>

<file path=ppt/presentation.xml><?xml version="1.0" encoding="utf-8"?>
<p:presentation xmlns:p="http://schemas.openxmlformats.org/presentationml/2006/main">
  <p:sldMasterIdLst>
    <p:sldMasterId xmlns:r="http://schemas.openxmlformats.org/officeDocument/2006/relationships" id="2147483648" r:id="R9e8c9d51b0ad4ea7"/>
  </p:sldMasterIdLst>
  <p:notesMasterIdLst>
    <p:notesMasterId xmlns:r="http://schemas.openxmlformats.org/officeDocument/2006/relationships" r:id="Reb49f53233b540d1"/>
  </p:notesMasterIdLst>
  <p:sldIdLst>
    <p:sldId xmlns:r="http://schemas.openxmlformats.org/officeDocument/2006/relationships" id="256" r:id="R4fc6b3058bd44fcc"/>
    <p:sldId xmlns:r="http://schemas.openxmlformats.org/officeDocument/2006/relationships" id="257" r:id="R4f48b9af6a2b4024"/>
    <p:sldId xmlns:r="http://schemas.openxmlformats.org/officeDocument/2006/relationships" id="258" r:id="Re1cb3ba568e8498f"/>
    <p:sldId xmlns:r="http://schemas.openxmlformats.org/officeDocument/2006/relationships" id="259" r:id="R56a3bc446b5a43fd"/>
    <p:sldId xmlns:r="http://schemas.openxmlformats.org/officeDocument/2006/relationships" id="260" r:id="R8a015e1cf7da41f6"/>
    <p:sldId xmlns:r="http://schemas.openxmlformats.org/officeDocument/2006/relationships" id="261" r:id="R58ffce562ae943c9"/>
    <p:sldId xmlns:r="http://schemas.openxmlformats.org/officeDocument/2006/relationships" id="262" r:id="R54dd70d5121545f6"/>
    <p:sldId xmlns:r="http://schemas.openxmlformats.org/officeDocument/2006/relationships" id="263" r:id="Rb763d573140046a7"/>
    <p:sldId xmlns:r="http://schemas.openxmlformats.org/officeDocument/2006/relationships" id="264" r:id="R3f626b9bd6f24cda"/>
    <p:sldId xmlns:r="http://schemas.openxmlformats.org/officeDocument/2006/relationships" id="265" r:id="R577a9cd12d9740bc"/>
    <p:sldId xmlns:r="http://schemas.openxmlformats.org/officeDocument/2006/relationships" id="266" r:id="R2c4474129dcb41e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3753bb77764347" /><Relationship Type="http://schemas.openxmlformats.org/officeDocument/2006/relationships/slideMaster" Target="/ppt/slideMasters/slideMaster1.xml" Id="R9e8c9d51b0ad4ea7" /><Relationship Type="http://schemas.openxmlformats.org/officeDocument/2006/relationships/notesMaster" Target="/ppt/notesMasters/notesMaster1.xml" Id="Reb49f53233b540d1" /><Relationship Type="http://schemas.openxmlformats.org/officeDocument/2006/relationships/presProps" Target="/ppt/presProps.xml" Id="R90cd909fe4d0494b" /><Relationship Type="http://schemas.openxmlformats.org/officeDocument/2006/relationships/tableStyles" Target="/ppt/tableStyles.xml" Id="Rec70dbd80bc54aca" /><Relationship Type="http://schemas.openxmlformats.org/officeDocument/2006/relationships/slide" Target="/ppt/slides/slide1.xml" Id="R4fc6b3058bd44fcc" /><Relationship Type="http://schemas.openxmlformats.org/officeDocument/2006/relationships/slide" Target="/ppt/slides/slide2.xml" Id="R4f48b9af6a2b4024" /><Relationship Type="http://schemas.openxmlformats.org/officeDocument/2006/relationships/slide" Target="/ppt/slides/slide3.xml" Id="Re1cb3ba568e8498f" /><Relationship Type="http://schemas.openxmlformats.org/officeDocument/2006/relationships/slide" Target="/ppt/slides/slide4.xml" Id="R56a3bc446b5a43fd" /><Relationship Type="http://schemas.openxmlformats.org/officeDocument/2006/relationships/slide" Target="/ppt/slides/slide5.xml" Id="R8a015e1cf7da41f6" /><Relationship Type="http://schemas.openxmlformats.org/officeDocument/2006/relationships/slide" Target="/ppt/slides/slide6.xml" Id="R58ffce562ae943c9" /><Relationship Type="http://schemas.openxmlformats.org/officeDocument/2006/relationships/slide" Target="/ppt/slides/slide7.xml" Id="R54dd70d5121545f6" /><Relationship Type="http://schemas.openxmlformats.org/officeDocument/2006/relationships/slide" Target="/ppt/slides/slide8.xml" Id="Rb763d573140046a7" /><Relationship Type="http://schemas.openxmlformats.org/officeDocument/2006/relationships/slide" Target="/ppt/slides/slide9.xml" Id="R3f626b9bd6f24cda" /><Relationship Type="http://schemas.openxmlformats.org/officeDocument/2006/relationships/slide" Target="/ppt/slides/slide10.xml" Id="R577a9cd12d9740bc" /><Relationship Type="http://schemas.openxmlformats.org/officeDocument/2006/relationships/slide" Target="/ppt/slides/slide11.xml" Id="R2c4474129dcb41e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33ca7b1cb643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8f970e9b35d450b" /><Relationship Type="http://schemas.openxmlformats.org/officeDocument/2006/relationships/notesMaster" Target="/ppt/notesMasters/notesMaster1.xml" Id="Ra5972cdd8868420d" /></Relationships>
</file>

<file path=ppt/notesSlides/_rels/notesSlide2.xml.rels>&#65279;<?xml version="1.0" encoding="utf-8"?><Relationships xmlns="http://schemas.openxmlformats.org/package/2006/relationships"><Relationship Type="http://schemas.openxmlformats.org/officeDocument/2006/relationships/slide" Target="/ppt/slides/slide2.xml" Id="Rce62a60a00d84202" /><Relationship Type="http://schemas.openxmlformats.org/officeDocument/2006/relationships/notesMaster" Target="/ppt/notesMasters/notesMaster1.xml" Id="Rfd5b5defc3a14f54" /></Relationships>
</file>

<file path=ppt/notesSlides/_rels/notesSlide3.xml.rels>&#65279;<?xml version="1.0" encoding="utf-8"?><Relationships xmlns="http://schemas.openxmlformats.org/package/2006/relationships"><Relationship Type="http://schemas.openxmlformats.org/officeDocument/2006/relationships/slide" Target="/ppt/slides/slide3.xml" Id="R38f0c243109d4cf5" /><Relationship Type="http://schemas.openxmlformats.org/officeDocument/2006/relationships/notesMaster" Target="/ppt/notesMasters/notesMaster1.xml" Id="R86f7a4b12e9b44a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189fde7f6ec41d9" /><Relationship Type="http://schemas.openxmlformats.org/officeDocument/2006/relationships/notesMaster" Target="/ppt/notesMasters/notesMaster1.xml" Id="R1dbed46bcd3746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a23f39a7e6f48e1" /><Relationship Type="http://schemas.openxmlformats.org/officeDocument/2006/relationships/notesMaster" Target="/ppt/notesMasters/notesMaster1.xml" Id="R7ff2142210ac4e62" /></Relationships>
</file>

<file path=ppt/notesSlides/_rels/notesSlide6.xml.rels>&#65279;<?xml version="1.0" encoding="utf-8"?><Relationships xmlns="http://schemas.openxmlformats.org/package/2006/relationships"><Relationship Type="http://schemas.openxmlformats.org/officeDocument/2006/relationships/slide" Target="/ppt/slides/slide6.xml" Id="R381be05d451348e3" /><Relationship Type="http://schemas.openxmlformats.org/officeDocument/2006/relationships/notesMaster" Target="/ppt/notesMasters/notesMaster1.xml" Id="R4824562b6c414d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c06bae16e844726" /><Relationship Type="http://schemas.openxmlformats.org/officeDocument/2006/relationships/notesMaster" Target="/ppt/notesMasters/notesMaster1.xml" Id="R7d1e8c78634c4a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303f5152e508470e" /><Relationship Type="http://schemas.openxmlformats.org/officeDocument/2006/relationships/notesMaster" Target="/ppt/notesMasters/notesMaster1.xml" Id="R3891f134beb34bd8" /></Relationships>
</file>

<file path=ppt/notesSlides/_rels/notesSlide9.xml.rels>&#65279;<?xml version="1.0" encoding="utf-8"?><Relationships xmlns="http://schemas.openxmlformats.org/package/2006/relationships"><Relationship Type="http://schemas.openxmlformats.org/officeDocument/2006/relationships/slide" Target="/ppt/slides/slide9.xml" Id="Rdac9330ac0334e14" /><Relationship Type="http://schemas.openxmlformats.org/officeDocument/2006/relationships/notesMaster" Target="/ppt/notesMasters/notesMaster1.xml" Id="R9848787392094c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0aba45fdaa4074" /><Relationship Type="http://schemas.openxmlformats.org/officeDocument/2006/relationships/notesMaster" Target="/ppt/notesMasters/notesMaster1.xml" Id="R05bc88d0258f438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fdbf820b75484f06" /><Relationship Type="http://schemas.openxmlformats.org/officeDocument/2006/relationships/notesMaster" Target="/ppt/notesMasters/notesMaster1.xml" Id="Rc155c673ba4a4bf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Prepared for the AffirmedRx Business Analyst, Data Operations application. Kyle’s evidence comes from product research, operational UX and independent research tooling. Pharmacy-benefit data operations is a new domain. The paper-path cover is decorative and does not document a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Case: Oak AI. Kyle: Lead UX Researcher, 2023–2025. Source: original Oak navigation evaluation screenshot, with the identity area omitted. Training the assistant, starting Vibecheck and requesting support appear as competing entry points. Kyle documented the labels and visual treatments and used the audit to make these choices explicit for review. Work stage: usability evaluation and design recommendations. This slide does not present a finished navigation redesign or a user-study finding.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November 22, 2023 desktop heuristic evaluation and December contribution log. The User Account/User Pages mismatch is documented in the report. Its task impact is an expert interpretation, not a participant quotation or measured failure rate. Kyle initiated an improvement list and clarified tickets; the record does not establish sustained incident-dashboard ownership or an effort-ranked production backlog.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Oak error-message recommendation artifact containing Before and After panels. Displayed interface panels retain source pixels and are labeled Original and Proposed to clarify the work state. Kyle connected an evaluation finding to visual alternatives and implementation recommendations. No conversion or task-success percentage is asserted.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original Flint response-in-progress mobile export and design walkthrough. The inset enlarges an unchanged region of the same source image. Kyle explored the waiting treatment alongside the conversation and discussed animation constraints with engineering.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selected original Flint interrupted-response and offline design variants, including the March 27, 2026 error-state handoff. Distinct recovery actions follow the state: Ask again or Continue for a partial response, and retry after connection loss with the question preserved. Deliverable: connected flows, interaction states and engineering annotations.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actual Oppia Research Compass internal edition README, repository and service code; existing September 4, 2026 package manifest. This is an independently built internal tool, separate from Kyle’s formal volunteer role. Ten read-only tools support evidence retrieval, planning and audit. The workflow image is a labeled implementation reconstruction with no private corpus records. No team-adoption or productivity result is asserted, and the internal corpus is not authorized for public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 actual repository.py and service.py in the internal Oppia Research Compass edition. The repository opens SQLite with mode=ro and sets PRAGMA query_only=ON. Full-text search uses BM25 ranking and returns stable evidence and record IDs. This is deterministic SQLite retrieval integrated with an AI host, not vector/embedding retrieval or autonomous model-generated synthesis. Service audits include missing IDs, concentration in one record and limited evidence types. Existing automated integration-test and privacy reports were inspected; no new runtime or adoption test is asserted here. A next evaluation would ask reviewers whether returned evidence supports a proposed research claim.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Reviewed career profile: ASU Fulton School of Engineering IT Specialist, October 2020–December 2022; ASU Knowledge Enterprise Instructional Designer, April 2022–October 2024; ASU Learning Innovations AI Analyst, February–October 2024. Roles overlap. No incident-volume, service-level, healthcare-system or production data-operations claim is made. The portrait is identity material, not evidence of a work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 for discussion with AffirmedRx based on the live Business Analyst, Data Operations listing. This is not a prior engagement, an implemented dashboard or a claim about the company’s actual policies. Begin by learning existing intake, privacy, escalation and resolution practices. Kyle would need onboarding in PBM eligibility, accumulator and claims data.</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tailored portfolio contains selected case studies and all six application materials. Remote role location rules and compensation remain to be confirmed by the employer. No salary, relocation expense or employment terms are accepted by this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ddd714268454e6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d849d2107414ac3" /><Relationship Type="http://schemas.openxmlformats.org/officeDocument/2006/relationships/slideLayout" Target="/ppt/slideLayouts/slideLayout1.xml" Id="Rf7d4674b7f204d8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7d4674b7f204d8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8ad6a7ddb074cff" /><Relationship Type="http://schemas.openxmlformats.org/officeDocument/2006/relationships/image" Target="/ppt/media/image.png" Id="R0a7759001e4b446d" /><Relationship Type="http://schemas.openxmlformats.org/officeDocument/2006/relationships/notesSlide" Target="/ppt/notesSlides/notesSlide1.xml" Id="Rf0bda97801574a66"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68c667dfb9048a1" /><Relationship Type="http://schemas.openxmlformats.org/officeDocument/2006/relationships/image" Target="/ppt/media/image2.png" Id="R6ad78bbf21584e4e" /><Relationship Type="http://schemas.openxmlformats.org/officeDocument/2006/relationships/notesSlide" Target="/ppt/notesSlides/notesSlide2.xml" Id="R59575c5d7bc243d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40714e79844221" /><Relationship Type="http://schemas.openxmlformats.org/officeDocument/2006/relationships/notesSlide" Target="/ppt/notesSlides/notesSlide3.xml" Id="Ra910add25d7647c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be22d51a05347cd" /><Relationship Type="http://schemas.openxmlformats.org/officeDocument/2006/relationships/image" Target="/ppt/media/image3.png" Id="R40ecd71803854443" /><Relationship Type="http://schemas.openxmlformats.org/officeDocument/2006/relationships/image" Target="/ppt/media/image4.png" Id="R08b2dd00c0e044c9" /><Relationship Type="http://schemas.openxmlformats.org/officeDocument/2006/relationships/image" Target="/ppt/media/image5.png" Id="R718c37a4ecb44693" /><Relationship Type="http://schemas.openxmlformats.org/officeDocument/2006/relationships/notesSlide" Target="/ppt/notesSlides/notesSlide4.xml" Id="Ref65140007b14a10"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305eca09ad04ca3" /><Relationship Type="http://schemas.openxmlformats.org/officeDocument/2006/relationships/image" Target="/ppt/media/image6.png" Id="R12843930bccf457e" /><Relationship Type="http://schemas.openxmlformats.org/officeDocument/2006/relationships/image" Target="/ppt/media/image7.png" Id="Rf6e4d576340e403f" /><Relationship Type="http://schemas.openxmlformats.org/officeDocument/2006/relationships/notesSlide" Target="/ppt/notesSlides/notesSlide5.xml" Id="R08f0fd2d83cf444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55b8a987ba24ad7" /><Relationship Type="http://schemas.openxmlformats.org/officeDocument/2006/relationships/image" Target="/ppt/media/image8.png" Id="R48584edbefed470b" /><Relationship Type="http://schemas.openxmlformats.org/officeDocument/2006/relationships/image" Target="/ppt/media/image9.png" Id="R5ce5d5699f8a4f5f" /><Relationship Type="http://schemas.openxmlformats.org/officeDocument/2006/relationships/notesSlide" Target="/ppt/notesSlides/notesSlide6.xml" Id="R4a460a9d024648d4"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a94b025681e47f5" /><Relationship Type="http://schemas.openxmlformats.org/officeDocument/2006/relationships/image" Target="/ppt/media/image10.png" Id="R98a62b4858014692" /><Relationship Type="http://schemas.openxmlformats.org/officeDocument/2006/relationships/notesSlide" Target="/ppt/notesSlides/notesSlide7.xml" Id="R7fdb4f8dff6a449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12268f71c5c43d5" /><Relationship Type="http://schemas.openxmlformats.org/officeDocument/2006/relationships/image" Target="/ppt/media/image11.png" Id="R1bf7083974c246ae" /><Relationship Type="http://schemas.openxmlformats.org/officeDocument/2006/relationships/notesSlide" Target="/ppt/notesSlides/notesSlide8.xml" Id="Rf737eb7148fe4488"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c96c220af9145c9" /><Relationship Type="http://schemas.openxmlformats.org/officeDocument/2006/relationships/image" Target="/ppt/media/image.jpeg" Id="R11c11660c4f04dab" /><Relationship Type="http://schemas.openxmlformats.org/officeDocument/2006/relationships/notesSlide" Target="/ppt/notesSlides/notesSlide9.xml" Id="Rf3419863573d41e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e0227affe50a4e1c" /><Relationship Type="http://schemas.openxmlformats.org/officeDocument/2006/relationships/notesSlide" Target="/ppt/notesSlides/notesSlide10.xml" Id="R9cca7e7f2a4e4fc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7817944ecf6449a8" /><Relationship Type="http://schemas.openxmlformats.org/officeDocument/2006/relationships/hyperlink" Target="mailto:JonathanKyleHobson@gmail.com" TargetMode="External" Id="Re8096a4148594c67" /><Relationship Type="http://schemas.openxmlformats.org/officeDocument/2006/relationships/hyperlink" Target="https://jonathankhobson.github.io/application-portfolios/affirmedrx-business-analyst/" TargetMode="External" Id="R693047e99f35487e" /><Relationship Type="http://schemas.openxmlformats.org/officeDocument/2006/relationships/notesSlide" Target="/ppt/notesSlides/notesSlide11.xml" Id="R343f368a86074361" /></Relationships>
</file>

<file path=ppt/slides/slide1.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0a7759001e4b446d"/>
          <a:srcRect xmlns:a="http://schemas.openxmlformats.org/drawingml/2006/main" l="0" t="7813" r="0" b="781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section-label">
            <a:extLst xmlns:a="http://schemas.openxmlformats.org/drawingml/2006/main">
              <a:ext uri="{FF2B5EF4-FFF2-40B4-BE49-F238E27FC236}">
                <a16:creationId xmlns:a16="http://schemas.microsoft.com/office/drawing/2014/main" id="{19124B39-B243-41F5-8AB7-92AD824DCBC3}"/>
              </a:ext>
            </a:extLst>
          </p:cNvPr>
          <p:cNvSpPr>
            <a:spLocks xmlns:a="http://schemas.openxmlformats.org/drawingml/2006/main" noGrp="1"/>
          </p:cNvSpPr>
          <p:nvPr/>
        </p:nvSpPr>
        <p:spPr>
          <a:xfrm xmlns:a="http://schemas.openxmlformats.org/drawingml/2006/main">
            <a:off x="609600" y="514350"/>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KYLE HOBSON   /   AFFIRMEDRX · BUSINESS ANALYST</a:t>
            </a:r>
          </a:p>
        </p:txBody>
      </p:sp>
      <p:sp>
        <p:nvSpPr>
          <p:cNvPr id="3" name="headline">
            <a:extLst xmlns:a="http://schemas.openxmlformats.org/drawingml/2006/main">
              <a:ext uri="{FF2B5EF4-FFF2-40B4-BE49-F238E27FC236}">
                <a16:creationId xmlns:a16="http://schemas.microsoft.com/office/drawing/2014/main" id="{801D78E5-0035-4302-B931-D83FD14196CF}"/>
              </a:ext>
            </a:extLst>
          </p:cNvPr>
          <p:cNvSpPr>
            <a:spLocks xmlns:a="http://schemas.openxmlformats.org/drawingml/2006/main" noGrp="1"/>
          </p:cNvSpPr>
          <p:nvPr/>
        </p:nvSpPr>
        <p:spPr>
          <a:xfrm xmlns:a="http://schemas.openxmlformats.org/drawingml/2006/main">
            <a:off x="609600" y="1581150"/>
            <a:ext cx="91440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650" b="1">
                <a:solidFill>
                  <a:srgbClr val="192B25"/>
                </a:solidFill>
                <a:latin typeface="Helvetica Neue"/>
                <a:ea typeface="Helvetica Neue"/>
                <a:cs typeface="Helvetica Neue"/>
              </a:defRPr>
            </a:pPr>
            <a:r>
              <a:rPr sz="4650" b="1">
                <a:solidFill>
                  <a:srgbClr val="192B25"/>
                </a:solidFill>
                <a:latin typeface="Helvetica Neue"/>
                <a:ea typeface="Helvetica Neue"/>
                <a:cs typeface="Helvetica Neue"/>
              </a:rPr>
              <a:t>Making an issue</a:t>
            </a:r>
          </a:p>
          <a:p xmlns:a="http://schemas.openxmlformats.org/drawingml/2006/main">
            <a:pPr>
              <a:lnSpc>
                <a:spcPct val="110000"/>
              </a:lnSpc>
              <a:buNone/>
              <a:defRPr sz="4650" b="1">
                <a:solidFill>
                  <a:srgbClr val="192B25"/>
                </a:solidFill>
                <a:latin typeface="Helvetica Neue"/>
                <a:ea typeface="Helvetica Neue"/>
                <a:cs typeface="Helvetica Neue"/>
              </a:defRPr>
            </a:pPr>
            <a:r>
              <a:rPr sz="4650" b="1">
                <a:solidFill>
                  <a:srgbClr val="192B25"/>
                </a:solidFill>
                <a:latin typeface="Helvetica Neue"/>
                <a:ea typeface="Helvetica Neue"/>
                <a:cs typeface="Helvetica Neue"/>
              </a:rPr>
              <a:t>clear enough to act</a:t>
            </a:r>
          </a:p>
        </p:txBody>
      </p:sp>
      <p:sp>
        <p:nvSpPr>
          <p:cNvPr id="4" name="cover-intro">
            <a:extLst xmlns:a="http://schemas.openxmlformats.org/drawingml/2006/main">
              <a:ext uri="{FF2B5EF4-FFF2-40B4-BE49-F238E27FC236}">
                <a16:creationId xmlns:a16="http://schemas.microsoft.com/office/drawing/2014/main" id="{40AA69BA-3FD6-4512-A477-4EC1EC8A3B08}"/>
              </a:ext>
            </a:extLst>
          </p:cNvPr>
          <p:cNvSpPr>
            <a:spLocks xmlns:a="http://schemas.openxmlformats.org/drawingml/2006/main" noGrp="1"/>
          </p:cNvSpPr>
          <p:nvPr/>
        </p:nvSpPr>
        <p:spPr>
          <a:xfrm xmlns:a="http://schemas.openxmlformats.org/drawingml/2006/main">
            <a:off x="647700" y="4067175"/>
            <a:ext cx="962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Selected work in issue analysis,</a:t>
            </a:r>
          </a:p>
          <a:p xmlns:a="http://schemas.openxmlformats.org/drawingml/2006/main">
            <a:pPr>
              <a:lnSpc>
                <a:spcPct val="110000"/>
              </a:lnSpc>
              <a:buNone/>
              <a:defRPr sz="2100" b="0">
                <a:solidFill>
                  <a:srgbClr val="192B25"/>
                </a:solidFill>
                <a:latin typeface="Helvetica Neue"/>
                <a:ea typeface="Helvetica Neue"/>
                <a:cs typeface="Helvetica Neue"/>
              </a:defRPr>
            </a:pPr>
            <a:r>
              <a:rPr sz="2100" b="0">
                <a:solidFill>
                  <a:srgbClr val="192B25"/>
                </a:solidFill>
                <a:latin typeface="Helvetica Neue"/>
                <a:ea typeface="Helvetica Neue"/>
                <a:cs typeface="Helvetica Neue"/>
              </a:rPr>
              <a:t>technical collaboration and documentation.</a:t>
            </a:r>
          </a:p>
        </p:txBody>
      </p:sp>
      <p:sp>
        <p:nvSpPr>
          <p:cNvPr id="5" name="cover-role">
            <a:extLst xmlns:a="http://schemas.openxmlformats.org/drawingml/2006/main">
              <a:ext uri="{FF2B5EF4-FFF2-40B4-BE49-F238E27FC236}">
                <a16:creationId xmlns:a16="http://schemas.microsoft.com/office/drawing/2014/main" id="{C341869B-DEB1-46AC-B341-B93CB4A9C70A}"/>
              </a:ext>
            </a:extLst>
          </p:cNvPr>
          <p:cNvSpPr>
            <a:spLocks xmlns:a="http://schemas.openxmlformats.org/drawingml/2006/main" noGrp="1"/>
          </p:cNvSpPr>
          <p:nvPr/>
        </p:nvSpPr>
        <p:spPr>
          <a:xfrm xmlns:a="http://schemas.openxmlformats.org/drawingml/2006/main">
            <a:off x="647700" y="6019800"/>
            <a:ext cx="10001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00" b="0">
                <a:solidFill>
                  <a:srgbClr val="192B25"/>
                </a:solidFill>
                <a:latin typeface="Helvetica Neue"/>
                <a:ea typeface="Helvetica Neue"/>
                <a:cs typeface="Helvetica Neue"/>
              </a:defRPr>
            </a:pPr>
            <a:r>
              <a:rPr sz="1500" b="0">
                <a:solidFill>
                  <a:srgbClr val="192B25"/>
                </a:solidFill>
                <a:latin typeface="Helvetica Neue"/>
                <a:ea typeface="Helvetica Neue"/>
                <a:cs typeface="Helvetica Neue"/>
              </a:rPr>
              <a:t>Business Analyst, Data Operations · September 2026</a:t>
            </a:r>
          </a:p>
        </p:txBody>
      </p:sp>
      <p:sp>
        <p:nvSpPr>
          <p:cNvPr id="6" name="slide-number">
            <a:extLst xmlns:a="http://schemas.openxmlformats.org/drawingml/2006/main">
              <a:ext uri="{FF2B5EF4-FFF2-40B4-BE49-F238E27FC236}">
                <a16:creationId xmlns:a16="http://schemas.microsoft.com/office/drawing/2014/main" id="{F7205479-C249-4733-9CE5-51CF5EC493E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01</a:t>
            </a:r>
          </a:p>
        </p:txBody>
      </p:sp>
    </p:spTree>
    <p:extLst>
      <p:ext uri="{BB962C8B-B14F-4D97-AF65-F5344CB8AC3E}">
        <p14:creationId xmlns:p14="http://schemas.microsoft.com/office/powerpoint/2010/main" val="325956027"/>
      </p:ext>
    </p:extLst>
  </p:cSld>
</p:sld>
</file>

<file path=ppt/slides/slide2.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415A5096-8EDD-412C-9E16-28ACBC30B94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LEAD UX RESEARCHER, 2023–2025</a:t>
            </a:r>
          </a:p>
        </p:txBody>
      </p:sp>
      <p:sp>
        <p:nvSpPr>
          <p:cNvPr id="2" name="headline">
            <a:extLst xmlns:a="http://schemas.openxmlformats.org/drawingml/2006/main">
              <a:ext uri="{FF2B5EF4-FFF2-40B4-BE49-F238E27FC236}">
                <a16:creationId xmlns:a16="http://schemas.microsoft.com/office/drawing/2014/main" id="{394C613E-43C0-4126-90DF-F8C8F6FF7668}"/>
              </a:ext>
            </a:extLst>
          </p:cNvPr>
          <p:cNvSpPr>
            <a:spLocks xmlns:a="http://schemas.openxmlformats.org/drawingml/2006/main" noGrp="1"/>
          </p:cNvSpPr>
          <p:nvPr/>
        </p:nvSpPr>
        <p:spPr>
          <a:xfrm xmlns:a="http://schemas.openxmlformats.org/drawingml/2006/main">
            <a:off x="609600" y="1104900"/>
            <a:ext cx="4248150" cy="1438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Competing</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entry points</a:t>
            </a:r>
          </a:p>
        </p:txBody>
      </p:sp>
      <p:sp>
        <p:nvSpPr>
          <p:cNvPr id="3" name="oak-observation">
            <a:extLst xmlns:a="http://schemas.openxmlformats.org/drawingml/2006/main">
              <a:ext uri="{FF2B5EF4-FFF2-40B4-BE49-F238E27FC236}">
                <a16:creationId xmlns:a16="http://schemas.microsoft.com/office/drawing/2014/main" id="{E3962720-FAB4-42CF-A78A-E658E407C792}"/>
              </a:ext>
            </a:extLst>
          </p:cNvPr>
          <p:cNvSpPr>
            <a:spLocks xmlns:a="http://schemas.openxmlformats.org/drawingml/2006/main" noGrp="1"/>
          </p:cNvSpPr>
          <p:nvPr/>
        </p:nvSpPr>
        <p:spPr>
          <a:xfrm xmlns:a="http://schemas.openxmlformats.org/drawingml/2006/main">
            <a:off x="609600" y="2981325"/>
            <a:ext cx="40576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Training an assistant, starting a Vibecheck and requesting support competed at the same entry point.</a:t>
            </a:r>
          </a:p>
        </p:txBody>
      </p:sp>
      <p:sp>
        <p:nvSpPr>
          <p:cNvPr id="4" name="oak-rationale">
            <a:extLst xmlns:a="http://schemas.openxmlformats.org/drawingml/2006/main">
              <a:ext uri="{FF2B5EF4-FFF2-40B4-BE49-F238E27FC236}">
                <a16:creationId xmlns:a16="http://schemas.microsoft.com/office/drawing/2014/main" id="{8E8599AE-DDF8-401E-AD5B-6A19A31E363F}"/>
              </a:ext>
            </a:extLst>
          </p:cNvPr>
          <p:cNvSpPr>
            <a:spLocks xmlns:a="http://schemas.openxmlformats.org/drawingml/2006/main" noGrp="1"/>
          </p:cNvSpPr>
          <p:nvPr/>
        </p:nvSpPr>
        <p:spPr>
          <a:xfrm xmlns:a="http://schemas.openxmlformats.org/drawingml/2006/main">
            <a:off x="609600" y="5038725"/>
            <a:ext cx="40576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recorded findings, presented recommendations and began an improvement list for backlog planning.</a:t>
            </a:r>
          </a:p>
        </p:txBody>
      </p:sp>
      <p:sp>
        <p:nvSpPr>
          <p:cNvPr id="5" name="oak-stage">
            <a:extLst xmlns:a="http://schemas.openxmlformats.org/drawingml/2006/main">
              <a:ext uri="{FF2B5EF4-FFF2-40B4-BE49-F238E27FC236}">
                <a16:creationId xmlns:a16="http://schemas.microsoft.com/office/drawing/2014/main" id="{02438FF9-4BE1-4F0F-975B-3B286B14A427}"/>
              </a:ext>
            </a:extLst>
          </p:cNvPr>
          <p:cNvSpPr>
            <a:spLocks xmlns:a="http://schemas.openxmlformats.org/drawingml/2006/main" noGrp="1"/>
          </p:cNvSpPr>
          <p:nvPr/>
        </p:nvSpPr>
        <p:spPr>
          <a:xfrm xmlns:a="http://schemas.openxmlformats.org/drawingml/2006/main">
            <a:off x="609600" y="6096000"/>
            <a:ext cx="42481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Usability evaluation and design recommendations</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6ad78bbf21584e4e"/>
          <a:stretch xmlns:a="http://schemas.openxmlformats.org/drawingml/2006/main"/>
        </p:blipFill>
        <p:spPr>
          <a:xfrm xmlns:a="http://schemas.openxmlformats.org/drawingml/2006/main">
            <a:off x="5147971" y="1438275"/>
            <a:ext cx="6429958" cy="5048250"/>
          </a:xfrm>
          <a:prstGeom xmlns:a="http://schemas.openxmlformats.org/drawingml/2006/main" prst="rect">
            <a:avLst/>
          </a:prstGeom>
        </p:spPr>
      </p:pic>
      <p:sp>
        <p:nvSpPr>
          <p:cNvPr id="7" name="slide-number">
            <a:extLst xmlns:a="http://schemas.openxmlformats.org/drawingml/2006/main">
              <a:ext uri="{FF2B5EF4-FFF2-40B4-BE49-F238E27FC236}">
                <a16:creationId xmlns:a16="http://schemas.microsoft.com/office/drawing/2014/main" id="{9A6BB5F6-1A81-4D00-ABD8-8627E44025D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02</a:t>
            </a:r>
          </a:p>
        </p:txBody>
      </p:sp>
    </p:spTree>
    <p:extLst>
      <p:ext uri="{BB962C8B-B14F-4D97-AF65-F5344CB8AC3E}">
        <p14:creationId xmlns:p14="http://schemas.microsoft.com/office/powerpoint/2010/main" val="1237381243"/>
      </p:ext>
    </p:extLst>
  </p:cSld>
</p:sld>
</file>

<file path=ppt/slides/slide3.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E2D4C8D1-0574-4A09-9FD6-95070D2B12A9}"/>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FINDING AND FOLLOW-UP</a:t>
            </a:r>
          </a:p>
        </p:txBody>
      </p:sp>
      <p:sp>
        <p:nvSpPr>
          <p:cNvPr id="2" name="headline">
            <a:extLst xmlns:a="http://schemas.openxmlformats.org/drawingml/2006/main">
              <a:ext uri="{FF2B5EF4-FFF2-40B4-BE49-F238E27FC236}">
                <a16:creationId xmlns:a16="http://schemas.microsoft.com/office/drawing/2014/main" id="{75E15DDF-A840-4ABD-8BF1-68F46319477C}"/>
              </a:ext>
            </a:extLst>
          </p:cNvPr>
          <p:cNvSpPr>
            <a:spLocks xmlns:a="http://schemas.openxmlformats.org/drawingml/2006/main" noGrp="1"/>
          </p:cNvSpPr>
          <p:nvPr/>
        </p:nvSpPr>
        <p:spPr>
          <a:xfrm xmlns:a="http://schemas.openxmlformats.org/drawingml/2006/main">
            <a:off x="609600" y="1104900"/>
            <a:ext cx="1057275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A concrete mismatch</a:t>
            </a:r>
          </a:p>
          <a:p xmlns:a="http://schemas.openxmlformats.org/drawingml/2006/main">
            <a:pPr>
              <a:lnSpc>
                <a:spcPct val="110000"/>
              </a:lnSpc>
              <a:buNone/>
              <a:defRPr sz="3750" b="1">
                <a:solidFill>
                  <a:srgbClr val="192B25"/>
                </a:solidFill>
                <a:latin typeface="Helvetica Neue"/>
                <a:ea typeface="Helvetica Neue"/>
                <a:cs typeface="Helvetica Neue"/>
              </a:defRPr>
            </a:pPr>
            <a:r>
              <a:rPr sz="3750" b="1">
                <a:solidFill>
                  <a:srgbClr val="192B25"/>
                </a:solidFill>
                <a:latin typeface="Helvetica Neue"/>
                <a:ea typeface="Helvetica Neue"/>
                <a:cs typeface="Helvetica Neue"/>
              </a:rPr>
              <a:t>starts the investigation</a:t>
            </a:r>
          </a:p>
        </p:txBody>
      </p:sp>
      <p:sp>
        <p:nvSpPr>
          <p:cNvPr id="3" name="source-label">
            <a:extLst xmlns:a="http://schemas.openxmlformats.org/drawingml/2006/main">
              <a:ext uri="{FF2B5EF4-FFF2-40B4-BE49-F238E27FC236}">
                <a16:creationId xmlns:a16="http://schemas.microsoft.com/office/drawing/2014/main" id="{546B8260-6D46-4A6A-B759-892016097DCA}"/>
              </a:ext>
            </a:extLst>
          </p:cNvPr>
          <p:cNvSpPr>
            <a:spLocks xmlns:a="http://schemas.openxmlformats.org/drawingml/2006/main" noGrp="1"/>
          </p:cNvSpPr>
          <p:nvPr/>
        </p:nvSpPr>
        <p:spPr>
          <a:xfrm xmlns:a="http://schemas.openxmlformats.org/drawingml/2006/main">
            <a:off x="609600" y="3076575"/>
            <a:ext cx="10382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DOCUMENTED IN THE ORIGINAL EVALUATION</a:t>
            </a:r>
          </a:p>
        </p:txBody>
      </p:sp>
      <p:sp>
        <p:nvSpPr>
          <p:cNvPr id="4" name="mismatch">
            <a:extLst xmlns:a="http://schemas.openxmlformats.org/drawingml/2006/main">
              <a:ext uri="{FF2B5EF4-FFF2-40B4-BE49-F238E27FC236}">
                <a16:creationId xmlns:a16="http://schemas.microsoft.com/office/drawing/2014/main" id="{883C5ADE-ACEE-4959-8AE3-B4A6FCBBE1B4}"/>
              </a:ext>
            </a:extLst>
          </p:cNvPr>
          <p:cNvSpPr>
            <a:spLocks xmlns:a="http://schemas.openxmlformats.org/drawingml/2006/main" noGrp="1"/>
          </p:cNvSpPr>
          <p:nvPr/>
        </p:nvSpPr>
        <p:spPr>
          <a:xfrm xmlns:a="http://schemas.openxmlformats.org/drawingml/2006/main">
            <a:off x="609600" y="3619500"/>
            <a:ext cx="10477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400" b="1">
                <a:solidFill>
                  <a:srgbClr val="192B25"/>
                </a:solidFill>
                <a:latin typeface="Helvetica Neue"/>
                <a:ea typeface="Helvetica Neue"/>
                <a:cs typeface="Helvetica Neue"/>
              </a:defRPr>
            </a:pPr>
            <a:r>
              <a:rPr sz="2400" b="1">
                <a:solidFill>
                  <a:srgbClr val="192B25"/>
                </a:solidFill>
                <a:latin typeface="Helvetica Neue"/>
                <a:ea typeface="Helvetica Neue"/>
                <a:cs typeface="Helvetica Neue"/>
              </a:rPr>
              <a:t>“User Account” opened a page headed “User Pages.”</a:t>
            </a:r>
          </a:p>
        </p:txBody>
      </p:sp>
      <p:sp>
        <p:nvSpPr>
          <p:cNvPr id="5" name="impact">
            <a:extLst xmlns:a="http://schemas.openxmlformats.org/drawingml/2006/main">
              <a:ext uri="{FF2B5EF4-FFF2-40B4-BE49-F238E27FC236}">
                <a16:creationId xmlns:a16="http://schemas.microsoft.com/office/drawing/2014/main" id="{D85C4FA2-BD0B-4D6A-9BC7-F7E7AB3DB595}"/>
              </a:ext>
            </a:extLst>
          </p:cNvPr>
          <p:cNvSpPr>
            <a:spLocks xmlns:a="http://schemas.openxmlformats.org/drawingml/2006/main" noGrp="1"/>
          </p:cNvSpPr>
          <p:nvPr/>
        </p:nvSpPr>
        <p:spPr>
          <a:xfrm xmlns:a="http://schemas.openxmlformats.org/drawingml/2006/main">
            <a:off x="609600" y="4657725"/>
            <a:ext cx="103822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The label and destination could leave a person unsure whether they reached the right place.</a:t>
            </a:r>
          </a:p>
        </p:txBody>
      </p:sp>
      <p:sp>
        <p:nvSpPr>
          <p:cNvPr id="6" name="followup">
            <a:extLst xmlns:a="http://schemas.openxmlformats.org/drawingml/2006/main">
              <a:ext uri="{FF2B5EF4-FFF2-40B4-BE49-F238E27FC236}">
                <a16:creationId xmlns:a16="http://schemas.microsoft.com/office/drawing/2014/main" id="{20F3FCCF-F9D9-47D5-97C9-572291B63CE1}"/>
              </a:ext>
            </a:extLst>
          </p:cNvPr>
          <p:cNvSpPr>
            <a:spLocks xmlns:a="http://schemas.openxmlformats.org/drawingml/2006/main" noGrp="1"/>
          </p:cNvSpPr>
          <p:nvPr/>
        </p:nvSpPr>
        <p:spPr>
          <a:xfrm xmlns:a="http://schemas.openxmlformats.org/drawingml/2006/main">
            <a:off x="609600" y="5800725"/>
            <a:ext cx="10382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I compared labels and sitemap alternatives, then used documentation and walkthroughs to clarify work tickets.</a:t>
            </a:r>
          </a:p>
        </p:txBody>
      </p:sp>
      <p:sp>
        <p:nvSpPr>
          <p:cNvPr id="7" name="slide-number">
            <a:extLst xmlns:a="http://schemas.openxmlformats.org/drawingml/2006/main">
              <a:ext uri="{FF2B5EF4-FFF2-40B4-BE49-F238E27FC236}">
                <a16:creationId xmlns:a16="http://schemas.microsoft.com/office/drawing/2014/main" id="{1C131FD7-1E43-414F-AA2B-24DE743AFBD0}"/>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03</a:t>
            </a:r>
          </a:p>
        </p:txBody>
      </p:sp>
    </p:spTree>
    <p:extLst>
      <p:ext uri="{BB962C8B-B14F-4D97-AF65-F5344CB8AC3E}">
        <p14:creationId xmlns:p14="http://schemas.microsoft.com/office/powerpoint/2010/main" val="1259430434"/>
      </p:ext>
    </p:extLst>
  </p:cSld>
</p:sld>
</file>

<file path=ppt/slides/slide4.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3" name="section-label">
            <a:extLst xmlns:a="http://schemas.openxmlformats.org/drawingml/2006/main">
              <a:ext uri="{FF2B5EF4-FFF2-40B4-BE49-F238E27FC236}">
                <a16:creationId xmlns:a16="http://schemas.microsoft.com/office/drawing/2014/main" id="{ED877F5E-4E65-4BE3-8E37-9758E9303B2A}"/>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OAK AI   /   LOGIN FEEDBACK</a:t>
            </a:r>
          </a:p>
        </p:txBody>
      </p:sp>
      <p:sp>
        <p:nvSpPr>
          <p:cNvPr id="2" name="headline">
            <a:extLst xmlns:a="http://schemas.openxmlformats.org/drawingml/2006/main">
              <a:ext uri="{FF2B5EF4-FFF2-40B4-BE49-F238E27FC236}">
                <a16:creationId xmlns:a16="http://schemas.microsoft.com/office/drawing/2014/main" id="{67D794B7-8992-4E2C-BC66-D2044235018C}"/>
              </a:ext>
            </a:extLst>
          </p:cNvPr>
          <p:cNvSpPr>
            <a:spLocks xmlns:a="http://schemas.openxmlformats.org/drawingml/2006/main" noGrp="1"/>
          </p:cNvSpPr>
          <p:nvPr/>
        </p:nvSpPr>
        <p:spPr>
          <a:xfrm xmlns:a="http://schemas.openxmlformats.org/drawingml/2006/main">
            <a:off x="609600" y="1143000"/>
            <a:ext cx="4210050" cy="1409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Error feedback</a:t>
            </a:r>
          </a:p>
          <a:p xmlns:a="http://schemas.openxmlformats.org/drawingml/2006/main">
            <a:pPr>
              <a:lnSpc>
                <a:spcPct val="110000"/>
              </a:lnSpc>
              <a:buNone/>
              <a:defRPr sz="3450" b="1">
                <a:solidFill>
                  <a:srgbClr val="192B25"/>
                </a:solidFill>
                <a:latin typeface="Helvetica Neue"/>
                <a:ea typeface="Helvetica Neue"/>
                <a:cs typeface="Helvetica Neue"/>
              </a:defRPr>
            </a:pPr>
            <a:r>
              <a:rPr sz="3450" b="1">
                <a:solidFill>
                  <a:srgbClr val="192B25"/>
                </a:solidFill>
                <a:latin typeface="Helvetica Neue"/>
                <a:ea typeface="Helvetica Neue"/>
                <a:cs typeface="Helvetica Neue"/>
              </a:rPr>
              <a:t>beside the field</a:t>
            </a:r>
          </a:p>
        </p:txBody>
      </p:sp>
      <p:sp>
        <p:nvSpPr>
          <p:cNvPr id="3" name="oak-error-decision">
            <a:extLst xmlns:a="http://schemas.openxmlformats.org/drawingml/2006/main">
              <a:ext uri="{FF2B5EF4-FFF2-40B4-BE49-F238E27FC236}">
                <a16:creationId xmlns:a16="http://schemas.microsoft.com/office/drawing/2014/main" id="{B65C7E98-1B98-4D3C-A98B-C63E7B644F51}"/>
              </a:ext>
            </a:extLst>
          </p:cNvPr>
          <p:cNvSpPr>
            <a:spLocks xmlns:a="http://schemas.openxmlformats.org/drawingml/2006/main" noGrp="1"/>
          </p:cNvSpPr>
          <p:nvPr/>
        </p:nvSpPr>
        <p:spPr>
          <a:xfrm xmlns:a="http://schemas.openxmlformats.org/drawingml/2006/main">
            <a:off x="609600" y="3276600"/>
            <a:ext cx="3495675"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made the problem field visible where a person could act on it.</a:t>
            </a:r>
          </a:p>
        </p:txBody>
      </p:sp>
      <p:sp>
        <p:nvSpPr>
          <p:cNvPr id="4" name="oak-error-outcome">
            <a:extLst xmlns:a="http://schemas.openxmlformats.org/drawingml/2006/main">
              <a:ext uri="{FF2B5EF4-FFF2-40B4-BE49-F238E27FC236}">
                <a16:creationId xmlns:a16="http://schemas.microsoft.com/office/drawing/2014/main" id="{44911BD8-AA71-4250-A4E5-38EBD73EF2E5}"/>
              </a:ext>
            </a:extLst>
          </p:cNvPr>
          <p:cNvSpPr>
            <a:spLocks xmlns:a="http://schemas.openxmlformats.org/drawingml/2006/main" noGrp="1"/>
          </p:cNvSpPr>
          <p:nvPr/>
        </p:nvSpPr>
        <p:spPr>
          <a:xfrm xmlns:a="http://schemas.openxmlformats.org/drawingml/2006/main">
            <a:off x="609600" y="4848225"/>
            <a:ext cx="34956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725" b="0">
                <a:solidFill>
                  <a:srgbClr val="58645D"/>
                </a:solidFill>
                <a:latin typeface="Helvetica Neue"/>
                <a:ea typeface="Helvetica Neue"/>
                <a:cs typeface="Helvetica Neue"/>
              </a:defRPr>
            </a:pPr>
            <a:r>
              <a:rPr sz="1725" b="0">
                <a:solidFill>
                  <a:srgbClr val="58645D"/>
                </a:solidFill>
                <a:latin typeface="Helvetica Neue"/>
                <a:ea typeface="Helvetica Neue"/>
                <a:cs typeface="Helvetica Neue"/>
              </a:rPr>
              <a:t>The recommendation gave the team a specific behavior to discuss and prioritize.</a:t>
            </a:r>
          </a:p>
        </p:txBody>
      </p:sp>
      <p:sp>
        <p:nvSpPr>
          <p:cNvPr id="5" name="before-label">
            <a:extLst xmlns:a="http://schemas.openxmlformats.org/drawingml/2006/main">
              <a:ext uri="{FF2B5EF4-FFF2-40B4-BE49-F238E27FC236}">
                <a16:creationId xmlns:a16="http://schemas.microsoft.com/office/drawing/2014/main" id="{E7F1E802-E0EF-4E0C-96F2-FD183AE7B4DE}"/>
              </a:ext>
            </a:extLst>
          </p:cNvPr>
          <p:cNvSpPr>
            <a:spLocks xmlns:a="http://schemas.openxmlformats.org/drawingml/2006/main" noGrp="1"/>
          </p:cNvSpPr>
          <p:nvPr/>
        </p:nvSpPr>
        <p:spPr>
          <a:xfrm xmlns:a="http://schemas.openxmlformats.org/drawingml/2006/main">
            <a:off x="4495800"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Original</a:t>
            </a:r>
          </a:p>
        </p:txBody>
      </p:sp>
      <p:sp>
        <p:nvSpPr>
          <p:cNvPr id="6" name="after-label">
            <a:extLst xmlns:a="http://schemas.openxmlformats.org/drawingml/2006/main">
              <a:ext uri="{FF2B5EF4-FFF2-40B4-BE49-F238E27FC236}">
                <a16:creationId xmlns:a16="http://schemas.microsoft.com/office/drawing/2014/main" id="{FC8B30E5-A3D8-4939-B766-F57D2126FA07}"/>
              </a:ext>
            </a:extLst>
          </p:cNvPr>
          <p:cNvSpPr>
            <a:spLocks xmlns:a="http://schemas.openxmlformats.org/drawingml/2006/main" noGrp="1"/>
          </p:cNvSpPr>
          <p:nvPr/>
        </p:nvSpPr>
        <p:spPr>
          <a:xfrm xmlns:a="http://schemas.openxmlformats.org/drawingml/2006/main">
            <a:off x="8124825" y="1828800"/>
            <a:ext cx="33147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Proposed</a:t>
            </a:r>
          </a:p>
        </p:txBody>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40ecd71803854443"/>
          <a:stretch xmlns:a="http://schemas.openxmlformats.org/drawingml/2006/main"/>
        </p:blipFill>
        <p:spPr>
          <a:xfrm xmlns:a="http://schemas.openxmlformats.org/drawingml/2006/main">
            <a:off x="4495800" y="2517745"/>
            <a:ext cx="3314700" cy="2689285"/>
          </a:xfrm>
          <a:prstGeom xmlns:a="http://schemas.openxmlformats.org/drawingml/2006/main" prst="rect">
            <a:avLst/>
          </a:prstGeom>
        </p:spPr>
      </p:pic>
      <p:pic>
        <p:nvPicPr>
          <p:cNvPr id="20" name=""/>
          <p:cNvPicPr>
            <a:picLocks xmlns:a="http://schemas.openxmlformats.org/drawingml/2006/main" noChangeAspect="1"/>
          </p:cNvPicPr>
          <p:nvPr/>
        </p:nvPicPr>
        <p:blipFill>
          <a:blip xmlns:r="http://schemas.openxmlformats.org/officeDocument/2006/relationships" xmlns:a="http://schemas.openxmlformats.org/drawingml/2006/main" r:embed="R08b2dd00c0e044c9"/>
          <a:stretch xmlns:a="http://schemas.openxmlformats.org/drawingml/2006/main"/>
        </p:blipFill>
        <p:spPr>
          <a:xfrm xmlns:a="http://schemas.openxmlformats.org/drawingml/2006/main">
            <a:off x="8124825" y="2674620"/>
            <a:ext cx="3314700" cy="2375535"/>
          </a:xfrm>
          <a:prstGeom xmlns:a="http://schemas.openxmlformats.org/drawingml/2006/main" prst="rect">
            <a:avLst/>
          </a:prstGeom>
        </p:spPr>
      </p:pic>
      <p:sp>
        <p:nvSpPr>
          <p:cNvPr id="9" name="footer-label">
            <a:extLst xmlns:a="http://schemas.openxmlformats.org/drawingml/2006/main">
              <a:ext uri="{FF2B5EF4-FFF2-40B4-BE49-F238E27FC236}">
                <a16:creationId xmlns:a16="http://schemas.microsoft.com/office/drawing/2014/main" id="{A4122F49-AEFE-4211-AD4C-3076D44B6771}"/>
              </a:ext>
            </a:extLst>
          </p:cNvPr>
          <p:cNvSpPr>
            <a:spLocks xmlns:a="http://schemas.openxmlformats.org/drawingml/2006/main" noGrp="1"/>
          </p:cNvSpPr>
          <p:nvPr/>
        </p:nvSpPr>
        <p:spPr>
          <a:xfrm xmlns:a="http://schemas.openxmlformats.org/drawingml/2006/main">
            <a:off x="4495800" y="5514975"/>
            <a:ext cx="33147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error at the page footer</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718c37a4ecb44693"/>
          <a:stretch xmlns:a="http://schemas.openxmlformats.org/drawingml/2006/main"/>
        </p:blipFill>
        <p:spPr>
          <a:xfrm xmlns:a="http://schemas.openxmlformats.org/drawingml/2006/main">
            <a:off x="4495800" y="5918026"/>
            <a:ext cx="3314700" cy="317848"/>
          </a:xfrm>
          <a:prstGeom xmlns:a="http://schemas.openxmlformats.org/drawingml/2006/main" prst="rect">
            <a:avLst/>
          </a:prstGeom>
        </p:spPr>
      </p:pic>
      <p:sp>
        <p:nvSpPr>
          <p:cNvPr id="11" name="field-label">
            <a:extLst xmlns:a="http://schemas.openxmlformats.org/drawingml/2006/main">
              <a:ext uri="{FF2B5EF4-FFF2-40B4-BE49-F238E27FC236}">
                <a16:creationId xmlns:a16="http://schemas.microsoft.com/office/drawing/2014/main" id="{AE4F6EBB-D474-460F-A02A-83BE8B588F6B}"/>
              </a:ext>
            </a:extLst>
          </p:cNvPr>
          <p:cNvSpPr>
            <a:spLocks xmlns:a="http://schemas.openxmlformats.org/drawingml/2006/main" noGrp="1"/>
          </p:cNvSpPr>
          <p:nvPr/>
        </p:nvSpPr>
        <p:spPr>
          <a:xfrm xmlns:a="http://schemas.openxmlformats.org/drawingml/2006/main">
            <a:off x="8124825" y="5514975"/>
            <a:ext cx="33147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Proposed feedback beside the field</a:t>
            </a:r>
          </a:p>
        </p:txBody>
      </p:sp>
      <p:sp>
        <p:nvSpPr>
          <p:cNvPr id="12" name="slide-number">
            <a:extLst xmlns:a="http://schemas.openxmlformats.org/drawingml/2006/main">
              <a:ext uri="{FF2B5EF4-FFF2-40B4-BE49-F238E27FC236}">
                <a16:creationId xmlns:a16="http://schemas.microsoft.com/office/drawing/2014/main" id="{FB5CC6D3-FAF1-49CB-889D-347EE26F0191}"/>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04</a:t>
            </a:r>
          </a:p>
        </p:txBody>
      </p:sp>
    </p:spTree>
    <p:extLst>
      <p:ext uri="{BB962C8B-B14F-4D97-AF65-F5344CB8AC3E}">
        <p14:creationId xmlns:p14="http://schemas.microsoft.com/office/powerpoint/2010/main" val="907879017"/>
      </p:ext>
    </p:extLst>
  </p:cSld>
</p:sld>
</file>

<file path=ppt/slides/slide5.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9" name="section-label">
            <a:extLst xmlns:a="http://schemas.openxmlformats.org/drawingml/2006/main">
              <a:ext uri="{FF2B5EF4-FFF2-40B4-BE49-F238E27FC236}">
                <a16:creationId xmlns:a16="http://schemas.microsoft.com/office/drawing/2014/main" id="{7F0FEE8F-8ACF-47DC-B154-040B146E3456}"/>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RESPONSE IN PROGRESS</a:t>
            </a:r>
          </a:p>
        </p:txBody>
      </p:sp>
      <p:sp>
        <p:nvSpPr>
          <p:cNvPr id="2" name="headline">
            <a:extLst xmlns:a="http://schemas.openxmlformats.org/drawingml/2006/main">
              <a:ext uri="{FF2B5EF4-FFF2-40B4-BE49-F238E27FC236}">
                <a16:creationId xmlns:a16="http://schemas.microsoft.com/office/drawing/2014/main" id="{E3070AE4-BE70-4756-BDC8-DC7E93105120}"/>
              </a:ext>
            </a:extLst>
          </p:cNvPr>
          <p:cNvSpPr>
            <a:spLocks xmlns:a="http://schemas.openxmlformats.org/drawingml/2006/main" noGrp="1"/>
          </p:cNvSpPr>
          <p:nvPr/>
        </p:nvSpPr>
        <p:spPr>
          <a:xfrm xmlns:a="http://schemas.openxmlformats.org/drawingml/2006/main">
            <a:off x="609600" y="1123950"/>
            <a:ext cx="5676900"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Waiting is part of</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conversation</a:t>
            </a:r>
          </a:p>
        </p:txBody>
      </p:sp>
      <p:sp>
        <p:nvSpPr>
          <p:cNvPr id="3" name="waiting-decision">
            <a:extLst xmlns:a="http://schemas.openxmlformats.org/drawingml/2006/main">
              <a:ext uri="{FF2B5EF4-FFF2-40B4-BE49-F238E27FC236}">
                <a16:creationId xmlns:a16="http://schemas.microsoft.com/office/drawing/2014/main" id="{AF53C527-0C2A-433F-97FC-0AEC716E03D0}"/>
              </a:ext>
            </a:extLst>
          </p:cNvPr>
          <p:cNvSpPr>
            <a:spLocks xmlns:a="http://schemas.openxmlformats.org/drawingml/2006/main" noGrp="1"/>
          </p:cNvSpPr>
          <p:nvPr/>
        </p:nvSpPr>
        <p:spPr>
          <a:xfrm xmlns:a="http://schemas.openxmlformats.org/drawingml/2006/main">
            <a:off x="609600" y="3124200"/>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I kept the question visible and gave the response a distinct waiting state.</a:t>
            </a:r>
          </a:p>
        </p:txBody>
      </p:sp>
      <p:sp>
        <p:nvSpPr>
          <p:cNvPr id="4" name="waiting-constraint">
            <a:extLst xmlns:a="http://schemas.openxmlformats.org/drawingml/2006/main">
              <a:ext uri="{FF2B5EF4-FFF2-40B4-BE49-F238E27FC236}">
                <a16:creationId xmlns:a16="http://schemas.microsoft.com/office/drawing/2014/main" id="{56E121E7-6953-41DB-8D76-ADBEDB659CED}"/>
              </a:ext>
            </a:extLst>
          </p:cNvPr>
          <p:cNvSpPr>
            <a:spLocks xmlns:a="http://schemas.openxmlformats.org/drawingml/2006/main" noGrp="1"/>
          </p:cNvSpPr>
          <p:nvPr/>
        </p:nvSpPr>
        <p:spPr>
          <a:xfrm xmlns:a="http://schemas.openxmlformats.org/drawingml/2006/main">
            <a:off x="609600" y="4543425"/>
            <a:ext cx="4619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Animation was an implementation question to resolve with engineering.</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12843930bccf457e"/>
          <a:stretch xmlns:a="http://schemas.openxmlformats.org/drawingml/2006/main"/>
        </p:blipFill>
        <p:spPr>
          <a:xfrm xmlns:a="http://schemas.openxmlformats.org/drawingml/2006/main">
            <a:off x="5850211" y="2362200"/>
            <a:ext cx="2872828" cy="1219200"/>
          </a:xfrm>
          <a:prstGeom xmlns:a="http://schemas.openxmlformats.org/drawingml/2006/main" prst="rect">
            <a:avLst/>
          </a:prstGeom>
        </p:spPr>
      </p:pic>
      <p:sp>
        <p:nvSpPr>
          <p:cNvPr id="6" name="detail-caption">
            <a:extLst xmlns:a="http://schemas.openxmlformats.org/drawingml/2006/main">
              <a:ext uri="{FF2B5EF4-FFF2-40B4-BE49-F238E27FC236}">
                <a16:creationId xmlns:a16="http://schemas.microsoft.com/office/drawing/2014/main" id="{28E19A30-8839-41ED-9D75-7684FC8AABC0}"/>
              </a:ext>
            </a:extLst>
          </p:cNvPr>
          <p:cNvSpPr>
            <a:spLocks xmlns:a="http://schemas.openxmlformats.org/drawingml/2006/main" noGrp="1"/>
          </p:cNvSpPr>
          <p:nvPr/>
        </p:nvSpPr>
        <p:spPr>
          <a:xfrm xmlns:a="http://schemas.openxmlformats.org/drawingml/2006/main">
            <a:off x="5905500" y="3810000"/>
            <a:ext cx="26860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0">
                <a:solidFill>
                  <a:srgbClr val="58645D"/>
                </a:solidFill>
                <a:latin typeface="Helvetica Neue"/>
                <a:ea typeface="Helvetica Neue"/>
                <a:cs typeface="Helvetica Neue"/>
              </a:defRPr>
            </a:pPr>
            <a:r>
              <a:rPr sz="1200" b="0">
                <a:solidFill>
                  <a:srgbClr val="58645D"/>
                </a:solidFill>
                <a:latin typeface="Helvetica Neue"/>
                <a:ea typeface="Helvetica Neue"/>
                <a:cs typeface="Helvetica Neue"/>
              </a:rPr>
              <a:t>Original state detail</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f6e4d576340e403f"/>
          <a:stretch xmlns:a="http://schemas.openxmlformats.org/drawingml/2006/main"/>
        </p:blipFill>
        <p:spPr>
          <a:xfrm xmlns:a="http://schemas.openxmlformats.org/drawingml/2006/main">
            <a:off x="9087302" y="1076325"/>
            <a:ext cx="2351771" cy="5038725"/>
          </a:xfrm>
          <a:prstGeom xmlns:a="http://schemas.openxmlformats.org/drawingml/2006/main" prst="rect">
            <a:avLst/>
          </a:prstGeom>
        </p:spPr>
      </p:pic>
      <p:sp>
        <p:nvSpPr>
          <p:cNvPr id="8" name="slide-number">
            <a:extLst xmlns:a="http://schemas.openxmlformats.org/drawingml/2006/main">
              <a:ext uri="{FF2B5EF4-FFF2-40B4-BE49-F238E27FC236}">
                <a16:creationId xmlns:a16="http://schemas.microsoft.com/office/drawing/2014/main" id="{E64E4BC8-2E6E-4FD8-871D-630840E5A35E}"/>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05</a:t>
            </a:r>
          </a:p>
        </p:txBody>
      </p:sp>
    </p:spTree>
    <p:extLst>
      <p:ext uri="{BB962C8B-B14F-4D97-AF65-F5344CB8AC3E}">
        <p14:creationId xmlns:p14="http://schemas.microsoft.com/office/powerpoint/2010/main" val="1716385077"/>
      </p:ext>
    </p:extLst>
  </p:cSld>
</p:sld>
</file>

<file path=ppt/slides/slide6.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0" name="section-label">
            <a:extLst xmlns:a="http://schemas.openxmlformats.org/drawingml/2006/main">
              <a:ext uri="{FF2B5EF4-FFF2-40B4-BE49-F238E27FC236}">
                <a16:creationId xmlns:a16="http://schemas.microsoft.com/office/drawing/2014/main" id="{FB170381-B59B-4BFE-9C30-1C0A2F74CFC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FLINT   /   INTERRUPTED AND OFFLINE STATES</a:t>
            </a:r>
          </a:p>
        </p:txBody>
      </p:sp>
      <p:sp>
        <p:nvSpPr>
          <p:cNvPr id="2" name="headline">
            <a:extLst xmlns:a="http://schemas.openxmlformats.org/drawingml/2006/main">
              <a:ext uri="{FF2B5EF4-FFF2-40B4-BE49-F238E27FC236}">
                <a16:creationId xmlns:a16="http://schemas.microsoft.com/office/drawing/2014/main" id="{ADDCCCC8-D91C-4110-BE60-4FD3FF545342}"/>
              </a:ext>
            </a:extLst>
          </p:cNvPr>
          <p:cNvSpPr>
            <a:spLocks xmlns:a="http://schemas.openxmlformats.org/drawingml/2006/main" noGrp="1"/>
          </p:cNvSpPr>
          <p:nvPr/>
        </p:nvSpPr>
        <p:spPr>
          <a:xfrm xmlns:a="http://schemas.openxmlformats.org/drawingml/2006/main">
            <a:off x="609600" y="1133475"/>
            <a:ext cx="466725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Recovery follows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failure</a:t>
            </a:r>
          </a:p>
        </p:txBody>
      </p:sp>
      <p:sp>
        <p:nvSpPr>
          <p:cNvPr id="3" name="recovery-decision">
            <a:extLst xmlns:a="http://schemas.openxmlformats.org/drawingml/2006/main">
              <a:ext uri="{FF2B5EF4-FFF2-40B4-BE49-F238E27FC236}">
                <a16:creationId xmlns:a16="http://schemas.microsoft.com/office/drawing/2014/main" id="{801F7968-543C-471B-B816-07664F457261}"/>
              </a:ext>
            </a:extLst>
          </p:cNvPr>
          <p:cNvSpPr>
            <a:spLocks xmlns:a="http://schemas.openxmlformats.org/drawingml/2006/main" noGrp="1"/>
          </p:cNvSpPr>
          <p:nvPr/>
        </p:nvSpPr>
        <p:spPr>
          <a:xfrm xmlns:a="http://schemas.openxmlformats.org/drawingml/2006/main">
            <a:off x="609600" y="3209925"/>
            <a:ext cx="4352925"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An incomplete answer and a lost connection need different next actions.</a:t>
            </a:r>
          </a:p>
        </p:txBody>
      </p:sp>
      <p:sp>
        <p:nvSpPr>
          <p:cNvPr id="4" name="recovery-outcome">
            <a:extLst xmlns:a="http://schemas.openxmlformats.org/drawingml/2006/main">
              <a:ext uri="{FF2B5EF4-FFF2-40B4-BE49-F238E27FC236}">
                <a16:creationId xmlns:a16="http://schemas.microsoft.com/office/drawing/2014/main" id="{33AE5493-972F-484D-B6D6-D589A6CA6DA3}"/>
              </a:ext>
            </a:extLst>
          </p:cNvPr>
          <p:cNvSpPr>
            <a:spLocks xmlns:a="http://schemas.openxmlformats.org/drawingml/2006/main" noGrp="1"/>
          </p:cNvSpPr>
          <p:nvPr/>
        </p:nvSpPr>
        <p:spPr>
          <a:xfrm xmlns:a="http://schemas.openxmlformats.org/drawingml/2006/main">
            <a:off x="609600" y="4772025"/>
            <a:ext cx="43529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58645D"/>
                </a:solidFill>
                <a:latin typeface="Helvetica Neue"/>
                <a:ea typeface="Helvetica Neue"/>
                <a:cs typeface="Helvetica Neue"/>
              </a:defRPr>
            </a:pPr>
            <a:r>
              <a:rPr sz="1800" b="0">
                <a:solidFill>
                  <a:srgbClr val="58645D"/>
                </a:solidFill>
                <a:latin typeface="Helvetica Neue"/>
                <a:ea typeface="Helvetica Neue"/>
                <a:cs typeface="Helvetica Neue"/>
              </a:rPr>
              <a:t>I assembled the flows and their next actions into an annotated handoff for engineering.</a:t>
            </a:r>
          </a:p>
        </p:txBody>
      </p:sp>
      <p:sp>
        <p:nvSpPr>
          <p:cNvPr id="5" name="incomplete-label">
            <a:extLst xmlns:a="http://schemas.openxmlformats.org/drawingml/2006/main">
              <a:ext uri="{FF2B5EF4-FFF2-40B4-BE49-F238E27FC236}">
                <a16:creationId xmlns:a16="http://schemas.microsoft.com/office/drawing/2014/main" id="{433FF59B-6B64-4542-8C18-24FE9B741B2B}"/>
              </a:ext>
            </a:extLst>
          </p:cNvPr>
          <p:cNvSpPr>
            <a:spLocks xmlns:a="http://schemas.openxmlformats.org/drawingml/2006/main" noGrp="1"/>
          </p:cNvSpPr>
          <p:nvPr/>
        </p:nvSpPr>
        <p:spPr>
          <a:xfrm xmlns:a="http://schemas.openxmlformats.org/drawingml/2006/main">
            <a:off x="563880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Incomplete answer</a:t>
            </a:r>
          </a:p>
        </p:txBody>
      </p:sp>
      <p:sp>
        <p:nvSpPr>
          <p:cNvPr id="6" name="offline-label">
            <a:extLst xmlns:a="http://schemas.openxmlformats.org/drawingml/2006/main">
              <a:ext uri="{FF2B5EF4-FFF2-40B4-BE49-F238E27FC236}">
                <a16:creationId xmlns:a16="http://schemas.microsoft.com/office/drawing/2014/main" id="{9AB8AF44-E880-48C3-90E5-5D5AFD54C4BB}"/>
              </a:ext>
            </a:extLst>
          </p:cNvPr>
          <p:cNvSpPr>
            <a:spLocks xmlns:a="http://schemas.openxmlformats.org/drawingml/2006/main" noGrp="1"/>
          </p:cNvSpPr>
          <p:nvPr/>
        </p:nvSpPr>
        <p:spPr>
          <a:xfrm xmlns:a="http://schemas.openxmlformats.org/drawingml/2006/main">
            <a:off x="8705850" y="819150"/>
            <a:ext cx="2495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350" b="1">
                <a:solidFill>
                  <a:srgbClr val="244D3C"/>
                </a:solidFill>
                <a:latin typeface="Helvetica Neue"/>
                <a:ea typeface="Helvetica Neue"/>
                <a:cs typeface="Helvetica Neue"/>
              </a:defRPr>
            </a:pPr>
            <a:r>
              <a:rPr sz="1350" b="1">
                <a:solidFill>
                  <a:srgbClr val="244D3C"/>
                </a:solidFill>
                <a:latin typeface="Helvetica Neue"/>
                <a:ea typeface="Helvetica Neue"/>
                <a:cs typeface="Helvetica Neue"/>
              </a:rPr>
              <a:t>Connection lost</a:t>
            </a:r>
          </a:p>
        </p:txBody>
      </p:sp>
      <p:pic>
        <p:nvPicPr>
          <p:cNvPr id="16" name=""/>
          <p:cNvPicPr>
            <a:picLocks xmlns:a="http://schemas.openxmlformats.org/drawingml/2006/main" noChangeAspect="1"/>
          </p:cNvPicPr>
          <p:nvPr/>
        </p:nvPicPr>
        <p:blipFill>
          <a:blip xmlns:r="http://schemas.openxmlformats.org/officeDocument/2006/relationships" xmlns:a="http://schemas.openxmlformats.org/drawingml/2006/main" r:embed="R48584edbefed470b"/>
          <a:stretch xmlns:a="http://schemas.openxmlformats.org/drawingml/2006/main"/>
        </p:blipFill>
        <p:spPr>
          <a:xfrm xmlns:a="http://schemas.openxmlformats.org/drawingml/2006/main">
            <a:off x="5706555" y="1181100"/>
            <a:ext cx="2436239" cy="5219700"/>
          </a:xfrm>
          <a:prstGeom xmlns:a="http://schemas.openxmlformats.org/drawingml/2006/main" prst="rect">
            <a:avLst/>
          </a:prstGeom>
        </p:spPr>
      </p:pic>
      <p:pic>
        <p:nvPicPr>
          <p:cNvPr id="17" name=""/>
          <p:cNvPicPr>
            <a:picLocks xmlns:a="http://schemas.openxmlformats.org/drawingml/2006/main" noChangeAspect="1"/>
          </p:cNvPicPr>
          <p:nvPr/>
        </p:nvPicPr>
        <p:blipFill>
          <a:blip xmlns:r="http://schemas.openxmlformats.org/officeDocument/2006/relationships" xmlns:a="http://schemas.openxmlformats.org/drawingml/2006/main" r:embed="R5ce5d5699f8a4f5f"/>
          <a:stretch xmlns:a="http://schemas.openxmlformats.org/drawingml/2006/main"/>
        </p:blipFill>
        <p:spPr>
          <a:xfrm xmlns:a="http://schemas.openxmlformats.org/drawingml/2006/main">
            <a:off x="8773605" y="1181100"/>
            <a:ext cx="2436239" cy="5219700"/>
          </a:xfrm>
          <a:prstGeom xmlns:a="http://schemas.openxmlformats.org/drawingml/2006/main" prst="rect">
            <a:avLst/>
          </a:prstGeom>
        </p:spPr>
      </p:pic>
      <p:sp>
        <p:nvSpPr>
          <p:cNvPr id="9" name="slide-number">
            <a:extLst xmlns:a="http://schemas.openxmlformats.org/drawingml/2006/main">
              <a:ext uri="{FF2B5EF4-FFF2-40B4-BE49-F238E27FC236}">
                <a16:creationId xmlns:a16="http://schemas.microsoft.com/office/drawing/2014/main" id="{538B584C-55AD-4C1E-A1CA-51620CEE4CB5}"/>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06</a:t>
            </a:r>
          </a:p>
        </p:txBody>
      </p:sp>
    </p:spTree>
    <p:extLst>
      <p:ext uri="{BB962C8B-B14F-4D97-AF65-F5344CB8AC3E}">
        <p14:creationId xmlns:p14="http://schemas.microsoft.com/office/powerpoint/2010/main" val="888013001"/>
      </p:ext>
    </p:extLst>
  </p:cSld>
</p:sld>
</file>

<file path=ppt/slides/slide7.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4A3A40AC-F509-480E-97F5-645C174BF5CD}"/>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OPPIA RESEARCH COMPASS   /   INDEPENDENT INTERNAL TOOL, 2026</a:t>
            </a:r>
          </a:p>
        </p:txBody>
      </p:sp>
      <p:sp>
        <p:nvSpPr>
          <p:cNvPr id="2" name="headline">
            <a:extLst xmlns:a="http://schemas.openxmlformats.org/drawingml/2006/main">
              <a:ext uri="{FF2B5EF4-FFF2-40B4-BE49-F238E27FC236}">
                <a16:creationId xmlns:a16="http://schemas.microsoft.com/office/drawing/2014/main" id="{5C9AE8B6-6F58-4B16-B982-7EA9B4EEA27A}"/>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An answer needs a path back to evidence</a:t>
            </a:r>
          </a:p>
        </p:txBody>
      </p:sp>
      <p:sp>
        <p:nvSpPr>
          <p:cNvPr id="3" name="retrieval-purpose">
            <a:extLst xmlns:a="http://schemas.openxmlformats.org/drawingml/2006/main">
              <a:ext uri="{FF2B5EF4-FFF2-40B4-BE49-F238E27FC236}">
                <a16:creationId xmlns:a16="http://schemas.microsoft.com/office/drawing/2014/main" id="{1BD849D7-38BA-45E5-B358-6BEA16B74949}"/>
              </a:ext>
            </a:extLst>
          </p:cNvPr>
          <p:cNvSpPr>
            <a:spLocks xmlns:a="http://schemas.openxmlformats.org/drawingml/2006/main" noGrp="1"/>
          </p:cNvSpPr>
          <p:nvPr/>
        </p:nvSpPr>
        <p:spPr>
          <a:xfrm xmlns:a="http://schemas.openxmlformats.org/drawingml/2006/main">
            <a:off x="8763000" y="2705100"/>
            <a:ext cx="2733675"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a:solidFill>
                  <a:srgbClr val="192B25"/>
                </a:solidFill>
                <a:latin typeface="Helvetica Neue"/>
                <a:ea typeface="Helvetica Neue"/>
                <a:cs typeface="Helvetica Neue"/>
              </a:defRPr>
            </a:pPr>
            <a:r>
              <a:rPr sz="1875" b="0">
                <a:solidFill>
                  <a:srgbClr val="192B25"/>
                </a:solidFill>
                <a:latin typeface="Helvetica Neue"/>
                <a:ea typeface="Helvetica Neue"/>
                <a:cs typeface="Helvetica Neue"/>
              </a:rPr>
              <a:t>I built a read-only tool that helps an AI assistant find historical research, keep source references and identify evidence gaps.</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8a62b4858014692"/>
          <a:stretch xmlns:a="http://schemas.openxmlformats.org/drawingml/2006/main"/>
        </p:blipFill>
        <p:spPr>
          <a:xfrm xmlns:a="http://schemas.openxmlformats.org/drawingml/2006/main">
            <a:off x="610195" y="2628900"/>
            <a:ext cx="7618809" cy="3086100"/>
          </a:xfrm>
          <a:prstGeom xmlns:a="http://schemas.openxmlformats.org/drawingml/2006/main" prst="rect">
            <a:avLst/>
          </a:prstGeom>
        </p:spPr>
      </p:pic>
      <p:sp>
        <p:nvSpPr>
          <p:cNvPr id="5" name="internal-status">
            <a:extLst xmlns:a="http://schemas.openxmlformats.org/drawingml/2006/main">
              <a:ext uri="{FF2B5EF4-FFF2-40B4-BE49-F238E27FC236}">
                <a16:creationId xmlns:a16="http://schemas.microsoft.com/office/drawing/2014/main" id="{F48D0FCE-CB6F-45C3-81A3-4358B1F8CF48}"/>
              </a:ext>
            </a:extLst>
          </p:cNvPr>
          <p:cNvSpPr>
            <a:spLocks xmlns:a="http://schemas.openxmlformats.org/drawingml/2006/main" noGrp="1"/>
          </p:cNvSpPr>
          <p:nvPr/>
        </p:nvSpPr>
        <p:spPr>
          <a:xfrm xmlns:a="http://schemas.openxmlformats.org/drawingml/2006/main">
            <a:off x="609600" y="6191250"/>
            <a:ext cx="108966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425" b="0">
                <a:solidFill>
                  <a:srgbClr val="58645D"/>
                </a:solidFill>
                <a:latin typeface="Helvetica Neue"/>
                <a:ea typeface="Helvetica Neue"/>
                <a:cs typeface="Helvetica Neue"/>
              </a:defRPr>
            </a:pPr>
            <a:r>
              <a:rPr sz="1425" b="0">
                <a:solidFill>
                  <a:srgbClr val="58645D"/>
                </a:solidFill>
                <a:latin typeface="Helvetica Neue"/>
                <a:ea typeface="Helvetica Neue"/>
                <a:cs typeface="Helvetica Neue"/>
              </a:rPr>
              <a:t>Implementation reconstruction · internal v0.4.0 package · 10 read-only tools</a:t>
            </a:r>
          </a:p>
        </p:txBody>
      </p:sp>
      <p:sp>
        <p:nvSpPr>
          <p:cNvPr id="6" name="slide-number">
            <a:extLst xmlns:a="http://schemas.openxmlformats.org/drawingml/2006/main">
              <a:ext uri="{FF2B5EF4-FFF2-40B4-BE49-F238E27FC236}">
                <a16:creationId xmlns:a16="http://schemas.microsoft.com/office/drawing/2014/main" id="{FB268A18-E208-4C49-8BCF-D34B5638DEB4}"/>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07</a:t>
            </a:r>
          </a:p>
        </p:txBody>
      </p:sp>
    </p:spTree>
    <p:extLst>
      <p:ext uri="{BB962C8B-B14F-4D97-AF65-F5344CB8AC3E}">
        <p14:creationId xmlns:p14="http://schemas.microsoft.com/office/powerpoint/2010/main" val="1122902048"/>
      </p:ext>
    </p:extLst>
  </p:cSld>
</p:sld>
</file>

<file path=ppt/slides/slide8.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8" name="section-label">
            <a:extLst xmlns:a="http://schemas.openxmlformats.org/drawingml/2006/main">
              <a:ext uri="{FF2B5EF4-FFF2-40B4-BE49-F238E27FC236}">
                <a16:creationId xmlns:a16="http://schemas.microsoft.com/office/drawing/2014/main" id="{6BDB2E1F-B477-4BAC-9271-EA0F655C6104}"/>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OPPIA RESEARCH COMPASS   /   IMPLEMENTATION DECISIONS</a:t>
            </a:r>
          </a:p>
        </p:txBody>
      </p:sp>
      <p:sp>
        <p:nvSpPr>
          <p:cNvPr id="2" name="headline">
            <a:extLst xmlns:a="http://schemas.openxmlformats.org/drawingml/2006/main">
              <a:ext uri="{FF2B5EF4-FFF2-40B4-BE49-F238E27FC236}">
                <a16:creationId xmlns:a16="http://schemas.microsoft.com/office/drawing/2014/main" id="{2EA10722-25B9-4724-BBF1-14E0ABBF1269}"/>
              </a:ext>
            </a:extLst>
          </p:cNvPr>
          <p:cNvSpPr>
            <a:spLocks xmlns:a="http://schemas.openxmlformats.org/drawingml/2006/main" noGrp="1"/>
          </p:cNvSpPr>
          <p:nvPr/>
        </p:nvSpPr>
        <p:spPr>
          <a:xfrm xmlns:a="http://schemas.openxmlformats.org/drawingml/2006/main">
            <a:off x="609600" y="1095375"/>
            <a:ext cx="108966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Retrieval stays bounded and traceable</a:t>
            </a:r>
          </a:p>
        </p:txBody>
      </p:sp>
      <p:sp>
        <p:nvSpPr>
          <p:cNvPr id="3" name="retrieval-detail">
            <a:extLst xmlns:a="http://schemas.openxmlformats.org/drawingml/2006/main">
              <a:ext uri="{FF2B5EF4-FFF2-40B4-BE49-F238E27FC236}">
                <a16:creationId xmlns:a16="http://schemas.microsoft.com/office/drawing/2014/main" id="{F3230DDE-8E55-4B26-8047-D6C0956459D5}"/>
              </a:ext>
            </a:extLst>
          </p:cNvPr>
          <p:cNvSpPr>
            <a:spLocks xmlns:a="http://schemas.openxmlformats.org/drawingml/2006/main" noGrp="1"/>
          </p:cNvSpPr>
          <p:nvPr/>
        </p:nvSpPr>
        <p:spPr>
          <a:xfrm xmlns:a="http://schemas.openxmlformats.org/drawingml/2006/main">
            <a:off x="609600" y="2133600"/>
            <a:ext cx="10563225"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192B25"/>
                </a:solidFill>
                <a:latin typeface="Helvetica Neue"/>
                <a:ea typeface="Helvetica Neue"/>
                <a:cs typeface="Helvetica Neue"/>
              </a:defRPr>
            </a:pPr>
            <a:r>
              <a:rPr sz="1950" b="0">
                <a:solidFill>
                  <a:srgbClr val="192B25"/>
                </a:solidFill>
                <a:latin typeface="Helvetica Neue"/>
                <a:ea typeface="Helvetica Neue"/>
                <a:cs typeface="Helvetica Neue"/>
              </a:rPr>
              <a:t>SQLite full-text search ranks matches with BM25. Results keep stable record and evidence IDs.</a:t>
            </a:r>
          </a:p>
        </p:txBody>
      </p:sp>
      <p:sp>
        <p:nvSpPr>
          <p:cNvPr id="4" name="retrieval-review">
            <a:extLst xmlns:a="http://schemas.openxmlformats.org/drawingml/2006/main">
              <a:ext uri="{FF2B5EF4-FFF2-40B4-BE49-F238E27FC236}">
                <a16:creationId xmlns:a16="http://schemas.microsoft.com/office/drawing/2014/main" id="{368B027F-8D72-41AC-9107-594523DFC193}"/>
              </a:ext>
            </a:extLst>
          </p:cNvPr>
          <p:cNvSpPr>
            <a:spLocks xmlns:a="http://schemas.openxmlformats.org/drawingml/2006/main" noGrp="1"/>
          </p:cNvSpPr>
          <p:nvPr/>
        </p:nvSpPr>
        <p:spPr>
          <a:xfrm xmlns:a="http://schemas.openxmlformats.org/drawingml/2006/main">
            <a:off x="609600" y="5857875"/>
            <a:ext cx="108966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575" b="0">
                <a:solidFill>
                  <a:srgbClr val="58645D"/>
                </a:solidFill>
                <a:latin typeface="Helvetica Neue"/>
                <a:ea typeface="Helvetica Neue"/>
                <a:cs typeface="Helvetica Neue"/>
              </a:defRPr>
            </a:pPr>
            <a:r>
              <a:rPr sz="1575" b="0">
                <a:solidFill>
                  <a:srgbClr val="58645D"/>
                </a:solidFill>
                <a:latin typeface="Helvetica Neue"/>
                <a:ea typeface="Helvetica Neue"/>
                <a:cs typeface="Helvetica Neue"/>
              </a:rPr>
              <a:t>The assistant can fetch exact evidence before quoting it. Evidence gaps remain visible.</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1bf7083974c246ae"/>
          <a:stretch xmlns:a="http://schemas.openxmlformats.org/drawingml/2006/main"/>
        </p:blipFill>
        <p:spPr>
          <a:xfrm xmlns:a="http://schemas.openxmlformats.org/drawingml/2006/main">
            <a:off x="609600" y="3153939"/>
            <a:ext cx="10896600" cy="2512272"/>
          </a:xfrm>
          <a:prstGeom xmlns:a="http://schemas.openxmlformats.org/drawingml/2006/main" prst="rect">
            <a:avLst/>
          </a:prstGeom>
        </p:spPr>
      </p:pic>
      <p:sp>
        <p:nvSpPr>
          <p:cNvPr id="6" name="code-caption">
            <a:extLst xmlns:a="http://schemas.openxmlformats.org/drawingml/2006/main">
              <a:ext uri="{FF2B5EF4-FFF2-40B4-BE49-F238E27FC236}">
                <a16:creationId xmlns:a16="http://schemas.microsoft.com/office/drawing/2014/main" id="{1ABDDADB-CC7A-4CEF-81CD-57CCCA283CD7}"/>
              </a:ext>
            </a:extLst>
          </p:cNvPr>
          <p:cNvSpPr>
            <a:spLocks xmlns:a="http://schemas.openxmlformats.org/drawingml/2006/main" noGrp="1"/>
          </p:cNvSpPr>
          <p:nvPr/>
        </p:nvSpPr>
        <p:spPr>
          <a:xfrm xmlns:a="http://schemas.openxmlformats.org/drawingml/2006/main">
            <a:off x="609600" y="6353175"/>
            <a:ext cx="108966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75" b="0">
                <a:solidFill>
                  <a:srgbClr val="58645D"/>
                </a:solidFill>
                <a:latin typeface="Helvetica Neue"/>
                <a:ea typeface="Helvetica Neue"/>
                <a:cs typeface="Helvetica Neue"/>
              </a:defRPr>
            </a:pPr>
            <a:r>
              <a:rPr sz="1275" b="0">
                <a:solidFill>
                  <a:srgbClr val="58645D"/>
                </a:solidFill>
                <a:latin typeface="Helvetica Neue"/>
                <a:ea typeface="Helvetica Neue"/>
                <a:cs typeface="Helvetica Neue"/>
              </a:rPr>
              <a:t>Original code excerpt · database protections</a:t>
            </a:r>
          </a:p>
        </p:txBody>
      </p:sp>
      <p:sp>
        <p:nvSpPr>
          <p:cNvPr id="7" name="slide-number">
            <a:extLst xmlns:a="http://schemas.openxmlformats.org/drawingml/2006/main">
              <a:ext uri="{FF2B5EF4-FFF2-40B4-BE49-F238E27FC236}">
                <a16:creationId xmlns:a16="http://schemas.microsoft.com/office/drawing/2014/main" id="{AB3B22DF-F181-489E-8223-89D498BAAF1C}"/>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08</a:t>
            </a:r>
          </a:p>
        </p:txBody>
      </p:sp>
    </p:spTree>
    <p:extLst>
      <p:ext uri="{BB962C8B-B14F-4D97-AF65-F5344CB8AC3E}">
        <p14:creationId xmlns:p14="http://schemas.microsoft.com/office/powerpoint/2010/main" val="816972429"/>
      </p:ext>
    </p:extLst>
  </p:cSld>
</p:sld>
</file>

<file path=ppt/slides/slide9.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70C078FF-CB21-43B9-9C00-C917DA1868CC}"/>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ARIZONA STATE UNIVERSITY   /   SUPPORT, ANALYSIS AND LEARNING</a:t>
            </a:r>
          </a:p>
        </p:txBody>
      </p:sp>
      <p:sp>
        <p:nvSpPr>
          <p:cNvPr id="2" name="headline">
            <a:extLst xmlns:a="http://schemas.openxmlformats.org/drawingml/2006/main">
              <a:ext uri="{FF2B5EF4-FFF2-40B4-BE49-F238E27FC236}">
                <a16:creationId xmlns:a16="http://schemas.microsoft.com/office/drawing/2014/main" id="{456E3306-EF15-43FE-AC33-785919A96BEF}"/>
              </a:ext>
            </a:extLst>
          </p:cNvPr>
          <p:cNvSpPr>
            <a:spLocks xmlns:a="http://schemas.openxmlformats.org/drawingml/2006/main" noGrp="1"/>
          </p:cNvSpPr>
          <p:nvPr/>
        </p:nvSpPr>
        <p:spPr>
          <a:xfrm xmlns:a="http://schemas.openxmlformats.org/drawingml/2006/main">
            <a:off x="609600" y="1085850"/>
            <a:ext cx="10382250" cy="1466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Explaining technical work</a:t>
            </a:r>
          </a:p>
          <a:p xmlns:a="http://schemas.openxmlformats.org/drawingml/2006/main">
            <a:pPr>
              <a:lnSpc>
                <a:spcPct val="110000"/>
              </a:lnSpc>
              <a:buNone/>
              <a:defRPr sz="3600" b="1">
                <a:solidFill>
                  <a:srgbClr val="192B25"/>
                </a:solidFill>
                <a:latin typeface="Helvetica Neue"/>
                <a:ea typeface="Helvetica Neue"/>
                <a:cs typeface="Helvetica Neue"/>
              </a:defRPr>
            </a:pPr>
            <a:r>
              <a:rPr sz="3600" b="1">
                <a:solidFill>
                  <a:srgbClr val="192B25"/>
                </a:solidFill>
                <a:latin typeface="Helvetica Neue"/>
                <a:ea typeface="Helvetica Neue"/>
                <a:cs typeface="Helvetica Neue"/>
              </a:rPr>
              <a:t>to the people using it</a:t>
            </a:r>
          </a:p>
        </p:txBody>
      </p:sp>
      <p:sp>
        <p:nvSpPr>
          <p:cNvPr id="3" name="it-support">
            <a:extLst xmlns:a="http://schemas.openxmlformats.org/drawingml/2006/main">
              <a:ext uri="{FF2B5EF4-FFF2-40B4-BE49-F238E27FC236}">
                <a16:creationId xmlns:a16="http://schemas.microsoft.com/office/drawing/2014/main" id="{70975E51-9DE3-4139-B64E-6407501A9D52}"/>
              </a:ext>
            </a:extLst>
          </p:cNvPr>
          <p:cNvSpPr>
            <a:spLocks xmlns:a="http://schemas.openxmlformats.org/drawingml/2006/main" noGrp="1"/>
          </p:cNvSpPr>
          <p:nvPr/>
        </p:nvSpPr>
        <p:spPr>
          <a:xfrm xmlns:a="http://schemas.openxmlformats.org/drawingml/2006/main">
            <a:off x="609600" y="3162300"/>
            <a:ext cx="59055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192B25"/>
                </a:solidFill>
                <a:latin typeface="Helvetica Neue"/>
                <a:ea typeface="Helvetica Neue"/>
                <a:cs typeface="Helvetica Neue"/>
              </a:defRPr>
            </a:pPr>
            <a:r>
              <a:rPr sz="2025" b="0">
                <a:solidFill>
                  <a:srgbClr val="192B25"/>
                </a:solidFill>
                <a:latin typeface="Helvetica Neue"/>
                <a:ea typeface="Helvetica Neue"/>
                <a:cs typeface="Helvetica Neue"/>
              </a:rPr>
              <a:t>As an IT Specialist, I supported campus system updates and the transition to hybrid work.</a:t>
            </a:r>
          </a:p>
        </p:txBody>
      </p:sp>
      <p:sp>
        <p:nvSpPr>
          <p:cNvPr id="4" name="asu-analysis">
            <a:extLst xmlns:a="http://schemas.openxmlformats.org/drawingml/2006/main">
              <a:ext uri="{FF2B5EF4-FFF2-40B4-BE49-F238E27FC236}">
                <a16:creationId xmlns:a16="http://schemas.microsoft.com/office/drawing/2014/main" id="{87073752-01E4-4BE2-8FF9-E46662FFC1A7}"/>
              </a:ext>
            </a:extLst>
          </p:cNvPr>
          <p:cNvSpPr>
            <a:spLocks xmlns:a="http://schemas.openxmlformats.org/drawingml/2006/main" noGrp="1"/>
          </p:cNvSpPr>
          <p:nvPr/>
        </p:nvSpPr>
        <p:spPr>
          <a:xfrm xmlns:a="http://schemas.openxmlformats.org/drawingml/2006/main">
            <a:off x="609600" y="455295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0">
                <a:solidFill>
                  <a:srgbClr val="58645D"/>
                </a:solidFill>
                <a:latin typeface="Helvetica Neue"/>
                <a:ea typeface="Helvetica Neue"/>
                <a:cs typeface="Helvetica Neue"/>
              </a:defRPr>
            </a:pPr>
            <a:r>
              <a:rPr sz="1950" b="0">
                <a:solidFill>
                  <a:srgbClr val="58645D"/>
                </a:solidFill>
                <a:latin typeface="Helvetica Neue"/>
                <a:ea typeface="Helvetica Neue"/>
                <a:cs typeface="Helvetica Neue"/>
              </a:rPr>
              <a:t>Later AI analysis and instructional-design work involved translating learner needs into prototypes, findings and accessible materials.</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11c11660c4f04dab"/>
          <a:stretch xmlns:a="http://schemas.openxmlformats.org/drawingml/2006/main"/>
        </p:blipFill>
        <p:spPr>
          <a:xfrm xmlns:a="http://schemas.openxmlformats.org/drawingml/2006/main">
            <a:off x="7334250" y="2819400"/>
            <a:ext cx="3810000" cy="3810000"/>
          </a:xfrm>
          <a:prstGeom xmlns:a="http://schemas.openxmlformats.org/drawingml/2006/main" prst="rect">
            <a:avLst/>
          </a:prstGeom>
        </p:spPr>
      </p:pic>
      <p:sp>
        <p:nvSpPr>
          <p:cNvPr id="6" name="slide-number">
            <a:extLst xmlns:a="http://schemas.openxmlformats.org/drawingml/2006/main">
              <a:ext uri="{FF2B5EF4-FFF2-40B4-BE49-F238E27FC236}">
                <a16:creationId xmlns:a16="http://schemas.microsoft.com/office/drawing/2014/main" id="{C69F2E2D-AA6C-4A58-A308-2CA8374959FA}"/>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09</a:t>
            </a:r>
          </a:p>
        </p:txBody>
      </p:sp>
    </p:spTree>
    <p:extLst>
      <p:ext uri="{BB962C8B-B14F-4D97-AF65-F5344CB8AC3E}">
        <p14:creationId xmlns:p14="http://schemas.microsoft.com/office/powerpoint/2010/main" val="494329310"/>
      </p:ext>
    </p:extLst>
  </p:cSld>
</p:sld>
</file>

<file path=ppt/slides/slide10.xml><?xml version="1.0" encoding="utf-8"?>
<p:sld xmlns:p="http://schemas.openxmlformats.org/presentationml/2006/main">
  <p:cSld>
    <p:bg>
      <p:bgPr>
        <a:solidFill xmlns:a="http://schemas.openxmlformats.org/drawingml/2006/main">
          <a:srgbClr val="F4F2E9"/>
        </a:solidFill>
      </p:bgPr>
    </p:bg>
    <p:spTree>
      <p:nvGrpSpPr>
        <p:cNvPr id="1" name=""/>
        <p:cNvGrpSpPr/>
        <p:nvPr/>
      </p:nvGrpSpPr>
      <p:grpSpPr>
        <a:xfrm xmlns:a="http://schemas.openxmlformats.org/drawingml/2006/main"/>
      </p:grpSpPr>
      <p:sp>
        <p:nvSpPr>
          <p:cNvPr id="12" name="section-label">
            <a:extLst xmlns:a="http://schemas.openxmlformats.org/drawingml/2006/main">
              <a:ext uri="{FF2B5EF4-FFF2-40B4-BE49-F238E27FC236}">
                <a16:creationId xmlns:a16="http://schemas.microsoft.com/office/drawing/2014/main" id="{449CFFFE-FCAB-4B47-83A7-FFA66B812783}"/>
              </a:ext>
            </a:extLst>
          </p:cNvPr>
          <p:cNvSpPr>
            <a:spLocks xmlns:a="http://schemas.openxmlformats.org/drawingml/2006/main" noGrp="1"/>
          </p:cNvSpPr>
          <p:nvPr/>
        </p:nvSpPr>
        <p:spPr>
          <a:xfrm xmlns:a="http://schemas.openxmlformats.org/drawingml/2006/main">
            <a:off x="609600" y="495300"/>
            <a:ext cx="10668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244D3C"/>
                </a:solidFill>
                <a:latin typeface="Helvetica Neue"/>
                <a:ea typeface="Helvetica Neue"/>
                <a:cs typeface="Helvetica Neue"/>
              </a:defRPr>
            </a:pPr>
            <a:r>
              <a:rPr sz="1200" b="1">
                <a:solidFill>
                  <a:srgbClr val="244D3C"/>
                </a:solidFill>
                <a:latin typeface="Helvetica Neue"/>
                <a:ea typeface="Helvetica Neue"/>
                <a:cs typeface="Helvetica Neue"/>
              </a:rPr>
              <a:t>PROPOSED APPROACH   /   AFFIRMEDRX</a:t>
            </a:r>
          </a:p>
        </p:txBody>
      </p:sp>
      <p:sp>
        <p:nvSpPr>
          <p:cNvPr id="2" name="headline">
            <a:extLst xmlns:a="http://schemas.openxmlformats.org/drawingml/2006/main">
              <a:ext uri="{FF2B5EF4-FFF2-40B4-BE49-F238E27FC236}">
                <a16:creationId xmlns:a16="http://schemas.microsoft.com/office/drawing/2014/main" id="{974136B3-DDED-4630-859D-2136E6B3017B}"/>
              </a:ext>
            </a:extLst>
          </p:cNvPr>
          <p:cNvSpPr>
            <a:spLocks xmlns:a="http://schemas.openxmlformats.org/drawingml/2006/main" noGrp="1"/>
          </p:cNvSpPr>
          <p:nvPr/>
        </p:nvSpPr>
        <p:spPr>
          <a:xfrm xmlns:a="http://schemas.openxmlformats.org/drawingml/2006/main">
            <a:off x="609600" y="1076325"/>
            <a:ext cx="10668000" cy="1419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A status record answers</a:t>
            </a:r>
          </a:p>
          <a:p xmlns:a="http://schemas.openxmlformats.org/drawingml/2006/main">
            <a:pPr>
              <a:lnSpc>
                <a:spcPct val="110000"/>
              </a:lnSpc>
              <a:buNone/>
              <a:defRPr sz="3675" b="1">
                <a:solidFill>
                  <a:srgbClr val="192B25"/>
                </a:solidFill>
                <a:latin typeface="Helvetica Neue"/>
                <a:ea typeface="Helvetica Neue"/>
                <a:cs typeface="Helvetica Neue"/>
              </a:defRPr>
            </a:pPr>
            <a:r>
              <a:rPr sz="3675" b="1">
                <a:solidFill>
                  <a:srgbClr val="192B25"/>
                </a:solidFill>
                <a:latin typeface="Helvetica Neue"/>
                <a:ea typeface="Helvetica Neue"/>
                <a:cs typeface="Helvetica Neue"/>
              </a:rPr>
              <a:t>the next question</a:t>
            </a:r>
          </a:p>
        </p:txBody>
      </p:sp>
      <p:sp>
        <p:nvSpPr>
          <p:cNvPr id="3" name="intake-heading">
            <a:extLst xmlns:a="http://schemas.openxmlformats.org/drawingml/2006/main">
              <a:ext uri="{FF2B5EF4-FFF2-40B4-BE49-F238E27FC236}">
                <a16:creationId xmlns:a16="http://schemas.microsoft.com/office/drawing/2014/main" id="{3C5782BC-2CAB-4D9F-A6FB-8434037FABAD}"/>
              </a:ext>
            </a:extLst>
          </p:cNvPr>
          <p:cNvSpPr>
            <a:spLocks xmlns:a="http://schemas.openxmlformats.org/drawingml/2006/main" noGrp="1"/>
          </p:cNvSpPr>
          <p:nvPr/>
        </p:nvSpPr>
        <p:spPr>
          <a:xfrm xmlns:a="http://schemas.openxmlformats.org/drawingml/2006/main">
            <a:off x="609600" y="303847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What needs attention?</a:t>
            </a:r>
          </a:p>
        </p:txBody>
      </p:sp>
      <p:sp>
        <p:nvSpPr>
          <p:cNvPr id="4" name="intake-body">
            <a:extLst xmlns:a="http://schemas.openxmlformats.org/drawingml/2006/main">
              <a:ext uri="{FF2B5EF4-FFF2-40B4-BE49-F238E27FC236}">
                <a16:creationId xmlns:a16="http://schemas.microsoft.com/office/drawing/2014/main" id="{CD05B238-FAB0-43DA-BE57-9CA4CDC8CC2B}"/>
              </a:ext>
            </a:extLst>
          </p:cNvPr>
          <p:cNvSpPr>
            <a:spLocks xmlns:a="http://schemas.openxmlformats.org/drawingml/2006/main" noGrp="1"/>
          </p:cNvSpPr>
          <p:nvPr/>
        </p:nvSpPr>
        <p:spPr>
          <a:xfrm xmlns:a="http://schemas.openxmlformats.org/drawingml/2006/main">
            <a:off x="609600" y="36099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Capture the reported problem, affected scope and supporting evidence under the team’s access rules.</a:t>
            </a:r>
          </a:p>
        </p:txBody>
      </p:sp>
      <p:sp>
        <p:nvSpPr>
          <p:cNvPr id="5" name="status-heading">
            <a:extLst xmlns:a="http://schemas.openxmlformats.org/drawingml/2006/main">
              <a:ext uri="{FF2B5EF4-FFF2-40B4-BE49-F238E27FC236}">
                <a16:creationId xmlns:a16="http://schemas.microsoft.com/office/drawing/2014/main" id="{418F8827-CAEA-4AE4-B833-6C641D4E7C62}"/>
              </a:ext>
            </a:extLst>
          </p:cNvPr>
          <p:cNvSpPr>
            <a:spLocks xmlns:a="http://schemas.openxmlformats.org/drawingml/2006/main" noGrp="1"/>
          </p:cNvSpPr>
          <p:nvPr/>
        </p:nvSpPr>
        <p:spPr>
          <a:xfrm xmlns:a="http://schemas.openxmlformats.org/drawingml/2006/main">
            <a:off x="6705600" y="303847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What is confirmed?</a:t>
            </a:r>
          </a:p>
        </p:txBody>
      </p:sp>
      <p:sp>
        <p:nvSpPr>
          <p:cNvPr id="6" name="status-body">
            <a:extLst xmlns:a="http://schemas.openxmlformats.org/drawingml/2006/main">
              <a:ext uri="{FF2B5EF4-FFF2-40B4-BE49-F238E27FC236}">
                <a16:creationId xmlns:a16="http://schemas.microsoft.com/office/drawing/2014/main" id="{839F1EF8-9D98-4FA5-AF38-89889C2ED973}"/>
              </a:ext>
            </a:extLst>
          </p:cNvPr>
          <p:cNvSpPr>
            <a:spLocks xmlns:a="http://schemas.openxmlformats.org/drawingml/2006/main" noGrp="1"/>
          </p:cNvSpPr>
          <p:nvPr/>
        </p:nvSpPr>
        <p:spPr>
          <a:xfrm xmlns:a="http://schemas.openxmlformats.org/drawingml/2006/main">
            <a:off x="6705600" y="3609975"/>
            <a:ext cx="4857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Check impact and open questions with the technical specialist responsible for the issue.</a:t>
            </a:r>
          </a:p>
        </p:txBody>
      </p:sp>
      <p:sp>
        <p:nvSpPr>
          <p:cNvPr id="7" name="owner-heading">
            <a:extLst xmlns:a="http://schemas.openxmlformats.org/drawingml/2006/main">
              <a:ext uri="{FF2B5EF4-FFF2-40B4-BE49-F238E27FC236}">
                <a16:creationId xmlns:a16="http://schemas.microsoft.com/office/drawing/2014/main" id="{74B81884-0E60-4571-8D9F-0B7E49D13F02}"/>
              </a:ext>
            </a:extLst>
          </p:cNvPr>
          <p:cNvSpPr>
            <a:spLocks xmlns:a="http://schemas.openxmlformats.org/drawingml/2006/main" noGrp="1"/>
          </p:cNvSpPr>
          <p:nvPr/>
        </p:nvSpPr>
        <p:spPr>
          <a:xfrm xmlns:a="http://schemas.openxmlformats.org/drawingml/2006/main">
            <a:off x="609600" y="4924425"/>
            <a:ext cx="49530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Who owns the next step?</a:t>
            </a:r>
          </a:p>
        </p:txBody>
      </p:sp>
      <p:sp>
        <p:nvSpPr>
          <p:cNvPr id="8" name="owner-body">
            <a:extLst xmlns:a="http://schemas.openxmlformats.org/drawingml/2006/main">
              <a:ext uri="{FF2B5EF4-FFF2-40B4-BE49-F238E27FC236}">
                <a16:creationId xmlns:a16="http://schemas.microsoft.com/office/drawing/2014/main" id="{508EE87B-BE2A-45B9-AE79-AA8F7E6C0E22}"/>
              </a:ext>
            </a:extLst>
          </p:cNvPr>
          <p:cNvSpPr>
            <a:spLocks xmlns:a="http://schemas.openxmlformats.org/drawingml/2006/main" noGrp="1"/>
          </p:cNvSpPr>
          <p:nvPr/>
        </p:nvSpPr>
        <p:spPr>
          <a:xfrm xmlns:a="http://schemas.openxmlformats.org/drawingml/2006/main">
            <a:off x="609600" y="54959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Keep the owner, action and next update time visible to the people waiting on the work.</a:t>
            </a:r>
          </a:p>
        </p:txBody>
      </p:sp>
      <p:sp>
        <p:nvSpPr>
          <p:cNvPr id="9" name="closure-heading">
            <a:extLst xmlns:a="http://schemas.openxmlformats.org/drawingml/2006/main">
              <a:ext uri="{FF2B5EF4-FFF2-40B4-BE49-F238E27FC236}">
                <a16:creationId xmlns:a16="http://schemas.microsoft.com/office/drawing/2014/main" id="{79C2B90D-F85E-494F-A11E-5864377C4034}"/>
              </a:ext>
            </a:extLst>
          </p:cNvPr>
          <p:cNvSpPr>
            <a:spLocks xmlns:a="http://schemas.openxmlformats.org/drawingml/2006/main" noGrp="1"/>
          </p:cNvSpPr>
          <p:nvPr/>
        </p:nvSpPr>
        <p:spPr>
          <a:xfrm xmlns:a="http://schemas.openxmlformats.org/drawingml/2006/main">
            <a:off x="6705600" y="4924425"/>
            <a:ext cx="4857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950" b="1">
                <a:solidFill>
                  <a:srgbClr val="244D3C"/>
                </a:solidFill>
                <a:latin typeface="Helvetica Neue"/>
                <a:ea typeface="Helvetica Neue"/>
                <a:cs typeface="Helvetica Neue"/>
              </a:defRPr>
            </a:pPr>
            <a:r>
              <a:rPr sz="1950" b="1">
                <a:solidFill>
                  <a:srgbClr val="244D3C"/>
                </a:solidFill>
                <a:latin typeface="Helvetica Neue"/>
                <a:ea typeface="Helvetica Neue"/>
                <a:cs typeface="Helvetica Neue"/>
              </a:rPr>
              <a:t>What closes the loop?</a:t>
            </a:r>
          </a:p>
        </p:txBody>
      </p:sp>
      <p:sp>
        <p:nvSpPr>
          <p:cNvPr id="10" name="closure-body">
            <a:extLst xmlns:a="http://schemas.openxmlformats.org/drawingml/2006/main">
              <a:ext uri="{FF2B5EF4-FFF2-40B4-BE49-F238E27FC236}">
                <a16:creationId xmlns:a16="http://schemas.microsoft.com/office/drawing/2014/main" id="{7E2634DC-3D1C-4148-B656-C1309CA8EEBA}"/>
              </a:ext>
            </a:extLst>
          </p:cNvPr>
          <p:cNvSpPr>
            <a:spLocks xmlns:a="http://schemas.openxmlformats.org/drawingml/2006/main" noGrp="1"/>
          </p:cNvSpPr>
          <p:nvPr/>
        </p:nvSpPr>
        <p:spPr>
          <a:xfrm xmlns:a="http://schemas.openxmlformats.org/drawingml/2006/main">
            <a:off x="6705600" y="5495925"/>
            <a:ext cx="48577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00" b="0">
                <a:solidFill>
                  <a:srgbClr val="192B25"/>
                </a:solidFill>
                <a:latin typeface="Helvetica Neue"/>
                <a:ea typeface="Helvetica Neue"/>
                <a:cs typeface="Helvetica Neue"/>
              </a:defRPr>
            </a:pPr>
            <a:r>
              <a:rPr sz="1800" b="0">
                <a:solidFill>
                  <a:srgbClr val="192B25"/>
                </a:solidFill>
                <a:latin typeface="Helvetica Neue"/>
                <a:ea typeface="Helvetica Neue"/>
                <a:cs typeface="Helvetica Neue"/>
              </a:rPr>
              <a:t>Confirm resolution, record what changed and flag recurring problems for review.</a:t>
            </a:r>
          </a:p>
        </p:txBody>
      </p:sp>
      <p:sp>
        <p:nvSpPr>
          <p:cNvPr id="11" name="slide-number">
            <a:extLst xmlns:a="http://schemas.openxmlformats.org/drawingml/2006/main">
              <a:ext uri="{FF2B5EF4-FFF2-40B4-BE49-F238E27FC236}">
                <a16:creationId xmlns:a16="http://schemas.microsoft.com/office/drawing/2014/main" id="{EF89851A-6E0C-4717-BD76-80BE7AD30E43}"/>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58645D"/>
                </a:solidFill>
                <a:latin typeface="Helvetica Neue"/>
                <a:ea typeface="Helvetica Neue"/>
                <a:cs typeface="Helvetica Neue"/>
              </a:defRPr>
            </a:pPr>
            <a:r>
              <a:rPr sz="1050" b="0">
                <a:solidFill>
                  <a:srgbClr val="58645D"/>
                </a:solidFill>
                <a:latin typeface="Helvetica Neue"/>
                <a:ea typeface="Helvetica Neue"/>
                <a:cs typeface="Helvetica Neue"/>
              </a:rPr>
              <a:t>10</a:t>
            </a:r>
          </a:p>
        </p:txBody>
      </p:sp>
    </p:spTree>
    <p:extLst>
      <p:ext uri="{BB962C8B-B14F-4D97-AF65-F5344CB8AC3E}">
        <p14:creationId xmlns:p14="http://schemas.microsoft.com/office/powerpoint/2010/main" val="2027946153"/>
      </p:ext>
    </p:extLst>
  </p:cSld>
</p:sld>
</file>

<file path=ppt/slides/slide11.xml><?xml version="1.0" encoding="utf-8"?>
<p:sld xmlns:p="http://schemas.openxmlformats.org/presentationml/2006/main">
  <p:cSld>
    <p:bg>
      <p:bgPr>
        <a:solidFill xmlns:a="http://schemas.openxmlformats.org/drawingml/2006/main">
          <a:srgbClr val="244D3C"/>
        </a:solidFill>
      </p:bgPr>
    </p:bg>
    <p:spTree>
      <p:nvGrpSpPr>
        <p:cNvPr id="1" name=""/>
        <p:cNvGrpSpPr/>
        <p:nvPr/>
      </p:nvGrpSpPr>
      <p:grpSpPr>
        <a:xfrm xmlns:a="http://schemas.openxmlformats.org/drawingml/2006/main"/>
      </p:grpSpPr>
      <p:sp>
        <p:nvSpPr>
          <p:cNvPr id="7" name="section-label">
            <a:extLst xmlns:a="http://schemas.openxmlformats.org/drawingml/2006/main">
              <a:ext uri="{FF2B5EF4-FFF2-40B4-BE49-F238E27FC236}">
                <a16:creationId xmlns:a16="http://schemas.microsoft.com/office/drawing/2014/main" id="{546F0F98-42FB-460C-BD79-E27FEE73C5D4}"/>
              </a:ext>
            </a:extLst>
          </p:cNvPr>
          <p:cNvSpPr>
            <a:spLocks xmlns:a="http://schemas.openxmlformats.org/drawingml/2006/main" noGrp="1"/>
          </p:cNvSpPr>
          <p:nvPr/>
        </p:nvSpPr>
        <p:spPr>
          <a:xfrm xmlns:a="http://schemas.openxmlformats.org/drawingml/2006/main">
            <a:off x="609600" y="523875"/>
            <a:ext cx="10858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200" b="1">
                <a:solidFill>
                  <a:srgbClr val="DBEB89"/>
                </a:solidFill>
                <a:latin typeface="Helvetica Neue"/>
                <a:ea typeface="Helvetica Neue"/>
                <a:cs typeface="Helvetica Neue"/>
              </a:defRPr>
            </a:pPr>
            <a:r>
              <a:rPr sz="1200" b="1">
                <a:solidFill>
                  <a:srgbClr val="DBEB89"/>
                </a:solidFill>
                <a:latin typeface="Helvetica Neue"/>
                <a:ea typeface="Helvetica Neue"/>
                <a:cs typeface="Helvetica Neue"/>
              </a:rPr>
              <a:t>KYLE HOBSON   /   AFFIRMEDRX · BUSINESS ANALYST</a:t>
            </a:r>
          </a:p>
        </p:txBody>
      </p:sp>
      <p:sp>
        <p:nvSpPr>
          <p:cNvPr id="2" name="headline">
            <a:extLst xmlns:a="http://schemas.openxmlformats.org/drawingml/2006/main">
              <a:ext uri="{FF2B5EF4-FFF2-40B4-BE49-F238E27FC236}">
                <a16:creationId xmlns:a16="http://schemas.microsoft.com/office/drawing/2014/main" id="{AE5B5E9F-0569-4669-8381-2A50A894E06B}"/>
              </a:ext>
            </a:extLst>
          </p:cNvPr>
          <p:cNvSpPr>
            <a:spLocks xmlns:a="http://schemas.openxmlformats.org/drawingml/2006/main" noGrp="1"/>
          </p:cNvSpPr>
          <p:nvPr/>
        </p:nvSpPr>
        <p:spPr>
          <a:xfrm xmlns:a="http://schemas.openxmlformats.org/drawingml/2006/main">
            <a:off x="609600" y="1647825"/>
            <a:ext cx="10287000" cy="1885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Let’s make issue</a:t>
            </a:r>
          </a:p>
          <a:p xmlns:a="http://schemas.openxmlformats.org/drawingml/2006/main">
            <a:pPr>
              <a:lnSpc>
                <a:spcPct val="110000"/>
              </a:lnSpc>
              <a:buNone/>
              <a:defRPr sz="4575" b="1">
                <a:solidFill>
                  <a:srgbClr val="F4F2E9"/>
                </a:solidFill>
                <a:latin typeface="Helvetica Neue"/>
                <a:ea typeface="Helvetica Neue"/>
                <a:cs typeface="Helvetica Neue"/>
              </a:defRPr>
            </a:pPr>
            <a:r>
              <a:rPr sz="4575" b="1">
                <a:solidFill>
                  <a:srgbClr val="F4F2E9"/>
                </a:solidFill>
                <a:latin typeface="Helvetica Neue"/>
                <a:ea typeface="Helvetica Neue"/>
                <a:cs typeface="Helvetica Neue"/>
              </a:rPr>
              <a:t>follow-through easier</a:t>
            </a:r>
          </a:p>
        </p:txBody>
      </p:sp>
      <p:sp>
        <p:nvSpPr>
          <p:cNvPr id="3" name="contact-intent">
            <a:extLst xmlns:a="http://schemas.openxmlformats.org/drawingml/2006/main">
              <a:ext uri="{FF2B5EF4-FFF2-40B4-BE49-F238E27FC236}">
                <a16:creationId xmlns:a16="http://schemas.microsoft.com/office/drawing/2014/main" id="{BADA69E7-9ECC-4537-8CAE-1415410F9FC7}"/>
              </a:ext>
            </a:extLst>
          </p:cNvPr>
          <p:cNvSpPr>
            <a:spLocks xmlns:a="http://schemas.openxmlformats.org/drawingml/2006/main" noGrp="1"/>
          </p:cNvSpPr>
          <p:nvPr/>
        </p:nvSpPr>
        <p:spPr>
          <a:xfrm xmlns:a="http://schemas.openxmlformats.org/drawingml/2006/main">
            <a:off x="647700" y="3943350"/>
            <a:ext cx="100203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2025" b="0">
                <a:solidFill>
                  <a:srgbClr val="F4F2E9"/>
                </a:solidFill>
                <a:latin typeface="Helvetica Neue"/>
                <a:ea typeface="Helvetica Neue"/>
                <a:cs typeface="Helvetica Neue"/>
              </a:defRPr>
            </a:pPr>
            <a:r>
              <a:rPr sz="2025" b="0">
                <a:solidFill>
                  <a:srgbClr val="F4F2E9"/>
                </a:solidFill>
                <a:latin typeface="Helvetica Neue"/>
                <a:ea typeface="Helvetica Neue"/>
                <a:cs typeface="Helvetica Neue"/>
              </a:rPr>
              <a:t>Mesa, Arizona. Full U.S. work authorization. Available to start as soon as possible and travel 10–20%.</a:t>
            </a:r>
          </a:p>
        </p:txBody>
      </p:sp>
      <p:sp>
        <p:nvSpPr>
          <p:cNvPr id="4" name="email">
            <a:extLst xmlns:a="http://schemas.openxmlformats.org/drawingml/2006/main">
              <a:ext uri="{FF2B5EF4-FFF2-40B4-BE49-F238E27FC236}">
                <a16:creationId xmlns:a16="http://schemas.microsoft.com/office/drawing/2014/main" id="{DA68D04C-141B-4C03-90B9-40C40E811F08}"/>
              </a:ext>
            </a:extLst>
          </p:cNvPr>
          <p:cNvSpPr>
            <a:spLocks xmlns:a="http://schemas.openxmlformats.org/drawingml/2006/main" noGrp="1"/>
          </p:cNvSpPr>
          <p:nvPr/>
        </p:nvSpPr>
        <p:spPr>
          <a:xfrm xmlns:a="http://schemas.openxmlformats.org/drawingml/2006/main">
            <a:off x="647700" y="5057775"/>
            <a:ext cx="101917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875" b="0" u="sng">
                <a:solidFill>
                  <a:srgbClr val="DBEB89"/>
                </a:solidFill>
                <a:latin typeface="Helvetica Neue"/>
                <a:ea typeface="Helvetica Neue"/>
                <a:cs typeface="Helvetica Neue"/>
              </a:defRPr>
            </a:pPr>
            <a:r>
              <a:rPr sz="1875" b="0" u="sng">
                <a:solidFill>
                  <a:srgbClr val="DBEB89"/>
                </a:solidFill>
                <a:latin typeface="Helvetica Neue"/>
                <a:ea typeface="Helvetica Neue"/>
                <a:cs typeface="Helvetica Neue"/>
                <a:hlinkClick xmlns:r="http://schemas.openxmlformats.org/officeDocument/2006/relationships" r:id="Re8096a4148594c67"/>
              </a:rPr>
              <a:t>JonathanKyleHobson@gmail.com</a:t>
            </a:r>
          </a:p>
        </p:txBody>
      </p:sp>
      <p:sp>
        <p:nvSpPr>
          <p:cNvPr id="5" name="portfolio">
            <a:extLst xmlns:a="http://schemas.openxmlformats.org/drawingml/2006/main">
              <a:ext uri="{FF2B5EF4-FFF2-40B4-BE49-F238E27FC236}">
                <a16:creationId xmlns:a16="http://schemas.microsoft.com/office/drawing/2014/main" id="{72ED9B1A-3A48-4937-90E7-0FB6283C4AF8}"/>
              </a:ext>
            </a:extLst>
          </p:cNvPr>
          <p:cNvSpPr>
            <a:spLocks xmlns:a="http://schemas.openxmlformats.org/drawingml/2006/main" noGrp="1"/>
          </p:cNvSpPr>
          <p:nvPr/>
        </p:nvSpPr>
        <p:spPr>
          <a:xfrm xmlns:a="http://schemas.openxmlformats.org/drawingml/2006/main">
            <a:off x="647700" y="570547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650" b="0" u="sng">
                <a:solidFill>
                  <a:srgbClr val="DBEB89"/>
                </a:solidFill>
                <a:latin typeface="Helvetica Neue"/>
                <a:ea typeface="Helvetica Neue"/>
                <a:cs typeface="Helvetica Neue"/>
              </a:defRPr>
            </a:pPr>
            <a:r>
              <a:rPr sz="1650" b="0" u="sng">
                <a:solidFill>
                  <a:srgbClr val="DBEB89"/>
                </a:solidFill>
                <a:latin typeface="Helvetica Neue"/>
                <a:ea typeface="Helvetica Neue"/>
                <a:cs typeface="Helvetica Neue"/>
                <a:hlinkClick xmlns:r="http://schemas.openxmlformats.org/officeDocument/2006/relationships" r:id="R693047e99f35487e"/>
              </a:rPr>
              <a:t>jonathankhobson.github.io/application-portfolios/affirmedrx-business-analyst</a:t>
            </a:r>
          </a:p>
        </p:txBody>
      </p:sp>
      <p:sp>
        <p:nvSpPr>
          <p:cNvPr id="6" name="slide-number">
            <a:extLst xmlns:a="http://schemas.openxmlformats.org/drawingml/2006/main">
              <a:ext uri="{FF2B5EF4-FFF2-40B4-BE49-F238E27FC236}">
                <a16:creationId xmlns:a16="http://schemas.microsoft.com/office/drawing/2014/main" id="{4EAEAAD7-B171-4AA9-B86E-CE1441CDE3F6}"/>
              </a:ext>
            </a:extLst>
          </p:cNvPr>
          <p:cNvSpPr>
            <a:spLocks xmlns:a="http://schemas.openxmlformats.org/drawingml/2006/main" noGrp="1"/>
          </p:cNvSpPr>
          <p:nvPr/>
        </p:nvSpPr>
        <p:spPr>
          <a:xfrm xmlns:a="http://schemas.openxmlformats.org/drawingml/2006/main">
            <a:off x="11353800" y="6562725"/>
            <a:ext cx="323850" cy="190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nSpc>
                <a:spcPct val="110000"/>
              </a:lnSpc>
              <a:buNone/>
              <a:defRPr sz="1050" b="0">
                <a:solidFill>
                  <a:srgbClr val="DBEB89"/>
                </a:solidFill>
                <a:latin typeface="Helvetica Neue"/>
                <a:ea typeface="Helvetica Neue"/>
                <a:cs typeface="Helvetica Neue"/>
              </a:defRPr>
            </a:pPr>
            <a:r>
              <a:rPr sz="1050" b="0">
                <a:solidFill>
                  <a:srgbClr val="DBEB89"/>
                </a:solidFill>
                <a:latin typeface="Helvetica Neue"/>
                <a:ea typeface="Helvetica Neue"/>
                <a:cs typeface="Helvetica Neue"/>
              </a:rPr>
              <a:t>11</a:t>
            </a:r>
          </a:p>
        </p:txBody>
      </p:sp>
    </p:spTree>
    <p:extLst>
      <p:ext uri="{BB962C8B-B14F-4D97-AF65-F5344CB8AC3E}">
        <p14:creationId xmlns:p14="http://schemas.microsoft.com/office/powerpoint/2010/main" val="856123564"/>
      </p:ext>
    </p:extLst>
  </p:cSld>
</p:sld>
</file>

<file path=ppt/theme/theme1.xml><?xml version="1.0" encoding="utf-8"?>
<a:theme xmlns:a="http://schemas.openxmlformats.org/drawingml/2006/main" name="ChatGPT">
  <a:themeElements>
    <a:clrScheme name="Kyle Portfolio">
      <a:dk1>
        <a:srgbClr val="192B25"/>
      </a:dk1>
      <a:lt1>
        <a:srgbClr val="FFFFFF"/>
      </a:lt1>
      <a:dk2>
        <a:srgbClr val="244D3C"/>
      </a:dk2>
      <a:lt2>
        <a:srgbClr val="F4F2E9"/>
      </a:lt2>
      <a:accent1>
        <a:srgbClr val="244D3C"/>
      </a:accent1>
      <a:accent2>
        <a:srgbClr val="DBEB89"/>
      </a:accent2>
      <a:accent3>
        <a:srgbClr val="E1E8DB"/>
      </a:accent3>
      <a:accent4>
        <a:srgbClr val="58645D"/>
      </a:accent4>
      <a:accent5>
        <a:srgbClr val="192B25"/>
      </a:accent5>
      <a:accent6>
        <a:srgbClr val="F4F2E9"/>
      </a:accent6>
      <a:hlink>
        <a:srgbClr val="DBEB89"/>
      </a:hlink>
      <a:folHlink>
        <a:srgbClr val="DBEB89"/>
      </a:folHlink>
    </a:clrScheme>
    <a:fontScheme name="Office">
      <a:majorFont>
        <a:latin typeface="Calibri Light"/>
        <a:ea typeface="Calibri Light"/>
        <a:cs typeface="Calibri Light"/>
      </a:majorFont>
      <a:minorFont>
        <a:latin typeface="Calibri"/>
        <a:ea typeface="Calibri"/>
        <a:cs typeface="Calibri"/>
      </a:minorFont>
    </a:fontScheme>
    <a:fmtScheme name="Kyle Portfolio">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2026-09-09T00:40:03.8990000Z</dcterms:created>
  <dcterms:modified xsi:type="dcterms:W3CDTF">2026-09-09T00:40:03.8990000Z</dcterms:modified>
</coreProperties>
</file>