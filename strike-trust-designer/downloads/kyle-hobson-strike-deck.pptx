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eeab7519324388" /><Relationship Type="http://schemas.openxmlformats.org/officeDocument/2006/relationships/extended-properties" Target="/docProps/app.xml" Id="R631459d174224d66" /><Relationship Type="http://schemas.openxmlformats.org/officeDocument/2006/relationships/officeDocument" Target="/ppt/presentation.xml" Id="Rccbf5184dddf4f24" /></Relationships>
</file>

<file path=ppt/presentation.xml><?xml version="1.0" encoding="utf-8"?>
<p:presentation xmlns:p="http://schemas.openxmlformats.org/presentationml/2006/main">
  <p:sldMasterIdLst>
    <p:sldMasterId xmlns:r="http://schemas.openxmlformats.org/officeDocument/2006/relationships" id="2147483648" r:id="R6fb0a24ef4fc4c3f"/>
  </p:sldMasterIdLst>
  <p:notesMasterIdLst>
    <p:notesMasterId xmlns:r="http://schemas.openxmlformats.org/officeDocument/2006/relationships" r:id="Rd570a7f8a4c64c2f"/>
  </p:notesMasterIdLst>
  <p:sldIdLst>
    <p:sldId xmlns:r="http://schemas.openxmlformats.org/officeDocument/2006/relationships" id="256" r:id="Rde72c6c2fa99482b"/>
    <p:sldId xmlns:r="http://schemas.openxmlformats.org/officeDocument/2006/relationships" id="257" r:id="Rfc3ad3e9575e48dc"/>
    <p:sldId xmlns:r="http://schemas.openxmlformats.org/officeDocument/2006/relationships" id="258" r:id="Rde880a373c1e4740"/>
    <p:sldId xmlns:r="http://schemas.openxmlformats.org/officeDocument/2006/relationships" id="259" r:id="Ra6a22f33debd497b"/>
    <p:sldId xmlns:r="http://schemas.openxmlformats.org/officeDocument/2006/relationships" id="260" r:id="R14c64dce440b4680"/>
    <p:sldId xmlns:r="http://schemas.openxmlformats.org/officeDocument/2006/relationships" id="261" r:id="R001c953f45814a23"/>
    <p:sldId xmlns:r="http://schemas.openxmlformats.org/officeDocument/2006/relationships" id="262" r:id="R62f596e3569f4de5"/>
    <p:sldId xmlns:r="http://schemas.openxmlformats.org/officeDocument/2006/relationships" id="263" r:id="R00e202e535ef41bd"/>
    <p:sldId xmlns:r="http://schemas.openxmlformats.org/officeDocument/2006/relationships" id="264" r:id="R060f78a7b86f4e38"/>
    <p:sldId xmlns:r="http://schemas.openxmlformats.org/officeDocument/2006/relationships" id="265" r:id="R715ff6242e354a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cf9e6d4b5c43c4" /><Relationship Type="http://schemas.openxmlformats.org/officeDocument/2006/relationships/slideMaster" Target="/ppt/slideMasters/slideMaster1.xml" Id="R6fb0a24ef4fc4c3f" /><Relationship Type="http://schemas.openxmlformats.org/officeDocument/2006/relationships/notesMaster" Target="/ppt/notesMasters/notesMaster1.xml" Id="Rd570a7f8a4c64c2f" /><Relationship Type="http://schemas.openxmlformats.org/officeDocument/2006/relationships/presProps" Target="/ppt/presProps.xml" Id="Rf47c52b94eee44d2" /><Relationship Type="http://schemas.openxmlformats.org/officeDocument/2006/relationships/tableStyles" Target="/ppt/tableStyles.xml" Id="R69d4ea0791144d94" /><Relationship Type="http://schemas.openxmlformats.org/officeDocument/2006/relationships/slide" Target="/ppt/slides/slide1.xml" Id="Rde72c6c2fa99482b" /><Relationship Type="http://schemas.openxmlformats.org/officeDocument/2006/relationships/slide" Target="/ppt/slides/slide2.xml" Id="Rfc3ad3e9575e48dc" /><Relationship Type="http://schemas.openxmlformats.org/officeDocument/2006/relationships/slide" Target="/ppt/slides/slide3.xml" Id="Rde880a373c1e4740" /><Relationship Type="http://schemas.openxmlformats.org/officeDocument/2006/relationships/slide" Target="/ppt/slides/slide4.xml" Id="Ra6a22f33debd497b" /><Relationship Type="http://schemas.openxmlformats.org/officeDocument/2006/relationships/slide" Target="/ppt/slides/slide5.xml" Id="R14c64dce440b4680" /><Relationship Type="http://schemas.openxmlformats.org/officeDocument/2006/relationships/slide" Target="/ppt/slides/slide6.xml" Id="R001c953f45814a23" /><Relationship Type="http://schemas.openxmlformats.org/officeDocument/2006/relationships/slide" Target="/ppt/slides/slide7.xml" Id="R62f596e3569f4de5" /><Relationship Type="http://schemas.openxmlformats.org/officeDocument/2006/relationships/slide" Target="/ppt/slides/slide8.xml" Id="R00e202e535ef41bd" /><Relationship Type="http://schemas.openxmlformats.org/officeDocument/2006/relationships/slide" Target="/ppt/slides/slide9.xml" Id="R060f78a7b86f4e38" /><Relationship Type="http://schemas.openxmlformats.org/officeDocument/2006/relationships/slide" Target="/ppt/slides/slide10.xml" Id="R715ff6242e354a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f5c2382f6a4b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196db856a044a0" /><Relationship Type="http://schemas.openxmlformats.org/officeDocument/2006/relationships/notesMaster" Target="/ppt/notesMasters/notesMaster1.xml" Id="R4d158f7a9d404a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8f00e513414817" /><Relationship Type="http://schemas.openxmlformats.org/officeDocument/2006/relationships/notesMaster" Target="/ppt/notesMasters/notesMaster1.xml" Id="R4b6be200391c42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c521824105497d" /><Relationship Type="http://schemas.openxmlformats.org/officeDocument/2006/relationships/notesMaster" Target="/ppt/notesMasters/notesMaster1.xml" Id="Ree1c9ee2182c40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1b31bacad54b5f" /><Relationship Type="http://schemas.openxmlformats.org/officeDocument/2006/relationships/notesMaster" Target="/ppt/notesMasters/notesMaster1.xml" Id="Rc44fbd3e109949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2ec2765572435c" /><Relationship Type="http://schemas.openxmlformats.org/officeDocument/2006/relationships/notesMaster" Target="/ppt/notesMasters/notesMaster1.xml" Id="Rcca97575e9c846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abe65aa42848db" /><Relationship Type="http://schemas.openxmlformats.org/officeDocument/2006/relationships/notesMaster" Target="/ppt/notesMasters/notesMaster1.xml" Id="Rcd6b823663af49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9cfc2647914c3b" /><Relationship Type="http://schemas.openxmlformats.org/officeDocument/2006/relationships/notesMaster" Target="/ppt/notesMasters/notesMaster1.xml" Id="R548de97766204a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9eeeb1e5fe44fe" /><Relationship Type="http://schemas.openxmlformats.org/officeDocument/2006/relationships/notesMaster" Target="/ppt/notesMasters/notesMaster1.xml" Id="R9469f35dfe504b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e11034fee5405a" /><Relationship Type="http://schemas.openxmlformats.org/officeDocument/2006/relationships/notesMaster" Target="/ppt/notesMasters/notesMaster1.xml" Id="Rf8ed55d6e9e941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c51a34b7bc49a6" /><Relationship Type="http://schemas.openxmlformats.org/officeDocument/2006/relationships/notesMaster" Target="/ppt/notesMasters/notesMaster1.xml" Id="R10cbb54db50b40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Trust Designer (Strike), https://job-boards.greenhouse.io/strike/jobs/6166903004 . Strike is a prospective employer; the displayed projects are prior FactorLab and Oak work. Decorative cover uses existing canonical artwork and is not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suggested-question state and project walkthroughs in canonical design.json. Selecting a suggestion was intended to populate the input for review or editing. Design variant and engineering handoff; release of each variant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Flint original loading state and canonical design case waiting decision. This is a design exploration and discussion of constraints, not a measured wait-time reduction or evidence of a shipped animation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About Me original Figma design and April–May 2026 walkthroughs, canonical design.json. Kyle developed page directions, content families and visual alternatives. Product lead and engineering clarified data availability, existing capabilities and routes into detail. Team release of web/server changes is confirmed September 2, 2026; the exact pictured layout is unverified. The crop preserves original source pixels.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widget-system direction and canonical detail for the summary decision. Source values and content are design examples, not measured user results. The screenshot shows View why and an action route. Exact released layout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UI Kit V2 export tied to User Story 444 and canonical design.json. Focused color specification; no complete design-system coverage or accessibility-compliance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discussion approach for Strike Trust Designer, https://job-boards.greenhouse.io/strike/jobs/6166903004 . Historical employer context: https://strike.me/blog/announcing-better-limits/ dated March 27, 2024 describes pending and available balances. The proposal is not prior Strike work, a finding about its current interface or a compliance solution. Security and disclosure rules require the team’s domain expertise.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product-design work for Strike Trust Designer. Kyle’s reviewed history combines research, interface design and engineering handoff. Fintech, KYC/fraud delivery, native production ownership and complete design-system ownership are not established. Mesa, Arizona; full U.S. work authorization and availability as soon as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67b3ae4e524f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400181189f46a0" /><Relationship Type="http://schemas.openxmlformats.org/officeDocument/2006/relationships/slideLayout" Target="/ppt/slideLayouts/slideLayout1.xml" Id="R704fcf25b28844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4fcf25b28844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5cbe5009c54b27" /><Relationship Type="http://schemas.openxmlformats.org/officeDocument/2006/relationships/image" Target="/ppt/media/image.png" Id="R9876c7a93574464f" /><Relationship Type="http://schemas.openxmlformats.org/officeDocument/2006/relationships/notesSlide" Target="/ppt/notesSlides/notesSlide1.xml" Id="R67abd711523f4c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51097a650747a7" /><Relationship Type="http://schemas.openxmlformats.org/officeDocument/2006/relationships/image" Target="/ppt/media/image2.png" Id="Rf32f1e527b0e4f02" /><Relationship Type="http://schemas.openxmlformats.org/officeDocument/2006/relationships/notesSlide" Target="/ppt/notesSlides/notesSlide2.xml" Id="R0f95754a4c7a4f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919f97978c43c7" /><Relationship Type="http://schemas.openxmlformats.org/officeDocument/2006/relationships/image" Target="/ppt/media/image3.png" Id="Rf979237596654604" /><Relationship Type="http://schemas.openxmlformats.org/officeDocument/2006/relationships/notesSlide" Target="/ppt/notesSlides/notesSlide3.xml" Id="Rb64c354c8f8f4f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6c6d68be504b42" /><Relationship Type="http://schemas.openxmlformats.org/officeDocument/2006/relationships/image" Target="/ppt/media/image4.png" Id="R459d927919254d5e" /><Relationship Type="http://schemas.openxmlformats.org/officeDocument/2006/relationships/image" Target="/ppt/media/image5.png" Id="Rc520e5e80bc74ada" /><Relationship Type="http://schemas.openxmlformats.org/officeDocument/2006/relationships/notesSlide" Target="/ppt/notesSlides/notesSlide4.xml" Id="Rbbb15e23736045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e620d60fcb4053" /><Relationship Type="http://schemas.openxmlformats.org/officeDocument/2006/relationships/image" Target="/ppt/media/image6.png" Id="R57346a7981fd4dbe" /><Relationship Type="http://schemas.openxmlformats.org/officeDocument/2006/relationships/notesSlide" Target="/ppt/notesSlides/notesSlide5.xml" Id="R810c7e155c4146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7a5f459c9e4de9" /><Relationship Type="http://schemas.openxmlformats.org/officeDocument/2006/relationships/image" Target="/ppt/media/image7.png" Id="Rdefab2bf051049e5" /><Relationship Type="http://schemas.openxmlformats.org/officeDocument/2006/relationships/notesSlide" Target="/ppt/notesSlides/notesSlide6.xml" Id="Readfabc9d73b42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fa8f7633f94037" /><Relationship Type="http://schemas.openxmlformats.org/officeDocument/2006/relationships/image" Target="/ppt/media/image8.png" Id="Rb7c092694c3041a3" /><Relationship Type="http://schemas.openxmlformats.org/officeDocument/2006/relationships/image" Target="/ppt/media/image9.png" Id="R7fd251a023a54d14" /><Relationship Type="http://schemas.openxmlformats.org/officeDocument/2006/relationships/image" Target="/ppt/media/image10.png" Id="R7acd99678376440b" /><Relationship Type="http://schemas.openxmlformats.org/officeDocument/2006/relationships/notesSlide" Target="/ppt/notesSlides/notesSlide7.xml" Id="Rbe4cd6ffe0b748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e5f0db3a1154251" /><Relationship Type="http://schemas.openxmlformats.org/officeDocument/2006/relationships/image" Target="/ppt/media/image11.png" Id="R0b23f7a821724a1d" /><Relationship Type="http://schemas.openxmlformats.org/officeDocument/2006/relationships/notesSlide" Target="/ppt/notesSlides/notesSlide8.xml" Id="R9653d811472745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7b98c47ffa4545" /><Relationship Type="http://schemas.openxmlformats.org/officeDocument/2006/relationships/notesSlide" Target="/ppt/notesSlides/notesSlide9.xml" Id="Rb75b6914b7c540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f07f32287c745d0" /><Relationship Type="http://schemas.openxmlformats.org/officeDocument/2006/relationships/hyperlink" Target="mailto:JonathanKyleHobson@gmail.com" TargetMode="External" Id="R17383b79ea2946a0" /><Relationship Type="http://schemas.openxmlformats.org/officeDocument/2006/relationships/hyperlink" Target="https://jonathankhobson.github.io/application-portfolios/strike-trust-designer/" TargetMode="External" Id="R039f1207e57b41a7" /><Relationship Type="http://schemas.openxmlformats.org/officeDocument/2006/relationships/notesSlide" Target="/ppt/notesSlides/notesSlide10.xml" Id="R7472b11c55a24ded"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876c7a93574464f"/>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9A8422FB-3233-446A-8181-E9E9EC458DA5}"/>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STRIKE TRUST DESIGNER</a:t>
            </a:r>
          </a:p>
        </p:txBody>
      </p:sp>
      <p:sp>
        <p:nvSpPr>
          <p:cNvPr id="3" name="headline">
            <a:extLst xmlns:a="http://schemas.openxmlformats.org/drawingml/2006/main">
              <a:ext uri="{FF2B5EF4-FFF2-40B4-BE49-F238E27FC236}">
                <a16:creationId xmlns:a16="http://schemas.microsoft.com/office/drawing/2014/main" id="{7EB16709-6FD0-43F4-8256-7CDBD15E6F69}"/>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Product feedback</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and recovery flows</a:t>
            </a:r>
          </a:p>
        </p:txBody>
      </p:sp>
      <p:sp>
        <p:nvSpPr>
          <p:cNvPr id="4" name="cover-intro">
            <a:extLst xmlns:a="http://schemas.openxmlformats.org/drawingml/2006/main">
              <a:ext uri="{FF2B5EF4-FFF2-40B4-BE49-F238E27FC236}">
                <a16:creationId xmlns:a16="http://schemas.microsoft.com/office/drawing/2014/main" id="{D2B271B9-254E-4687-B23A-7639B7681406}"/>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Interface states at FactorLab</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recommendations for Oak AI.</a:t>
            </a:r>
          </a:p>
        </p:txBody>
      </p:sp>
      <p:sp>
        <p:nvSpPr>
          <p:cNvPr id="5" name="cover-role">
            <a:extLst xmlns:a="http://schemas.openxmlformats.org/drawingml/2006/main">
              <a:ext uri="{FF2B5EF4-FFF2-40B4-BE49-F238E27FC236}">
                <a16:creationId xmlns:a16="http://schemas.microsoft.com/office/drawing/2014/main" id="{6A757D67-A371-43F2-BA09-000680B52C12}"/>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Trust Designer application · September 2026</a:t>
            </a:r>
          </a:p>
        </p:txBody>
      </p:sp>
      <p:sp>
        <p:nvSpPr>
          <p:cNvPr id="6" name="slide-number">
            <a:extLst xmlns:a="http://schemas.openxmlformats.org/drawingml/2006/main">
              <a:ext uri="{FF2B5EF4-FFF2-40B4-BE49-F238E27FC236}">
                <a16:creationId xmlns:a16="http://schemas.microsoft.com/office/drawing/2014/main" id="{8F540C65-1DE3-4087-97CE-9C90B5523E5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070350173"/>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45E3C45-6185-4CFB-9D71-2571B4D58C0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FLINT   /   INTERACTION DESIGN, 2026</a:t>
            </a:r>
          </a:p>
        </p:txBody>
      </p:sp>
      <p:sp>
        <p:nvSpPr>
          <p:cNvPr id="2" name="headline">
            <a:extLst xmlns:a="http://schemas.openxmlformats.org/drawingml/2006/main">
              <a:ext uri="{FF2B5EF4-FFF2-40B4-BE49-F238E27FC236}">
                <a16:creationId xmlns:a16="http://schemas.microsoft.com/office/drawing/2014/main" id="{970F1629-5878-4F98-B861-A934D7F7C4AB}"/>
              </a:ext>
            </a:extLst>
          </p:cNvPr>
          <p:cNvSpPr>
            <a:spLocks xmlns:a="http://schemas.openxmlformats.org/drawingml/2006/main" noGrp="1"/>
          </p:cNvSpPr>
          <p:nvPr/>
        </p:nvSpPr>
        <p:spPr>
          <a:xfrm xmlns:a="http://schemas.openxmlformats.org/drawingml/2006/main">
            <a:off x="609600" y="1104900"/>
            <a:ext cx="67246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Editable starting questions</a:t>
            </a:r>
          </a:p>
        </p:txBody>
      </p:sp>
      <p:sp>
        <p:nvSpPr>
          <p:cNvPr id="3" name="entry-decision">
            <a:extLst xmlns:a="http://schemas.openxmlformats.org/drawingml/2006/main">
              <a:ext uri="{FF2B5EF4-FFF2-40B4-BE49-F238E27FC236}">
                <a16:creationId xmlns:a16="http://schemas.microsoft.com/office/drawing/2014/main" id="{601CBEC3-88D2-4877-9132-161ED0434D81}"/>
              </a:ext>
            </a:extLst>
          </p:cNvPr>
          <p:cNvSpPr>
            <a:spLocks xmlns:a="http://schemas.openxmlformats.org/drawingml/2006/main" noGrp="1"/>
          </p:cNvSpPr>
          <p:nvPr/>
        </p:nvSpPr>
        <p:spPr>
          <a:xfrm xmlns:a="http://schemas.openxmlformats.org/drawingml/2006/main">
            <a:off x="609600" y="3152775"/>
            <a:ext cx="5905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Suggested questions offered a starting point while leaving the person free to edit or ask something else.</a:t>
            </a:r>
          </a:p>
        </p:txBody>
      </p:sp>
      <p:sp>
        <p:nvSpPr>
          <p:cNvPr id="4" name="entry-scope">
            <a:extLst xmlns:a="http://schemas.openxmlformats.org/drawingml/2006/main">
              <a:ext uri="{FF2B5EF4-FFF2-40B4-BE49-F238E27FC236}">
                <a16:creationId xmlns:a16="http://schemas.microsoft.com/office/drawing/2014/main" id="{C1B1CDD0-8A5D-4A65-8DC3-BCF23670948D}"/>
              </a:ext>
            </a:extLst>
          </p:cNvPr>
          <p:cNvSpPr>
            <a:spLocks xmlns:a="http://schemas.openxmlformats.org/drawingml/2006/main" noGrp="1"/>
          </p:cNvSpPr>
          <p:nvPr/>
        </p:nvSpPr>
        <p:spPr>
          <a:xfrm xmlns:a="http://schemas.openxmlformats.org/drawingml/2006/main">
            <a:off x="609600" y="4991100"/>
            <a:ext cx="5905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worked within the existing product, keeping the answer layout and agreed phase scope in view.</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32f1e527b0e4f02"/>
          <a:stretch xmlns:a="http://schemas.openxmlformats.org/drawingml/2006/main"/>
        </p:blipFill>
        <p:spPr>
          <a:xfrm xmlns:a="http://schemas.openxmlformats.org/drawingml/2006/main">
            <a:off x="8143875" y="857695"/>
            <a:ext cx="2667000" cy="571411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08348820-85A3-44F2-ACEF-9B7DE6535CA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681561871"/>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A21DEBC1-596E-4A9F-B1D4-3DA7F863476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FLINT   /   RESPONSE IN PROGRESS</a:t>
            </a:r>
          </a:p>
        </p:txBody>
      </p:sp>
      <p:sp>
        <p:nvSpPr>
          <p:cNvPr id="2" name="headline">
            <a:extLst xmlns:a="http://schemas.openxmlformats.org/drawingml/2006/main">
              <a:ext uri="{FF2B5EF4-FFF2-40B4-BE49-F238E27FC236}">
                <a16:creationId xmlns:a16="http://schemas.microsoft.com/office/drawing/2014/main" id="{8C34B2FF-FC8F-4A99-96D2-F8EDD2A68E38}"/>
              </a:ext>
            </a:extLst>
          </p:cNvPr>
          <p:cNvSpPr>
            <a:spLocks xmlns:a="http://schemas.openxmlformats.org/drawingml/2006/main" noGrp="1"/>
          </p:cNvSpPr>
          <p:nvPr/>
        </p:nvSpPr>
        <p:spPr>
          <a:xfrm xmlns:a="http://schemas.openxmlformats.org/drawingml/2006/main">
            <a:off x="609600" y="1104900"/>
            <a:ext cx="67246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request in progress</a:t>
            </a:r>
          </a:p>
        </p:txBody>
      </p:sp>
      <p:sp>
        <p:nvSpPr>
          <p:cNvPr id="3" name="waiting-need">
            <a:extLst xmlns:a="http://schemas.openxmlformats.org/drawingml/2006/main">
              <a:ext uri="{FF2B5EF4-FFF2-40B4-BE49-F238E27FC236}">
                <a16:creationId xmlns:a16="http://schemas.microsoft.com/office/drawing/2014/main" id="{753206A8-768C-4EA2-BE74-AC5D42AB0B27}"/>
              </a:ext>
            </a:extLst>
          </p:cNvPr>
          <p:cNvSpPr>
            <a:spLocks xmlns:a="http://schemas.openxmlformats.org/drawingml/2006/main" noGrp="1"/>
          </p:cNvSpPr>
          <p:nvPr/>
        </p:nvSpPr>
        <p:spPr>
          <a:xfrm xmlns:a="http://schemas.openxmlformats.org/drawingml/2006/main">
            <a:off x="609600" y="3152775"/>
            <a:ext cx="58864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conversation needed to show that a request was still in progress, without making a new result appear before it existed.</a:t>
            </a:r>
          </a:p>
        </p:txBody>
      </p:sp>
      <p:sp>
        <p:nvSpPr>
          <p:cNvPr id="4" name="waiting-scope">
            <a:extLst xmlns:a="http://schemas.openxmlformats.org/drawingml/2006/main">
              <a:ext uri="{FF2B5EF4-FFF2-40B4-BE49-F238E27FC236}">
                <a16:creationId xmlns:a16="http://schemas.microsoft.com/office/drawing/2014/main" id="{8A58BDFE-6A0D-4A08-BBC4-D66E0C12F9A4}"/>
              </a:ext>
            </a:extLst>
          </p:cNvPr>
          <p:cNvSpPr>
            <a:spLocks xmlns:a="http://schemas.openxmlformats.org/drawingml/2006/main" noGrp="1"/>
          </p:cNvSpPr>
          <p:nvPr/>
        </p:nvSpPr>
        <p:spPr>
          <a:xfrm xmlns:a="http://schemas.openxmlformats.org/drawingml/2006/main">
            <a:off x="609600" y="5086350"/>
            <a:ext cx="58864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explored waiting feedback within the existing conversation and worked through animation constraints with the product lead.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979237596654604"/>
          <a:stretch xmlns:a="http://schemas.openxmlformats.org/drawingml/2006/main"/>
        </p:blipFill>
        <p:spPr>
          <a:xfrm xmlns:a="http://schemas.openxmlformats.org/drawingml/2006/main">
            <a:off x="8143875" y="857695"/>
            <a:ext cx="2667000" cy="571411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444F9FA0-534B-4754-9AE6-F1B6E9BE0BF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890720341"/>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F63BDBAA-7A54-4758-A9A0-B39EAE338FA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336DD818-E783-4607-BC53-CF8A2552E45E}"/>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Different failures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need different actions</a:t>
            </a:r>
          </a:p>
        </p:txBody>
      </p:sp>
      <p:sp>
        <p:nvSpPr>
          <p:cNvPr id="3" name="recovery-decision">
            <a:extLst xmlns:a="http://schemas.openxmlformats.org/drawingml/2006/main">
              <a:ext uri="{FF2B5EF4-FFF2-40B4-BE49-F238E27FC236}">
                <a16:creationId xmlns:a16="http://schemas.microsoft.com/office/drawing/2014/main" id="{A8E5A1CF-66DF-4C4C-ACAB-4905A81182AC}"/>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11383BCD-5395-4050-9030-29927A33AE0D}"/>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4039735E-39AF-4611-9C7D-AE28D001560E}"/>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DF5CA1F2-641A-47CE-9B36-8298A07A57A6}"/>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59d927919254d5e"/>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520e5e80bc74ada"/>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FC8BFA94-2B0F-4CAD-9652-F048F412C4F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390444428"/>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6C8BAECB-BDAB-4B99-8E01-DA282F63B5D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ABOUT ME   /   INFORMATION ARCHITECTURE, 2026</a:t>
            </a:r>
          </a:p>
        </p:txBody>
      </p:sp>
      <p:sp>
        <p:nvSpPr>
          <p:cNvPr id="2" name="headline">
            <a:extLst xmlns:a="http://schemas.openxmlformats.org/drawingml/2006/main">
              <a:ext uri="{FF2B5EF4-FFF2-40B4-BE49-F238E27FC236}">
                <a16:creationId xmlns:a16="http://schemas.microsoft.com/office/drawing/2014/main" id="{D6519C97-BCC3-47CE-988D-608034644407}"/>
              </a:ext>
            </a:extLst>
          </p:cNvPr>
          <p:cNvSpPr>
            <a:spLocks xmlns:a="http://schemas.openxmlformats.org/drawingml/2006/main" noGrp="1"/>
          </p:cNvSpPr>
          <p:nvPr/>
        </p:nvSpPr>
        <p:spPr>
          <a:xfrm xmlns:a="http://schemas.openxmlformats.org/drawingml/2006/main">
            <a:off x="609600" y="1104900"/>
            <a:ext cx="6191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Feedback organized</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by purpose</a:t>
            </a:r>
          </a:p>
        </p:txBody>
      </p:sp>
      <p:sp>
        <p:nvSpPr>
          <p:cNvPr id="3" name="families">
            <a:extLst xmlns:a="http://schemas.openxmlformats.org/drawingml/2006/main">
              <a:ext uri="{FF2B5EF4-FFF2-40B4-BE49-F238E27FC236}">
                <a16:creationId xmlns:a16="http://schemas.microsoft.com/office/drawing/2014/main" id="{FE74CC19-5916-4CC2-BEDA-9499E3863B14}"/>
              </a:ext>
            </a:extLst>
          </p:cNvPr>
          <p:cNvSpPr>
            <a:spLocks xmlns:a="http://schemas.openxmlformats.org/drawingml/2006/main" noGrp="1"/>
          </p:cNvSpPr>
          <p:nvPr/>
        </p:nvSpPr>
        <p:spPr>
          <a:xfrm xmlns:a="http://schemas.openxmlformats.org/drawingml/2006/main">
            <a:off x="609600" y="3152775"/>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192B25"/>
                </a:solidFill>
                <a:latin typeface="Helvetica Neue"/>
                <a:ea typeface="Helvetica Neue"/>
                <a:cs typeface="Helvetica Neue"/>
              </a:defRPr>
            </a:pPr>
            <a:r>
              <a:rPr sz="2100" b="1">
                <a:solidFill>
                  <a:srgbClr val="192B25"/>
                </a:solidFill>
                <a:latin typeface="Helvetica Neue"/>
                <a:ea typeface="Helvetica Neue"/>
                <a:cs typeface="Helvetica Neue"/>
              </a:rPr>
              <a:t>Summaries. Recommendations. Simple 7. Comparisons. Accomplishments.</a:t>
            </a:r>
          </a:p>
        </p:txBody>
      </p:sp>
      <p:sp>
        <p:nvSpPr>
          <p:cNvPr id="4" name="families-rationale">
            <a:extLst xmlns:a="http://schemas.openxmlformats.org/drawingml/2006/main">
              <a:ext uri="{FF2B5EF4-FFF2-40B4-BE49-F238E27FC236}">
                <a16:creationId xmlns:a16="http://schemas.microsoft.com/office/drawing/2014/main" id="{A8D2449E-53F9-4DF7-93D4-27FAD00DE268}"/>
              </a:ext>
            </a:extLst>
          </p:cNvPr>
          <p:cNvSpPr>
            <a:spLocks xmlns:a="http://schemas.openxmlformats.org/drawingml/2006/main" noGrp="1"/>
          </p:cNvSpPr>
          <p:nvPr/>
        </p:nvSpPr>
        <p:spPr>
          <a:xfrm xmlns:a="http://schemas.openxmlformats.org/drawingml/2006/main">
            <a:off x="609600" y="4610100"/>
            <a:ext cx="5381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I explored content density and reusable widget structures, then worked with engineers on what each action opened.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7346a7981fd4dbe"/>
          <a:stretch xmlns:a="http://schemas.openxmlformats.org/drawingml/2006/main"/>
        </p:blipFill>
        <p:spPr>
          <a:xfrm xmlns:a="http://schemas.openxmlformats.org/drawingml/2006/main">
            <a:off x="6896100" y="2241046"/>
            <a:ext cx="4648200" cy="2280659"/>
          </a:xfrm>
          <a:prstGeom xmlns:a="http://schemas.openxmlformats.org/drawingml/2006/main" prst="rect">
            <a:avLst/>
          </a:prstGeom>
        </p:spPr>
      </p:pic>
      <p:sp>
        <p:nvSpPr>
          <p:cNvPr id="6" name="families-caption">
            <a:extLst xmlns:a="http://schemas.openxmlformats.org/drawingml/2006/main">
              <a:ext uri="{FF2B5EF4-FFF2-40B4-BE49-F238E27FC236}">
                <a16:creationId xmlns:a16="http://schemas.microsoft.com/office/drawing/2014/main" id="{3D28D84B-7C05-44FE-BB47-22518DD5F4E8}"/>
              </a:ext>
            </a:extLst>
          </p:cNvPr>
          <p:cNvSpPr>
            <a:spLocks xmlns:a="http://schemas.openxmlformats.org/drawingml/2006/main" noGrp="1"/>
          </p:cNvSpPr>
          <p:nvPr/>
        </p:nvSpPr>
        <p:spPr>
          <a:xfrm xmlns:a="http://schemas.openxmlformats.org/drawingml/2006/main">
            <a:off x="6896100" y="4991100"/>
            <a:ext cx="4667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design detail · sample content</a:t>
            </a:r>
          </a:p>
        </p:txBody>
      </p:sp>
      <p:sp>
        <p:nvSpPr>
          <p:cNvPr id="7" name="slide-number">
            <a:extLst xmlns:a="http://schemas.openxmlformats.org/drawingml/2006/main">
              <a:ext uri="{FF2B5EF4-FFF2-40B4-BE49-F238E27FC236}">
                <a16:creationId xmlns:a16="http://schemas.microsoft.com/office/drawing/2014/main" id="{B41C1EC6-C30E-45A7-9F9B-C4E67B9B2A0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717028231"/>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479E8A8D-36FF-4656-8A51-E20FDA32A47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ABOUT ME   /   SUMMARY TO SUPPORTING DETAIL</a:t>
            </a:r>
          </a:p>
        </p:txBody>
      </p:sp>
      <p:sp>
        <p:nvSpPr>
          <p:cNvPr id="2" name="headline">
            <a:extLst xmlns:a="http://schemas.openxmlformats.org/drawingml/2006/main">
              <a:ext uri="{FF2B5EF4-FFF2-40B4-BE49-F238E27FC236}">
                <a16:creationId xmlns:a16="http://schemas.microsoft.com/office/drawing/2014/main" id="{819D9ED4-4A47-45DE-B041-F416554649F2}"/>
              </a:ext>
            </a:extLst>
          </p:cNvPr>
          <p:cNvSpPr>
            <a:spLocks xmlns:a="http://schemas.openxmlformats.org/drawingml/2006/main" noGrp="1"/>
          </p:cNvSpPr>
          <p:nvPr/>
        </p:nvSpPr>
        <p:spPr>
          <a:xfrm xmlns:a="http://schemas.openxmlformats.org/drawingml/2006/main">
            <a:off x="609600" y="1104900"/>
            <a:ext cx="5886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detail behind</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recommendation</a:t>
            </a:r>
          </a:p>
        </p:txBody>
      </p:sp>
      <p:sp>
        <p:nvSpPr>
          <p:cNvPr id="3" name="proof-need">
            <a:extLst xmlns:a="http://schemas.openxmlformats.org/drawingml/2006/main">
              <a:ext uri="{FF2B5EF4-FFF2-40B4-BE49-F238E27FC236}">
                <a16:creationId xmlns:a16="http://schemas.microsoft.com/office/drawing/2014/main" id="{9F956947-5AFA-4766-B65C-37549607159E}"/>
              </a:ext>
            </a:extLst>
          </p:cNvPr>
          <p:cNvSpPr>
            <a:spLocks xmlns:a="http://schemas.openxmlformats.org/drawingml/2006/main" noGrp="1"/>
          </p:cNvSpPr>
          <p:nvPr/>
        </p:nvSpPr>
        <p:spPr>
          <a:xfrm xmlns:a="http://schemas.openxmlformats.org/drawingml/2006/main">
            <a:off x="609600" y="3171825"/>
            <a:ext cx="52197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 short summary needs a route to the observations behind it and to a useful next action.</a:t>
            </a:r>
          </a:p>
        </p:txBody>
      </p:sp>
      <p:sp>
        <p:nvSpPr>
          <p:cNvPr id="4" name="proof-design">
            <a:extLst xmlns:a="http://schemas.openxmlformats.org/drawingml/2006/main">
              <a:ext uri="{FF2B5EF4-FFF2-40B4-BE49-F238E27FC236}">
                <a16:creationId xmlns:a16="http://schemas.microsoft.com/office/drawing/2014/main" id="{69442B39-0AEA-440B-BE26-F4C4DA508720}"/>
              </a:ext>
            </a:extLst>
          </p:cNvPr>
          <p:cNvSpPr>
            <a:spLocks xmlns:a="http://schemas.openxmlformats.org/drawingml/2006/main" noGrp="1"/>
          </p:cNvSpPr>
          <p:nvPr/>
        </p:nvSpPr>
        <p:spPr>
          <a:xfrm xmlns:a="http://schemas.openxmlformats.org/drawingml/2006/main">
            <a:off x="609600" y="5057775"/>
            <a:ext cx="5219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explored that connection before expanding the range of widgets and content on the page.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efab2bf051049e5"/>
          <a:stretch xmlns:a="http://schemas.openxmlformats.org/drawingml/2006/main"/>
        </p:blipFill>
        <p:spPr>
          <a:xfrm xmlns:a="http://schemas.openxmlformats.org/drawingml/2006/main">
            <a:off x="7007315" y="2228850"/>
            <a:ext cx="4120970" cy="4048125"/>
          </a:xfrm>
          <a:prstGeom xmlns:a="http://schemas.openxmlformats.org/drawingml/2006/main" prst="rect">
            <a:avLst/>
          </a:prstGeom>
        </p:spPr>
      </p:pic>
      <p:sp>
        <p:nvSpPr>
          <p:cNvPr id="6" name="proof-caption">
            <a:extLst xmlns:a="http://schemas.openxmlformats.org/drawingml/2006/main">
              <a:ext uri="{FF2B5EF4-FFF2-40B4-BE49-F238E27FC236}">
                <a16:creationId xmlns:a16="http://schemas.microsoft.com/office/drawing/2014/main" id="{C9C62B49-A207-40D9-88AA-66C0A01DFCEC}"/>
              </a:ext>
            </a:extLst>
          </p:cNvPr>
          <p:cNvSpPr>
            <a:spLocks xmlns:a="http://schemas.openxmlformats.org/drawingml/2006/main" noGrp="1"/>
          </p:cNvSpPr>
          <p:nvPr/>
        </p:nvSpPr>
        <p:spPr>
          <a:xfrm xmlns:a="http://schemas.openxmlformats.org/drawingml/2006/main">
            <a:off x="6705600" y="6391275"/>
            <a:ext cx="4724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direction exploration · sample content</a:t>
            </a:r>
          </a:p>
        </p:txBody>
      </p:sp>
      <p:sp>
        <p:nvSpPr>
          <p:cNvPr id="7" name="slide-number">
            <a:extLst xmlns:a="http://schemas.openxmlformats.org/drawingml/2006/main">
              <a:ext uri="{FF2B5EF4-FFF2-40B4-BE49-F238E27FC236}">
                <a16:creationId xmlns:a16="http://schemas.microsoft.com/office/drawing/2014/main" id="{C8B8B101-2A35-4AB0-B87F-DF2B8583BD4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1837543089"/>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B5D67EC4-DFC0-4D51-90DC-7A5439C678E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2" name="headline">
            <a:extLst xmlns:a="http://schemas.openxmlformats.org/drawingml/2006/main">
              <a:ext uri="{FF2B5EF4-FFF2-40B4-BE49-F238E27FC236}">
                <a16:creationId xmlns:a16="http://schemas.microsoft.com/office/drawing/2014/main" id="{8D08430A-3604-4E83-BFE7-92A309BBC3DE}"/>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3" name="oak-error-decision">
            <a:extLst xmlns:a="http://schemas.openxmlformats.org/drawingml/2006/main">
              <a:ext uri="{FF2B5EF4-FFF2-40B4-BE49-F238E27FC236}">
                <a16:creationId xmlns:a16="http://schemas.microsoft.com/office/drawing/2014/main" id="{DEF9248A-3A2F-4BAB-BC97-6CAA90807A0A}"/>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4" name="oak-error-outcome">
            <a:extLst xmlns:a="http://schemas.openxmlformats.org/drawingml/2006/main">
              <a:ext uri="{FF2B5EF4-FFF2-40B4-BE49-F238E27FC236}">
                <a16:creationId xmlns:a16="http://schemas.microsoft.com/office/drawing/2014/main" id="{3CD4A561-1273-4211-BDC2-501C6066DAF8}"/>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5" name="before-label">
            <a:extLst xmlns:a="http://schemas.openxmlformats.org/drawingml/2006/main">
              <a:ext uri="{FF2B5EF4-FFF2-40B4-BE49-F238E27FC236}">
                <a16:creationId xmlns:a16="http://schemas.microsoft.com/office/drawing/2014/main" id="{AAA7008C-3FFD-406A-B839-7961C28A7D1E}"/>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after-label">
            <a:extLst xmlns:a="http://schemas.openxmlformats.org/drawingml/2006/main">
              <a:ext uri="{FF2B5EF4-FFF2-40B4-BE49-F238E27FC236}">
                <a16:creationId xmlns:a16="http://schemas.microsoft.com/office/drawing/2014/main" id="{08694269-48E5-4177-A6D8-606EDE2BEAF7}"/>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7c092694c3041a3"/>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fd251a023a54d14"/>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4CF48728-2B56-4A04-B38C-7BFCF9DFDC3D}"/>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acd99678376440b"/>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1" name="field-label">
            <a:extLst xmlns:a="http://schemas.openxmlformats.org/drawingml/2006/main">
              <a:ext uri="{FF2B5EF4-FFF2-40B4-BE49-F238E27FC236}">
                <a16:creationId xmlns:a16="http://schemas.microsoft.com/office/drawing/2014/main" id="{EE022CA1-A8B1-4BC6-B735-F4787DD5FDFF}"/>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
        <p:nvSpPr>
          <p:cNvPr id="12" name="slide-number">
            <a:extLst xmlns:a="http://schemas.openxmlformats.org/drawingml/2006/main">
              <a:ext uri="{FF2B5EF4-FFF2-40B4-BE49-F238E27FC236}">
                <a16:creationId xmlns:a16="http://schemas.microsoft.com/office/drawing/2014/main" id="{36823E30-FE90-4DE7-9602-B8E8C66DA32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2118702826"/>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CFAC2FF2-CE26-480A-A798-7F31E970755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VISUAL GUIDANCE</a:t>
            </a:r>
          </a:p>
        </p:txBody>
      </p:sp>
      <p:sp>
        <p:nvSpPr>
          <p:cNvPr id="2" name="headline">
            <a:extLst xmlns:a="http://schemas.openxmlformats.org/drawingml/2006/main">
              <a:ext uri="{FF2B5EF4-FFF2-40B4-BE49-F238E27FC236}">
                <a16:creationId xmlns:a16="http://schemas.microsoft.com/office/drawing/2014/main" id="{983C28A9-5A11-4293-8DF0-10FB141A6FE8}"/>
              </a:ext>
            </a:extLst>
          </p:cNvPr>
          <p:cNvSpPr>
            <a:spLocks xmlns:a="http://schemas.openxmlformats.org/drawingml/2006/main" noGrp="1"/>
          </p:cNvSpPr>
          <p:nvPr/>
        </p:nvSpPr>
        <p:spPr>
          <a:xfrm xmlns:a="http://schemas.openxmlformats.org/drawingml/2006/main">
            <a:off x="609600" y="1104900"/>
            <a:ext cx="49149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Consistent color roles</a:t>
            </a:r>
          </a:p>
        </p:txBody>
      </p:sp>
      <p:sp>
        <p:nvSpPr>
          <p:cNvPr id="3" name="color-purpose">
            <a:extLst xmlns:a="http://schemas.openxmlformats.org/drawingml/2006/main">
              <a:ext uri="{FF2B5EF4-FFF2-40B4-BE49-F238E27FC236}">
                <a16:creationId xmlns:a16="http://schemas.microsoft.com/office/drawing/2014/main" id="{7D9E55DE-8159-4739-96AE-FFF8123F35F4}"/>
              </a:ext>
            </a:extLst>
          </p:cNvPr>
          <p:cNvSpPr>
            <a:spLocks xmlns:a="http://schemas.openxmlformats.org/drawingml/2006/main" noGrp="1"/>
          </p:cNvSpPr>
          <p:nvPr/>
        </p:nvSpPr>
        <p:spPr>
          <a:xfrm xmlns:a="http://schemas.openxmlformats.org/drawingml/2006/main">
            <a:off x="609600" y="3009900"/>
            <a:ext cx="48101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Brand, backgrounds, text and feedback needed consistent roles across the interface.</a:t>
            </a:r>
          </a:p>
        </p:txBody>
      </p:sp>
      <p:sp>
        <p:nvSpPr>
          <p:cNvPr id="4" name="color-scope">
            <a:extLst xmlns:a="http://schemas.openxmlformats.org/drawingml/2006/main">
              <a:ext uri="{FF2B5EF4-FFF2-40B4-BE49-F238E27FC236}">
                <a16:creationId xmlns:a16="http://schemas.microsoft.com/office/drawing/2014/main" id="{96A9FA17-C844-4192-9015-A6427649FD30}"/>
              </a:ext>
            </a:extLst>
          </p:cNvPr>
          <p:cNvSpPr>
            <a:spLocks xmlns:a="http://schemas.openxmlformats.org/drawingml/2006/main" noGrp="1"/>
          </p:cNvSpPr>
          <p:nvPr/>
        </p:nvSpPr>
        <p:spPr>
          <a:xfrm xmlns:a="http://schemas.openxmlformats.org/drawingml/2006/main">
            <a:off x="609600" y="4762500"/>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documented those roles for the next design iteration. This focused guide did not establish a complete component library.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b23f7a821724a1d"/>
          <a:stretch xmlns:a="http://schemas.openxmlformats.org/drawingml/2006/main"/>
        </p:blipFill>
        <p:spPr>
          <a:xfrm xmlns:a="http://schemas.openxmlformats.org/drawingml/2006/main">
            <a:off x="7081470" y="885825"/>
            <a:ext cx="3429734" cy="55626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44262C57-BCBC-45FE-91A1-D522116922C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2043237843"/>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79F6DCA8-37F8-46C8-AC63-82A3F8570AD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STRIKE TRUST TEAM</a:t>
            </a:r>
          </a:p>
        </p:txBody>
      </p:sp>
      <p:sp>
        <p:nvSpPr>
          <p:cNvPr id="2" name="headline">
            <a:extLst xmlns:a="http://schemas.openxmlformats.org/drawingml/2006/main">
              <a:ext uri="{FF2B5EF4-FFF2-40B4-BE49-F238E27FC236}">
                <a16:creationId xmlns:a16="http://schemas.microsoft.com/office/drawing/2014/main" id="{48BC3926-8F94-4471-BD91-0085EA7C2C85}"/>
              </a:ext>
            </a:extLst>
          </p:cNvPr>
          <p:cNvSpPr>
            <a:spLocks xmlns:a="http://schemas.openxmlformats.org/drawingml/2006/main" noGrp="1"/>
          </p:cNvSpPr>
          <p:nvPr/>
        </p:nvSpPr>
        <p:spPr>
          <a:xfrm xmlns:a="http://schemas.openxmlformats.org/drawingml/2006/main">
            <a:off x="609600" y="1076325"/>
            <a:ext cx="1076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A trust flow to investigate</a:t>
            </a:r>
          </a:p>
        </p:txBody>
      </p:sp>
      <p:sp>
        <p:nvSpPr>
          <p:cNvPr id="3" name="purpose-heading">
            <a:extLst xmlns:a="http://schemas.openxmlformats.org/drawingml/2006/main">
              <a:ext uri="{FF2B5EF4-FFF2-40B4-BE49-F238E27FC236}">
                <a16:creationId xmlns:a16="http://schemas.microsoft.com/office/drawing/2014/main" id="{FD3B9948-D0F3-46D3-94E7-C4C65B1FFE08}"/>
              </a:ext>
            </a:extLst>
          </p:cNvPr>
          <p:cNvSpPr>
            <a:spLocks xmlns:a="http://schemas.openxmlformats.org/drawingml/2006/main" noGrp="1"/>
          </p:cNvSpPr>
          <p:nvPr/>
        </p:nvSpPr>
        <p:spPr>
          <a:xfrm xmlns:a="http://schemas.openxmlformats.org/drawingml/2006/main">
            <a:off x="609600" y="2952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The customer’s understanding</a:t>
            </a:r>
          </a:p>
        </p:txBody>
      </p:sp>
      <p:sp>
        <p:nvSpPr>
          <p:cNvPr id="4" name="purpose-body">
            <a:extLst xmlns:a="http://schemas.openxmlformats.org/drawingml/2006/main">
              <a:ext uri="{FF2B5EF4-FFF2-40B4-BE49-F238E27FC236}">
                <a16:creationId xmlns:a16="http://schemas.microsoft.com/office/drawing/2014/main" id="{AE6C1FF8-4706-45FD-8959-0086A9A8D57F}"/>
              </a:ext>
            </a:extLst>
          </p:cNvPr>
          <p:cNvSpPr>
            <a:spLocks xmlns:a="http://schemas.openxmlformats.org/drawingml/2006/main" noGrp="1"/>
          </p:cNvSpPr>
          <p:nvPr/>
        </p:nvSpPr>
        <p:spPr>
          <a:xfrm xmlns:a="http://schemas.openxmlformats.org/drawingml/2006/main">
            <a:off x="609600" y="35052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Observe a blocked account task.</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Ask what the customer thinks happened</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and what they expect to do next.</a:t>
            </a:r>
          </a:p>
        </p:txBody>
      </p:sp>
      <p:sp>
        <p:nvSpPr>
          <p:cNvPr id="5" name="structure-heading">
            <a:extLst xmlns:a="http://schemas.openxmlformats.org/drawingml/2006/main">
              <a:ext uri="{FF2B5EF4-FFF2-40B4-BE49-F238E27FC236}">
                <a16:creationId xmlns:a16="http://schemas.microsoft.com/office/drawing/2014/main" id="{7B6CFEA7-84FB-4F8F-892A-8CF010B55ADA}"/>
              </a:ext>
            </a:extLst>
          </p:cNvPr>
          <p:cNvSpPr>
            <a:spLocks xmlns:a="http://schemas.openxmlformats.org/drawingml/2006/main" noGrp="1"/>
          </p:cNvSpPr>
          <p:nvPr/>
        </p:nvSpPr>
        <p:spPr>
          <a:xfrm xmlns:a="http://schemas.openxmlformats.org/drawingml/2006/main">
            <a:off x="6705600" y="2952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The system’s actual state</a:t>
            </a:r>
          </a:p>
        </p:txBody>
      </p:sp>
      <p:sp>
        <p:nvSpPr>
          <p:cNvPr id="6" name="structure-body">
            <a:extLst xmlns:a="http://schemas.openxmlformats.org/drawingml/2006/main">
              <a:ext uri="{FF2B5EF4-FFF2-40B4-BE49-F238E27FC236}">
                <a16:creationId xmlns:a16="http://schemas.microsoft.com/office/drawing/2014/main" id="{0EA0DD2F-4AA8-479C-B10C-3B80111E1128}"/>
              </a:ext>
            </a:extLst>
          </p:cNvPr>
          <p:cNvSpPr>
            <a:spLocks xmlns:a="http://schemas.openxmlformats.org/drawingml/2006/main" noGrp="1"/>
          </p:cNvSpPr>
          <p:nvPr/>
        </p:nvSpPr>
        <p:spPr>
          <a:xfrm xmlns:a="http://schemas.openxmlformats.org/drawingml/2006/main">
            <a:off x="6705600" y="3505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Map the state with engineers and Trust.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Clarify what can be disclosed, what remains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available and where support can help.</a:t>
            </a:r>
          </a:p>
        </p:txBody>
      </p:sp>
      <p:sp>
        <p:nvSpPr>
          <p:cNvPr id="7" name="compare-heading">
            <a:extLst xmlns:a="http://schemas.openxmlformats.org/drawingml/2006/main">
              <a:ext uri="{FF2B5EF4-FFF2-40B4-BE49-F238E27FC236}">
                <a16:creationId xmlns:a16="http://schemas.microsoft.com/office/drawing/2014/main" id="{858A2BF8-25FA-46E6-A855-2CB11D1D9442}"/>
              </a:ext>
            </a:extLst>
          </p:cNvPr>
          <p:cNvSpPr>
            <a:spLocks xmlns:a="http://schemas.openxmlformats.org/drawingml/2006/main" noGrp="1"/>
          </p:cNvSpPr>
          <p:nvPr/>
        </p:nvSpPr>
        <p:spPr>
          <a:xfrm xmlns:a="http://schemas.openxmlformats.org/drawingml/2006/main">
            <a:off x="609600" y="4857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A bounded design comparison</a:t>
            </a:r>
          </a:p>
        </p:txBody>
      </p:sp>
      <p:sp>
        <p:nvSpPr>
          <p:cNvPr id="8" name="compare-body">
            <a:extLst xmlns:a="http://schemas.openxmlformats.org/drawingml/2006/main">
              <a:ext uri="{FF2B5EF4-FFF2-40B4-BE49-F238E27FC236}">
                <a16:creationId xmlns:a16="http://schemas.microsoft.com/office/drawing/2014/main" id="{04DB8388-0BFB-4C1D-850C-DF9296FDB7B0}"/>
              </a:ext>
            </a:extLst>
          </p:cNvPr>
          <p:cNvSpPr>
            <a:spLocks xmlns:a="http://schemas.openxmlformats.org/drawingml/2006/main" noGrp="1"/>
          </p:cNvSpPr>
          <p:nvPr/>
        </p:nvSpPr>
        <p:spPr>
          <a:xfrm xmlns:a="http://schemas.openxmlformats.org/drawingml/2006/main">
            <a:off x="609600" y="5410200"/>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Prototype the explanation and next action.</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Compare web and mobile behavior while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retaining platform conventions.</a:t>
            </a:r>
          </a:p>
        </p:txBody>
      </p:sp>
      <p:sp>
        <p:nvSpPr>
          <p:cNvPr id="9" name="handoff-heading">
            <a:extLst xmlns:a="http://schemas.openxmlformats.org/drawingml/2006/main">
              <a:ext uri="{FF2B5EF4-FFF2-40B4-BE49-F238E27FC236}">
                <a16:creationId xmlns:a16="http://schemas.microsoft.com/office/drawing/2014/main" id="{3ABC0A40-1A74-40F4-B3B6-5A8291898FE6}"/>
              </a:ext>
            </a:extLst>
          </p:cNvPr>
          <p:cNvSpPr>
            <a:spLocks xmlns:a="http://schemas.openxmlformats.org/drawingml/2006/main" noGrp="1"/>
          </p:cNvSpPr>
          <p:nvPr/>
        </p:nvSpPr>
        <p:spPr>
          <a:xfrm xmlns:a="http://schemas.openxmlformats.org/drawingml/2006/main">
            <a:off x="6705600" y="4857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Comprehension before expansion</a:t>
            </a:r>
          </a:p>
        </p:txBody>
      </p:sp>
      <p:sp>
        <p:nvSpPr>
          <p:cNvPr id="10" name="handoff-body">
            <a:extLst xmlns:a="http://schemas.openxmlformats.org/drawingml/2006/main">
              <a:ext uri="{FF2B5EF4-FFF2-40B4-BE49-F238E27FC236}">
                <a16:creationId xmlns:a16="http://schemas.microsoft.com/office/drawing/2014/main" id="{569EF258-4AAF-40E9-A1E9-39D67D6E83E4}"/>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Test what people believe is protected,</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what is pending and what they can do.</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Document states and unresolved questions.</a:t>
            </a:r>
          </a:p>
        </p:txBody>
      </p:sp>
      <p:sp>
        <p:nvSpPr>
          <p:cNvPr id="11" name="slide-number">
            <a:extLst xmlns:a="http://schemas.openxmlformats.org/drawingml/2006/main">
              <a:ext uri="{FF2B5EF4-FFF2-40B4-BE49-F238E27FC236}">
                <a16:creationId xmlns:a16="http://schemas.microsoft.com/office/drawing/2014/main" id="{9012F84B-4FBA-4DD6-B4A6-D8D6D93A25A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811191919"/>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2C5EF345-DC4C-4F9B-956F-89EBC1B524A6}"/>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STRIKE TRUST DESIGNER</a:t>
            </a:r>
          </a:p>
        </p:txBody>
      </p:sp>
      <p:sp>
        <p:nvSpPr>
          <p:cNvPr id="2" name="headline">
            <a:extLst xmlns:a="http://schemas.openxmlformats.org/drawingml/2006/main">
              <a:ext uri="{FF2B5EF4-FFF2-40B4-BE49-F238E27FC236}">
                <a16:creationId xmlns:a16="http://schemas.microsoft.com/office/drawing/2014/main" id="{20C63F8E-8AE7-442C-B6A8-0E5AFC93F577}"/>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Clear feedback</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through difficult moments</a:t>
            </a:r>
          </a:p>
        </p:txBody>
      </p:sp>
      <p:sp>
        <p:nvSpPr>
          <p:cNvPr id="3" name="contact-intent">
            <a:extLst xmlns:a="http://schemas.openxmlformats.org/drawingml/2006/main">
              <a:ext uri="{FF2B5EF4-FFF2-40B4-BE49-F238E27FC236}">
                <a16:creationId xmlns:a16="http://schemas.microsoft.com/office/drawing/2014/main" id="{5C7E01AA-AAAD-45F6-907F-402674E9ECE4}"/>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845F71BA-E83F-4C03-99A8-36F918B6197D}"/>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17383b79ea2946a0"/>
              </a:rPr>
              <a:t>JonathanKyleHobson@gmail.com</a:t>
            </a:r>
          </a:p>
        </p:txBody>
      </p:sp>
      <p:sp>
        <p:nvSpPr>
          <p:cNvPr id="5" name="portfolio">
            <a:extLst xmlns:a="http://schemas.openxmlformats.org/drawingml/2006/main">
              <a:ext uri="{FF2B5EF4-FFF2-40B4-BE49-F238E27FC236}">
                <a16:creationId xmlns:a16="http://schemas.microsoft.com/office/drawing/2014/main" id="{534793D7-0DF2-497E-B244-32826B343A45}"/>
              </a:ext>
            </a:extLst>
          </p:cNvPr>
          <p:cNvSpPr>
            <a:spLocks xmlns:a="http://schemas.openxmlformats.org/drawingml/2006/main" noGrp="1"/>
          </p:cNvSpPr>
          <p:nvPr/>
        </p:nvSpPr>
        <p:spPr>
          <a:xfrm xmlns:a="http://schemas.openxmlformats.org/drawingml/2006/main">
            <a:off x="647700" y="57054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u="sng">
                <a:solidFill>
                  <a:srgbClr val="DBEB89"/>
                </a:solidFill>
                <a:latin typeface="Helvetica Neue"/>
                <a:ea typeface="Helvetica Neue"/>
                <a:cs typeface="Helvetica Neue"/>
              </a:defRPr>
            </a:pPr>
            <a:r>
              <a:rPr sz="1575" b="0" u="sng">
                <a:solidFill>
                  <a:srgbClr val="DBEB89"/>
                </a:solidFill>
                <a:latin typeface="Helvetica Neue"/>
                <a:ea typeface="Helvetica Neue"/>
                <a:cs typeface="Helvetica Neue"/>
                <a:hlinkClick xmlns:r="http://schemas.openxmlformats.org/officeDocument/2006/relationships" r:id="R039f1207e57b41a7"/>
              </a:rPr>
              <a:t>jonathankhobson.github.io/application-portfolios/strike-trust-designer</a:t>
            </a:r>
          </a:p>
        </p:txBody>
      </p:sp>
      <p:sp>
        <p:nvSpPr>
          <p:cNvPr id="6" name="slide-number">
            <a:extLst xmlns:a="http://schemas.openxmlformats.org/drawingml/2006/main">
              <a:ext uri="{FF2B5EF4-FFF2-40B4-BE49-F238E27FC236}">
                <a16:creationId xmlns:a16="http://schemas.microsoft.com/office/drawing/2014/main" id="{B1EA83DF-27AB-4F64-97DA-5269740A07A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328610739"/>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2026-09-09T06:07:48.6480000Z</dcterms:created>
  <dcterms:modified xsi:type="dcterms:W3CDTF">2026-09-09T06:07:48.6480000Z</dcterms:modified>
</coreProperties>
</file>