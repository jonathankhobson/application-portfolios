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f09f20a29a499a" /><Relationship Type="http://schemas.openxmlformats.org/officeDocument/2006/relationships/extended-properties" Target="/docProps/app.xml" Id="Ra585e8653e0e4e7b" /><Relationship Type="http://schemas.openxmlformats.org/officeDocument/2006/relationships/officeDocument" Target="/ppt/presentation.xml" Id="Rd0db6970606249a5" /></Relationships>
</file>

<file path=ppt/presentation.xml><?xml version="1.0" encoding="utf-8"?>
<p:presentation xmlns:p="http://schemas.openxmlformats.org/presentationml/2006/main">
  <p:sldMasterIdLst>
    <p:sldMasterId xmlns:r="http://schemas.openxmlformats.org/officeDocument/2006/relationships" id="2147483648" r:id="R139246bff67849f2"/>
  </p:sldMasterIdLst>
  <p:notesMasterIdLst>
    <p:notesMasterId xmlns:r="http://schemas.openxmlformats.org/officeDocument/2006/relationships" r:id="Rd6bd64055daf4ce1"/>
  </p:notesMasterIdLst>
  <p:sldIdLst>
    <p:sldId xmlns:r="http://schemas.openxmlformats.org/officeDocument/2006/relationships" id="256" r:id="R40b28a8a74ca46c8"/>
    <p:sldId xmlns:r="http://schemas.openxmlformats.org/officeDocument/2006/relationships" id="257" r:id="R8a76c7703b5a4cc3"/>
    <p:sldId xmlns:r="http://schemas.openxmlformats.org/officeDocument/2006/relationships" id="258" r:id="R61d78d62b7b24f73"/>
    <p:sldId xmlns:r="http://schemas.openxmlformats.org/officeDocument/2006/relationships" id="259" r:id="R913f00e6e6c14386"/>
    <p:sldId xmlns:r="http://schemas.openxmlformats.org/officeDocument/2006/relationships" id="260" r:id="R2c9591c719aa46a4"/>
    <p:sldId xmlns:r="http://schemas.openxmlformats.org/officeDocument/2006/relationships" id="261" r:id="R368cd17e04034855"/>
    <p:sldId xmlns:r="http://schemas.openxmlformats.org/officeDocument/2006/relationships" id="262" r:id="R11b7378fe4474e3a"/>
    <p:sldId xmlns:r="http://schemas.openxmlformats.org/officeDocument/2006/relationships" id="263" r:id="Rabc8912a60ea400c"/>
    <p:sldId xmlns:r="http://schemas.openxmlformats.org/officeDocument/2006/relationships" id="264" r:id="R6e32e3da96d34d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366fd7a024409f" /><Relationship Type="http://schemas.openxmlformats.org/officeDocument/2006/relationships/slideMaster" Target="/ppt/slideMasters/slideMaster1.xml" Id="R139246bff67849f2" /><Relationship Type="http://schemas.openxmlformats.org/officeDocument/2006/relationships/notesMaster" Target="/ppt/notesMasters/notesMaster1.xml" Id="Rd6bd64055daf4ce1" /><Relationship Type="http://schemas.openxmlformats.org/officeDocument/2006/relationships/presProps" Target="/ppt/presProps.xml" Id="R8880fe031e6a42d5" /><Relationship Type="http://schemas.openxmlformats.org/officeDocument/2006/relationships/tableStyles" Target="/ppt/tableStyles.xml" Id="Rff20aeb8deb8475d" /><Relationship Type="http://schemas.openxmlformats.org/officeDocument/2006/relationships/slide" Target="/ppt/slides/slide1.xml" Id="R40b28a8a74ca46c8" /><Relationship Type="http://schemas.openxmlformats.org/officeDocument/2006/relationships/slide" Target="/ppt/slides/slide2.xml" Id="R8a76c7703b5a4cc3" /><Relationship Type="http://schemas.openxmlformats.org/officeDocument/2006/relationships/slide" Target="/ppt/slides/slide3.xml" Id="R61d78d62b7b24f73" /><Relationship Type="http://schemas.openxmlformats.org/officeDocument/2006/relationships/slide" Target="/ppt/slides/slide4.xml" Id="R913f00e6e6c14386" /><Relationship Type="http://schemas.openxmlformats.org/officeDocument/2006/relationships/slide" Target="/ppt/slides/slide5.xml" Id="R2c9591c719aa46a4" /><Relationship Type="http://schemas.openxmlformats.org/officeDocument/2006/relationships/slide" Target="/ppt/slides/slide6.xml" Id="R368cd17e04034855" /><Relationship Type="http://schemas.openxmlformats.org/officeDocument/2006/relationships/slide" Target="/ppt/slides/slide7.xml" Id="R11b7378fe4474e3a" /><Relationship Type="http://schemas.openxmlformats.org/officeDocument/2006/relationships/slide" Target="/ppt/slides/slide8.xml" Id="Rabc8912a60ea400c" /><Relationship Type="http://schemas.openxmlformats.org/officeDocument/2006/relationships/slide" Target="/ppt/slides/slide9.xml" Id="R6e32e3da96d34d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42b9e53e904d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4429a5b46e480b" /><Relationship Type="http://schemas.openxmlformats.org/officeDocument/2006/relationships/notesMaster" Target="/ppt/notesMasters/notesMaster1.xml" Id="Rf2ad6f21c65a4f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25a93a616b4cf0" /><Relationship Type="http://schemas.openxmlformats.org/officeDocument/2006/relationships/notesMaster" Target="/ppt/notesMasters/notesMaster1.xml" Id="Rc71d4f4459ec40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d55b8ed802494c" /><Relationship Type="http://schemas.openxmlformats.org/officeDocument/2006/relationships/notesMaster" Target="/ppt/notesMasters/notesMaster1.xml" Id="R84ea330be1944c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7adff69d724bd7" /><Relationship Type="http://schemas.openxmlformats.org/officeDocument/2006/relationships/notesMaster" Target="/ppt/notesMasters/notesMaster1.xml" Id="R02e12eb344f940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aaa33e446f4b12" /><Relationship Type="http://schemas.openxmlformats.org/officeDocument/2006/relationships/notesMaster" Target="/ppt/notesMasters/notesMaster1.xml" Id="Ra6cfbbaea4d24f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5670d06cfd41e8" /><Relationship Type="http://schemas.openxmlformats.org/officeDocument/2006/relationships/notesMaster" Target="/ppt/notesMasters/notesMaster1.xml" Id="R2e3c3f9629c840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f765b53c90447b" /><Relationship Type="http://schemas.openxmlformats.org/officeDocument/2006/relationships/notesMaster" Target="/ppt/notesMasters/notesMaster1.xml" Id="Rd26e6b8c6e4544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f2e9eb3b8a448c" /><Relationship Type="http://schemas.openxmlformats.org/officeDocument/2006/relationships/notesMaster" Target="/ppt/notesMasters/notesMaster1.xml" Id="Rcd0d39818b7f49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7b832e625e4c5d" /><Relationship Type="http://schemas.openxmlformats.org/officeDocument/2006/relationships/notesMaster" Target="/ppt/notesMasters/notesMaster1.xml" Id="R64d4b4b6fa1d4e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the Inovalon Instructional Designer role. Job source: https://www.inovalon.com/careers/job/?gh_jid=7919353003 . The approved paper-path illustration is decorative, not project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Reviewed career evidence: ASU Knowledge Enterprise, Instructional Designer, April 2022–October 2024. MS User Experience with UX Research concentration, ASU, May 2024; BS Technical Communication with UX concentration, ASU, May 2023. The concise role scope is reviewed evidence; this slide does not claim specific SCORM/LMS production tools or measured learning gains. Public profile: https://www.linkedin.com/in/jonathankylehobson/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lesson materials and the official Coursera page https://www.coursera.org/projects/chatgpt-beginners . The image is an original course slide. Enrollments describe reach, not course completion or measured skill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Task 3 recording at 02:30. This initial fictional Brew Bliss cafe draft gives learners material to inspect and revise. Later lesson steps demonstrate a more specific instruction and its resulting draft. It is not a client campaign or evidence of measured learner proficiency. Official course: https://www.coursera.org/projects/chatgpt-beginners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FactorLab UX Designer &amp; Researcher (Contract), October 2025–Present. Original Kyle-authored Figma designs and engineering annotations, reviewed in the September 2026 portfolio. Design and handoff evidence; exact pictured state is not claimed to be shipped. Its relevance to end-user documentation is adjacent: Kyle is explaining product behavior, not claiming this is a Inovalon implementation guide. Public case: https://jonathankhobson.github.io/portfolio/design/case/flint/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developer-authored Prompt Compass local regression fixture, May 2026. Both prompts are exact fixture values. This is a designed evaluation example, not a client incident, production-model benchmark, or measured ROI. The public beta release is https://github.com/JonathanKHobson/prompt-compass/releases/tag/v0.1.0-beta.3 . The example shows why instructional and technical wording must preserve the operational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ASU for Life collaborative prompt architecture attributes the displayed proposed approach to Kyle. The reconstruction shows the mentor review steps without claiming production deployment, model training, or measurable savings. Reviewed AI case: https://jonathankhobson.github.io/portfolio/ai/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discussion. The Inovalon role involves audience-appropriate learning methodologies, assessments, measurement and collaboration with subject matter experts. This slide does not report past work for Inovalon, access to healthcare data, or measured learning gains. Primary source: https://www.inovalon.com/careers/job/?gh_jid=7919353003 . SCORM/LMS production experience is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Contact and work-authorization statements are candidate-confirmed for this application. Portfolio link targets the separately prepared Inovalon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55e399af0947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7c97bf9b4f4a99" /><Relationship Type="http://schemas.openxmlformats.org/officeDocument/2006/relationships/slideLayout" Target="/ppt/slideLayouts/slideLayout1.xml" Id="R119b7ac8130f45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9b7ac8130f45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fde38edcdf4efa" /><Relationship Type="http://schemas.openxmlformats.org/officeDocument/2006/relationships/image" Target="/ppt/media/image.png" Id="R8840c962a1ea4112" /><Relationship Type="http://schemas.openxmlformats.org/officeDocument/2006/relationships/notesSlide" Target="/ppt/notesSlides/notesSlide1.xml" Id="Rfed7268b2f1c47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fc6f2f47c448f4" /><Relationship Type="http://schemas.openxmlformats.org/officeDocument/2006/relationships/image" Target="/ppt/media/image.jpeg" Id="R689aa3a2000d489e" /><Relationship Type="http://schemas.openxmlformats.org/officeDocument/2006/relationships/notesSlide" Target="/ppt/notesSlides/notesSlide2.xml" Id="R78f3995affcb4a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7b2c4535baa4ff8" /><Relationship Type="http://schemas.openxmlformats.org/officeDocument/2006/relationships/image" Target="/ppt/media/image2.png" Id="R3ae33aebff4d48f6" /><Relationship Type="http://schemas.openxmlformats.org/officeDocument/2006/relationships/notesSlide" Target="/ppt/notesSlides/notesSlide3.xml" Id="R3071d9921cdb4a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666fa29cdd47fe" /><Relationship Type="http://schemas.openxmlformats.org/officeDocument/2006/relationships/image" Target="/ppt/media/image3.png" Id="R2d4e187d52ab4341" /><Relationship Type="http://schemas.openxmlformats.org/officeDocument/2006/relationships/notesSlide" Target="/ppt/notesSlides/notesSlide4.xml" Id="Rba4702b87c6446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30a30808e144a63" /><Relationship Type="http://schemas.openxmlformats.org/officeDocument/2006/relationships/image" Target="/ppt/media/image4.png" Id="R02167a5752c741fb" /><Relationship Type="http://schemas.openxmlformats.org/officeDocument/2006/relationships/image" Target="/ppt/media/image5.png" Id="R6610504e3cda45d2" /><Relationship Type="http://schemas.openxmlformats.org/officeDocument/2006/relationships/notesSlide" Target="/ppt/notesSlides/notesSlide5.xml" Id="R591968cb2ff344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9264b099f18405b" /><Relationship Type="http://schemas.openxmlformats.org/officeDocument/2006/relationships/notesSlide" Target="/ppt/notesSlides/notesSlide6.xml" Id="R4cc4e520b3d640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988a5d683be4248" /><Relationship Type="http://schemas.openxmlformats.org/officeDocument/2006/relationships/image" Target="/ppt/media/image6.png" Id="Rbed679cfe09a4bf1" /><Relationship Type="http://schemas.openxmlformats.org/officeDocument/2006/relationships/notesSlide" Target="/ppt/notesSlides/notesSlide7.xml" Id="R06e1f0dfe74f46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8838bdb84824f3a" /><Relationship Type="http://schemas.openxmlformats.org/officeDocument/2006/relationships/notesSlide" Target="/ppt/notesSlides/notesSlide8.xml" Id="R23f0aecfbb8248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58885eb70a248ad" /><Relationship Type="http://schemas.openxmlformats.org/officeDocument/2006/relationships/hyperlink" Target="mailto:JonathanKyleHobson@gmail.com" TargetMode="External" Id="R2bc00cafdfc44f34" /><Relationship Type="http://schemas.openxmlformats.org/officeDocument/2006/relationships/hyperlink" Target="https://jonathankhobson.github.io/application-portfolios/inovalon-instructional-designer/" TargetMode="External" Id="Rfaacbfc8c68e4b4a" /><Relationship Type="http://schemas.openxmlformats.org/officeDocument/2006/relationships/notesSlide" Target="/ppt/notesSlides/notesSlide9.xml" Id="R0bbe20e5a2454a73"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840c962a1ea4112"/>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FE0EDF47-6CD7-4BE0-A7CA-5135F465A24C}"/>
              </a:ext>
            </a:extLst>
          </p:cNvPr>
          <p:cNvSpPr>
            <a:spLocks xmlns:a="http://schemas.openxmlformats.org/drawingml/2006/main" noGrp="1"/>
          </p:cNvSpPr>
          <p:nvPr/>
        </p:nvSpPr>
        <p:spPr>
          <a:xfrm xmlns:a="http://schemas.openxmlformats.org/drawingml/2006/main">
            <a:off x="609600" y="5143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APPLICATION TO INOVALON</a:t>
            </a:r>
          </a:p>
        </p:txBody>
      </p:sp>
      <p:sp>
        <p:nvSpPr>
          <p:cNvPr id="3" name="headline">
            <a:extLst xmlns:a="http://schemas.openxmlformats.org/drawingml/2006/main">
              <a:ext uri="{FF2B5EF4-FFF2-40B4-BE49-F238E27FC236}">
                <a16:creationId xmlns:a16="http://schemas.microsoft.com/office/drawing/2014/main" id="{AC3462B0-3443-49CB-ADCF-E7FAD3F2AEF8}"/>
              </a:ext>
            </a:extLst>
          </p:cNvPr>
          <p:cNvSpPr>
            <a:spLocks xmlns:a="http://schemas.openxmlformats.org/drawingml/2006/main" noGrp="1"/>
          </p:cNvSpPr>
          <p:nvPr/>
        </p:nvSpPr>
        <p:spPr>
          <a:xfrm xmlns:a="http://schemas.openxmlformats.org/drawingml/2006/main">
            <a:off x="609600" y="1485900"/>
            <a:ext cx="83820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Product learning</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for Inovalon</a:t>
            </a:r>
          </a:p>
        </p:txBody>
      </p:sp>
      <p:sp>
        <p:nvSpPr>
          <p:cNvPr id="4" name="cover-intro">
            <a:extLst xmlns:a="http://schemas.openxmlformats.org/drawingml/2006/main">
              <a:ext uri="{FF2B5EF4-FFF2-40B4-BE49-F238E27FC236}">
                <a16:creationId xmlns:a16="http://schemas.microsoft.com/office/drawing/2014/main" id="{25A4C9D7-7422-42E0-80E3-0F93B69DD534}"/>
              </a:ext>
            </a:extLst>
          </p:cNvPr>
          <p:cNvSpPr>
            <a:spLocks xmlns:a="http://schemas.openxmlformats.org/drawingml/2006/main" noGrp="1"/>
          </p:cNvSpPr>
          <p:nvPr/>
        </p:nvSpPr>
        <p:spPr>
          <a:xfrm xmlns:a="http://schemas.openxmlformats.org/drawingml/2006/main">
            <a:off x="647700" y="4448175"/>
            <a:ext cx="685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Selected work in guided practice</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accurate software explanations</a:t>
            </a:r>
          </a:p>
        </p:txBody>
      </p:sp>
      <p:sp>
        <p:nvSpPr>
          <p:cNvPr id="5" name="cover-role">
            <a:extLst xmlns:a="http://schemas.openxmlformats.org/drawingml/2006/main">
              <a:ext uri="{FF2B5EF4-FFF2-40B4-BE49-F238E27FC236}">
                <a16:creationId xmlns:a16="http://schemas.microsoft.com/office/drawing/2014/main" id="{EFFD0DC3-F450-4477-8DC2-DF2654AE18CF}"/>
              </a:ext>
            </a:extLst>
          </p:cNvPr>
          <p:cNvSpPr>
            <a:spLocks xmlns:a="http://schemas.openxmlformats.org/drawingml/2006/main" noGrp="1"/>
          </p:cNvSpPr>
          <p:nvPr/>
        </p:nvSpPr>
        <p:spPr>
          <a:xfrm xmlns:a="http://schemas.openxmlformats.org/drawingml/2006/main">
            <a:off x="647700" y="601980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Instructional Designer</a:t>
            </a:r>
          </a:p>
        </p:txBody>
      </p:sp>
      <p:sp>
        <p:nvSpPr>
          <p:cNvPr id="6" name="slide-number">
            <a:extLst xmlns:a="http://schemas.openxmlformats.org/drawingml/2006/main">
              <a:ext uri="{FF2B5EF4-FFF2-40B4-BE49-F238E27FC236}">
                <a16:creationId xmlns:a16="http://schemas.microsoft.com/office/drawing/2014/main" id="{037A0D98-6FDD-457F-9BDC-5225E5EEE93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735215047"/>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4441D620-16F4-4FDB-9F73-966AC86D86A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ARIZONA STATE UNIVERSITY   /   INSTRUCTIONAL DESIGNER</a:t>
            </a:r>
          </a:p>
        </p:txBody>
      </p:sp>
      <p:sp>
        <p:nvSpPr>
          <p:cNvPr id="2" name="headline">
            <a:extLst xmlns:a="http://schemas.openxmlformats.org/drawingml/2006/main">
              <a:ext uri="{FF2B5EF4-FFF2-40B4-BE49-F238E27FC236}">
                <a16:creationId xmlns:a16="http://schemas.microsoft.com/office/drawing/2014/main" id="{399ED338-1D5A-422C-88F1-648CCD9E044F}"/>
              </a:ext>
            </a:extLst>
          </p:cNvPr>
          <p:cNvSpPr>
            <a:spLocks xmlns:a="http://schemas.openxmlformats.org/drawingml/2006/main" noGrp="1"/>
          </p:cNvSpPr>
          <p:nvPr/>
        </p:nvSpPr>
        <p:spPr>
          <a:xfrm xmlns:a="http://schemas.openxmlformats.org/drawingml/2006/main">
            <a:off x="609600" y="1285875"/>
            <a:ext cx="6286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Learning design</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grounded in the task</a:t>
            </a:r>
          </a:p>
        </p:txBody>
      </p:sp>
      <p:sp>
        <p:nvSpPr>
          <p:cNvPr id="3" name="asu-direct">
            <a:extLst xmlns:a="http://schemas.openxmlformats.org/drawingml/2006/main">
              <a:ext uri="{FF2B5EF4-FFF2-40B4-BE49-F238E27FC236}">
                <a16:creationId xmlns:a16="http://schemas.microsoft.com/office/drawing/2014/main" id="{5956D501-9118-42E6-A8FB-8F4D186AB3F7}"/>
              </a:ext>
            </a:extLst>
          </p:cNvPr>
          <p:cNvSpPr>
            <a:spLocks xmlns:a="http://schemas.openxmlformats.org/drawingml/2006/main" noGrp="1"/>
          </p:cNvSpPr>
          <p:nvPr/>
        </p:nvSpPr>
        <p:spPr>
          <a:xfrm xmlns:a="http://schemas.openxmlformats.org/drawingml/2006/main">
            <a:off x="609600" y="3200400"/>
            <a:ext cx="5905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At ASU Knowledge Enterprise, I developed digital learning materials and workshops with accessibility improvements and AI-supported content workflows.</a:t>
            </a:r>
          </a:p>
        </p:txBody>
      </p:sp>
      <p:sp>
        <p:nvSpPr>
          <p:cNvPr id="4" name="background">
            <a:extLst xmlns:a="http://schemas.openxmlformats.org/drawingml/2006/main">
              <a:ext uri="{FF2B5EF4-FFF2-40B4-BE49-F238E27FC236}">
                <a16:creationId xmlns:a16="http://schemas.microsoft.com/office/drawing/2014/main" id="{BCC4D154-9BAD-4FFB-96A8-D634A79F86CB}"/>
              </a:ext>
            </a:extLst>
          </p:cNvPr>
          <p:cNvSpPr>
            <a:spLocks xmlns:a="http://schemas.openxmlformats.org/drawingml/2006/main" noGrp="1"/>
          </p:cNvSpPr>
          <p:nvPr/>
        </p:nvSpPr>
        <p:spPr>
          <a:xfrm xmlns:a="http://schemas.openxmlformats.org/drawingml/2006/main">
            <a:off x="609600" y="5133975"/>
            <a:ext cx="5905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April 2022–October 2024</a:t>
            </a:r>
          </a:p>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MS in User Experience · BS in Technical Communication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89aa3a2000d489e"/>
          <a:stretch xmlns:a="http://schemas.openxmlformats.org/drawingml/2006/main"/>
        </p:blipFill>
        <p:spPr>
          <a:xfrm xmlns:a="http://schemas.openxmlformats.org/drawingml/2006/main">
            <a:off x="7305675" y="1543050"/>
            <a:ext cx="4191000" cy="41910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10A4D1BA-7DA6-45A3-A3BC-485B4ED0459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093246116"/>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6D571F20-DEEF-427E-B1E0-F743131D242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INSTRUCTOR, 2024</a:t>
            </a:r>
          </a:p>
        </p:txBody>
      </p:sp>
      <p:sp>
        <p:nvSpPr>
          <p:cNvPr id="2" name="headline">
            <a:extLst xmlns:a="http://schemas.openxmlformats.org/drawingml/2006/main">
              <a:ext uri="{FF2B5EF4-FFF2-40B4-BE49-F238E27FC236}">
                <a16:creationId xmlns:a16="http://schemas.microsoft.com/office/drawing/2014/main" id="{E6F475A0-E2EC-4AE5-9E9A-89B6784D57D1}"/>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practical sequence for beginners</a:t>
            </a:r>
          </a:p>
        </p:txBody>
      </p:sp>
      <p:sp>
        <p:nvSpPr>
          <p:cNvPr id="3" name="course-title">
            <a:extLst xmlns:a="http://schemas.openxmlformats.org/drawingml/2006/main">
              <a:ext uri="{FF2B5EF4-FFF2-40B4-BE49-F238E27FC236}">
                <a16:creationId xmlns:a16="http://schemas.microsoft.com/office/drawing/2014/main" id="{F2C2CCA6-5816-4833-ABF8-0A54BE9DE6B6}"/>
              </a:ext>
            </a:extLst>
          </p:cNvPr>
          <p:cNvSpPr>
            <a:spLocks xmlns:a="http://schemas.openxmlformats.org/drawingml/2006/main" noGrp="1"/>
          </p:cNvSpPr>
          <p:nvPr/>
        </p:nvSpPr>
        <p:spPr>
          <a:xfrm xmlns:a="http://schemas.openxmlformats.org/drawingml/2006/main">
            <a:off x="609600" y="21145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ChatGPT 4o for Beginners: Create Social Media Content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ae33aebff4d48f6"/>
          <a:stretch xmlns:a="http://schemas.openxmlformats.org/drawingml/2006/main"/>
        </p:blipFill>
        <p:spPr>
          <a:xfrm xmlns:a="http://schemas.openxmlformats.org/drawingml/2006/main">
            <a:off x="1303734" y="2762250"/>
            <a:ext cx="9508331" cy="3457575"/>
          </a:xfrm>
          <a:prstGeom xmlns:a="http://schemas.openxmlformats.org/drawingml/2006/main" prst="rect">
            <a:avLst/>
          </a:prstGeom>
        </p:spPr>
      </p:pic>
      <p:sp>
        <p:nvSpPr>
          <p:cNvPr id="5" name="course-reach">
            <a:extLst xmlns:a="http://schemas.openxmlformats.org/drawingml/2006/main">
              <a:ext uri="{FF2B5EF4-FFF2-40B4-BE49-F238E27FC236}">
                <a16:creationId xmlns:a16="http://schemas.microsoft.com/office/drawing/2014/main" id="{3BED362C-3289-42B4-AB7A-AB0C2F61D6C0}"/>
              </a:ext>
            </a:extLst>
          </p:cNvPr>
          <p:cNvSpPr>
            <a:spLocks xmlns:a="http://schemas.openxmlformats.org/drawingml/2006/main" noGrp="1"/>
          </p:cNvSpPr>
          <p:nvPr/>
        </p:nvSpPr>
        <p:spPr>
          <a:xfrm xmlns:a="http://schemas.openxmlformats.org/drawingml/2006/main">
            <a:off x="609600" y="63817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Published in 2024 · 4,700+ enrollments as of September 2026</a:t>
            </a:r>
          </a:p>
        </p:txBody>
      </p:sp>
      <p:sp>
        <p:nvSpPr>
          <p:cNvPr id="6" name="slide-number">
            <a:extLst xmlns:a="http://schemas.openxmlformats.org/drawingml/2006/main">
              <a:ext uri="{FF2B5EF4-FFF2-40B4-BE49-F238E27FC236}">
                <a16:creationId xmlns:a16="http://schemas.microsoft.com/office/drawing/2014/main" id="{2A22EA82-13CE-4038-89FC-0FBBFFF512E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20056142"/>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127CC73B-8EFD-43B6-8C7C-A502DE661602}"/>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ORIGINAL DEMONSTRATION</a:t>
            </a:r>
          </a:p>
        </p:txBody>
      </p:sp>
      <p:sp>
        <p:nvSpPr>
          <p:cNvPr id="2" name="headline">
            <a:extLst xmlns:a="http://schemas.openxmlformats.org/drawingml/2006/main">
              <a:ext uri="{FF2B5EF4-FFF2-40B4-BE49-F238E27FC236}">
                <a16:creationId xmlns:a16="http://schemas.microsoft.com/office/drawing/2014/main" id="{6A5C178F-E293-4D20-A915-802E7185636B}"/>
              </a:ext>
            </a:extLst>
          </p:cNvPr>
          <p:cNvSpPr>
            <a:spLocks xmlns:a="http://schemas.openxmlformats.org/drawingml/2006/main" noGrp="1"/>
          </p:cNvSpPr>
          <p:nvPr/>
        </p:nvSpPr>
        <p:spPr>
          <a:xfrm xmlns:a="http://schemas.openxmlformats.org/drawingml/2006/main">
            <a:off x="609600" y="1066800"/>
            <a:ext cx="10896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A first attempt gives learners</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something to revise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d4e187d52ab4341"/>
          <a:stretch xmlns:a="http://schemas.openxmlformats.org/drawingml/2006/main"/>
        </p:blipFill>
        <p:spPr>
          <a:xfrm xmlns:a="http://schemas.openxmlformats.org/drawingml/2006/main">
            <a:off x="609600" y="2477029"/>
            <a:ext cx="9525000" cy="3704167"/>
          </a:xfrm>
          <a:prstGeom xmlns:a="http://schemas.openxmlformats.org/drawingml/2006/main" prst="rect">
            <a:avLst/>
          </a:prstGeom>
        </p:spPr>
      </p:pic>
      <p:sp>
        <p:nvSpPr>
          <p:cNvPr id="4" name="practice-purpose">
            <a:extLst xmlns:a="http://schemas.openxmlformats.org/drawingml/2006/main">
              <a:ext uri="{FF2B5EF4-FFF2-40B4-BE49-F238E27FC236}">
                <a16:creationId xmlns:a16="http://schemas.microsoft.com/office/drawing/2014/main" id="{C692D171-DCD3-407C-8AA4-389FE4E7879A}"/>
              </a:ext>
            </a:extLst>
          </p:cNvPr>
          <p:cNvSpPr>
            <a:spLocks xmlns:a="http://schemas.openxmlformats.org/drawingml/2006/main" noGrp="1"/>
          </p:cNvSpPr>
          <p:nvPr/>
        </p:nvSpPr>
        <p:spPr>
          <a:xfrm xmlns:a="http://schemas.openxmlformats.org/drawingml/2006/main">
            <a:off x="609600" y="63817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The next step is to make the request more specific and compare the result.</a:t>
            </a:r>
          </a:p>
        </p:txBody>
      </p:sp>
      <p:sp>
        <p:nvSpPr>
          <p:cNvPr id="5" name="slide-number">
            <a:extLst xmlns:a="http://schemas.openxmlformats.org/drawingml/2006/main">
              <a:ext uri="{FF2B5EF4-FFF2-40B4-BE49-F238E27FC236}">
                <a16:creationId xmlns:a16="http://schemas.microsoft.com/office/drawing/2014/main" id="{8B605AEA-91C4-4021-BEA5-56F986C788A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929297134"/>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D3834FDA-FBE2-4673-B214-EC59BC8FFBC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SMARTTAGIT FLINT DESIGN</a:t>
            </a:r>
          </a:p>
        </p:txBody>
      </p:sp>
      <p:sp>
        <p:nvSpPr>
          <p:cNvPr id="2" name="headline">
            <a:extLst xmlns:a="http://schemas.openxmlformats.org/drawingml/2006/main">
              <a:ext uri="{FF2B5EF4-FFF2-40B4-BE49-F238E27FC236}">
                <a16:creationId xmlns:a16="http://schemas.microsoft.com/office/drawing/2014/main" id="{068C005F-D0BF-43F2-A754-7D5D4C246548}"/>
              </a:ext>
            </a:extLst>
          </p:cNvPr>
          <p:cNvSpPr>
            <a:spLocks xmlns:a="http://schemas.openxmlformats.org/drawingml/2006/main" noGrp="1"/>
          </p:cNvSpPr>
          <p:nvPr/>
        </p:nvSpPr>
        <p:spPr>
          <a:xfrm xmlns:a="http://schemas.openxmlformats.org/drawingml/2006/main">
            <a:off x="609600" y="1219200"/>
            <a:ext cx="5905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Recovery guidance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has to describe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the real state</a:t>
            </a:r>
          </a:p>
        </p:txBody>
      </p:sp>
      <p:sp>
        <p:nvSpPr>
          <p:cNvPr id="3" name="flint-specific">
            <a:extLst xmlns:a="http://schemas.openxmlformats.org/drawingml/2006/main">
              <a:ext uri="{FF2B5EF4-FFF2-40B4-BE49-F238E27FC236}">
                <a16:creationId xmlns:a16="http://schemas.microsoft.com/office/drawing/2014/main" id="{9D35E38A-B905-49CD-9D1C-F414716724C0}"/>
              </a:ext>
            </a:extLst>
          </p:cNvPr>
          <p:cNvSpPr>
            <a:spLocks xmlns:a="http://schemas.openxmlformats.org/drawingml/2006/main" noGrp="1"/>
          </p:cNvSpPr>
          <p:nvPr/>
        </p:nvSpPr>
        <p:spPr>
          <a:xfrm xmlns:a="http://schemas.openxmlformats.org/drawingml/2006/main">
            <a:off x="609600" y="3609975"/>
            <a:ext cx="54768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An interrupted answer and a lost connection needed different messages and actions. I organized those states in Figma and annotated the behavior for engineering.</a:t>
            </a:r>
          </a:p>
        </p:txBody>
      </p:sp>
      <p:sp>
        <p:nvSpPr>
          <p:cNvPr id="4" name="flint-adjacent">
            <a:extLst xmlns:a="http://schemas.openxmlformats.org/drawingml/2006/main">
              <a:ext uri="{FF2B5EF4-FFF2-40B4-BE49-F238E27FC236}">
                <a16:creationId xmlns:a16="http://schemas.microsoft.com/office/drawing/2014/main" id="{C64B2B87-6290-450F-9A46-EA85C5C2C209}"/>
              </a:ext>
            </a:extLst>
          </p:cNvPr>
          <p:cNvSpPr>
            <a:spLocks xmlns:a="http://schemas.openxmlformats.org/drawingml/2006/main" noGrp="1"/>
          </p:cNvSpPr>
          <p:nvPr/>
        </p:nvSpPr>
        <p:spPr>
          <a:xfrm xmlns:a="http://schemas.openxmlformats.org/drawingml/2006/main">
            <a:off x="609600" y="5467350"/>
            <a:ext cx="547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Relevant to software documentation: explain what happened and what the person can do next.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2167a5752c741fb"/>
          <a:stretch xmlns:a="http://schemas.openxmlformats.org/drawingml/2006/main"/>
        </p:blipFill>
        <p:spPr>
          <a:xfrm xmlns:a="http://schemas.openxmlformats.org/drawingml/2006/main">
            <a:off x="6629400" y="1326390"/>
            <a:ext cx="2238375" cy="4795771"/>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610504e3cda45d2"/>
          <a:stretch xmlns:a="http://schemas.openxmlformats.org/drawingml/2006/main"/>
        </p:blipFill>
        <p:spPr>
          <a:xfrm xmlns:a="http://schemas.openxmlformats.org/drawingml/2006/main">
            <a:off x="9210675" y="1326390"/>
            <a:ext cx="2238375" cy="4795771"/>
          </a:xfrm>
          <a:prstGeom xmlns:a="http://schemas.openxmlformats.org/drawingml/2006/main" prst="rect">
            <a:avLst/>
          </a:prstGeom>
        </p:spPr>
      </p:pic>
      <p:sp>
        <p:nvSpPr>
          <p:cNvPr id="7" name="slide-number">
            <a:extLst xmlns:a="http://schemas.openxmlformats.org/drawingml/2006/main">
              <a:ext uri="{FF2B5EF4-FFF2-40B4-BE49-F238E27FC236}">
                <a16:creationId xmlns:a16="http://schemas.microsoft.com/office/drawing/2014/main" id="{1CA35288-34FC-49B7-A7F8-27348741CF7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1883043979"/>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0294F5D9-099B-414B-A21B-DA0563B25F3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DESIGNED LOCAL REGRESSION CASE</a:t>
            </a:r>
          </a:p>
        </p:txBody>
      </p:sp>
      <p:sp>
        <p:nvSpPr>
          <p:cNvPr id="2" name="headline">
            <a:extLst xmlns:a="http://schemas.openxmlformats.org/drawingml/2006/main">
              <a:ext uri="{FF2B5EF4-FFF2-40B4-BE49-F238E27FC236}">
                <a16:creationId xmlns:a16="http://schemas.microsoft.com/office/drawing/2014/main" id="{EF2579C1-433A-43BC-9047-6FC71EF5FD86}"/>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 rewrite must preserve the requirement</a:t>
            </a:r>
          </a:p>
        </p:txBody>
      </p:sp>
      <p:sp>
        <p:nvSpPr>
          <p:cNvPr id="3" name="before-label">
            <a:extLst xmlns:a="http://schemas.openxmlformats.org/drawingml/2006/main">
              <a:ext uri="{FF2B5EF4-FFF2-40B4-BE49-F238E27FC236}">
                <a16:creationId xmlns:a16="http://schemas.microsoft.com/office/drawing/2014/main" id="{DD8C7C2E-1781-42B9-8A00-A9AEF367E09A}"/>
              </a:ext>
            </a:extLst>
          </p:cNvPr>
          <p:cNvSpPr>
            <a:spLocks xmlns:a="http://schemas.openxmlformats.org/drawingml/2006/main" noGrp="1"/>
          </p:cNvSpPr>
          <p:nvPr/>
        </p:nvSpPr>
        <p:spPr>
          <a:xfrm xmlns:a="http://schemas.openxmlformats.org/drawingml/2006/main">
            <a:off x="609600" y="2476500"/>
            <a:ext cx="5953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 FIXTURE PROMPT</a:t>
            </a:r>
          </a:p>
        </p:txBody>
      </p:sp>
      <p:sp>
        <p:nvSpPr>
          <p:cNvPr id="4" name="after-label">
            <a:extLst xmlns:a="http://schemas.openxmlformats.org/drawingml/2006/main">
              <a:ext uri="{FF2B5EF4-FFF2-40B4-BE49-F238E27FC236}">
                <a16:creationId xmlns:a16="http://schemas.microsoft.com/office/drawing/2014/main" id="{39D440EE-B779-448E-B3D0-150CFFE39FBE}"/>
              </a:ext>
            </a:extLst>
          </p:cNvPr>
          <p:cNvSpPr>
            <a:spLocks xmlns:a="http://schemas.openxmlformats.org/drawingml/2006/main" noGrp="1"/>
          </p:cNvSpPr>
          <p:nvPr/>
        </p:nvSpPr>
        <p:spPr>
          <a:xfrm xmlns:a="http://schemas.openxmlformats.org/drawingml/2006/main">
            <a:off x="7181850" y="2476500"/>
            <a:ext cx="4314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SHORTER REWRITE</a:t>
            </a:r>
          </a:p>
        </p:txBody>
      </p:sp>
      <p:sp>
        <p:nvSpPr>
          <p:cNvPr id="5" name="before-prompt">
            <a:extLst xmlns:a="http://schemas.openxmlformats.org/drawingml/2006/main">
              <a:ext uri="{FF2B5EF4-FFF2-40B4-BE49-F238E27FC236}">
                <a16:creationId xmlns:a16="http://schemas.microsoft.com/office/drawing/2014/main" id="{BAC99E1E-36DB-4FE1-AFB7-0798DC491646}"/>
              </a:ext>
            </a:extLst>
          </p:cNvPr>
          <p:cNvSpPr>
            <a:spLocks xmlns:a="http://schemas.openxmlformats.org/drawingml/2006/main" noGrp="1"/>
          </p:cNvSpPr>
          <p:nvPr/>
        </p:nvSpPr>
        <p:spPr>
          <a:xfrm xmlns:a="http://schemas.openxmlformats.org/drawingml/2006/main">
            <a:off x="609600" y="3057525"/>
            <a:ext cx="5905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valid JSON only with fields category, article_id, confidence, and suggested_response. If confidence is below 0.7, set suggested_response to needs_review. Success: parser accepts the response.</a:t>
            </a:r>
          </a:p>
        </p:txBody>
      </p:sp>
      <p:sp>
        <p:nvSpPr>
          <p:cNvPr id="6" name="after-prompt">
            <a:extLst xmlns:a="http://schemas.openxmlformats.org/drawingml/2006/main">
              <a:ext uri="{FF2B5EF4-FFF2-40B4-BE49-F238E27FC236}">
                <a16:creationId xmlns:a16="http://schemas.microsoft.com/office/drawing/2014/main" id="{542F5E53-C972-4B0A-B1DC-5D5797C69275}"/>
              </a:ext>
            </a:extLst>
          </p:cNvPr>
          <p:cNvSpPr>
            <a:spLocks xmlns:a="http://schemas.openxmlformats.org/drawingml/2006/main" noGrp="1"/>
          </p:cNvSpPr>
          <p:nvPr/>
        </p:nvSpPr>
        <p:spPr>
          <a:xfrm xmlns:a="http://schemas.openxmlformats.org/drawingml/2006/main">
            <a:off x="7181850" y="3057525"/>
            <a:ext cx="43148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a clean structured answer with the best response for the user.</a:t>
            </a:r>
          </a:p>
        </p:txBody>
      </p:sp>
      <p:sp>
        <p:nvSpPr>
          <p:cNvPr id="7" name="expected-winner">
            <a:extLst xmlns:a="http://schemas.openxmlformats.org/drawingml/2006/main">
              <a:ext uri="{FF2B5EF4-FFF2-40B4-BE49-F238E27FC236}">
                <a16:creationId xmlns:a16="http://schemas.microsoft.com/office/drawing/2014/main" id="{8AE8048B-53D4-44CA-9AD5-57F7CD4573AA}"/>
              </a:ext>
            </a:extLst>
          </p:cNvPr>
          <p:cNvSpPr>
            <a:spLocks xmlns:a="http://schemas.openxmlformats.org/drawingml/2006/main" noGrp="1"/>
          </p:cNvSpPr>
          <p:nvPr/>
        </p:nvSpPr>
        <p:spPr>
          <a:xfrm xmlns:a="http://schemas.openxmlformats.org/drawingml/2006/main">
            <a:off x="609600" y="5486400"/>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244D3C"/>
                </a:solidFill>
                <a:latin typeface="Helvetica Neue"/>
                <a:ea typeface="Helvetica Neue"/>
                <a:cs typeface="Helvetica Neue"/>
              </a:defRPr>
            </a:pPr>
            <a:r>
              <a:rPr sz="2100" b="1">
                <a:solidFill>
                  <a:srgbClr val="244D3C"/>
                </a:solidFill>
                <a:latin typeface="Helvetica Neue"/>
                <a:ea typeface="Helvetica Neue"/>
                <a:cs typeface="Helvetica Neue"/>
              </a:rPr>
              <a:t>Expected winner: the original</a:t>
            </a:r>
          </a:p>
        </p:txBody>
      </p:sp>
      <p:sp>
        <p:nvSpPr>
          <p:cNvPr id="8" name="fixture-reason">
            <a:extLst xmlns:a="http://schemas.openxmlformats.org/drawingml/2006/main">
              <a:ext uri="{FF2B5EF4-FFF2-40B4-BE49-F238E27FC236}">
                <a16:creationId xmlns:a16="http://schemas.microsoft.com/office/drawing/2014/main" id="{8E36A7E2-EB30-4A36-9D19-8B35125BD1BA}"/>
              </a:ext>
            </a:extLst>
          </p:cNvPr>
          <p:cNvSpPr>
            <a:spLocks xmlns:a="http://schemas.openxmlformats.org/drawingml/2006/main" noGrp="1"/>
          </p:cNvSpPr>
          <p:nvPr/>
        </p:nvSpPr>
        <p:spPr>
          <a:xfrm xmlns:a="http://schemas.openxmlformats.org/drawingml/2006/main">
            <a:off x="609600" y="607695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The rewrite loses named fields, JSON-only output and the review condition.</a:t>
            </a:r>
          </a:p>
        </p:txBody>
      </p:sp>
      <p:sp>
        <p:nvSpPr>
          <p:cNvPr id="9" name="slide-number">
            <a:extLst xmlns:a="http://schemas.openxmlformats.org/drawingml/2006/main">
              <a:ext uri="{FF2B5EF4-FFF2-40B4-BE49-F238E27FC236}">
                <a16:creationId xmlns:a16="http://schemas.microsoft.com/office/drawing/2014/main" id="{0C7F4095-1A46-40C7-9221-FA0DDE612A9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300973485"/>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14156BBF-1A62-4C79-885D-1D83B57602E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LEARNING INNOVATIONS   /   AI ANALYST, FEB–OCT 2024</a:t>
            </a:r>
          </a:p>
        </p:txBody>
      </p:sp>
      <p:sp>
        <p:nvSpPr>
          <p:cNvPr id="2" name="headline">
            <a:extLst xmlns:a="http://schemas.openxmlformats.org/drawingml/2006/main">
              <a:ext uri="{FF2B5EF4-FFF2-40B4-BE49-F238E27FC236}">
                <a16:creationId xmlns:a16="http://schemas.microsoft.com/office/drawing/2014/main" id="{2224E435-8C4F-43BE-96E7-0D43977F832C}"/>
              </a:ext>
            </a:extLst>
          </p:cNvPr>
          <p:cNvSpPr>
            <a:spLocks xmlns:a="http://schemas.openxmlformats.org/drawingml/2006/main" noGrp="1"/>
          </p:cNvSpPr>
          <p:nvPr/>
        </p:nvSpPr>
        <p:spPr>
          <a:xfrm xmlns:a="http://schemas.openxmlformats.org/drawingml/2006/main">
            <a:off x="609600" y="1095375"/>
            <a:ext cx="68103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Mentor review shaped</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the learner workflow</a:t>
            </a:r>
          </a:p>
        </p:txBody>
      </p:sp>
      <p:sp>
        <p:nvSpPr>
          <p:cNvPr id="3" name="asu-purpose">
            <a:extLst xmlns:a="http://schemas.openxmlformats.org/drawingml/2006/main">
              <a:ext uri="{FF2B5EF4-FFF2-40B4-BE49-F238E27FC236}">
                <a16:creationId xmlns:a16="http://schemas.microsoft.com/office/drawing/2014/main" id="{DBBB8D63-7449-4D4C-B4DD-AD6FB9AE3216}"/>
              </a:ext>
            </a:extLst>
          </p:cNvPr>
          <p:cNvSpPr>
            <a:spLocks xmlns:a="http://schemas.openxmlformats.org/drawingml/2006/main" noGrp="1"/>
          </p:cNvSpPr>
          <p:nvPr/>
        </p:nvSpPr>
        <p:spPr>
          <a:xfrm xmlns:a="http://schemas.openxmlformats.org/drawingml/2006/main">
            <a:off x="609600" y="3228975"/>
            <a:ext cx="6286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proposed staged generation of personalized learner tasks, with a mentor checking the context and the output.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ed679cfe09a4bf1"/>
          <a:stretch xmlns:a="http://schemas.openxmlformats.org/drawingml/2006/main"/>
        </p:blipFill>
        <p:spPr>
          <a:xfrm xmlns:a="http://schemas.openxmlformats.org/drawingml/2006/main">
            <a:off x="8241908" y="1200150"/>
            <a:ext cx="2604285" cy="5038725"/>
          </a:xfrm>
          <a:prstGeom xmlns:a="http://schemas.openxmlformats.org/drawingml/2006/main" prst="rect">
            <a:avLst/>
          </a:prstGeom>
        </p:spPr>
      </p:pic>
      <p:sp>
        <p:nvSpPr>
          <p:cNvPr id="5" name="asu-stage">
            <a:extLst xmlns:a="http://schemas.openxmlformats.org/drawingml/2006/main">
              <a:ext uri="{FF2B5EF4-FFF2-40B4-BE49-F238E27FC236}">
                <a16:creationId xmlns:a16="http://schemas.microsoft.com/office/drawing/2014/main" id="{31FC55C2-A04D-4624-9AC9-880435190A9F}"/>
              </a:ext>
            </a:extLst>
          </p:cNvPr>
          <p:cNvSpPr>
            <a:spLocks xmlns:a="http://schemas.openxmlformats.org/drawingml/2006/main" noGrp="1"/>
          </p:cNvSpPr>
          <p:nvPr/>
        </p:nvSpPr>
        <p:spPr>
          <a:xfrm xmlns:a="http://schemas.openxmlformats.org/drawingml/2006/main">
            <a:off x="609600" y="5257800"/>
            <a:ext cx="6381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Simplified reconstruction of my 2024 proposal. Deployment and time savings were not established.</a:t>
            </a:r>
          </a:p>
        </p:txBody>
      </p:sp>
      <p:sp>
        <p:nvSpPr>
          <p:cNvPr id="6" name="slide-number">
            <a:extLst xmlns:a="http://schemas.openxmlformats.org/drawingml/2006/main">
              <a:ext uri="{FF2B5EF4-FFF2-40B4-BE49-F238E27FC236}">
                <a16:creationId xmlns:a16="http://schemas.microsoft.com/office/drawing/2014/main" id="{8E61E8D6-5B14-43C8-B063-2D333A2CA52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335841259"/>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580CF31B-89F3-423D-BEF9-C9E3C8C0359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INOVALON   /   PROPOSED FIRST CONTRIBUTION</a:t>
            </a:r>
          </a:p>
        </p:txBody>
      </p:sp>
      <p:sp>
        <p:nvSpPr>
          <p:cNvPr id="2" name="headline">
            <a:extLst xmlns:a="http://schemas.openxmlformats.org/drawingml/2006/main">
              <a:ext uri="{FF2B5EF4-FFF2-40B4-BE49-F238E27FC236}">
                <a16:creationId xmlns:a16="http://schemas.microsoft.com/office/drawing/2014/main" id="{EB437841-DBD3-40E7-818D-7DF6BD1DA3EE}"/>
              </a:ext>
            </a:extLst>
          </p:cNvPr>
          <p:cNvSpPr>
            <a:spLocks xmlns:a="http://schemas.openxmlformats.org/drawingml/2006/main" noGrp="1"/>
          </p:cNvSpPr>
          <p:nvPr/>
        </p:nvSpPr>
        <p:spPr>
          <a:xfrm xmlns:a="http://schemas.openxmlformats.org/drawingml/2006/main">
            <a:off x="609600" y="1066800"/>
            <a:ext cx="10896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 product task becomes</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 learning activity</a:t>
            </a:r>
          </a:p>
        </p:txBody>
      </p:sp>
      <p:sp>
        <p:nvSpPr>
          <p:cNvPr id="3" name="proposal-intro">
            <a:extLst xmlns:a="http://schemas.openxmlformats.org/drawingml/2006/main">
              <a:ext uri="{FF2B5EF4-FFF2-40B4-BE49-F238E27FC236}">
                <a16:creationId xmlns:a16="http://schemas.microsoft.com/office/drawing/2014/main" id="{65B5A204-DB8F-4FE2-93D0-01616AA386CE}"/>
              </a:ext>
            </a:extLst>
          </p:cNvPr>
          <p:cNvSpPr>
            <a:spLocks xmlns:a="http://schemas.openxmlformats.org/drawingml/2006/main" noGrp="1"/>
          </p:cNvSpPr>
          <p:nvPr/>
        </p:nvSpPr>
        <p:spPr>
          <a:xfrm xmlns:a="http://schemas.openxmlformats.org/drawingml/2006/main">
            <a:off x="609600" y="245745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For an on-demand module, I would work with your subject matter experts to connect the product task with practice and a measurable learning goal.</a:t>
            </a:r>
          </a:p>
        </p:txBody>
      </p:sp>
      <p:sp>
        <p:nvSpPr>
          <p:cNvPr id="4" name="proposal-steps">
            <a:extLst xmlns:a="http://schemas.openxmlformats.org/drawingml/2006/main">
              <a:ext uri="{FF2B5EF4-FFF2-40B4-BE49-F238E27FC236}">
                <a16:creationId xmlns:a16="http://schemas.microsoft.com/office/drawing/2014/main" id="{0CC01523-BA42-4909-8596-9B1C6D7B050C}"/>
              </a:ext>
            </a:extLst>
          </p:cNvPr>
          <p:cNvSpPr>
            <a:spLocks xmlns:a="http://schemas.openxmlformats.org/drawingml/2006/main" noGrp="1"/>
          </p:cNvSpPr>
          <p:nvPr/>
        </p:nvSpPr>
        <p:spPr>
          <a:xfrm xmlns:a="http://schemas.openxmlformats.org/drawingml/2006/main">
            <a:off x="609600" y="3486150"/>
            <a:ext cx="10334625"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Agree on the starting state and a successful result.</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Show a worked example, including a recovery path.</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Ask the learner to complete a different example and explain a decision.</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Review errors with the expert and revise the material.</a:t>
            </a:r>
          </a:p>
        </p:txBody>
      </p:sp>
      <p:sp>
        <p:nvSpPr>
          <p:cNvPr id="5" name="proposal-boundary">
            <a:extLst xmlns:a="http://schemas.openxmlformats.org/drawingml/2006/main">
              <a:ext uri="{FF2B5EF4-FFF2-40B4-BE49-F238E27FC236}">
                <a16:creationId xmlns:a16="http://schemas.microsoft.com/office/drawing/2014/main" id="{18F2C7AD-D83A-44FB-9D91-EAD969FF7B37}"/>
              </a:ext>
            </a:extLst>
          </p:cNvPr>
          <p:cNvSpPr>
            <a:spLocks xmlns:a="http://schemas.openxmlformats.org/drawingml/2006/main" noGrp="1"/>
          </p:cNvSpPr>
          <p:nvPr/>
        </p:nvSpPr>
        <p:spPr>
          <a:xfrm xmlns:a="http://schemas.openxmlformats.org/drawingml/2006/main">
            <a:off x="609600" y="624840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Proposed approach for discussion; no Inovalon product or client access is implied.</a:t>
            </a:r>
          </a:p>
        </p:txBody>
      </p:sp>
      <p:sp>
        <p:nvSpPr>
          <p:cNvPr id="6" name="slide-number">
            <a:extLst xmlns:a="http://schemas.openxmlformats.org/drawingml/2006/main">
              <a:ext uri="{FF2B5EF4-FFF2-40B4-BE49-F238E27FC236}">
                <a16:creationId xmlns:a16="http://schemas.microsoft.com/office/drawing/2014/main" id="{46C3CC55-4EF1-4DC5-AB03-C42EAEB8024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999088252"/>
      </p:ext>
    </p:extLst>
  </p:cSld>
</p:sld>
</file>

<file path=ppt/slides/slide9.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C9BB747B-F95D-45D9-8147-445AADD38940}"/>
              </a:ext>
            </a:extLst>
          </p:cNvPr>
          <p:cNvSpPr>
            <a:spLocks xmlns:a="http://schemas.openxmlformats.org/drawingml/2006/main" noGrp="1"/>
          </p:cNvSpPr>
          <p:nvPr/>
        </p:nvSpPr>
        <p:spPr>
          <a:xfrm xmlns:a="http://schemas.openxmlformats.org/drawingml/2006/main">
            <a:off x="609600" y="5238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INOVALON APPLICATION</a:t>
            </a:r>
          </a:p>
        </p:txBody>
      </p:sp>
      <p:sp>
        <p:nvSpPr>
          <p:cNvPr id="2" name="headline">
            <a:extLst xmlns:a="http://schemas.openxmlformats.org/drawingml/2006/main">
              <a:ext uri="{FF2B5EF4-FFF2-40B4-BE49-F238E27FC236}">
                <a16:creationId xmlns:a16="http://schemas.microsoft.com/office/drawing/2014/main" id="{62A75535-E786-425D-888E-9B40A0CCDB66}"/>
              </a:ext>
            </a:extLst>
          </p:cNvPr>
          <p:cNvSpPr>
            <a:spLocks xmlns:a="http://schemas.openxmlformats.org/drawingml/2006/main" noGrp="1"/>
          </p:cNvSpPr>
          <p:nvPr/>
        </p:nvSpPr>
        <p:spPr>
          <a:xfrm xmlns:a="http://schemas.openxmlformats.org/drawingml/2006/main">
            <a:off x="609600" y="1571625"/>
            <a:ext cx="107632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Instructional Designer</a:t>
            </a:r>
          </a:p>
        </p:txBody>
      </p:sp>
      <p:sp>
        <p:nvSpPr>
          <p:cNvPr id="3" name="contact-intent">
            <a:extLst xmlns:a="http://schemas.openxmlformats.org/drawingml/2006/main">
              <a:ext uri="{FF2B5EF4-FFF2-40B4-BE49-F238E27FC236}">
                <a16:creationId xmlns:a16="http://schemas.microsoft.com/office/drawing/2014/main" id="{BAD7816E-D245-4FE1-BA91-D947B8F7A081}"/>
              </a:ext>
            </a:extLst>
          </p:cNvPr>
          <p:cNvSpPr>
            <a:spLocks xmlns:a="http://schemas.openxmlformats.org/drawingml/2006/main" noGrp="1"/>
          </p:cNvSpPr>
          <p:nvPr/>
        </p:nvSpPr>
        <p:spPr>
          <a:xfrm xmlns:a="http://schemas.openxmlformats.org/drawingml/2006/main">
            <a:off x="647700" y="3714750"/>
            <a:ext cx="100203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Based in Mesa, Arizona. Available for U.S. remote work.</a:t>
            </a:r>
          </a:p>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Authorized to work without sponsorship. Available ASAP.</a:t>
            </a:r>
          </a:p>
        </p:txBody>
      </p:sp>
      <p:sp>
        <p:nvSpPr>
          <p:cNvPr id="4" name="email">
            <a:extLst xmlns:a="http://schemas.openxmlformats.org/drawingml/2006/main">
              <a:ext uri="{FF2B5EF4-FFF2-40B4-BE49-F238E27FC236}">
                <a16:creationId xmlns:a16="http://schemas.microsoft.com/office/drawing/2014/main" id="{105D31E9-5218-4EF8-B257-395A617CDCB0}"/>
              </a:ext>
            </a:extLst>
          </p:cNvPr>
          <p:cNvSpPr>
            <a:spLocks xmlns:a="http://schemas.openxmlformats.org/drawingml/2006/main" noGrp="1"/>
          </p:cNvSpPr>
          <p:nvPr/>
        </p:nvSpPr>
        <p:spPr>
          <a:xfrm xmlns:a="http://schemas.openxmlformats.org/drawingml/2006/main">
            <a:off x="647700" y="510540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2bc00cafdfc44f34"/>
              </a:rPr>
              <a:t>JonathanKyleHobson@gmail.com</a:t>
            </a:r>
          </a:p>
        </p:txBody>
      </p:sp>
      <p:sp>
        <p:nvSpPr>
          <p:cNvPr id="5" name="portfolio">
            <a:extLst xmlns:a="http://schemas.openxmlformats.org/drawingml/2006/main">
              <a:ext uri="{FF2B5EF4-FFF2-40B4-BE49-F238E27FC236}">
                <a16:creationId xmlns:a16="http://schemas.microsoft.com/office/drawing/2014/main" id="{B2F5146F-4AC7-4777-AEBD-64E142500AC5}"/>
              </a:ext>
            </a:extLst>
          </p:cNvPr>
          <p:cNvSpPr>
            <a:spLocks xmlns:a="http://schemas.openxmlformats.org/drawingml/2006/main" noGrp="1"/>
          </p:cNvSpPr>
          <p:nvPr/>
        </p:nvSpPr>
        <p:spPr>
          <a:xfrm xmlns:a="http://schemas.openxmlformats.org/drawingml/2006/main">
            <a:off x="647700" y="57721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faacbfc8c68e4b4a"/>
              </a:rPr>
              <a:t>View the tailored Inovalon portfolio</a:t>
            </a:r>
          </a:p>
        </p:txBody>
      </p:sp>
      <p:sp>
        <p:nvSpPr>
          <p:cNvPr id="6" name="slide-number">
            <a:extLst xmlns:a="http://schemas.openxmlformats.org/drawingml/2006/main">
              <a:ext uri="{FF2B5EF4-FFF2-40B4-BE49-F238E27FC236}">
                <a16:creationId xmlns:a16="http://schemas.microsoft.com/office/drawing/2014/main" id="{0FC8EADF-2D94-437B-8654-52493FFA6B4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09</a:t>
            </a:r>
          </a:p>
        </p:txBody>
      </p:sp>
    </p:spTree>
    <p:extLst>
      <p:ext uri="{BB962C8B-B14F-4D97-AF65-F5344CB8AC3E}">
        <p14:creationId xmlns:p14="http://schemas.microsoft.com/office/powerpoint/2010/main" val="1196061136"/>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2026-09-08T18:17:15.1060000Z</dcterms:created>
  <dcterms:modified xsi:type="dcterms:W3CDTF">2026-09-08T18:17:15.1060000Z</dcterms:modified>
</coreProperties>
</file>