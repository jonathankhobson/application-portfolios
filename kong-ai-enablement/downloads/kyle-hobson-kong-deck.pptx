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ff9ea3c14843fb" /><Relationship Type="http://schemas.openxmlformats.org/officeDocument/2006/relationships/extended-properties" Target="/docProps/app.xml" Id="R0d482676644a42e9" /><Relationship Type="http://schemas.openxmlformats.org/officeDocument/2006/relationships/officeDocument" Target="/ppt/presentation.xml" Id="Re4570afcd2004cbb" /></Relationships>
</file>

<file path=ppt/presentation.xml><?xml version="1.0" encoding="utf-8"?>
<p:presentation xmlns:p="http://schemas.openxmlformats.org/presentationml/2006/main">
  <p:sldMasterIdLst>
    <p:sldMasterId xmlns:r="http://schemas.openxmlformats.org/officeDocument/2006/relationships" id="2147483648" r:id="R3cd747ca87f046af"/>
  </p:sldMasterIdLst>
  <p:notesMasterIdLst>
    <p:notesMasterId xmlns:r="http://schemas.openxmlformats.org/officeDocument/2006/relationships" r:id="Ref9c6abd45084e07"/>
  </p:notesMasterIdLst>
  <p:sldIdLst>
    <p:sldId xmlns:r="http://schemas.openxmlformats.org/officeDocument/2006/relationships" id="256" r:id="R47e3a2a6d23d4a53"/>
    <p:sldId xmlns:r="http://schemas.openxmlformats.org/officeDocument/2006/relationships" id="257" r:id="Rd7bc7ed458694673"/>
    <p:sldId xmlns:r="http://schemas.openxmlformats.org/officeDocument/2006/relationships" id="258" r:id="R7f48a6e2e04a4903"/>
    <p:sldId xmlns:r="http://schemas.openxmlformats.org/officeDocument/2006/relationships" id="259" r:id="R8e7649d3be4e4e62"/>
    <p:sldId xmlns:r="http://schemas.openxmlformats.org/officeDocument/2006/relationships" id="260" r:id="Rbae0e420fc95419c"/>
    <p:sldId xmlns:r="http://schemas.openxmlformats.org/officeDocument/2006/relationships" id="261" r:id="R5880addde69144b2"/>
    <p:sldId xmlns:r="http://schemas.openxmlformats.org/officeDocument/2006/relationships" id="262" r:id="Rcfba296387ff4d18"/>
    <p:sldId xmlns:r="http://schemas.openxmlformats.org/officeDocument/2006/relationships" id="263" r:id="R3b3c5bce6da24113"/>
    <p:sldId xmlns:r="http://schemas.openxmlformats.org/officeDocument/2006/relationships" id="264" r:id="Rcc8fe865bf754d7a"/>
    <p:sldId xmlns:r="http://schemas.openxmlformats.org/officeDocument/2006/relationships" id="265" r:id="R2094719cceaa48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879c9ef38c4ace" /><Relationship Type="http://schemas.openxmlformats.org/officeDocument/2006/relationships/slideMaster" Target="/ppt/slideMasters/slideMaster1.xml" Id="R3cd747ca87f046af" /><Relationship Type="http://schemas.openxmlformats.org/officeDocument/2006/relationships/notesMaster" Target="/ppt/notesMasters/notesMaster1.xml" Id="Ref9c6abd45084e07" /><Relationship Type="http://schemas.openxmlformats.org/officeDocument/2006/relationships/presProps" Target="/ppt/presProps.xml" Id="Rb6eb54b9354f4137" /><Relationship Type="http://schemas.openxmlformats.org/officeDocument/2006/relationships/tableStyles" Target="/ppt/tableStyles.xml" Id="R010f428338934bca" /><Relationship Type="http://schemas.openxmlformats.org/officeDocument/2006/relationships/slide" Target="/ppt/slides/slide1.xml" Id="R47e3a2a6d23d4a53" /><Relationship Type="http://schemas.openxmlformats.org/officeDocument/2006/relationships/slide" Target="/ppt/slides/slide2.xml" Id="Rd7bc7ed458694673" /><Relationship Type="http://schemas.openxmlformats.org/officeDocument/2006/relationships/slide" Target="/ppt/slides/slide3.xml" Id="R7f48a6e2e04a4903" /><Relationship Type="http://schemas.openxmlformats.org/officeDocument/2006/relationships/slide" Target="/ppt/slides/slide4.xml" Id="R8e7649d3be4e4e62" /><Relationship Type="http://schemas.openxmlformats.org/officeDocument/2006/relationships/slide" Target="/ppt/slides/slide5.xml" Id="Rbae0e420fc95419c" /><Relationship Type="http://schemas.openxmlformats.org/officeDocument/2006/relationships/slide" Target="/ppt/slides/slide6.xml" Id="R5880addde69144b2" /><Relationship Type="http://schemas.openxmlformats.org/officeDocument/2006/relationships/slide" Target="/ppt/slides/slide7.xml" Id="Rcfba296387ff4d18" /><Relationship Type="http://schemas.openxmlformats.org/officeDocument/2006/relationships/slide" Target="/ppt/slides/slide8.xml" Id="R3b3c5bce6da24113" /><Relationship Type="http://schemas.openxmlformats.org/officeDocument/2006/relationships/slide" Target="/ppt/slides/slide9.xml" Id="Rcc8fe865bf754d7a" /><Relationship Type="http://schemas.openxmlformats.org/officeDocument/2006/relationships/slide" Target="/ppt/slides/slide10.xml" Id="R2094719cceaa48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019afdd89e4d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b6746d7c8340d6" /><Relationship Type="http://schemas.openxmlformats.org/officeDocument/2006/relationships/notesMaster" Target="/ppt/notesMasters/notesMaster1.xml" Id="R21cc6d56c97246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3dcec2bc7c43f7" /><Relationship Type="http://schemas.openxmlformats.org/officeDocument/2006/relationships/notesMaster" Target="/ppt/notesMasters/notesMaster1.xml" Id="R9c0fc159c1e546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23ea27fd5d41ab" /><Relationship Type="http://schemas.openxmlformats.org/officeDocument/2006/relationships/notesMaster" Target="/ppt/notesMasters/notesMaster1.xml" Id="R680cc3f21f964b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67969591044300" /><Relationship Type="http://schemas.openxmlformats.org/officeDocument/2006/relationships/notesMaster" Target="/ppt/notesMasters/notesMaster1.xml" Id="R5bef30184b8e43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f4b6beb990476f" /><Relationship Type="http://schemas.openxmlformats.org/officeDocument/2006/relationships/notesMaster" Target="/ppt/notesMasters/notesMaster1.xml" Id="R47aa758b11e144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be8ec3c3c54f12" /><Relationship Type="http://schemas.openxmlformats.org/officeDocument/2006/relationships/notesMaster" Target="/ppt/notesMasters/notesMaster1.xml" Id="R8a2010fc521742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0571442a7d4db3" /><Relationship Type="http://schemas.openxmlformats.org/officeDocument/2006/relationships/notesMaster" Target="/ppt/notesMasters/notesMaster1.xml" Id="R2a7d7be607c843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e6bd6d72f74a1b" /><Relationship Type="http://schemas.openxmlformats.org/officeDocument/2006/relationships/notesMaster" Target="/ppt/notesMasters/notesMaster1.xml" Id="R392b4b9faf114b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1b1d9d7a2f4507" /><Relationship Type="http://schemas.openxmlformats.org/officeDocument/2006/relationships/notesMaster" Target="/ppt/notesMasters/notesMaster1.xml" Id="Rd1c81de36d194a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43aba68dd54295" /><Relationship Type="http://schemas.openxmlformats.org/officeDocument/2006/relationships/notesMaster" Target="/ppt/notesMasters/notesMaster1.xml" Id="R136cd001b18f4e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Kong Senior AI Enablement Specialist - FE, https://jobs.ashbyhq.com/kong/9f026472-42bb-4482-a097-f8375d9cad6e . Displayed work belongs to prior Coursera, FactorLab and Oak experience. Decorative cover is existing canonical art,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prompt-compass case and public beta3 release. Kyle built and released the tool with installable packages and source downloads. Diagram is reconstructed from implementation, not an original product screenshot. Does not establish customer adoption, employee use, or daily mastery of every Claude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October 1,2024 Course Shell Feedback rows16,19,20,22 and instructor-response notes. Four rows summarize actual concerns and recorded revisions. Completed appears in instructor-response status; separate QA ID Approval remains false. No final row-level signoff or measured learner gain claimed. Native editable two-column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ai.json prompt-compass case. Original developer-authored regression fixture, reformatted for the portfolio. May2026 local work is separate from the April27 public beta. Deterministic literal-term checks report missing fields in the rewrite; they do not execute an LLM, parse its output or establish model accuracy. The low-confidence threshold is a test instruction, not a deployed enterprise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ai.json teaching-ai case, original 2024 lesson material and https://www.coursera.org/projects/chatgpt-beginners . Kyle created and taught the published project ChatGPT 4o for Beginners: Create Social Media Content. The crop preserves all original Task 3 goal text without changing source pixels: ai-course-goals.png x80 y85 w650 h370. Learning sequence and teaching materials are direct evidence; enrollment is not a learning-gain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teaching-ai case and original recorded revision instruction at 03:35. The screenshot preserves the historical interface and original text, including typos. Brew Bliss is fictional practice material. This slide shows teaching judgment, not a school deployment, controlled experiment or measured learner result. The retrospective check is a later reflection, not an assessment reported 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Experience synthesis, not a new case study. ASU IT Specialist Oct2020–Dec2022; Instructional Designer Apr2022–Oct2024; AI Analyst Feb–Oct2024. Related UX work begins2023. Overlapping roles are not summed, and technical/cross-functional experience is not five years solelyAI orUX. Last row is a proposed measure, not an observed enterprise adoption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informed by Kong Senior AI Enablement Specialist - FE requirements. Not prior Kong work, an agreed rollout, a time-savings guarantee or reported adoption result. Work within company data, permissions and tool-use rules; validate task-specific methods with the IT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Tailored Senior AI Enablement Specialist - FE packet. Related experience spans ASU learning design, Coursera teaching and assessment revisions, Prompt Compass and product research. No enterprise adoption metrics, company-wide training ownership, financial-domain expertise or mastery of each Claude product asserted. Mesa disclosed; Arizona payroll remains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e6431d6e7140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d0ce17a7674715" /><Relationship Type="http://schemas.openxmlformats.org/officeDocument/2006/relationships/slideLayout" Target="/ppt/slideLayouts/slideLayout1.xml" Id="Rabf01aec57fe4a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f01aec57fe4a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b477e3b9db4e38" /><Relationship Type="http://schemas.openxmlformats.org/officeDocument/2006/relationships/image" Target="/ppt/media/image.png" Id="R5ecec4054a344b8e" /><Relationship Type="http://schemas.openxmlformats.org/officeDocument/2006/relationships/notesSlide" Target="/ppt/notesSlides/notesSlide1.xml" Id="R02f9718abed647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a1def7690146f0" /><Relationship Type="http://schemas.openxmlformats.org/officeDocument/2006/relationships/image" Target="/ppt/media/image2.png" Id="R5e67c6264c24402f" /><Relationship Type="http://schemas.openxmlformats.org/officeDocument/2006/relationships/notesSlide" Target="/ppt/notesSlides/notesSlide2.xml" Id="R4a4dd50ec31b4e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c4ae997dda485b" /><Relationship Type="http://schemas.openxmlformats.org/officeDocument/2006/relationships/notesSlide" Target="/ppt/notesSlides/notesSlide3.xml" Id="R5d08785d8daf4f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268e900dc1424b" /><Relationship Type="http://schemas.openxmlformats.org/officeDocument/2006/relationships/image" Target="/ppt/media/image3.png" Id="R874cef96e37345a5" /><Relationship Type="http://schemas.openxmlformats.org/officeDocument/2006/relationships/notesSlide" Target="/ppt/notesSlides/notesSlide4.xml" Id="Rb017720c7f6f48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456d8a74b64eef" /><Relationship Type="http://schemas.openxmlformats.org/officeDocument/2006/relationships/image" Target="/ppt/media/image4.png" Id="R9b54dfdbf4854f67" /><Relationship Type="http://schemas.openxmlformats.org/officeDocument/2006/relationships/image" Target="/ppt/media/image5.png" Id="Rfbb48107a2c647df" /><Relationship Type="http://schemas.openxmlformats.org/officeDocument/2006/relationships/notesSlide" Target="/ppt/notesSlides/notesSlide5.xml" Id="R98368ff7b9fe45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06c0c3ba814bdc" /><Relationship Type="http://schemas.openxmlformats.org/officeDocument/2006/relationships/image" Target="/ppt/media/image6.png" Id="R411fb68234f34f90" /><Relationship Type="http://schemas.openxmlformats.org/officeDocument/2006/relationships/notesSlide" Target="/ppt/notesSlides/notesSlide6.xml" Id="Rab150b8e526d47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631a0aa8a9470d" /><Relationship Type="http://schemas.openxmlformats.org/officeDocument/2006/relationships/image" Target="/ppt/media/image7.png" Id="R7fafdfa4dadc43f0" /><Relationship Type="http://schemas.openxmlformats.org/officeDocument/2006/relationships/notesSlide" Target="/ppt/notesSlides/notesSlide7.xml" Id="R89dd7ecf60bb44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8e46cb9e864cb9" /><Relationship Type="http://schemas.openxmlformats.org/officeDocument/2006/relationships/notesSlide" Target="/ppt/notesSlides/notesSlide8.xml" Id="R19b2eb39a29a4d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3c3eb40d8b04c13" /><Relationship Type="http://schemas.openxmlformats.org/officeDocument/2006/relationships/notesSlide" Target="/ppt/notesSlides/notesSlide9.xml" Id="R4d641f5c328546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e1183d3d934881" /><Relationship Type="http://schemas.openxmlformats.org/officeDocument/2006/relationships/hyperlink" Target="mailto:JonathanKyleHobson@gmail.com" TargetMode="External" Id="R1cc518cd92d74300" /><Relationship Type="http://schemas.openxmlformats.org/officeDocument/2006/relationships/hyperlink" Target="https://jonathankhobson.github.io/application-portfolios/kong-ai-enablement/" TargetMode="External" Id="Rd6d0b5f5ae0d4ed7" /><Relationship Type="http://schemas.openxmlformats.org/officeDocument/2006/relationships/notesSlide" Target="/ppt/notesSlides/notesSlide10.xml" Id="R143dbfa17efe4576"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ecec4054a344b8e"/>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AABE0A07-4AE8-4A6C-8B3E-E381D1A99DEC}"/>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Kong · SENIOR AI ENABLEMENT SPECIALIST - FE</a:t>
            </a:r>
          </a:p>
        </p:txBody>
      </p:sp>
      <p:sp>
        <p:nvSpPr>
          <p:cNvPr id="3" name="headline">
            <a:extLst xmlns:a="http://schemas.openxmlformats.org/drawingml/2006/main">
              <a:ext uri="{FF2B5EF4-FFF2-40B4-BE49-F238E27FC236}">
                <a16:creationId xmlns:a16="http://schemas.microsoft.com/office/drawing/2014/main" id="{7FC0E7E4-324E-4283-9D10-4545B10FB251}"/>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Start with the work.</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Make the AI useful.</a:t>
            </a:r>
          </a:p>
        </p:txBody>
      </p:sp>
      <p:sp>
        <p:nvSpPr>
          <p:cNvPr id="4" name="cover-intro">
            <a:extLst xmlns:a="http://schemas.openxmlformats.org/drawingml/2006/main">
              <a:ext uri="{FF2B5EF4-FFF2-40B4-BE49-F238E27FC236}">
                <a16:creationId xmlns:a16="http://schemas.microsoft.com/office/drawing/2014/main" id="{18B3C0AC-C651-429A-A053-117955E6B001}"/>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Local AI tools, practical teaching</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research-informed workflow design.</a:t>
            </a:r>
          </a:p>
        </p:txBody>
      </p:sp>
      <p:sp>
        <p:nvSpPr>
          <p:cNvPr id="5" name="cover-role">
            <a:extLst xmlns:a="http://schemas.openxmlformats.org/drawingml/2006/main">
              <a:ext uri="{FF2B5EF4-FFF2-40B4-BE49-F238E27FC236}">
                <a16:creationId xmlns:a16="http://schemas.microsoft.com/office/drawing/2014/main" id="{66AD657C-5D4B-480A-A96D-76EB3AF04046}"/>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Senior AI Enablement Specialist - FE application · September 2026</a:t>
            </a:r>
          </a:p>
        </p:txBody>
      </p:sp>
      <p:sp>
        <p:nvSpPr>
          <p:cNvPr id="6" name="slide-number">
            <a:extLst xmlns:a="http://schemas.openxmlformats.org/drawingml/2006/main">
              <a:ext uri="{FF2B5EF4-FFF2-40B4-BE49-F238E27FC236}">
                <a16:creationId xmlns:a16="http://schemas.microsoft.com/office/drawing/2014/main" id="{0C85BB17-C18E-4DA4-A658-2F41098F9D2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97571171"/>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C1E34E3-E7A5-48E4-BFF4-9C01639595F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RELEASED TOOL AND WORKFLOW DESIGN</a:t>
            </a:r>
          </a:p>
        </p:txBody>
      </p:sp>
      <p:sp>
        <p:nvSpPr>
          <p:cNvPr id="2" name="headline">
            <a:extLst xmlns:a="http://schemas.openxmlformats.org/drawingml/2006/main">
              <a:ext uri="{FF2B5EF4-FFF2-40B4-BE49-F238E27FC236}">
                <a16:creationId xmlns:a16="http://schemas.microsoft.com/office/drawing/2014/main" id="{D407B323-0A46-41C0-8B6F-F2BC49A498E9}"/>
              </a:ext>
            </a:extLst>
          </p:cNvPr>
          <p:cNvSpPr>
            <a:spLocks xmlns:a="http://schemas.openxmlformats.org/drawingml/2006/main" noGrp="1"/>
          </p:cNvSpPr>
          <p:nvPr/>
        </p:nvSpPr>
        <p:spPr>
          <a:xfrm xmlns:a="http://schemas.openxmlformats.org/drawingml/2006/main">
            <a:off x="609600" y="10477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Give the tool a clear role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e67c6264c24402f"/>
          <a:stretch xmlns:a="http://schemas.openxmlformats.org/drawingml/2006/main"/>
        </p:blipFill>
        <p:spPr>
          <a:xfrm xmlns:a="http://schemas.openxmlformats.org/drawingml/2006/main">
            <a:off x="863819" y="2019300"/>
            <a:ext cx="10464362" cy="3371850"/>
          </a:xfrm>
          <a:prstGeom xmlns:a="http://schemas.openxmlformats.org/drawingml/2006/main" prst="rect">
            <a:avLst/>
          </a:prstGeom>
        </p:spPr>
      </p:pic>
      <p:sp>
        <p:nvSpPr>
          <p:cNvPr id="4" name="tool-boundary">
            <a:extLst xmlns:a="http://schemas.openxmlformats.org/drawingml/2006/main">
              <a:ext uri="{FF2B5EF4-FFF2-40B4-BE49-F238E27FC236}">
                <a16:creationId xmlns:a16="http://schemas.microsoft.com/office/drawing/2014/main" id="{9DE59BFE-DA75-4879-8A6C-399881357AF3}"/>
              </a:ext>
            </a:extLst>
          </p:cNvPr>
          <p:cNvSpPr>
            <a:spLocks xmlns:a="http://schemas.openxmlformats.org/drawingml/2006/main" noGrp="1"/>
          </p:cNvSpPr>
          <p:nvPr/>
        </p:nvSpPr>
        <p:spPr>
          <a:xfrm xmlns:a="http://schemas.openxmlformats.org/drawingml/2006/main">
            <a:off x="609600" y="56673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local tool returns structured checks and routing.</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host assistant handles the conversation and final wording.</a:t>
            </a:r>
          </a:p>
        </p:txBody>
      </p:sp>
      <p:sp>
        <p:nvSpPr>
          <p:cNvPr id="5" name="tool-source">
            <a:extLst xmlns:a="http://schemas.openxmlformats.org/drawingml/2006/main">
              <a:ext uri="{FF2B5EF4-FFF2-40B4-BE49-F238E27FC236}">
                <a16:creationId xmlns:a16="http://schemas.microsoft.com/office/drawing/2014/main" id="{D8920A02-2DEB-4F38-95AB-55BD7AC03299}"/>
              </a:ext>
            </a:extLst>
          </p:cNvPr>
          <p:cNvSpPr>
            <a:spLocks xmlns:a="http://schemas.openxmlformats.org/drawingml/2006/main" noGrp="1"/>
          </p:cNvSpPr>
          <p:nvPr/>
        </p:nvSpPr>
        <p:spPr>
          <a:xfrm xmlns:a="http://schemas.openxmlformats.org/drawingml/2006/main">
            <a:off x="609600" y="64103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Implementation-based portfolio diagram · public beta release, April 2026</a:t>
            </a:r>
          </a:p>
        </p:txBody>
      </p:sp>
      <p:sp>
        <p:nvSpPr>
          <p:cNvPr id="6" name="slide-number">
            <a:extLst xmlns:a="http://schemas.openxmlformats.org/drawingml/2006/main">
              <a:ext uri="{FF2B5EF4-FFF2-40B4-BE49-F238E27FC236}">
                <a16:creationId xmlns:a16="http://schemas.microsoft.com/office/drawing/2014/main" id="{2B90895A-D997-4C90-B881-5655FF5DC0C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590468223"/>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D55466E9-19BF-4282-91DF-0198CC99A1A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ASSESSMENT REVIEW, OCTOBER 2024</a:t>
            </a:r>
          </a:p>
        </p:txBody>
      </p:sp>
      <p:sp>
        <p:nvSpPr>
          <p:cNvPr id="2" name="headline">
            <a:extLst xmlns:a="http://schemas.openxmlformats.org/drawingml/2006/main">
              <a:ext uri="{FF2B5EF4-FFF2-40B4-BE49-F238E27FC236}">
                <a16:creationId xmlns:a16="http://schemas.microsoft.com/office/drawing/2014/main" id="{FF107DF2-D283-410D-B9C0-B6E30277F589}"/>
              </a:ext>
            </a:extLst>
          </p:cNvPr>
          <p:cNvSpPr>
            <a:spLocks xmlns:a="http://schemas.openxmlformats.org/drawingml/2006/main" noGrp="1"/>
          </p:cNvSpPr>
          <p:nvPr/>
        </p:nvSpPr>
        <p:spPr>
          <a:xfrm xmlns:a="http://schemas.openxmlformats.org/drawingml/2006/main">
            <a:off x="609600" y="10763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Make the review change the material</a:t>
            </a:r>
          </a:p>
        </p:txBody>
      </p:sp>
      <p:graphicFrame>
        <p:nvGraphicFramePr>
          <p:cNvPr id="8" name=""/>
          <p:cNvGraphicFramePr/>
          <p:nvPr/>
        </p:nvGraphicFramePr>
        <p:xfrm>
          <a:off xmlns:a="http://schemas.openxmlformats.org/drawingml/2006/main" x="609600" y="2219325"/>
          <a:ext xmlns:a="http://schemas.openxmlformats.org/drawingml/2006/main" cx="10972800" cy="3695700"/>
        </p:xfrm>
        <a:graphic xmlns:a="http://schemas.openxmlformats.org/drawingml/2006/main">
          <a:graphicData uri="http://schemas.openxmlformats.org/drawingml/2006/table">
            <a:tbl>
              <a:tblPr/>
              <a:tblGrid>
                <a:gridCol w="3886200"/>
                <a:gridCol w="7086600"/>
              </a:tblGrid>
              <a:tr h="495300">
                <a:tc>
                  <a:txBody>
                    <a:bodyPr wrap="square" lIns="152400" tIns="114300" rIns="152400" bIns="114300">
                      <a:noAutofit/>
                    </a:bodyPr>
                    <a:lstStyle/>
                    <a:p>
                      <a:r>
                        <a:rPr sz="1650" b="1">
                          <a:solidFill>
                            <a:srgbClr val="F4F2E9"/>
                          </a:solidFill>
                          <a:latin typeface="Helvetica Neue"/>
                          <a:ea typeface="Helvetica Neue"/>
                          <a:cs typeface="Helvetica Neue"/>
                        </a:rPr>
                        <a:t>Review finding</a:t>
                      </a:r>
                    </a:p>
                  </a:txBody>
                  <a:tcPr marL="91440" marR="91440" marT="45720" marB="45720" anchor="ctr">
                    <a:solidFill>
                      <a:srgbClr val="244D3C"/>
                    </a:solidFill>
                  </a:tcPr>
                </a:tc>
                <a:tc>
                  <a:txBody>
                    <a:bodyPr wrap="square" lIns="152400" tIns="114300" rIns="152400" bIns="114300">
                      <a:noAutofit/>
                    </a:bodyPr>
                    <a:lstStyle/>
                    <a:p>
                      <a:r>
                        <a:rPr sz="1650" b="1">
                          <a:solidFill>
                            <a:srgbClr val="F4F2E9"/>
                          </a:solidFill>
                          <a:latin typeface="Helvetica Neue"/>
                          <a:ea typeface="Helvetica Neue"/>
                          <a:cs typeface="Helvetica Neue"/>
                        </a:rPr>
                        <a:t>My documented revision</a:t>
                      </a:r>
                    </a:p>
                  </a:txBody>
                  <a:tcPr marL="91440" marR="91440" marT="45720" marB="45720" anchor="ctr">
                    <a:solidFill>
                      <a:srgbClr val="244D3C"/>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Choices were easy to eliminate</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Reworked distractors, especially Questions 7, 8 and 10.</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Question 7 tested only a definition</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Added application of the concept alongside the definition.</a:t>
                      </a:r>
                    </a:p>
                  </a:txBody>
                  <a:tcPr marL="91440" marR="91440" marT="45720" marB="45720" anchor="ctr">
                    <a:solidFill>
                      <a:srgbClr val="E1E8DB"/>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Retry feedback revealed answers</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Made feedback more neutral and referred learners to the lesson task.</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Task references were incorrect</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Corrected references across the assessment.</a:t>
                      </a:r>
                    </a:p>
                  </a:txBody>
                  <a:tcPr marL="91440" marR="91440" marT="45720" marB="45720" anchor="ctr">
                    <a:solidFill>
                      <a:srgbClr val="E1E8DB"/>
                    </a:solidFill>
                  </a:tcPr>
                </a:tc>
              </a:tr>
            </a:tbl>
          </a:graphicData>
        </a:graphic>
      </p:graphicFrame>
      <p:sp>
        <p:nvSpPr>
          <p:cNvPr id="4" name="review-source">
            <a:extLst xmlns:a="http://schemas.openxmlformats.org/drawingml/2006/main">
              <a:ext uri="{FF2B5EF4-FFF2-40B4-BE49-F238E27FC236}">
                <a16:creationId xmlns:a16="http://schemas.microsoft.com/office/drawing/2014/main" id="{E6A6BAFE-AC73-4D18-8445-A18D9FD9120D}"/>
              </a:ext>
            </a:extLst>
          </p:cNvPr>
          <p:cNvSpPr>
            <a:spLocks xmlns:a="http://schemas.openxmlformats.org/drawingml/2006/main" noGrp="1"/>
          </p:cNvSpPr>
          <p:nvPr/>
        </p:nvSpPr>
        <p:spPr>
          <a:xfrm xmlns:a="http://schemas.openxmlformats.org/drawingml/2006/main">
            <a:off x="609600" y="62579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Paraphrased original review and instructor-response notes · revisions, not final QA signoff</a:t>
            </a:r>
          </a:p>
        </p:txBody>
      </p:sp>
      <p:sp>
        <p:nvSpPr>
          <p:cNvPr id="5" name="slide-number">
            <a:extLst xmlns:a="http://schemas.openxmlformats.org/drawingml/2006/main">
              <a:ext uri="{FF2B5EF4-FFF2-40B4-BE49-F238E27FC236}">
                <a16:creationId xmlns:a16="http://schemas.microsoft.com/office/drawing/2014/main" id="{BEA8F006-3243-4843-82A0-0D9600BED73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841897609"/>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37CCCC45-F458-4B41-84D5-952C490D4E9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LOCAL REGRESSION EXAMPLE, MAY 2026</a:t>
            </a:r>
          </a:p>
        </p:txBody>
      </p:sp>
      <p:sp>
        <p:nvSpPr>
          <p:cNvPr id="2" name="headline">
            <a:extLst xmlns:a="http://schemas.openxmlformats.org/drawingml/2006/main">
              <a:ext uri="{FF2B5EF4-FFF2-40B4-BE49-F238E27FC236}">
                <a16:creationId xmlns:a16="http://schemas.microsoft.com/office/drawing/2014/main" id="{F92E52EE-09DB-4D6C-991F-085C6FAE4513}"/>
              </a:ext>
            </a:extLst>
          </p:cNvPr>
          <p:cNvSpPr>
            <a:spLocks xmlns:a="http://schemas.openxmlformats.org/drawingml/2006/main" noGrp="1"/>
          </p:cNvSpPr>
          <p:nvPr/>
        </p:nvSpPr>
        <p:spPr>
          <a:xfrm xmlns:a="http://schemas.openxmlformats.org/drawingml/2006/main">
            <a:off x="609600" y="103822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cleaner rewrite can lose the task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74cef96e37345a5"/>
          <a:stretch xmlns:a="http://schemas.openxmlformats.org/drawingml/2006/main"/>
        </p:blipFill>
        <p:spPr>
          <a:xfrm xmlns:a="http://schemas.openxmlformats.org/drawingml/2006/main">
            <a:off x="741293" y="2009775"/>
            <a:ext cx="10709413" cy="4105275"/>
          </a:xfrm>
          <a:prstGeom xmlns:a="http://schemas.openxmlformats.org/drawingml/2006/main" prst="rect">
            <a:avLst/>
          </a:prstGeom>
        </p:spPr>
      </p:pic>
      <p:sp>
        <p:nvSpPr>
          <p:cNvPr id="4" name="prompt-test-purpose">
            <a:extLst xmlns:a="http://schemas.openxmlformats.org/drawingml/2006/main">
              <a:ext uri="{FF2B5EF4-FFF2-40B4-BE49-F238E27FC236}">
                <a16:creationId xmlns:a16="http://schemas.microsoft.com/office/drawing/2014/main" id="{7AA37CAB-7939-4DBC-9F2E-3E2C8CAA26F7}"/>
              </a:ext>
            </a:extLst>
          </p:cNvPr>
          <p:cNvSpPr>
            <a:spLocks xmlns:a="http://schemas.openxmlformats.org/drawingml/2006/main" noGrp="1"/>
          </p:cNvSpPr>
          <p:nvPr/>
        </p:nvSpPr>
        <p:spPr>
          <a:xfrm xmlns:a="http://schemas.openxmlformats.org/drawingml/2006/main">
            <a:off x="609600" y="6238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test inputs, excerpted from the portfolio rendering · expected winner: original prompt</a:t>
            </a:r>
          </a:p>
        </p:txBody>
      </p:sp>
      <p:sp>
        <p:nvSpPr>
          <p:cNvPr id="5" name="slide-number">
            <a:extLst xmlns:a="http://schemas.openxmlformats.org/drawingml/2006/main">
              <a:ext uri="{FF2B5EF4-FFF2-40B4-BE49-F238E27FC236}">
                <a16:creationId xmlns:a16="http://schemas.microsoft.com/office/drawing/2014/main" id="{734754E1-431E-4B50-A681-91139975BC0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2145368929"/>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0A3B65F3-A77D-463E-ACC7-65D5DBB4AF3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FDEA46CA-80A6-4AB7-A223-40D22112AAF8}"/>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39CE7E2D-7DF2-495F-9176-49DD78754D6E}"/>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4060DEF7-F6C1-425F-9423-785EC8881BE6}"/>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5F215ECC-46CE-4B79-8B41-CFB8B24D8676}"/>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88E2220C-6DEC-48FD-A94D-C9BCC609921A}"/>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b54dfdbf4854f67"/>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bb48107a2c647df"/>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1C1D6BC4-6663-4449-9700-E866EF6690B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09332086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6394DCDB-4643-4957-B51D-9423E49044F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51C1ABE4-5C42-415D-8C21-CACAF4C2A4BF}"/>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Make revision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the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learner can see</a:t>
            </a:r>
          </a:p>
        </p:txBody>
      </p:sp>
      <p:sp>
        <p:nvSpPr>
          <p:cNvPr id="3" name="teaching-rationale">
            <a:extLst xmlns:a="http://schemas.openxmlformats.org/drawingml/2006/main">
              <a:ext uri="{FF2B5EF4-FFF2-40B4-BE49-F238E27FC236}">
                <a16:creationId xmlns:a16="http://schemas.microsoft.com/office/drawing/2014/main" id="{2DE8FE5F-108F-44CE-9824-FD47E6A1CF5A}"/>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D25DCABA-858F-4991-9521-1F73477A8551}"/>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11fb68234f34f90"/>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18E25421-FB00-4E9C-A139-0C3B3CD13FB3}"/>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467E3E3F-FC99-4D9C-9B0B-B7B4D610C5B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863896482"/>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447EBCAC-C3C5-4E38-A907-9DBEAA11971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3BD0D38B-5F0A-45C5-80A9-EF1A17C6F802}"/>
              </a:ext>
            </a:extLst>
          </p:cNvPr>
          <p:cNvSpPr>
            <a:spLocks xmlns:a="http://schemas.openxmlformats.org/drawingml/2006/main" noGrp="1"/>
          </p:cNvSpPr>
          <p:nvPr/>
        </p:nvSpPr>
        <p:spPr>
          <a:xfrm xmlns:a="http://schemas.openxmlformats.org/drawingml/2006/main">
            <a:off x="609600" y="1085850"/>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Review added detail</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before accepting it</a:t>
            </a:r>
          </a:p>
        </p:txBody>
      </p:sp>
      <p:sp>
        <p:nvSpPr>
          <p:cNvPr id="3" name="revision-need">
            <a:extLst xmlns:a="http://schemas.openxmlformats.org/drawingml/2006/main">
              <a:ext uri="{FF2B5EF4-FFF2-40B4-BE49-F238E27FC236}">
                <a16:creationId xmlns:a16="http://schemas.microsoft.com/office/drawing/2014/main" id="{31ABEF64-769F-42EB-B6FA-9257047248C9}"/>
              </a:ext>
            </a:extLst>
          </p:cNvPr>
          <p:cNvSpPr>
            <a:spLocks xmlns:a="http://schemas.openxmlformats.org/drawingml/2006/main" noGrp="1"/>
          </p:cNvSpPr>
          <p:nvPr/>
        </p:nvSpPr>
        <p:spPr>
          <a:xfrm xmlns:a="http://schemas.openxmlformats.org/drawingml/2006/main">
            <a:off x="609600" y="3019425"/>
            <a:ext cx="523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lesson made an instruction visible beside the result it changed. That gave learners something concrete to inspect.</a:t>
            </a:r>
          </a:p>
        </p:txBody>
      </p:sp>
      <p:sp>
        <p:nvSpPr>
          <p:cNvPr id="4" name="revision-check">
            <a:extLst xmlns:a="http://schemas.openxmlformats.org/drawingml/2006/main">
              <a:ext uri="{FF2B5EF4-FFF2-40B4-BE49-F238E27FC236}">
                <a16:creationId xmlns:a16="http://schemas.microsoft.com/office/drawing/2014/main" id="{F03F1D02-F264-4796-A2A0-AC8623C40D10}"/>
              </a:ext>
            </a:extLst>
          </p:cNvPr>
          <p:cNvSpPr>
            <a:spLocks xmlns:a="http://schemas.openxmlformats.org/drawingml/2006/main" noGrp="1"/>
          </p:cNvSpPr>
          <p:nvPr/>
        </p:nvSpPr>
        <p:spPr>
          <a:xfrm xmlns:a="http://schemas.openxmlformats.org/drawingml/2006/main">
            <a:off x="609600" y="4772025"/>
            <a:ext cx="5238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revised answer added detail. In my retrospective, I would make factual checks and length limits more explicit.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fafdfa4dadc43f0"/>
          <a:stretch xmlns:a="http://schemas.openxmlformats.org/drawingml/2006/main"/>
        </p:blipFill>
        <p:spPr>
          <a:xfrm xmlns:a="http://schemas.openxmlformats.org/drawingml/2006/main">
            <a:off x="6572250" y="3478584"/>
            <a:ext cx="4991100" cy="681883"/>
          </a:xfrm>
          <a:prstGeom xmlns:a="http://schemas.openxmlformats.org/drawingml/2006/main" prst="rect">
            <a:avLst/>
          </a:prstGeom>
        </p:spPr>
      </p:pic>
      <p:sp>
        <p:nvSpPr>
          <p:cNvPr id="6" name="revision-caption">
            <a:extLst xmlns:a="http://schemas.openxmlformats.org/drawingml/2006/main">
              <a:ext uri="{FF2B5EF4-FFF2-40B4-BE49-F238E27FC236}">
                <a16:creationId xmlns:a16="http://schemas.microsoft.com/office/drawing/2014/main" id="{F10DE195-9B3B-4F5A-AE70-9515E9BD6617}"/>
              </a:ext>
            </a:extLst>
          </p:cNvPr>
          <p:cNvSpPr>
            <a:spLocks xmlns:a="http://schemas.openxmlformats.org/drawingml/2006/main" noGrp="1"/>
          </p:cNvSpPr>
          <p:nvPr/>
        </p:nvSpPr>
        <p:spPr>
          <a:xfrm xmlns:a="http://schemas.openxmlformats.org/drawingml/2006/main">
            <a:off x="6572250" y="6115050"/>
            <a:ext cx="4991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2024 recording, Task 3 · 03:35</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Fictional practice brand · unchanged source excerpt</a:t>
            </a:r>
          </a:p>
        </p:txBody>
      </p:sp>
      <p:sp>
        <p:nvSpPr>
          <p:cNvPr id="7" name="slide-number">
            <a:extLst xmlns:a="http://schemas.openxmlformats.org/drawingml/2006/main">
              <a:ext uri="{FF2B5EF4-FFF2-40B4-BE49-F238E27FC236}">
                <a16:creationId xmlns:a16="http://schemas.microsoft.com/office/drawing/2014/main" id="{E3E03DA9-BA65-4051-9183-1FB02C2BF91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827578686"/>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D80CAC21-2264-4270-9595-4734B9AE0A0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 FACTORLAB · COURSERA   /   RELATED EXPERIENCE</a:t>
            </a:r>
          </a:p>
        </p:txBody>
      </p:sp>
      <p:sp>
        <p:nvSpPr>
          <p:cNvPr id="2" name="headline">
            <a:extLst xmlns:a="http://schemas.openxmlformats.org/drawingml/2006/main">
              <a:ext uri="{FF2B5EF4-FFF2-40B4-BE49-F238E27FC236}">
                <a16:creationId xmlns:a16="http://schemas.microsoft.com/office/drawing/2014/main" id="{4942C5E6-BB68-4B2D-975D-F4AE6E54B769}"/>
              </a:ext>
            </a:extLst>
          </p:cNvPr>
          <p:cNvSpPr>
            <a:spLocks xmlns:a="http://schemas.openxmlformats.org/drawingml/2006/main" noGrp="1"/>
          </p:cNvSpPr>
          <p:nvPr/>
        </p:nvSpPr>
        <p:spPr>
          <a:xfrm xmlns:a="http://schemas.openxmlformats.org/drawingml/2006/main">
            <a:off x="609600" y="11239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Bring the task and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the technical work together</a:t>
            </a:r>
          </a:p>
        </p:txBody>
      </p:sp>
      <p:sp>
        <p:nvSpPr>
          <p:cNvPr id="3" name="learner-context">
            <a:extLst xmlns:a="http://schemas.openxmlformats.org/drawingml/2006/main">
              <a:ext uri="{FF2B5EF4-FFF2-40B4-BE49-F238E27FC236}">
                <a16:creationId xmlns:a16="http://schemas.microsoft.com/office/drawing/2014/main" id="{3A555018-40A2-40E2-A443-958F0F8DB9A2}"/>
              </a:ext>
            </a:extLst>
          </p:cNvPr>
          <p:cNvSpPr>
            <a:spLocks xmlns:a="http://schemas.openxmlformats.org/drawingml/2006/main" noGrp="1"/>
          </p:cNvSpPr>
          <p:nvPr/>
        </p:nvSpPr>
        <p:spPr>
          <a:xfrm xmlns:a="http://schemas.openxmlformats.org/drawingml/2006/main">
            <a:off x="609600" y="3209925"/>
            <a:ext cx="5257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My ASU work spans IT support, digital learning and voice/chat evaluation. Product research adds practice clarifying the task before proposing a tool.</a:t>
            </a:r>
          </a:p>
        </p:txBody>
      </p:sp>
      <p:sp>
        <p:nvSpPr>
          <p:cNvPr id="4" name="learning-limits">
            <a:extLst xmlns:a="http://schemas.openxmlformats.org/drawingml/2006/main">
              <a:ext uri="{FF2B5EF4-FFF2-40B4-BE49-F238E27FC236}">
                <a16:creationId xmlns:a16="http://schemas.microsoft.com/office/drawing/2014/main" id="{DF4F761D-E1A8-4638-8545-465A9E4227BE}"/>
              </a:ext>
            </a:extLst>
          </p:cNvPr>
          <p:cNvSpPr>
            <a:spLocks xmlns:a="http://schemas.openxmlformats.org/drawingml/2006/main" noGrp="1"/>
          </p:cNvSpPr>
          <p:nvPr/>
        </p:nvSpPr>
        <p:spPr>
          <a:xfrm xmlns:a="http://schemas.openxmlformats.org/drawingml/2006/main">
            <a:off x="609600" y="5362575"/>
            <a:ext cx="5257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My next step would be to test a teaching approach with staff doing real work and measure what changes.</a:t>
            </a:r>
          </a:p>
        </p:txBody>
      </p:sp>
      <p:sp>
        <p:nvSpPr>
          <p:cNvPr id="5" name="status-0">
            <a:extLst xmlns:a="http://schemas.openxmlformats.org/drawingml/2006/main">
              <a:ext uri="{FF2B5EF4-FFF2-40B4-BE49-F238E27FC236}">
                <a16:creationId xmlns:a16="http://schemas.microsoft.com/office/drawing/2014/main" id="{C7C3FFD6-79E6-4C51-8366-AB0E6C732358}"/>
              </a:ext>
            </a:extLst>
          </p:cNvPr>
          <p:cNvSpPr>
            <a:spLocks xmlns:a="http://schemas.openxmlformats.org/drawingml/2006/main" noGrp="1"/>
          </p:cNvSpPr>
          <p:nvPr/>
        </p:nvSpPr>
        <p:spPr>
          <a:xfrm xmlns:a="http://schemas.openxmlformats.org/drawingml/2006/main">
            <a:off x="6800850" y="14859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IT support · 2020–2022</a:t>
            </a:r>
          </a:p>
        </p:txBody>
      </p:sp>
      <p:sp>
        <p:nvSpPr>
          <p:cNvPr id="6" name="status-description-0">
            <a:extLst xmlns:a="http://schemas.openxmlformats.org/drawingml/2006/main">
              <a:ext uri="{FF2B5EF4-FFF2-40B4-BE49-F238E27FC236}">
                <a16:creationId xmlns:a16="http://schemas.microsoft.com/office/drawing/2014/main" id="{E6B173D8-3AF5-45F0-9FF1-E3469F70111E}"/>
              </a:ext>
            </a:extLst>
          </p:cNvPr>
          <p:cNvSpPr>
            <a:spLocks xmlns:a="http://schemas.openxmlformats.org/drawingml/2006/main" noGrp="1"/>
          </p:cNvSpPr>
          <p:nvPr/>
        </p:nvSpPr>
        <p:spPr>
          <a:xfrm xmlns:a="http://schemas.openxmlformats.org/drawingml/2006/main">
            <a:off x="6800850" y="19145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Campus systems and hybrid transitions</a:t>
            </a:r>
          </a:p>
        </p:txBody>
      </p:sp>
      <p:sp>
        <p:nvSpPr>
          <p:cNvPr id="7" name="status-1">
            <a:extLst xmlns:a="http://schemas.openxmlformats.org/drawingml/2006/main">
              <a:ext uri="{FF2B5EF4-FFF2-40B4-BE49-F238E27FC236}">
                <a16:creationId xmlns:a16="http://schemas.microsoft.com/office/drawing/2014/main" id="{AFD31135-FFE5-482E-8668-0768C8BCE9C5}"/>
              </a:ext>
            </a:extLst>
          </p:cNvPr>
          <p:cNvSpPr>
            <a:spLocks xmlns:a="http://schemas.openxmlformats.org/drawingml/2006/main" noGrp="1"/>
          </p:cNvSpPr>
          <p:nvPr/>
        </p:nvSpPr>
        <p:spPr>
          <a:xfrm xmlns:a="http://schemas.openxmlformats.org/drawingml/2006/main">
            <a:off x="6800850" y="27051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Learning design · 2022–2024</a:t>
            </a:r>
          </a:p>
        </p:txBody>
      </p:sp>
      <p:sp>
        <p:nvSpPr>
          <p:cNvPr id="8" name="status-description-1">
            <a:extLst xmlns:a="http://schemas.openxmlformats.org/drawingml/2006/main">
              <a:ext uri="{FF2B5EF4-FFF2-40B4-BE49-F238E27FC236}">
                <a16:creationId xmlns:a16="http://schemas.microsoft.com/office/drawing/2014/main" id="{ADED4BA8-9D79-4628-80FB-B6E0D6F3C8CC}"/>
              </a:ext>
            </a:extLst>
          </p:cNvPr>
          <p:cNvSpPr>
            <a:spLocks xmlns:a="http://schemas.openxmlformats.org/drawingml/2006/main" noGrp="1"/>
          </p:cNvSpPr>
          <p:nvPr/>
        </p:nvSpPr>
        <p:spPr>
          <a:xfrm xmlns:a="http://schemas.openxmlformats.org/drawingml/2006/main">
            <a:off x="6800850" y="31337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Digital materials and workshops</a:t>
            </a:r>
          </a:p>
        </p:txBody>
      </p:sp>
      <p:sp>
        <p:nvSpPr>
          <p:cNvPr id="9" name="status-2">
            <a:extLst xmlns:a="http://schemas.openxmlformats.org/drawingml/2006/main">
              <a:ext uri="{FF2B5EF4-FFF2-40B4-BE49-F238E27FC236}">
                <a16:creationId xmlns:a16="http://schemas.microsoft.com/office/drawing/2014/main" id="{5201013D-D49B-41BD-8B13-624033733B13}"/>
              </a:ext>
            </a:extLst>
          </p:cNvPr>
          <p:cNvSpPr>
            <a:spLocks xmlns:a="http://schemas.openxmlformats.org/drawingml/2006/main" noGrp="1"/>
          </p:cNvSpPr>
          <p:nvPr/>
        </p:nvSpPr>
        <p:spPr>
          <a:xfrm xmlns:a="http://schemas.openxmlformats.org/drawingml/2006/main">
            <a:off x="6800850" y="39243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Related UX work · 2023 onward</a:t>
            </a:r>
          </a:p>
        </p:txBody>
      </p:sp>
      <p:sp>
        <p:nvSpPr>
          <p:cNvPr id="10" name="status-description-2">
            <a:extLst xmlns:a="http://schemas.openxmlformats.org/drawingml/2006/main">
              <a:ext uri="{FF2B5EF4-FFF2-40B4-BE49-F238E27FC236}">
                <a16:creationId xmlns:a16="http://schemas.microsoft.com/office/drawing/2014/main" id="{A5D9713B-E226-4FA2-AFE1-8179EB3C4D13}"/>
              </a:ext>
            </a:extLst>
          </p:cNvPr>
          <p:cNvSpPr>
            <a:spLocks xmlns:a="http://schemas.openxmlformats.org/drawingml/2006/main" noGrp="1"/>
          </p:cNvSpPr>
          <p:nvPr/>
        </p:nvSpPr>
        <p:spPr>
          <a:xfrm xmlns:a="http://schemas.openxmlformats.org/drawingml/2006/main">
            <a:off x="6800850" y="43529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Research, decisions and engineering handoff</a:t>
            </a:r>
          </a:p>
        </p:txBody>
      </p:sp>
      <p:sp>
        <p:nvSpPr>
          <p:cNvPr id="11" name="status-3">
            <a:extLst xmlns:a="http://schemas.openxmlformats.org/drawingml/2006/main">
              <a:ext uri="{FF2B5EF4-FFF2-40B4-BE49-F238E27FC236}">
                <a16:creationId xmlns:a16="http://schemas.microsoft.com/office/drawing/2014/main" id="{7CBD2F23-06B0-4541-A246-B2DB4FDBEC28}"/>
              </a:ext>
            </a:extLst>
          </p:cNvPr>
          <p:cNvSpPr>
            <a:spLocks xmlns:a="http://schemas.openxmlformats.org/drawingml/2006/main" noGrp="1"/>
          </p:cNvSpPr>
          <p:nvPr/>
        </p:nvSpPr>
        <p:spPr>
          <a:xfrm xmlns:a="http://schemas.openxmlformats.org/drawingml/2006/main">
            <a:off x="6800850" y="51435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Evaluation to propose</a:t>
            </a:r>
          </a:p>
        </p:txBody>
      </p:sp>
      <p:sp>
        <p:nvSpPr>
          <p:cNvPr id="12" name="status-description-3">
            <a:extLst xmlns:a="http://schemas.openxmlformats.org/drawingml/2006/main">
              <a:ext uri="{FF2B5EF4-FFF2-40B4-BE49-F238E27FC236}">
                <a16:creationId xmlns:a16="http://schemas.microsoft.com/office/drawing/2014/main" id="{A5839410-B97D-46CF-84E7-E560517D62AC}"/>
              </a:ext>
            </a:extLst>
          </p:cNvPr>
          <p:cNvSpPr>
            <a:spLocks xmlns:a="http://schemas.openxmlformats.org/drawingml/2006/main" noGrp="1"/>
          </p:cNvSpPr>
          <p:nvPr/>
        </p:nvSpPr>
        <p:spPr>
          <a:xfrm xmlns:a="http://schemas.openxmlformats.org/drawingml/2006/main">
            <a:off x="6800850" y="55721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Completion, correction and repeat use</a:t>
            </a:r>
          </a:p>
        </p:txBody>
      </p:sp>
      <p:sp>
        <p:nvSpPr>
          <p:cNvPr id="13" name="slide-number">
            <a:extLst xmlns:a="http://schemas.openxmlformats.org/drawingml/2006/main">
              <a:ext uri="{FF2B5EF4-FFF2-40B4-BE49-F238E27FC236}">
                <a16:creationId xmlns:a16="http://schemas.microsoft.com/office/drawing/2014/main" id="{5E3A0630-9F5B-4BAD-8E90-8808B4DEF58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397387667"/>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FE4EA189-6A4B-44FB-A511-5B4E08301C8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KONG IT TEAM</a:t>
            </a:r>
          </a:p>
        </p:txBody>
      </p:sp>
      <p:sp>
        <p:nvSpPr>
          <p:cNvPr id="2" name="headline">
            <a:extLst xmlns:a="http://schemas.openxmlformats.org/drawingml/2006/main">
              <a:ext uri="{FF2B5EF4-FFF2-40B4-BE49-F238E27FC236}">
                <a16:creationId xmlns:a16="http://schemas.microsoft.com/office/drawing/2014/main" id="{ABA8E108-7F28-457B-B5B3-1C83AF6C5264}"/>
              </a:ext>
            </a:extLst>
          </p:cNvPr>
          <p:cNvSpPr>
            <a:spLocks xmlns:a="http://schemas.openxmlformats.org/drawingml/2006/main" noGrp="1"/>
          </p:cNvSpPr>
          <p:nvPr/>
        </p:nvSpPr>
        <p:spPr>
          <a:xfrm xmlns:a="http://schemas.openxmlformats.org/drawingml/2006/main">
            <a:off x="609600" y="1076325"/>
            <a:ext cx="1085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225" b="1">
                <a:solidFill>
                  <a:srgbClr val="192B25"/>
                </a:solidFill>
                <a:latin typeface="Helvetica Neue"/>
                <a:ea typeface="Helvetica Neue"/>
                <a:cs typeface="Helvetica Neue"/>
              </a:defRPr>
            </a:pPr>
            <a:r>
              <a:rPr sz="3225" b="1">
                <a:solidFill>
                  <a:srgbClr val="192B25"/>
                </a:solidFill>
                <a:latin typeface="Helvetica Neue"/>
                <a:ea typeface="Helvetica Neue"/>
                <a:cs typeface="Helvetica Neue"/>
              </a:rPr>
              <a:t>Build one workflow with the team using it</a:t>
            </a:r>
          </a:p>
        </p:txBody>
      </p:sp>
      <p:sp>
        <p:nvSpPr>
          <p:cNvPr id="3" name="purpose-heading">
            <a:extLst xmlns:a="http://schemas.openxmlformats.org/drawingml/2006/main">
              <a:ext uri="{FF2B5EF4-FFF2-40B4-BE49-F238E27FC236}">
                <a16:creationId xmlns:a16="http://schemas.microsoft.com/office/drawing/2014/main" id="{2B8762B2-163F-416A-82E6-32DEDDCEC3C7}"/>
              </a:ext>
            </a:extLst>
          </p:cNvPr>
          <p:cNvSpPr>
            <a:spLocks xmlns:a="http://schemas.openxmlformats.org/drawingml/2006/main" noGrp="1"/>
          </p:cNvSpPr>
          <p:nvPr/>
        </p:nvSpPr>
        <p:spPr>
          <a:xfrm xmlns:a="http://schemas.openxmlformats.org/drawingml/2006/main">
            <a:off x="609600" y="2914650"/>
            <a:ext cx="500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Map the actual work</a:t>
            </a:r>
          </a:p>
        </p:txBody>
      </p:sp>
      <p:sp>
        <p:nvSpPr>
          <p:cNvPr id="4" name="purpose-body">
            <a:extLst xmlns:a="http://schemas.openxmlformats.org/drawingml/2006/main">
              <a:ext uri="{FF2B5EF4-FFF2-40B4-BE49-F238E27FC236}">
                <a16:creationId xmlns:a16="http://schemas.microsoft.com/office/drawing/2014/main" id="{134383F1-80A9-4ACE-B43D-BD10BC2D8A05}"/>
              </a:ext>
            </a:extLst>
          </p:cNvPr>
          <p:cNvSpPr>
            <a:spLocks xmlns:a="http://schemas.openxmlformats.org/drawingml/2006/main" noGrp="1"/>
          </p:cNvSpPr>
          <p:nvPr/>
        </p:nvSpPr>
        <p:spPr>
          <a:xfrm xmlns:a="http://schemas.openxmlformats.org/drawingml/2006/main">
            <a:off x="609600" y="3457575"/>
            <a:ext cx="5143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Ask about the task, data and current effort.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Agree on a safe practice example and what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 useful result must preserve.</a:t>
            </a:r>
          </a:p>
        </p:txBody>
      </p:sp>
      <p:sp>
        <p:nvSpPr>
          <p:cNvPr id="5" name="structure-heading">
            <a:extLst xmlns:a="http://schemas.openxmlformats.org/drawingml/2006/main">
              <a:ext uri="{FF2B5EF4-FFF2-40B4-BE49-F238E27FC236}">
                <a16:creationId xmlns:a16="http://schemas.microsoft.com/office/drawing/2014/main" id="{87332DA2-0E7B-416E-B4A4-62803D72C36D}"/>
              </a:ext>
            </a:extLst>
          </p:cNvPr>
          <p:cNvSpPr>
            <a:spLocks xmlns:a="http://schemas.openxmlformats.org/drawingml/2006/main" noGrp="1"/>
          </p:cNvSpPr>
          <p:nvPr/>
        </p:nvSpPr>
        <p:spPr>
          <a:xfrm xmlns:a="http://schemas.openxmlformats.org/drawingml/2006/main">
            <a:off x="6705600" y="2914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Build a small working version</a:t>
            </a:r>
          </a:p>
        </p:txBody>
      </p:sp>
      <p:sp>
        <p:nvSpPr>
          <p:cNvPr id="6" name="structure-body">
            <a:extLst xmlns:a="http://schemas.openxmlformats.org/drawingml/2006/main">
              <a:ext uri="{FF2B5EF4-FFF2-40B4-BE49-F238E27FC236}">
                <a16:creationId xmlns:a16="http://schemas.microsoft.com/office/drawing/2014/main" id="{DC4EB149-54EB-4191-92B0-A2770EDAA220}"/>
              </a:ext>
            </a:extLst>
          </p:cNvPr>
          <p:cNvSpPr>
            <a:spLocks xmlns:a="http://schemas.openxmlformats.org/drawingml/2006/main" noGrp="1"/>
          </p:cNvSpPr>
          <p:nvPr/>
        </p:nvSpPr>
        <p:spPr>
          <a:xfrm xmlns:a="http://schemas.openxmlformats.org/drawingml/2006/main">
            <a:off x="6705600" y="3457575"/>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Keep required outputs and review visible.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Test ordinary cases and likely failures with</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the people doing the task.</a:t>
            </a:r>
          </a:p>
        </p:txBody>
      </p:sp>
      <p:sp>
        <p:nvSpPr>
          <p:cNvPr id="7" name="compare-heading">
            <a:extLst xmlns:a="http://schemas.openxmlformats.org/drawingml/2006/main">
              <a:ext uri="{FF2B5EF4-FFF2-40B4-BE49-F238E27FC236}">
                <a16:creationId xmlns:a16="http://schemas.microsoft.com/office/drawing/2014/main" id="{D6879D52-D59B-46F4-9845-BB067501C6B6}"/>
              </a:ext>
            </a:extLst>
          </p:cNvPr>
          <p:cNvSpPr>
            <a:spLocks xmlns:a="http://schemas.openxmlformats.org/drawingml/2006/main" noGrp="1"/>
          </p:cNvSpPr>
          <p:nvPr/>
        </p:nvSpPr>
        <p:spPr>
          <a:xfrm xmlns:a="http://schemas.openxmlformats.org/drawingml/2006/main">
            <a:off x="609600" y="48577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Coach and document</a:t>
            </a:r>
          </a:p>
        </p:txBody>
      </p:sp>
      <p:sp>
        <p:nvSpPr>
          <p:cNvPr id="8" name="compare-body">
            <a:extLst xmlns:a="http://schemas.openxmlformats.org/drawingml/2006/main">
              <a:ext uri="{FF2B5EF4-FFF2-40B4-BE49-F238E27FC236}">
                <a16:creationId xmlns:a16="http://schemas.microsoft.com/office/drawing/2014/main" id="{830DC57A-D077-422A-B129-0DCA09279316}"/>
              </a:ext>
            </a:extLst>
          </p:cNvPr>
          <p:cNvSpPr>
            <a:spLocks xmlns:a="http://schemas.openxmlformats.org/drawingml/2006/main" noGrp="1"/>
          </p:cNvSpPr>
          <p:nvPr/>
        </p:nvSpPr>
        <p:spPr>
          <a:xfrm xmlns:a="http://schemas.openxmlformats.org/drawingml/2006/main">
            <a:off x="609600" y="5410200"/>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Let a colleague try without step-by-step help.</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Document setup, limits and recovery actions.</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Revise what remains hard to follow.</a:t>
            </a:r>
          </a:p>
        </p:txBody>
      </p:sp>
      <p:sp>
        <p:nvSpPr>
          <p:cNvPr id="9" name="handoff-heading">
            <a:extLst xmlns:a="http://schemas.openxmlformats.org/drawingml/2006/main">
              <a:ext uri="{FF2B5EF4-FFF2-40B4-BE49-F238E27FC236}">
                <a16:creationId xmlns:a16="http://schemas.microsoft.com/office/drawing/2014/main" id="{8188D000-725A-4A6A-900A-16C2004F4176}"/>
              </a:ext>
            </a:extLst>
          </p:cNvPr>
          <p:cNvSpPr>
            <a:spLocks xmlns:a="http://schemas.openxmlformats.org/drawingml/2006/main" noGrp="1"/>
          </p:cNvSpPr>
          <p:nvPr/>
        </p:nvSpPr>
        <p:spPr>
          <a:xfrm xmlns:a="http://schemas.openxmlformats.org/drawingml/2006/main">
            <a:off x="6705600" y="48577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Evaluate before expanding</a:t>
            </a:r>
          </a:p>
        </p:txBody>
      </p:sp>
      <p:sp>
        <p:nvSpPr>
          <p:cNvPr id="10" name="handoff-body">
            <a:extLst xmlns:a="http://schemas.openxmlformats.org/drawingml/2006/main">
              <a:ext uri="{FF2B5EF4-FFF2-40B4-BE49-F238E27FC236}">
                <a16:creationId xmlns:a16="http://schemas.microsoft.com/office/drawing/2014/main" id="{B6B9A222-F8A7-4857-93B8-4B9E18E6FD9D}"/>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Compare completion and correction effort.</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Ask whether people use the workflow again.</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Separate self-reports from observed use.</a:t>
            </a:r>
          </a:p>
        </p:txBody>
      </p:sp>
      <p:sp>
        <p:nvSpPr>
          <p:cNvPr id="11" name="slide-number">
            <a:extLst xmlns:a="http://schemas.openxmlformats.org/drawingml/2006/main">
              <a:ext uri="{FF2B5EF4-FFF2-40B4-BE49-F238E27FC236}">
                <a16:creationId xmlns:a16="http://schemas.microsoft.com/office/drawing/2014/main" id="{D2A75108-6B66-4B08-8A13-964D5A45387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627747215"/>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3335ED0-B415-4993-AD38-83825F45350D}"/>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Kong · SENIOR AI ENABLEMENT SPECIALIST - FE</a:t>
            </a:r>
          </a:p>
        </p:txBody>
      </p:sp>
      <p:sp>
        <p:nvSpPr>
          <p:cNvPr id="2" name="headline">
            <a:extLst xmlns:a="http://schemas.openxmlformats.org/drawingml/2006/main">
              <a:ext uri="{FF2B5EF4-FFF2-40B4-BE49-F238E27FC236}">
                <a16:creationId xmlns:a16="http://schemas.microsoft.com/office/drawing/2014/main" id="{9B73FEA1-B216-4401-A1B3-AF5AC2317AC6}"/>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make AI workflows</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useful beyond the first demo</a:t>
            </a:r>
          </a:p>
        </p:txBody>
      </p:sp>
      <p:sp>
        <p:nvSpPr>
          <p:cNvPr id="3" name="contact-intent">
            <a:extLst xmlns:a="http://schemas.openxmlformats.org/drawingml/2006/main">
              <a:ext uri="{FF2B5EF4-FFF2-40B4-BE49-F238E27FC236}">
                <a16:creationId xmlns:a16="http://schemas.microsoft.com/office/drawing/2014/main" id="{5EC8394E-45FF-4B7F-BDC0-24443522D22F}"/>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1B53488F-2B7F-4734-9689-A19ED3A227AF}"/>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1cc518cd92d74300"/>
              </a:rPr>
              <a:t>JonathanKyleHobson@gmail.com</a:t>
            </a:r>
          </a:p>
        </p:txBody>
      </p:sp>
      <p:sp>
        <p:nvSpPr>
          <p:cNvPr id="5" name="portfolio">
            <a:extLst xmlns:a="http://schemas.openxmlformats.org/drawingml/2006/main">
              <a:ext uri="{FF2B5EF4-FFF2-40B4-BE49-F238E27FC236}">
                <a16:creationId xmlns:a16="http://schemas.microsoft.com/office/drawing/2014/main" id="{C7AA88BE-7A9F-45EF-B8D8-3E6CA1A53402}"/>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d6d0b5f5ae0d4ed7"/>
              </a:rPr>
              <a:t>jonathankhobson.github.io/application-portfolios/kong-ai-enablement</a:t>
            </a:r>
          </a:p>
        </p:txBody>
      </p:sp>
      <p:sp>
        <p:nvSpPr>
          <p:cNvPr id="6" name="slide-number">
            <a:extLst xmlns:a="http://schemas.openxmlformats.org/drawingml/2006/main">
              <a:ext uri="{FF2B5EF4-FFF2-40B4-BE49-F238E27FC236}">
                <a16:creationId xmlns:a16="http://schemas.microsoft.com/office/drawing/2014/main" id="{046E2FE0-11B7-4ED1-B81D-5D4DE172CFE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2020841244"/>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2026-09-09T05:24:29.4100000Z</dcterms:created>
  <dcterms:modified xsi:type="dcterms:W3CDTF">2026-09-09T05:24:29.4100000Z</dcterms:modified>
</coreProperties>
</file>