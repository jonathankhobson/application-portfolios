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04007549404196" /><Relationship Type="http://schemas.openxmlformats.org/officeDocument/2006/relationships/extended-properties" Target="/docProps/app.xml" Id="R1c1a8266f43e416a" /><Relationship Type="http://schemas.openxmlformats.org/officeDocument/2006/relationships/officeDocument" Target="/ppt/presentation.xml" Id="Rc9ad121c660244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4de33a7a724de8"/>
  </p:sldMasterIdLst>
  <p:notesMasterIdLst>
    <p:notesMasterId xmlns:r="http://schemas.openxmlformats.org/officeDocument/2006/relationships" r:id="Rd94e1feaefa24191"/>
  </p:notesMasterIdLst>
  <p:sldIdLst>
    <p:sldId xmlns:r="http://schemas.openxmlformats.org/officeDocument/2006/relationships" id="256" r:id="Raaabcfeeafbe4bdd"/>
    <p:sldId xmlns:r="http://schemas.openxmlformats.org/officeDocument/2006/relationships" id="257" r:id="Rd3a4f62dd36541b2"/>
    <p:sldId xmlns:r="http://schemas.openxmlformats.org/officeDocument/2006/relationships" id="258" r:id="Rfcecc7f3b2e045d9"/>
    <p:sldId xmlns:r="http://schemas.openxmlformats.org/officeDocument/2006/relationships" id="259" r:id="R80666a56e26f4800"/>
    <p:sldId xmlns:r="http://schemas.openxmlformats.org/officeDocument/2006/relationships" id="260" r:id="R02332ec800ba44e2"/>
    <p:sldId xmlns:r="http://schemas.openxmlformats.org/officeDocument/2006/relationships" id="261" r:id="R72d48946a28a48c3"/>
    <p:sldId xmlns:r="http://schemas.openxmlformats.org/officeDocument/2006/relationships" id="262" r:id="R9f01deacc1b842d9"/>
    <p:sldId xmlns:r="http://schemas.openxmlformats.org/officeDocument/2006/relationships" id="263" r:id="Rdd0f08006b074b8a"/>
    <p:sldId xmlns:r="http://schemas.openxmlformats.org/officeDocument/2006/relationships" id="264" r:id="Re8dee50979e94052"/>
    <p:sldId xmlns:r="http://schemas.openxmlformats.org/officeDocument/2006/relationships" id="265" r:id="R180069ed6a8c40e3"/>
    <p:sldId xmlns:r="http://schemas.openxmlformats.org/officeDocument/2006/relationships" id="266" r:id="R909717b50a1546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8e5a4d55d64a2e" /><Relationship Type="http://schemas.openxmlformats.org/officeDocument/2006/relationships/slideMaster" Target="/ppt/slideMasters/slideMaster1.xml" Id="Re04de33a7a724de8" /><Relationship Type="http://schemas.openxmlformats.org/officeDocument/2006/relationships/notesMaster" Target="/ppt/notesMasters/notesMaster1.xml" Id="Rd94e1feaefa24191" /><Relationship Type="http://schemas.openxmlformats.org/officeDocument/2006/relationships/presProps" Target="/ppt/presProps.xml" Id="R072a49dd148a4f8b" /><Relationship Type="http://schemas.openxmlformats.org/officeDocument/2006/relationships/tableStyles" Target="/ppt/tableStyles.xml" Id="R15fb69175ed44921" /><Relationship Type="http://schemas.openxmlformats.org/officeDocument/2006/relationships/slide" Target="/ppt/slides/slide1.xml" Id="Raaabcfeeafbe4bdd" /><Relationship Type="http://schemas.openxmlformats.org/officeDocument/2006/relationships/slide" Target="/ppt/slides/slide2.xml" Id="Rd3a4f62dd36541b2" /><Relationship Type="http://schemas.openxmlformats.org/officeDocument/2006/relationships/slide" Target="/ppt/slides/slide3.xml" Id="Rfcecc7f3b2e045d9" /><Relationship Type="http://schemas.openxmlformats.org/officeDocument/2006/relationships/slide" Target="/ppt/slides/slide4.xml" Id="R80666a56e26f4800" /><Relationship Type="http://schemas.openxmlformats.org/officeDocument/2006/relationships/slide" Target="/ppt/slides/slide5.xml" Id="R02332ec800ba44e2" /><Relationship Type="http://schemas.openxmlformats.org/officeDocument/2006/relationships/slide" Target="/ppt/slides/slide6.xml" Id="R72d48946a28a48c3" /><Relationship Type="http://schemas.openxmlformats.org/officeDocument/2006/relationships/slide" Target="/ppt/slides/slide7.xml" Id="R9f01deacc1b842d9" /><Relationship Type="http://schemas.openxmlformats.org/officeDocument/2006/relationships/slide" Target="/ppt/slides/slide8.xml" Id="Rdd0f08006b074b8a" /><Relationship Type="http://schemas.openxmlformats.org/officeDocument/2006/relationships/slide" Target="/ppt/slides/slide9.xml" Id="Re8dee50979e94052" /><Relationship Type="http://schemas.openxmlformats.org/officeDocument/2006/relationships/slide" Target="/ppt/slides/slide10.xml" Id="R180069ed6a8c40e3" /><Relationship Type="http://schemas.openxmlformats.org/officeDocument/2006/relationships/slide" Target="/ppt/slides/slide11.xml" Id="R909717b50a1546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953f844f374b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Kyle Portfolio">
      <a:dk1>
        <a:srgbClr val="192B25"/>
      </a:dk1>
      <a:lt1>
        <a:srgbClr val="FFFFFF"/>
      </a:lt1>
      <a:dk2>
        <a:srgbClr val="244D3C"/>
      </a:dk2>
      <a:lt2>
        <a:srgbClr val="F4F2E9"/>
      </a:lt2>
      <a:accent1>
        <a:srgbClr val="244D3C"/>
      </a:accent1>
      <a:accent2>
        <a:srgbClr val="DBEB89"/>
      </a:accent2>
      <a:accent3>
        <a:srgbClr val="E1E8DB"/>
      </a:accent3>
      <a:accent4>
        <a:srgbClr val="58645D"/>
      </a:accent4>
      <a:accent5>
        <a:srgbClr val="192B25"/>
      </a:accent5>
      <a:accent6>
        <a:srgbClr val="F4F2E9"/>
      </a:accent6>
      <a:hlink>
        <a:srgbClr val="DBEB89"/>
      </a:hlink>
      <a:folHlink>
        <a:srgbClr val="DBEB8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yle Portfol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4557ec531e4f14" /><Relationship Type="http://schemas.openxmlformats.org/officeDocument/2006/relationships/notesMaster" Target="/ppt/notesMasters/notesMaster1.xml" Id="R94211907b13b45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bcfbecf298480b" /><Relationship Type="http://schemas.openxmlformats.org/officeDocument/2006/relationships/notesMaster" Target="/ppt/notesMasters/notesMaster1.xml" Id="R13cfdd40338f40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e935b4e4394a04" /><Relationship Type="http://schemas.openxmlformats.org/officeDocument/2006/relationships/notesMaster" Target="/ppt/notesMasters/notesMaster1.xml" Id="R29315d5729f442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57d77fa31d450a" /><Relationship Type="http://schemas.openxmlformats.org/officeDocument/2006/relationships/notesMaster" Target="/ppt/notesMasters/notesMaster1.xml" Id="R62017c1eec854e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a811dfcbaf410e" /><Relationship Type="http://schemas.openxmlformats.org/officeDocument/2006/relationships/notesMaster" Target="/ppt/notesMasters/notesMaster1.xml" Id="R8f8d4b441cb540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3b8442c7c54151" /><Relationship Type="http://schemas.openxmlformats.org/officeDocument/2006/relationships/notesMaster" Target="/ppt/notesMasters/notesMaster1.xml" Id="R8d59728e5bbe4b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e7225bd2d24870" /><Relationship Type="http://schemas.openxmlformats.org/officeDocument/2006/relationships/notesMaster" Target="/ppt/notesMasters/notesMaster1.xml" Id="Rea450b6b8e924d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8f7c9084024e06" /><Relationship Type="http://schemas.openxmlformats.org/officeDocument/2006/relationships/notesMaster" Target="/ppt/notesMasters/notesMaster1.xml" Id="Rcbe3a3e90f414f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e9356d47cb4e9b" /><Relationship Type="http://schemas.openxmlformats.org/officeDocument/2006/relationships/notesMaster" Target="/ppt/notesMasters/notesMaster1.xml" Id="Rde145914e1bb47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fc1a17792a42d9" /><Relationship Type="http://schemas.openxmlformats.org/officeDocument/2006/relationships/notesMaster" Target="/ppt/notesMasters/notesMaster1.xml" Id="Rea4953c380a040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cde35fd78d4e4e" /><Relationship Type="http://schemas.openxmlformats.org/officeDocument/2006/relationships/notesMaster" Target="/ppt/notesMasters/notesMaster1.xml" Id="Rdf998b52710547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Kyle Hobson: applied AI workflow design, prompt engineering and enablement. Selected implementations, published teaching and a professional proposal. The generated paper-path cover is decorative, not project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project. Sources: actual Prompt Compass README, server.py and service.py. The public v0.1.0-beta.3 prerelease was published April 27, 2026 and its assets refreshed May 18; local development includes later work. Public release: https://github.com/JonathanKHobson/prompt-compass/releases/tag/v0.1.0-beta.3 . This workflow plate is reconstructed from implementation, not a product screenshot. The host AI handles conversation and final wording; the tool provides structured diagnosis, contracts, routing and comparison.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actual May 2026 developer-authored Prompt Compass Eval Studio fixture phase2t-schema-regression-cleaner-but-worse. The two displayed prompts are exact fixture values. The expected winner is the original because the shorter rewrite removes the output contract. This is a designed regression case, not a customer incident or a production-model benchmark. Human-review metadata in the fixture is unreviewed. No new runtime test is claimed in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the original packaged public Prompt Compass real-session snapshot. This is a selected example conversation about an autopilot feature proposal. It does not establish that the proposed feature shipped. Implementation sources show prompt contracts, missing-block checks, anti-pattern checks and comparison deltas. Existing local May 9 evaluation reports document deterministic fixture checks; these do not measure user effectiveness, and this deck does not claim a new test run. A prospective human-reviewed comparison is stated as the next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actual Oppia Research Compass internal edition README, repository and service code; existing September 4, 2026 package manifest. This is an independently built internal tool, separate from Kyle’s formal volunteer role. Ten read-only tools support evidence retrieval, planning and audit. The workflow image is a labeled implementation reconstruction with no private corpus records. No team-adoption or productivity result is asserted, and the internal corpus is not authorized for public distribution.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actual repository.py and service.py in the internal Oppia Research Compass edition. The repository opens SQLite with mode=ro and sets PRAGMA query_only=ON. Full-text search uses BM25 ranking and returns stable evidence and record IDs. This is deterministic SQLite retrieval integrated with an AI host, not vector/embedding retrieval or autonomous model-generated synthesis. Service audits include missing IDs, concentration in one record and limited evidence types. Existing automated integration-test and privacy reports were inspected; no new runtime or adoption test is asserted here. A next evaluation would ask reviewers whether returned evidence supports a proposed research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Kyle is the named instructor of the public Coursera Guided Project ChatGPT 4o for Beginners: Create Social Media Content. Official source: https://www.coursera.org/projects/chatgpt-beginners . The one-hour beginner project teaches prompt specificity, output comparison, iteration and a weekly social-content calendar. The displayed crop is from the original 2024 Task 3 lesson recording at 01:30; letterboxing and unused lower artwork are omitted, while Coursera branding and all displayed learning goals remain intact. Publication is not evidence of learner completion or demonstrated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original 2024 Task 3 lesson recording at 02:30, cropped to the simple Brew Bliss demonstration prompt and initial output. Account identity, blank surrounding interface and lower utility controls are omitted. The text is a demonstration draft, not successful client copy or an approved final asset. The lesson teaches learners to inspect vague areas, add context, compare output and iterate toward a clear goal. These are curriculum activities, not measured competency gains. The next assessment is proposed: test transfer to a new task, without following the original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collaborative ASU for Life prompt-architecture document, which explicitly identifies Kyle’s proposal, and the original 2024 Figma flowchart. Formal role: AI Analyst, ASU Learning Innovations, February–October 2024. The simplified reconstruction retains context summarization, mentor review, task generation/refinement and output confirmation. It does not reproduce legacy speculative components from the collaborative artifact or claim model training, fine-tuning, deployment or measured time savings. This supporting case demonstrates workflow-design judgment. A next validation would test the mentor checkpoints with realistic learner contexts before piloting the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approach for Arkestro based on the current AI Enablement Lead listing. No Arkestro engagement, champion-network result, enterprise rollout or realized dollar savings are claimed. Baseline, quality criteria, review points and costs would be agreed with the team. A small local tool release is not proof of organization-wide adoption.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applied AI workflow consulting, prompt engineering, business analysis and enablement. The intended portfolio destination is configured as a hyperlink.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40fca859234d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bd28f66b434c86" /><Relationship Type="http://schemas.openxmlformats.org/officeDocument/2006/relationships/slideLayout" Target="/ppt/slideLayouts/slideLayout1.xml" Id="R02bcac4cfe654f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bcac4cfe654f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Kyle Portfolio">
      <a:dk1>
        <a:srgbClr val="192B25"/>
      </a:dk1>
      <a:lt1>
        <a:srgbClr val="FFFFFF"/>
      </a:lt1>
      <a:dk2>
        <a:srgbClr val="244D3C"/>
      </a:dk2>
      <a:lt2>
        <a:srgbClr val="F4F2E9"/>
      </a:lt2>
      <a:accent1>
        <a:srgbClr val="244D3C"/>
      </a:accent1>
      <a:accent2>
        <a:srgbClr val="DBEB89"/>
      </a:accent2>
      <a:accent3>
        <a:srgbClr val="E1E8DB"/>
      </a:accent3>
      <a:accent4>
        <a:srgbClr val="58645D"/>
      </a:accent4>
      <a:accent5>
        <a:srgbClr val="192B25"/>
      </a:accent5>
      <a:accent6>
        <a:srgbClr val="F4F2E9"/>
      </a:accent6>
      <a:hlink>
        <a:srgbClr val="DBEB89"/>
      </a:hlink>
      <a:folHlink>
        <a:srgbClr val="DBEB8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yle Portfol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3945af896441bf" /><Relationship Type="http://schemas.openxmlformats.org/officeDocument/2006/relationships/image" Target="/ppt/media/image.png" Id="R9cfe154b84d24976" /><Relationship Type="http://schemas.openxmlformats.org/officeDocument/2006/relationships/notesSlide" Target="/ppt/notesSlides/notesSlide1.xml" Id="R35b9e37049a34f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bbb512e704945" /><Relationship Type="http://schemas.openxmlformats.org/officeDocument/2006/relationships/image" Target="/ppt/media/image2.png" Id="R7e1161dfc4aa4b8a" /><Relationship Type="http://schemas.openxmlformats.org/officeDocument/2006/relationships/notesSlide" Target="/ppt/notesSlides/notesSlide2.xml" Id="R814f814fe26b4d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c97ddf6714305" /><Relationship Type="http://schemas.openxmlformats.org/officeDocument/2006/relationships/notesSlide" Target="/ppt/notesSlides/notesSlide3.xml" Id="R459fbc89bac643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5a2cc2c2b44f0" /><Relationship Type="http://schemas.openxmlformats.org/officeDocument/2006/relationships/image" Target="/ppt/media/image3.png" Id="Ra659a3ba36d54bb8" /><Relationship Type="http://schemas.openxmlformats.org/officeDocument/2006/relationships/notesSlide" Target="/ppt/notesSlides/notesSlide4.xml" Id="R273bb1952a6b43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6ec4da99d4071" /><Relationship Type="http://schemas.openxmlformats.org/officeDocument/2006/relationships/image" Target="/ppt/media/image4.png" Id="Rbf29bea05ea544e3" /><Relationship Type="http://schemas.openxmlformats.org/officeDocument/2006/relationships/notesSlide" Target="/ppt/notesSlides/notesSlide5.xml" Id="Red12f2d317ae4f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5826fa81a4038" /><Relationship Type="http://schemas.openxmlformats.org/officeDocument/2006/relationships/image" Target="/ppt/media/image5.png" Id="R67b118be05c44b18" /><Relationship Type="http://schemas.openxmlformats.org/officeDocument/2006/relationships/notesSlide" Target="/ppt/notesSlides/notesSlide6.xml" Id="Rd61336d40e4a43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37b0b3718f4cca" /><Relationship Type="http://schemas.openxmlformats.org/officeDocument/2006/relationships/image" Target="/ppt/media/image6.png" Id="R9af93adbc144407f" /><Relationship Type="http://schemas.openxmlformats.org/officeDocument/2006/relationships/notesSlide" Target="/ppt/notesSlides/notesSlide7.xml" Id="R48371779ce6843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79fbf1ce5d43b6" /><Relationship Type="http://schemas.openxmlformats.org/officeDocument/2006/relationships/image" Target="/ppt/media/image7.png" Id="R69de5fa5bfe24082" /><Relationship Type="http://schemas.openxmlformats.org/officeDocument/2006/relationships/notesSlide" Target="/ppt/notesSlides/notesSlide8.xml" Id="R955d251f725343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23c1c7db740b3" /><Relationship Type="http://schemas.openxmlformats.org/officeDocument/2006/relationships/image" Target="/ppt/media/image8.png" Id="R2f5f5f6e6ed84c2a" /><Relationship Type="http://schemas.openxmlformats.org/officeDocument/2006/relationships/notesSlide" Target="/ppt/notesSlides/notesSlide9.xml" Id="Rd92f5fc464954b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882ca079f4ff8" /><Relationship Type="http://schemas.openxmlformats.org/officeDocument/2006/relationships/image" Target="/ppt/media/image.jpeg" Id="R84e8d69e181b429d" /><Relationship Type="http://schemas.openxmlformats.org/officeDocument/2006/relationships/notesSlide" Target="/ppt/notesSlides/notesSlide10.xml" Id="Ra37c85e946794f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6cdadcd8448b6" /><Relationship Type="http://schemas.openxmlformats.org/officeDocument/2006/relationships/hyperlink" Target="mailto:JonathanKyleHobson@gmail.com" TargetMode="External" Id="R09a16430ea2b4f92" /><Relationship Type="http://schemas.openxmlformats.org/officeDocument/2006/relationships/hyperlink" Target="https://jonathankhobson.github.io/application-portfolios/arkestro-ai-enablement/" TargetMode="External" Id="R44585d4ec647480e" /><Relationship Type="http://schemas.openxmlformats.org/officeDocument/2006/relationships/notesSlide" Target="/ppt/notesSlides/notesSlide11.xml" Id="R9c4d0130a2c04d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e154b84d24976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6729106-CA77-4AD5-A4AC-92736541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KYLE HOBSON   /   ARKESTRO · AI ENABLEMENT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28B439A3-C3C8-426C-BF9D-8340912D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4582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46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Good AI work starts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46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with a clear task</a:t>
            </a:r>
          </a:p>
        </p:txBody>
      </p:sp>
      <p:sp>
        <p:nvSpPr>
          <p:cNvPr id="4" name="cover-intro">
            <a:extLst xmlns:a="http://schemas.openxmlformats.org/drawingml/2006/main">
              <a:ext uri="{FF2B5EF4-FFF2-40B4-BE49-F238E27FC236}">
                <a16:creationId xmlns:a16="http://schemas.microsoft.com/office/drawing/2014/main" id="{369D456D-CEB9-4982-94AF-8BE86219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714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I connect task design, evaluation and teaching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1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to the people doing the work.</a:t>
            </a:r>
          </a:p>
        </p:txBody>
      </p:sp>
      <p:sp>
        <p:nvSpPr>
          <p:cNvPr id="5" name="cover-role">
            <a:extLst xmlns:a="http://schemas.openxmlformats.org/drawingml/2006/main">
              <a:ext uri="{FF2B5EF4-FFF2-40B4-BE49-F238E27FC236}">
                <a16:creationId xmlns:a16="http://schemas.microsoft.com/office/drawing/2014/main" id="{BB17E1A4-C260-4A48-97DA-3D5D9359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19800"/>
            <a:ext cx="8753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Selected for Arkestro · AI Enablement Lead · September 2026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18F677A-C9D5-46EC-A408-1C610B36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576585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E6B8F13-30BC-4CAA-8586-D083CED1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PROMPT COMPASS   /   INDEPENDENT PROJECT, 2026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C6C147FE-315F-4623-B139-0AEE63FF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896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useful prompt preserves the job</a:t>
            </a:r>
          </a:p>
        </p:txBody>
      </p:sp>
      <p:sp>
        <p:nvSpPr>
          <p:cNvPr id="3" name="prompt-purpose">
            <a:extLst xmlns:a="http://schemas.openxmlformats.org/drawingml/2006/main">
              <a:ext uri="{FF2B5EF4-FFF2-40B4-BE49-F238E27FC236}">
                <a16:creationId xmlns:a16="http://schemas.microsoft.com/office/drawing/2014/main" id="{3060A488-CC4C-421F-B096-0727CC8A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5537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I built Prompt Compass to turn rough requests into inspectable workflows, with clear requirements and comparison points.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1161dfc4aa4b8a"/>
          <a:stretch xmlns:a="http://schemas.openxmlformats.org/drawingml/2006/main"/>
        </p:blipFill>
        <p:spPr>
          <a:xfrm xmlns:a="http://schemas.openxmlformats.org/drawingml/2006/main">
            <a:off x="617660" y="3028950"/>
            <a:ext cx="10880481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prompt-status">
            <a:extLst xmlns:a="http://schemas.openxmlformats.org/drawingml/2006/main">
              <a:ext uri="{FF2B5EF4-FFF2-40B4-BE49-F238E27FC236}">
                <a16:creationId xmlns:a16="http://schemas.microsoft.com/office/drawing/2014/main" id="{ADC60D76-7616-47E7-A345-2D5D3696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Public beta available · reconstruction includes later local development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C390ACC-5CBA-46D3-A22D-1542E3FC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412675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4ACCE0C-A73D-47CA-B5E8-727D4B14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PROMPT COMPASS   /   DESIGNED LOCAL REGRESSION CASE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E787069B-2E09-4EA0-9E8C-A074D50D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896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Cleaner language can lose the task</a:t>
            </a:r>
          </a:p>
        </p:txBody>
      </p:sp>
      <p:sp>
        <p:nvSpPr>
          <p:cNvPr id="3" name="before-label">
            <a:extLst xmlns:a="http://schemas.openxmlformats.org/drawingml/2006/main">
              <a:ext uri="{FF2B5EF4-FFF2-40B4-BE49-F238E27FC236}">
                <a16:creationId xmlns:a16="http://schemas.microsoft.com/office/drawing/2014/main" id="{DF69B6D3-C13A-4B53-9501-BC6739D5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953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ORIGINAL FIXTURE PROMPT</a:t>
            </a:r>
          </a:p>
        </p:txBody>
      </p:sp>
      <p:sp>
        <p:nvSpPr>
          <p:cNvPr id="4" name="after-label">
            <a:extLst xmlns:a="http://schemas.openxmlformats.org/drawingml/2006/main">
              <a:ext uri="{FF2B5EF4-FFF2-40B4-BE49-F238E27FC236}">
                <a16:creationId xmlns:a16="http://schemas.microsoft.com/office/drawing/2014/main" id="{B7031A53-DA7D-4613-9DBF-F54630BC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76500"/>
            <a:ext cx="4314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SHORTER REWRITE</a:t>
            </a:r>
          </a:p>
        </p:txBody>
      </p:sp>
      <p:sp>
        <p:nvSpPr>
          <p:cNvPr id="5" name="before-prompt">
            <a:extLst xmlns:a="http://schemas.openxmlformats.org/drawingml/2006/main">
              <a:ext uri="{FF2B5EF4-FFF2-40B4-BE49-F238E27FC236}">
                <a16:creationId xmlns:a16="http://schemas.microsoft.com/office/drawing/2014/main" id="{21F78274-9381-45C9-92DA-9929246B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59055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Return valid JSON only with fields category, article_id, confidence, and suggested_response. If confidence is below 0.7, set suggested_response to needs_review. Success: parser accepts the response.</a:t>
            </a:r>
          </a:p>
        </p:txBody>
      </p:sp>
      <p:sp>
        <p:nvSpPr>
          <p:cNvPr id="6" name="after-prompt">
            <a:extLst xmlns:a="http://schemas.openxmlformats.org/drawingml/2006/main">
              <a:ext uri="{FF2B5EF4-FFF2-40B4-BE49-F238E27FC236}">
                <a16:creationId xmlns:a16="http://schemas.microsoft.com/office/drawing/2014/main" id="{741D422E-5CB6-433D-9566-E98457EE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57525"/>
            <a:ext cx="4314825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Return a clean structured answer with the best response for the user.</a:t>
            </a:r>
          </a:p>
        </p:txBody>
      </p:sp>
      <p:sp>
        <p:nvSpPr>
          <p:cNvPr id="7" name="expected-winner">
            <a:extLst xmlns:a="http://schemas.openxmlformats.org/drawingml/2006/main">
              <a:ext uri="{FF2B5EF4-FFF2-40B4-BE49-F238E27FC236}">
                <a16:creationId xmlns:a16="http://schemas.microsoft.com/office/drawing/2014/main" id="{E248E4DD-60F1-42CD-8F03-4BFB35F4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590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Expected winner: the original</a:t>
            </a:r>
          </a:p>
        </p:txBody>
      </p:sp>
      <p:sp>
        <p:nvSpPr>
          <p:cNvPr id="8" name="fixture-reason">
            <a:extLst xmlns:a="http://schemas.openxmlformats.org/drawingml/2006/main">
              <a:ext uri="{FF2B5EF4-FFF2-40B4-BE49-F238E27FC236}">
                <a16:creationId xmlns:a16="http://schemas.microsoft.com/office/drawing/2014/main" id="{AD3CA1E1-EA8D-49F1-9011-68AE6AE8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896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The rewrite loses named fields, JSON-only output and the low-confidence fallback.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B63C854-41A4-4AFA-8D21-8419CA27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441307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8969BAB-7DBA-4E62-9A2C-1C154DD0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PROMPT COMPASS   /   HOST AND TOOL RESPONSIBILITIES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204CE09C-51D7-46E6-9D98-83CEE6C5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896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5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Structured checks support the conversation</a:t>
            </a:r>
          </a:p>
        </p:txBody>
      </p:sp>
      <p:sp>
        <p:nvSpPr>
          <p:cNvPr id="3" name="host-tool">
            <a:extLst xmlns:a="http://schemas.openxmlformats.org/drawingml/2006/main">
              <a:ext uri="{FF2B5EF4-FFF2-40B4-BE49-F238E27FC236}">
                <a16:creationId xmlns:a16="http://schemas.microsoft.com/office/drawing/2014/main" id="{AF66EF8B-412E-4ACF-B0D1-D990C12C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6203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The host AI handles the dialogue and final language. My tool makes task requirements and tradeoffs available for review.</a:t>
            </a:r>
          </a:p>
        </p:txBody>
      </p:sp>
      <p:sp>
        <p:nvSpPr>
          <p:cNvPr id="4" name="prompt-next">
            <a:extLst xmlns:a="http://schemas.openxmlformats.org/drawingml/2006/main">
              <a:ext uri="{FF2B5EF4-FFF2-40B4-BE49-F238E27FC236}">
                <a16:creationId xmlns:a16="http://schemas.microsoft.com/office/drawing/2014/main" id="{97F2EFD6-763C-45BA-B2B1-7D65E390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0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Next test: compare realistic prompt revisions against an agreed task rubric and human review.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9a3ba36d54bb8"/>
          <a:stretch xmlns:a="http://schemas.openxmlformats.org/drawingml/2006/main"/>
        </p:blipFill>
        <p:spPr>
          <a:xfrm xmlns:a="http://schemas.openxmlformats.org/drawingml/2006/main">
            <a:off x="609926" y="3324225"/>
            <a:ext cx="10895948" cy="2152650"/>
          </a:xfrm>
          <a:prstGeom xmlns:a="http://schemas.openxmlformats.org/drawingml/2006/main" prst="rect">
            <a:avLst/>
          </a:prstGeom>
        </p:spPr>
      </p:pic>
      <p:sp>
        <p:nvSpPr>
          <p:cNvPr id="6" name="session-caption">
            <a:extLst xmlns:a="http://schemas.openxmlformats.org/drawingml/2006/main">
              <a:ext uri="{FF2B5EF4-FFF2-40B4-BE49-F238E27FC236}">
                <a16:creationId xmlns:a16="http://schemas.microsoft.com/office/drawing/2014/main" id="{BA4BB5F2-47B8-486B-AAA6-92392B71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89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Original public example session · proposed feature specification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9CC6195-7511-4378-ADE3-5A2A2594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986643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3B39407-8E93-400C-8F00-E9FD34A9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OPPIA RESEARCH COMPASS   /   INDEPENDENT INTERNAL TOOL, 2026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58D3D7BC-A623-408E-8059-F84D6C6C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896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An answer needs a path back to evidence</a:t>
            </a:r>
          </a:p>
        </p:txBody>
      </p:sp>
      <p:sp>
        <p:nvSpPr>
          <p:cNvPr id="3" name="retrieval-purpose">
            <a:extLst xmlns:a="http://schemas.openxmlformats.org/drawingml/2006/main">
              <a:ext uri="{FF2B5EF4-FFF2-40B4-BE49-F238E27FC236}">
                <a16:creationId xmlns:a16="http://schemas.microsoft.com/office/drawing/2014/main" id="{BB66CEFD-98C3-48E6-8E44-421E169F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05100"/>
            <a:ext cx="273367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I built a read-only tool that helps an AI assistant find historical research, keep source references and identify evidence gaps.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9bea05ea544e3"/>
          <a:stretch xmlns:a="http://schemas.openxmlformats.org/drawingml/2006/main"/>
        </p:blipFill>
        <p:spPr>
          <a:xfrm xmlns:a="http://schemas.openxmlformats.org/drawingml/2006/main">
            <a:off x="610195" y="2628900"/>
            <a:ext cx="7618809" cy="3086100"/>
          </a:xfrm>
          <a:prstGeom xmlns:a="http://schemas.openxmlformats.org/drawingml/2006/main" prst="rect">
            <a:avLst/>
          </a:prstGeom>
        </p:spPr>
      </p:pic>
      <p:sp>
        <p:nvSpPr>
          <p:cNvPr id="5" name="internal-status">
            <a:extLst xmlns:a="http://schemas.openxmlformats.org/drawingml/2006/main">
              <a:ext uri="{FF2B5EF4-FFF2-40B4-BE49-F238E27FC236}">
                <a16:creationId xmlns:a16="http://schemas.microsoft.com/office/drawing/2014/main" id="{CE6D7B44-231D-4B5D-BDD7-9586424D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89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Implementation reconstruction · internal v0.4.0 package · 10 read-only tools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167FF3E-76AD-469B-895D-55A9DF45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688046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2445031-A3BD-4C19-93A9-7D570FB0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OPPIA RESEARCH COMPASS   /   IMPLEMENTATION DECISIONS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88D0D1BE-B248-4749-BDAA-A3430F02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896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Retrieval stays bounded and traceable</a:t>
            </a:r>
          </a:p>
        </p:txBody>
      </p:sp>
      <p:sp>
        <p:nvSpPr>
          <p:cNvPr id="3" name="retrieval-detail">
            <a:extLst xmlns:a="http://schemas.openxmlformats.org/drawingml/2006/main">
              <a:ext uri="{FF2B5EF4-FFF2-40B4-BE49-F238E27FC236}">
                <a16:creationId xmlns:a16="http://schemas.microsoft.com/office/drawing/2014/main" id="{556E623C-B55C-4EF0-8105-1BE89FBA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563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SQLite full-text search ranks matches with BM25. Results keep stable record and evidence IDs.</a:t>
            </a:r>
          </a:p>
        </p:txBody>
      </p:sp>
      <p:sp>
        <p:nvSpPr>
          <p:cNvPr id="4" name="retrieval-review">
            <a:extLst xmlns:a="http://schemas.openxmlformats.org/drawingml/2006/main">
              <a:ext uri="{FF2B5EF4-FFF2-40B4-BE49-F238E27FC236}">
                <a16:creationId xmlns:a16="http://schemas.microsoft.com/office/drawing/2014/main" id="{72EAD84B-A168-4EF8-BF68-1F3A3A87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896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The assistant can fetch exact evidence before quoting it. Evidence gaps remain visible.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b118be05c44b18"/>
          <a:stretch xmlns:a="http://schemas.openxmlformats.org/drawingml/2006/main"/>
        </p:blipFill>
        <p:spPr>
          <a:xfrm xmlns:a="http://schemas.openxmlformats.org/drawingml/2006/main">
            <a:off x="609600" y="3153939"/>
            <a:ext cx="10896600" cy="2512272"/>
          </a:xfrm>
          <a:prstGeom xmlns:a="http://schemas.openxmlformats.org/drawingml/2006/main" prst="rect">
            <a:avLst/>
          </a:prstGeom>
        </p:spPr>
      </p:pic>
      <p:sp>
        <p:nvSpPr>
          <p:cNvPr id="6" name="code-caption">
            <a:extLst xmlns:a="http://schemas.openxmlformats.org/drawingml/2006/main">
              <a:ext uri="{FF2B5EF4-FFF2-40B4-BE49-F238E27FC236}">
                <a16:creationId xmlns:a16="http://schemas.microsoft.com/office/drawing/2014/main" id="{6010E0CF-E554-41C4-ABEE-AA8C8646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89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Original code excerpt · database protections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C3B5B08-370B-4F64-8598-4226050D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101450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6B7D91D-52CE-4FB7-8714-A0C8E72E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COURSERA   /   GUIDED PROJECT INSTRUCTOR, 2024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9938295D-538E-47B4-9695-40FDF65F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896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Teaching a repeatable AI workflow</a:t>
            </a:r>
          </a:p>
        </p:txBody>
      </p:sp>
      <p:sp>
        <p:nvSpPr>
          <p:cNvPr id="3" name="course-name">
            <a:extLst xmlns:a="http://schemas.openxmlformats.org/drawingml/2006/main">
              <a:ext uri="{FF2B5EF4-FFF2-40B4-BE49-F238E27FC236}">
                <a16:creationId xmlns:a16="http://schemas.microsoft.com/office/drawing/2014/main" id="{0E57A5E3-27A3-4F19-9A54-890ED30C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896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ChatGPT 4o for Beginners: Create Social Media Content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f93adbc144407f"/>
          <a:stretch xmlns:a="http://schemas.openxmlformats.org/drawingml/2006/main"/>
        </p:blipFill>
        <p:spPr>
          <a:xfrm xmlns:a="http://schemas.openxmlformats.org/drawingml/2006/main">
            <a:off x="1303734" y="2600325"/>
            <a:ext cx="9508331" cy="3457575"/>
          </a:xfrm>
          <a:prstGeom xmlns:a="http://schemas.openxmlformats.org/drawingml/2006/main" prst="rect">
            <a:avLst/>
          </a:prstGeom>
        </p:spPr>
      </p:pic>
      <p:sp>
        <p:nvSpPr>
          <p:cNvPr id="5" name="course-status">
            <a:extLst xmlns:a="http://schemas.openxmlformats.org/drawingml/2006/main">
              <a:ext uri="{FF2B5EF4-FFF2-40B4-BE49-F238E27FC236}">
                <a16:creationId xmlns:a16="http://schemas.microsoft.com/office/drawing/2014/main" id="{CDE8AE32-FF3D-43DD-857E-F2BCEE81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896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Published one-hour project · original 2024 teaching material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1DF0B8D-9526-4954-A304-47971887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605911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9277E71-FB82-42E2-B92D-B11950EA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COURSERA   /   DEMONSTRATION AND ITERATION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CC4B2191-3ECE-4AFB-A3D4-A9DB1CB8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896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5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An initial draft gives us something to inspect</a:t>
            </a:r>
          </a:p>
        </p:txBody>
      </p:sp>
      <p:sp>
        <p:nvSpPr>
          <p:cNvPr id="3" name="course-example-context">
            <a:extLst xmlns:a="http://schemas.openxmlformats.org/drawingml/2006/main">
              <a:ext uri="{FF2B5EF4-FFF2-40B4-BE49-F238E27FC236}">
                <a16:creationId xmlns:a16="http://schemas.microsoft.com/office/drawing/2014/main" id="{3DC6A2CC-6D78-4037-B84E-FB1647B1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896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0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Original lesson example · initial draft for refinement against a goal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e5fa5bfe24082"/>
          <a:stretch xmlns:a="http://schemas.openxmlformats.org/drawingml/2006/main"/>
        </p:blipFill>
        <p:spPr>
          <a:xfrm xmlns:a="http://schemas.openxmlformats.org/drawingml/2006/main">
            <a:off x="609600" y="2610379"/>
            <a:ext cx="9525000" cy="3704167"/>
          </a:xfrm>
          <a:prstGeom xmlns:a="http://schemas.openxmlformats.org/drawingml/2006/main" prst="rect">
            <a:avLst/>
          </a:prstGeom>
        </p:spPr>
      </p:pic>
      <p:sp>
        <p:nvSpPr>
          <p:cNvPr id="5" name="transfer-assessment">
            <a:extLst xmlns:a="http://schemas.openxmlformats.org/drawingml/2006/main">
              <a:ext uri="{FF2B5EF4-FFF2-40B4-BE49-F238E27FC236}">
                <a16:creationId xmlns:a16="http://schemas.microsoft.com/office/drawing/2014/main" id="{1C4FB70D-E6CD-4D43-85AE-E5F9DEB6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Next assessment: can learners repeat the process with a new task?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FFF9500-0AEA-458D-BE56-8EFAFBFA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312537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5C25164-7A13-4095-BEDA-9EE2BBAC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ASU LEARNING INNOVATIONS   /   AI ANALYST, FEB–OCT 2024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5F16C584-1BCD-4C65-A2EE-5BC9B801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681037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Mentor review shaped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the learner workflow</a:t>
            </a:r>
          </a:p>
        </p:txBody>
      </p:sp>
      <p:sp>
        <p:nvSpPr>
          <p:cNvPr id="3" name="asu-purpose">
            <a:extLst xmlns:a="http://schemas.openxmlformats.org/drawingml/2006/main">
              <a:ext uri="{FF2B5EF4-FFF2-40B4-BE49-F238E27FC236}">
                <a16:creationId xmlns:a16="http://schemas.microsoft.com/office/drawing/2014/main" id="{5214EAAD-C9C3-43C6-93E1-BB4B7057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628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I proposed staged generation of personalized learner tasks, with a mentor checking the context and the output.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f5f6e6ed84c2a"/>
          <a:stretch xmlns:a="http://schemas.openxmlformats.org/drawingml/2006/main"/>
        </p:blipFill>
        <p:spPr>
          <a:xfrm xmlns:a="http://schemas.openxmlformats.org/drawingml/2006/main">
            <a:off x="8241908" y="1200150"/>
            <a:ext cx="2604285" cy="5038725"/>
          </a:xfrm>
          <a:prstGeom xmlns:a="http://schemas.openxmlformats.org/drawingml/2006/main" prst="rect">
            <a:avLst/>
          </a:prstGeom>
        </p:spPr>
      </p:pic>
      <p:sp>
        <p:nvSpPr>
          <p:cNvPr id="5" name="asu-stage">
            <a:extLst xmlns:a="http://schemas.openxmlformats.org/drawingml/2006/main">
              <a:ext uri="{FF2B5EF4-FFF2-40B4-BE49-F238E27FC236}">
                <a16:creationId xmlns:a16="http://schemas.microsoft.com/office/drawing/2014/main" id="{4786D398-5C69-4566-918C-CB916456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6381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Two mentor checkpoints from the simplified 2024 proposal. Deployment and time savings were not established.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83CCA1E-3817-4EC5-9106-71BD2D9A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198856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D8AE194-FB92-4324-B683-13C128CB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PROPOSED APPROACH   /   ARKESTRO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F0F564CD-1523-4BBB-94B8-6EAA9E28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905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Start with one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recurring task</a:t>
            </a:r>
          </a:p>
        </p:txBody>
      </p:sp>
      <p:sp>
        <p:nvSpPr>
          <p:cNvPr id="3" name="pilot-baseline">
            <a:extLst xmlns:a="http://schemas.openxmlformats.org/drawingml/2006/main">
              <a:ext uri="{FF2B5EF4-FFF2-40B4-BE49-F238E27FC236}">
                <a16:creationId xmlns:a16="http://schemas.microsoft.com/office/drawing/2014/main" id="{3DDE33A7-5F2B-4E11-A8AE-4AA420A4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572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Work with a department expert to define the task, acceptable output and review points. Capture the current time and correction effort.</a:t>
            </a:r>
          </a:p>
        </p:txBody>
      </p:sp>
      <p:sp>
        <p:nvSpPr>
          <p:cNvPr id="4" name="pilot-transfer">
            <a:extLst xmlns:a="http://schemas.openxmlformats.org/drawingml/2006/main">
              <a:ext uri="{FF2B5EF4-FFF2-40B4-BE49-F238E27FC236}">
                <a16:creationId xmlns:a16="http://schemas.microsoft.com/office/drawing/2014/main" id="{1FC7C165-D87D-479D-A039-AC7A9575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5572125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Build and test a small workflow. Give another champion a short guide, then compare task time, corrections and tool cost before expanding.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8d69e181b429d"/>
          <a:stretch xmlns:a="http://schemas.openxmlformats.org/drawingml/2006/main"/>
        </p:blipFill>
        <p:spPr>
          <a:xfrm xmlns:a="http://schemas.openxmlformats.org/drawingml/2006/main">
            <a:off x="7010400" y="1447800"/>
            <a:ext cx="4876800" cy="4876800"/>
          </a:xfrm>
          <a:prstGeom xmlns:a="http://schemas.openxmlformats.org/drawingml/2006/main" prst="rect">
            <a:avLst/>
          </a:prstGeom>
        </p:spPr>
      </p:pic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E1AFB5A-9B7D-403F-8E60-AF161285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138738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244D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0A711F0-122B-4E5E-ABA5-F3D75F63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BEB89"/>
                </a:solidFill>
                <a:latin typeface="Helvetica Neue"/>
                <a:ea typeface="Helvetica Neue"/>
                <a:cs typeface="Helvetica Neue"/>
              </a:rPr>
              <a:t>KYLE HOBSON   /   ARKESTRO · AI ENABLEMENT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4BD37E2D-0A2D-4B05-BD87-BB65CA80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2870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4800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Let’s make AI useful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4800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in your workflow</a:t>
            </a:r>
          </a:p>
        </p:txBody>
      </p:sp>
      <p:sp>
        <p:nvSpPr>
          <p:cNvPr id="3" name="contact-intent">
            <a:extLst xmlns:a="http://schemas.openxmlformats.org/drawingml/2006/main">
              <a:ext uri="{FF2B5EF4-FFF2-40B4-BE49-F238E27FC236}">
                <a16:creationId xmlns:a16="http://schemas.microsoft.com/office/drawing/2014/main" id="{9CCE95A1-5092-4037-AB51-0A43108C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100203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Mesa, Arizona. Available for U.S. remote work, periodic travel, and a start as soon as possible.</a:t>
            </a:r>
          </a:p>
        </p:txBody>
      </p:sp>
      <p:sp>
        <p:nvSpPr>
          <p:cNvPr id="4" name="email">
            <a:extLst xmlns:a="http://schemas.openxmlformats.org/drawingml/2006/main">
              <a:ext uri="{FF2B5EF4-FFF2-40B4-BE49-F238E27FC236}">
                <a16:creationId xmlns:a16="http://schemas.microsoft.com/office/drawing/2014/main" id="{C9214380-6258-46EB-B705-4BC1AE80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57775"/>
            <a:ext cx="1019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 b="0" u="sng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u="sng">
                <a:solidFill>
                  <a:srgbClr val="DBEB89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09a16430ea2b4f92"/>
              </a:rPr>
              <a:t>JonathanKyleHobson@gmail.com</a:t>
            </a:r>
          </a:p>
        </p:txBody>
      </p:sp>
      <p:sp>
        <p:nvSpPr>
          <p:cNvPr id="5" name="portfolio">
            <a:extLst xmlns:a="http://schemas.openxmlformats.org/drawingml/2006/main">
              <a:ext uri="{FF2B5EF4-FFF2-40B4-BE49-F238E27FC236}">
                <a16:creationId xmlns:a16="http://schemas.microsoft.com/office/drawing/2014/main" id="{18F99443-7F7B-4863-8815-82CA7222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 b="0" u="sng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u="sng">
                <a:solidFill>
                  <a:srgbClr val="DBEB89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44585d4ec647480e"/>
              </a:rPr>
              <a:t>jonathankhobson.github.io/application-portfolios/arkestro-ai-enablement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FC27A9A-81B4-4A08-97B0-E4BBA553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BEB89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22409384"/>
      </p:ext>
    </p:extLst>
  </p:cSld>
</p:sld>
</file>

<file path=ppt/theme/theme1.xml><?xml version="1.0" encoding="utf-8"?>
<a:theme xmlns:a="http://schemas.openxmlformats.org/drawingml/2006/main" name="ChatGPT">
  <a:themeElements>
    <a:clrScheme name="Kyle Portfolio">
      <a:dk1>
        <a:srgbClr val="192B25"/>
      </a:dk1>
      <a:lt1>
        <a:srgbClr val="FFFFFF"/>
      </a:lt1>
      <a:dk2>
        <a:srgbClr val="244D3C"/>
      </a:dk2>
      <a:lt2>
        <a:srgbClr val="F4F2E9"/>
      </a:lt2>
      <a:accent1>
        <a:srgbClr val="244D3C"/>
      </a:accent1>
      <a:accent2>
        <a:srgbClr val="DBEB89"/>
      </a:accent2>
      <a:accent3>
        <a:srgbClr val="E1E8DB"/>
      </a:accent3>
      <a:accent4>
        <a:srgbClr val="58645D"/>
      </a:accent4>
      <a:accent5>
        <a:srgbClr val="192B25"/>
      </a:accent5>
      <a:accent6>
        <a:srgbClr val="F4F2E9"/>
      </a:accent6>
      <a:hlink>
        <a:srgbClr val="DBEB89"/>
      </a:hlink>
      <a:folHlink>
        <a:srgbClr val="DBEB8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yle Portfol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2026-09-08T23:40:07.0210000Z</dcterms:created>
  <dcterms:modified xsi:type="dcterms:W3CDTF">2026-09-08T23:40:07.0210000Z</dcterms:modified>
</coreProperties>
</file>