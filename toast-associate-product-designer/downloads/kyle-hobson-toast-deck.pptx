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84bdd8fa794e70" /><Relationship Type="http://schemas.openxmlformats.org/officeDocument/2006/relationships/extended-properties" Target="/docProps/app.xml" Id="R5f9979de684045ab" /><Relationship Type="http://schemas.openxmlformats.org/officeDocument/2006/relationships/officeDocument" Target="/ppt/presentation.xml" Id="R35aaf91fdd034077" /></Relationships>
</file>

<file path=ppt/presentation.xml><?xml version="1.0" encoding="utf-8"?>
<p:presentation xmlns:p="http://schemas.openxmlformats.org/presentationml/2006/main">
  <p:sldMasterIdLst>
    <p:sldMasterId xmlns:r="http://schemas.openxmlformats.org/officeDocument/2006/relationships" id="2147483648" r:id="Re648697fa8a14d81"/>
  </p:sldMasterIdLst>
  <p:notesMasterIdLst>
    <p:notesMasterId xmlns:r="http://schemas.openxmlformats.org/officeDocument/2006/relationships" r:id="R28c7a927c8944ba9"/>
  </p:notesMasterIdLst>
  <p:sldIdLst>
    <p:sldId xmlns:r="http://schemas.openxmlformats.org/officeDocument/2006/relationships" id="256" r:id="R1b451f30b0a8475b"/>
    <p:sldId xmlns:r="http://schemas.openxmlformats.org/officeDocument/2006/relationships" id="257" r:id="R7ae8ce92b8fe41b3"/>
    <p:sldId xmlns:r="http://schemas.openxmlformats.org/officeDocument/2006/relationships" id="258" r:id="R1188418b79fd462c"/>
    <p:sldId xmlns:r="http://schemas.openxmlformats.org/officeDocument/2006/relationships" id="259" r:id="R28ced41712604182"/>
    <p:sldId xmlns:r="http://schemas.openxmlformats.org/officeDocument/2006/relationships" id="260" r:id="R6c3fc37854404057"/>
    <p:sldId xmlns:r="http://schemas.openxmlformats.org/officeDocument/2006/relationships" id="261" r:id="R2f3c16e3d8624287"/>
    <p:sldId xmlns:r="http://schemas.openxmlformats.org/officeDocument/2006/relationships" id="262" r:id="R9927111df3e54d24"/>
    <p:sldId xmlns:r="http://schemas.openxmlformats.org/officeDocument/2006/relationships" id="263" r:id="Rec30b812a79a47b1"/>
    <p:sldId xmlns:r="http://schemas.openxmlformats.org/officeDocument/2006/relationships" id="264" r:id="R05b71299e8a144e8"/>
    <p:sldId xmlns:r="http://schemas.openxmlformats.org/officeDocument/2006/relationships" id="265" r:id="R67eadc34bf5b4c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11ab81bd0c493d" /><Relationship Type="http://schemas.openxmlformats.org/officeDocument/2006/relationships/slideMaster" Target="/ppt/slideMasters/slideMaster1.xml" Id="Re648697fa8a14d81" /><Relationship Type="http://schemas.openxmlformats.org/officeDocument/2006/relationships/notesMaster" Target="/ppt/notesMasters/notesMaster1.xml" Id="R28c7a927c8944ba9" /><Relationship Type="http://schemas.openxmlformats.org/officeDocument/2006/relationships/presProps" Target="/ppt/presProps.xml" Id="R3426133ced27431c" /><Relationship Type="http://schemas.openxmlformats.org/officeDocument/2006/relationships/tableStyles" Target="/ppt/tableStyles.xml" Id="R9592a098bc4d48c0" /><Relationship Type="http://schemas.openxmlformats.org/officeDocument/2006/relationships/slide" Target="/ppt/slides/slide1.xml" Id="R1b451f30b0a8475b" /><Relationship Type="http://schemas.openxmlformats.org/officeDocument/2006/relationships/slide" Target="/ppt/slides/slide2.xml" Id="R7ae8ce92b8fe41b3" /><Relationship Type="http://schemas.openxmlformats.org/officeDocument/2006/relationships/slide" Target="/ppt/slides/slide3.xml" Id="R1188418b79fd462c" /><Relationship Type="http://schemas.openxmlformats.org/officeDocument/2006/relationships/slide" Target="/ppt/slides/slide4.xml" Id="R28ced41712604182" /><Relationship Type="http://schemas.openxmlformats.org/officeDocument/2006/relationships/slide" Target="/ppt/slides/slide5.xml" Id="R6c3fc37854404057" /><Relationship Type="http://schemas.openxmlformats.org/officeDocument/2006/relationships/slide" Target="/ppt/slides/slide6.xml" Id="R2f3c16e3d8624287" /><Relationship Type="http://schemas.openxmlformats.org/officeDocument/2006/relationships/slide" Target="/ppt/slides/slide7.xml" Id="R9927111df3e54d24" /><Relationship Type="http://schemas.openxmlformats.org/officeDocument/2006/relationships/slide" Target="/ppt/slides/slide8.xml" Id="Rec30b812a79a47b1" /><Relationship Type="http://schemas.openxmlformats.org/officeDocument/2006/relationships/slide" Target="/ppt/slides/slide9.xml" Id="R05b71299e8a144e8" /><Relationship Type="http://schemas.openxmlformats.org/officeDocument/2006/relationships/slide" Target="/ppt/slides/slide10.xml" Id="R67eadc34bf5b4c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a14a7883a64f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2fbcb28a6b4ad6" /><Relationship Type="http://schemas.openxmlformats.org/officeDocument/2006/relationships/notesMaster" Target="/ppt/notesMasters/notesMaster1.xml" Id="R425111c4b1ce41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8ce9d5d286452d" /><Relationship Type="http://schemas.openxmlformats.org/officeDocument/2006/relationships/notesMaster" Target="/ppt/notesMasters/notesMaster1.xml" Id="Rcb78cc20f44c4a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9997d483634fae" /><Relationship Type="http://schemas.openxmlformats.org/officeDocument/2006/relationships/notesMaster" Target="/ppt/notesMasters/notesMaster1.xml" Id="R36a0bc5a703740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ead0c1b2c94e8f" /><Relationship Type="http://schemas.openxmlformats.org/officeDocument/2006/relationships/notesMaster" Target="/ppt/notesMasters/notesMaster1.xml" Id="R5cb81c472c3d40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7473651b3248b1" /><Relationship Type="http://schemas.openxmlformats.org/officeDocument/2006/relationships/notesMaster" Target="/ppt/notesMasters/notesMaster1.xml" Id="R130cf6282acf4f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bc3e4c52b74544" /><Relationship Type="http://schemas.openxmlformats.org/officeDocument/2006/relationships/notesMaster" Target="/ppt/notesMasters/notesMaster1.xml" Id="R975d528e4b6c44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203840eeb142ef" /><Relationship Type="http://schemas.openxmlformats.org/officeDocument/2006/relationships/notesMaster" Target="/ppt/notesMasters/notesMaster1.xml" Id="R11fbc68a7c2e4e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c5cb15c3044d7a" /><Relationship Type="http://schemas.openxmlformats.org/officeDocument/2006/relationships/notesMaster" Target="/ppt/notesMasters/notesMaster1.xml" Id="R880a21ae817648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36d01f548e4702" /><Relationship Type="http://schemas.openxmlformats.org/officeDocument/2006/relationships/notesMaster" Target="/ppt/notesMasters/notesMaster1.xml" Id="R42a77baba30f47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88e823ee8b481d" /><Relationship Type="http://schemas.openxmlformats.org/officeDocument/2006/relationships/notesMaster" Target="/ppt/notesMasters/notesMaster1.xml" Id="R47129fb39ab849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Associate Product Designer (Toast), https://careers.toasttab.com/jobs/associate-product-designer-remote-united-states?gh_jid=8126072 . Toast is a prospective employer; the displayed projects are prior FactorLab and Oak work. Cover artwork is decorative; project screenshots provide the work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the original portfolio case.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Compass: https://github.com/JonathanKHobson/prompt-compass/releases/tag/v0.1.0-beta.3 . Public prerelease April 27, 2026, with later local evaluation examples in May. Displayed excerpt comes from an original example session; it is a feature proposal, not deployed enterprise adoption. This illustrates Kyle’s judgment about preserving requirements when working with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About Me original Figma design and April–May 2026 walkthroughs, the original portfolio case. Kyle developed page directions, content families and visual alternatives. Product lead and engineering clarified data availability, existing capabilities and routes into detail. Team release of web/server changes is confirmed September 2, 2026; the exact pictured layout is unverified. The crop preserves original source pixels.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widget-system direction and the original portfolio explanation of the summary decision. Source values and content are design examples, not measured user results. The screenshot shows View why and an action route. Exact released layout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the original portfolio case.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discussion approach for Toast Associate Product Designer, requisition R14970, https://careers.toasttab.com/jobs/associate-product-designer-remote-united-states?gh_jid=8126072 . Based on the role’s payroll-readiness and agentic-workflow scope. This is not prior Toast work, a finding about its current interface, a compliance solution or a measured outcome. Payroll rules and automation boundaries require domain experts.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work for Toast Associate Product Designer. Kyle’s experience combines research, interface design, applied AI tools and engineering handoff. Payroll compliance, production native-release ownership and a complete enterprise design-system build are not established. Mesa, Arizona; full U.S. work authorization and availability as soon as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ffc5a9db3141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53e0bc346c48a1" /><Relationship Type="http://schemas.openxmlformats.org/officeDocument/2006/relationships/slideLayout" Target="/ppt/slideLayouts/slideLayout1.xml" Id="Rbaba33bac2154a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ba33bac2154a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69efa0b7e5453b" /><Relationship Type="http://schemas.openxmlformats.org/officeDocument/2006/relationships/image" Target="/ppt/media/image.png" Id="Rc024b7ce0954476f" /><Relationship Type="http://schemas.openxmlformats.org/officeDocument/2006/relationships/notesSlide" Target="/ppt/notesSlides/notesSlide1.xml" Id="Rd0ecb3fed18543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d38e2b1e50484f" /><Relationship Type="http://schemas.openxmlformats.org/officeDocument/2006/relationships/image" Target="/ppt/media/image2.png" Id="R4d4afb59a8244cad" /><Relationship Type="http://schemas.openxmlformats.org/officeDocument/2006/relationships/notesSlide" Target="/ppt/notesSlides/notesSlide2.xml" Id="R5cf04aced67a46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7984decd2c43e1" /><Relationship Type="http://schemas.openxmlformats.org/officeDocument/2006/relationships/image" Target="/ppt/media/image3.png" Id="Reaa011c6b59246ea" /><Relationship Type="http://schemas.openxmlformats.org/officeDocument/2006/relationships/notesSlide" Target="/ppt/notesSlides/notesSlide3.xml" Id="Rafbbed63477646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d29307518645d4" /><Relationship Type="http://schemas.openxmlformats.org/officeDocument/2006/relationships/image" Target="/ppt/media/image4.png" Id="R376f6d40db454cfa" /><Relationship Type="http://schemas.openxmlformats.org/officeDocument/2006/relationships/image" Target="/ppt/media/image5.png" Id="R4408aba2f55b4921" /><Relationship Type="http://schemas.openxmlformats.org/officeDocument/2006/relationships/notesSlide" Target="/ppt/notesSlides/notesSlide4.xml" Id="R4617964e3e4a49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5172b9b2b24f0c" /><Relationship Type="http://schemas.openxmlformats.org/officeDocument/2006/relationships/image" Target="/ppt/media/image6.png" Id="R76f50ae1a8ba4bd5" /><Relationship Type="http://schemas.openxmlformats.org/officeDocument/2006/relationships/notesSlide" Target="/ppt/notesSlides/notesSlide5.xml" Id="Rb7411020c15947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16f74b64cd4d25" /><Relationship Type="http://schemas.openxmlformats.org/officeDocument/2006/relationships/image" Target="/ppt/media/image7.png" Id="R4f1f530b4a46413d" /><Relationship Type="http://schemas.openxmlformats.org/officeDocument/2006/relationships/notesSlide" Target="/ppt/notesSlides/notesSlide6.xml" Id="Racbd8193ec7445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48e06990384226" /><Relationship Type="http://schemas.openxmlformats.org/officeDocument/2006/relationships/image" Target="/ppt/media/image8.png" Id="Rfeca57cdb5a74905" /><Relationship Type="http://schemas.openxmlformats.org/officeDocument/2006/relationships/image" Target="/ppt/media/image9.png" Id="Rf63c28146a184574" /><Relationship Type="http://schemas.openxmlformats.org/officeDocument/2006/relationships/image" Target="/ppt/media/image10.png" Id="R55e0fbe84a6d48ae" /><Relationship Type="http://schemas.openxmlformats.org/officeDocument/2006/relationships/notesSlide" Target="/ppt/notesSlides/notesSlide7.xml" Id="Ra9dd0eba13f64d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e0c4190ea14859" /><Relationship Type="http://schemas.openxmlformats.org/officeDocument/2006/relationships/image" Target="/ppt/media/image11.png" Id="R7869b1a8e2c2412c" /><Relationship Type="http://schemas.openxmlformats.org/officeDocument/2006/relationships/notesSlide" Target="/ppt/notesSlides/notesSlide8.xml" Id="Rc0b067f036c24b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d4b8f7f57845f1" /><Relationship Type="http://schemas.openxmlformats.org/officeDocument/2006/relationships/notesSlide" Target="/ppt/notesSlides/notesSlide9.xml" Id="R07d066d4c8334d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12b0f81fe14aa6" /><Relationship Type="http://schemas.openxmlformats.org/officeDocument/2006/relationships/hyperlink" Target="mailto:JonathanKyleHobson@gmail.com" TargetMode="External" Id="R2dbb40f746714c39" /><Relationship Type="http://schemas.openxmlformats.org/officeDocument/2006/relationships/hyperlink" Target="https://jonathankhobson.github.io/application-portfolios/toast-associate-product-designer/" TargetMode="External" Id="R0592b3372a844797" /><Relationship Type="http://schemas.openxmlformats.org/officeDocument/2006/relationships/notesSlide" Target="/ppt/notesSlides/notesSlide10.xml" Id="Ra189fcaa6ebe4ecc"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024b7ce0954476f"/>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E5A1656F-DC00-4FF4-9B2D-3F945D97EDA0}"/>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TOAST ASSOCIATE PRODUCT DESIGNER</a:t>
            </a:r>
          </a:p>
        </p:txBody>
      </p:sp>
      <p:sp>
        <p:nvSpPr>
          <p:cNvPr id="3" name="headline">
            <a:extLst xmlns:a="http://schemas.openxmlformats.org/drawingml/2006/main">
              <a:ext uri="{FF2B5EF4-FFF2-40B4-BE49-F238E27FC236}">
                <a16:creationId xmlns:a16="http://schemas.microsoft.com/office/drawing/2014/main" id="{C0089FC8-B1D0-4A42-A67B-ADF7434C155D}"/>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Clear actions in</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complex workflows</a:t>
            </a:r>
          </a:p>
        </p:txBody>
      </p:sp>
      <p:sp>
        <p:nvSpPr>
          <p:cNvPr id="4" name="cover-intro">
            <a:extLst xmlns:a="http://schemas.openxmlformats.org/drawingml/2006/main">
              <a:ext uri="{FF2B5EF4-FFF2-40B4-BE49-F238E27FC236}">
                <a16:creationId xmlns:a16="http://schemas.microsoft.com/office/drawing/2014/main" id="{C13749E1-6200-4483-BA5F-C8E9ADFBAF39}"/>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FactorLab interaction design</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research-led recommendations at Oak AI.</a:t>
            </a:r>
          </a:p>
        </p:txBody>
      </p:sp>
      <p:sp>
        <p:nvSpPr>
          <p:cNvPr id="5" name="cover-role">
            <a:extLst xmlns:a="http://schemas.openxmlformats.org/drawingml/2006/main">
              <a:ext uri="{FF2B5EF4-FFF2-40B4-BE49-F238E27FC236}">
                <a16:creationId xmlns:a16="http://schemas.microsoft.com/office/drawing/2014/main" id="{1D3926A8-C7F7-44CC-873D-58EF1020CB42}"/>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Associate Product Designer application · September 2026</a:t>
            </a:r>
          </a:p>
        </p:txBody>
      </p:sp>
      <p:sp>
        <p:nvSpPr>
          <p:cNvPr id="6" name="slide-number">
            <a:extLst xmlns:a="http://schemas.openxmlformats.org/drawingml/2006/main">
              <a:ext uri="{FF2B5EF4-FFF2-40B4-BE49-F238E27FC236}">
                <a16:creationId xmlns:a16="http://schemas.microsoft.com/office/drawing/2014/main" id="{C98FF349-FEC0-4D48-8E98-A4B3E13A2AD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697799262"/>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A007F1F-23DD-4DF7-89D7-CBC7504582B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2026</a:t>
            </a:r>
          </a:p>
        </p:txBody>
      </p:sp>
      <p:sp>
        <p:nvSpPr>
          <p:cNvPr id="2" name="headline">
            <a:extLst xmlns:a="http://schemas.openxmlformats.org/drawingml/2006/main">
              <a:ext uri="{FF2B5EF4-FFF2-40B4-BE49-F238E27FC236}">
                <a16:creationId xmlns:a16="http://schemas.microsoft.com/office/drawing/2014/main" id="{E283722D-B935-4173-BAE2-E4C04EF2F421}"/>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Editable starting questions</a:t>
            </a:r>
          </a:p>
        </p:txBody>
      </p:sp>
      <p:sp>
        <p:nvSpPr>
          <p:cNvPr id="3" name="entry-decision">
            <a:extLst xmlns:a="http://schemas.openxmlformats.org/drawingml/2006/main">
              <a:ext uri="{FF2B5EF4-FFF2-40B4-BE49-F238E27FC236}">
                <a16:creationId xmlns:a16="http://schemas.microsoft.com/office/drawing/2014/main" id="{16951BBD-493E-4B5E-AF40-3C6E93E22761}"/>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21680927-CA85-4269-B841-B81B9901BBBB}"/>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d4afb59a8244cad"/>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F6157820-5F96-4C85-B1BC-F7A4CE14018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537240453"/>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2B675CFB-A4D4-443F-A6A6-0EF21DB25E3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APPLIED AI   /   PROMPT COMPASS, 2026</a:t>
            </a:r>
          </a:p>
        </p:txBody>
      </p:sp>
      <p:sp>
        <p:nvSpPr>
          <p:cNvPr id="2" name="headline">
            <a:extLst xmlns:a="http://schemas.openxmlformats.org/drawingml/2006/main">
              <a:ext uri="{FF2B5EF4-FFF2-40B4-BE49-F238E27FC236}">
                <a16:creationId xmlns:a16="http://schemas.microsoft.com/office/drawing/2014/main" id="{4BFE5B5B-B9B0-4B8D-83D3-1FABE3A338AF}"/>
              </a:ext>
            </a:extLst>
          </p:cNvPr>
          <p:cNvSpPr>
            <a:spLocks xmlns:a="http://schemas.openxmlformats.org/drawingml/2006/main" noGrp="1"/>
          </p:cNvSpPr>
          <p:nvPr/>
        </p:nvSpPr>
        <p:spPr>
          <a:xfrm xmlns:a="http://schemas.openxmlformats.org/drawingml/2006/main">
            <a:off x="609600" y="1104900"/>
            <a:ext cx="5429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requirements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still need to hold</a:t>
            </a:r>
          </a:p>
        </p:txBody>
      </p:sp>
      <p:sp>
        <p:nvSpPr>
          <p:cNvPr id="3" name="ai-judgment">
            <a:extLst xmlns:a="http://schemas.openxmlformats.org/drawingml/2006/main">
              <a:ext uri="{FF2B5EF4-FFF2-40B4-BE49-F238E27FC236}">
                <a16:creationId xmlns:a16="http://schemas.microsoft.com/office/drawing/2014/main" id="{BE5B0DA6-BBF2-4411-8DED-B959FB433030}"/>
              </a:ext>
            </a:extLst>
          </p:cNvPr>
          <p:cNvSpPr>
            <a:spLocks xmlns:a="http://schemas.openxmlformats.org/drawingml/2006/main" noGrp="1"/>
          </p:cNvSpPr>
          <p:nvPr/>
        </p:nvSpPr>
        <p:spPr>
          <a:xfrm xmlns:a="http://schemas.openxmlformats.org/drawingml/2006/main">
            <a:off x="609600" y="3190875"/>
            <a:ext cx="4857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built a tool for inspecting prompt requirements and comparing versions. A shorter instruction can lose an important review step.</a:t>
            </a:r>
          </a:p>
        </p:txBody>
      </p:sp>
      <p:sp>
        <p:nvSpPr>
          <p:cNvPr id="4" name="ai-boundary">
            <a:extLst xmlns:a="http://schemas.openxmlformats.org/drawingml/2006/main">
              <a:ext uri="{FF2B5EF4-FFF2-40B4-BE49-F238E27FC236}">
                <a16:creationId xmlns:a16="http://schemas.microsoft.com/office/drawing/2014/main" id="{62662DB5-D83E-45E4-84D9-37C052393E11}"/>
              </a:ext>
            </a:extLst>
          </p:cNvPr>
          <p:cNvSpPr>
            <a:spLocks xmlns:a="http://schemas.openxmlformats.org/drawingml/2006/main" noGrp="1"/>
          </p:cNvSpPr>
          <p:nvPr/>
        </p:nvSpPr>
        <p:spPr>
          <a:xfrm xmlns:a="http://schemas.openxmlformats.org/drawingml/2006/main">
            <a:off x="609600" y="5172075"/>
            <a:ext cx="4857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Public beta release, April 2026. The example here shows a request clarified before a feature proposal.</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aa011c6b59246ea"/>
          <a:stretch xmlns:a="http://schemas.openxmlformats.org/drawingml/2006/main"/>
        </p:blipFill>
        <p:spPr>
          <a:xfrm xmlns:a="http://schemas.openxmlformats.org/drawingml/2006/main">
            <a:off x="6305550" y="2776782"/>
            <a:ext cx="5257800" cy="1742585"/>
          </a:xfrm>
          <a:prstGeom xmlns:a="http://schemas.openxmlformats.org/drawingml/2006/main" prst="rect">
            <a:avLst/>
          </a:prstGeom>
        </p:spPr>
      </p:pic>
      <p:sp>
        <p:nvSpPr>
          <p:cNvPr id="6" name="ai-caption">
            <a:extLst xmlns:a="http://schemas.openxmlformats.org/drawingml/2006/main">
              <a:ext uri="{FF2B5EF4-FFF2-40B4-BE49-F238E27FC236}">
                <a16:creationId xmlns:a16="http://schemas.microsoft.com/office/drawing/2014/main" id="{A725C63E-9F7B-4D5F-BA19-8D28E5FABDC3}"/>
              </a:ext>
            </a:extLst>
          </p:cNvPr>
          <p:cNvSpPr>
            <a:spLocks xmlns:a="http://schemas.openxmlformats.org/drawingml/2006/main" noGrp="1"/>
          </p:cNvSpPr>
          <p:nvPr/>
        </p:nvSpPr>
        <p:spPr>
          <a:xfrm xmlns:a="http://schemas.openxmlformats.org/drawingml/2006/main">
            <a:off x="6305550" y="5857875"/>
            <a:ext cx="525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example session · feature proposal</a:t>
            </a:r>
          </a:p>
        </p:txBody>
      </p:sp>
      <p:sp>
        <p:nvSpPr>
          <p:cNvPr id="7" name="slide-number">
            <a:extLst xmlns:a="http://schemas.openxmlformats.org/drawingml/2006/main">
              <a:ext uri="{FF2B5EF4-FFF2-40B4-BE49-F238E27FC236}">
                <a16:creationId xmlns:a16="http://schemas.microsoft.com/office/drawing/2014/main" id="{E23902DB-0159-4879-8720-6B175940A4B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748324029"/>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74FA10D5-C1DF-456B-AE81-6D2DAA5D2D6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41ADEBAF-2560-4850-AB5A-67E079F37BFE}"/>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Different failures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need different actions</a:t>
            </a:r>
          </a:p>
        </p:txBody>
      </p:sp>
      <p:sp>
        <p:nvSpPr>
          <p:cNvPr id="3" name="recovery-decision">
            <a:extLst xmlns:a="http://schemas.openxmlformats.org/drawingml/2006/main">
              <a:ext uri="{FF2B5EF4-FFF2-40B4-BE49-F238E27FC236}">
                <a16:creationId xmlns:a16="http://schemas.microsoft.com/office/drawing/2014/main" id="{BEC5337B-BD36-4B6F-835A-E4CE67AE1EF0}"/>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15617814-5F23-4074-B01F-2F9445438E79}"/>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3558E260-3D1E-406D-BC24-B133FF14E5B8}"/>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3B4FE6D5-62A4-4917-96CF-0E142E6CD167}"/>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76f6d40db454cfa"/>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408aba2f55b4921"/>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4DE98E55-1720-43C7-8820-75F7230CFA7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411309381"/>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1F2EBC53-6224-4A4D-9303-A0A651169D6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INFORMATION ARCHITECTURE, 2026</a:t>
            </a:r>
          </a:p>
        </p:txBody>
      </p:sp>
      <p:sp>
        <p:nvSpPr>
          <p:cNvPr id="2" name="headline">
            <a:extLst xmlns:a="http://schemas.openxmlformats.org/drawingml/2006/main">
              <a:ext uri="{FF2B5EF4-FFF2-40B4-BE49-F238E27FC236}">
                <a16:creationId xmlns:a16="http://schemas.microsoft.com/office/drawing/2014/main" id="{21542B8E-39E8-49AB-B222-354FB4464CB7}"/>
              </a:ext>
            </a:extLst>
          </p:cNvPr>
          <p:cNvSpPr>
            <a:spLocks xmlns:a="http://schemas.openxmlformats.org/drawingml/2006/main" noGrp="1"/>
          </p:cNvSpPr>
          <p:nvPr/>
        </p:nvSpPr>
        <p:spPr>
          <a:xfrm xmlns:a="http://schemas.openxmlformats.org/drawingml/2006/main">
            <a:off x="609600" y="1104900"/>
            <a:ext cx="619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Feedback organized</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by purpose</a:t>
            </a:r>
          </a:p>
        </p:txBody>
      </p:sp>
      <p:sp>
        <p:nvSpPr>
          <p:cNvPr id="3" name="families">
            <a:extLst xmlns:a="http://schemas.openxmlformats.org/drawingml/2006/main">
              <a:ext uri="{FF2B5EF4-FFF2-40B4-BE49-F238E27FC236}">
                <a16:creationId xmlns:a16="http://schemas.microsoft.com/office/drawing/2014/main" id="{1AB7B301-0E98-4DB9-A46C-7433E2AC6635}"/>
              </a:ext>
            </a:extLst>
          </p:cNvPr>
          <p:cNvSpPr>
            <a:spLocks xmlns:a="http://schemas.openxmlformats.org/drawingml/2006/main" noGrp="1"/>
          </p:cNvSpPr>
          <p:nvPr/>
        </p:nvSpPr>
        <p:spPr>
          <a:xfrm xmlns:a="http://schemas.openxmlformats.org/drawingml/2006/main">
            <a:off x="609600" y="31527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Summaries. Recommendations. Simple 7. Comparisons. Accomplishments.</a:t>
            </a:r>
          </a:p>
        </p:txBody>
      </p:sp>
      <p:sp>
        <p:nvSpPr>
          <p:cNvPr id="4" name="families-rationale">
            <a:extLst xmlns:a="http://schemas.openxmlformats.org/drawingml/2006/main">
              <a:ext uri="{FF2B5EF4-FFF2-40B4-BE49-F238E27FC236}">
                <a16:creationId xmlns:a16="http://schemas.microsoft.com/office/drawing/2014/main" id="{E5539234-A752-4817-9F5B-9413208088CC}"/>
              </a:ext>
            </a:extLst>
          </p:cNvPr>
          <p:cNvSpPr>
            <a:spLocks xmlns:a="http://schemas.openxmlformats.org/drawingml/2006/main" noGrp="1"/>
          </p:cNvSpPr>
          <p:nvPr/>
        </p:nvSpPr>
        <p:spPr>
          <a:xfrm xmlns:a="http://schemas.openxmlformats.org/drawingml/2006/main">
            <a:off x="609600" y="4610100"/>
            <a:ext cx="5381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explored content density and reusable widget structures, then worked with engineers on what each action opened.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f50ae1a8ba4bd5"/>
          <a:stretch xmlns:a="http://schemas.openxmlformats.org/drawingml/2006/main"/>
        </p:blipFill>
        <p:spPr>
          <a:xfrm xmlns:a="http://schemas.openxmlformats.org/drawingml/2006/main">
            <a:off x="6896100" y="2241046"/>
            <a:ext cx="4648200" cy="2280659"/>
          </a:xfrm>
          <a:prstGeom xmlns:a="http://schemas.openxmlformats.org/drawingml/2006/main" prst="rect">
            <a:avLst/>
          </a:prstGeom>
        </p:spPr>
      </p:pic>
      <p:sp>
        <p:nvSpPr>
          <p:cNvPr id="6" name="families-caption">
            <a:extLst xmlns:a="http://schemas.openxmlformats.org/drawingml/2006/main">
              <a:ext uri="{FF2B5EF4-FFF2-40B4-BE49-F238E27FC236}">
                <a16:creationId xmlns:a16="http://schemas.microsoft.com/office/drawing/2014/main" id="{B6C82BA4-9710-486C-917A-2A84FC98C1EC}"/>
              </a:ext>
            </a:extLst>
          </p:cNvPr>
          <p:cNvSpPr>
            <a:spLocks xmlns:a="http://schemas.openxmlformats.org/drawingml/2006/main" noGrp="1"/>
          </p:cNvSpPr>
          <p:nvPr/>
        </p:nvSpPr>
        <p:spPr>
          <a:xfrm xmlns:a="http://schemas.openxmlformats.org/drawingml/2006/main">
            <a:off x="6896100" y="4991100"/>
            <a:ext cx="4667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design detail · sample content</a:t>
            </a:r>
          </a:p>
        </p:txBody>
      </p:sp>
      <p:sp>
        <p:nvSpPr>
          <p:cNvPr id="7" name="slide-number">
            <a:extLst xmlns:a="http://schemas.openxmlformats.org/drawingml/2006/main">
              <a:ext uri="{FF2B5EF4-FFF2-40B4-BE49-F238E27FC236}">
                <a16:creationId xmlns:a16="http://schemas.microsoft.com/office/drawing/2014/main" id="{C3EB8463-87E5-4492-AA4E-75305E4479E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52347515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DF407DC6-D905-47D5-ACE1-E20FBAB5349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SUMMARY TO SUPPORTING DETAIL</a:t>
            </a:r>
          </a:p>
        </p:txBody>
      </p:sp>
      <p:sp>
        <p:nvSpPr>
          <p:cNvPr id="2" name="headline">
            <a:extLst xmlns:a="http://schemas.openxmlformats.org/drawingml/2006/main">
              <a:ext uri="{FF2B5EF4-FFF2-40B4-BE49-F238E27FC236}">
                <a16:creationId xmlns:a16="http://schemas.microsoft.com/office/drawing/2014/main" id="{AC560851-6AE3-4E20-8565-7B708D9451BD}"/>
              </a:ext>
            </a:extLst>
          </p:cNvPr>
          <p:cNvSpPr>
            <a:spLocks xmlns:a="http://schemas.openxmlformats.org/drawingml/2006/main" noGrp="1"/>
          </p:cNvSpPr>
          <p:nvPr/>
        </p:nvSpPr>
        <p:spPr>
          <a:xfrm xmlns:a="http://schemas.openxmlformats.org/drawingml/2006/main">
            <a:off x="609600" y="1104900"/>
            <a:ext cx="5886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detail behind</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recommendation</a:t>
            </a:r>
          </a:p>
        </p:txBody>
      </p:sp>
      <p:sp>
        <p:nvSpPr>
          <p:cNvPr id="3" name="proof-need">
            <a:extLst xmlns:a="http://schemas.openxmlformats.org/drawingml/2006/main">
              <a:ext uri="{FF2B5EF4-FFF2-40B4-BE49-F238E27FC236}">
                <a16:creationId xmlns:a16="http://schemas.microsoft.com/office/drawing/2014/main" id="{DE3CDD3F-C3D3-4511-852D-0AE9D568DE1C}"/>
              </a:ext>
            </a:extLst>
          </p:cNvPr>
          <p:cNvSpPr>
            <a:spLocks xmlns:a="http://schemas.openxmlformats.org/drawingml/2006/main" noGrp="1"/>
          </p:cNvSpPr>
          <p:nvPr/>
        </p:nvSpPr>
        <p:spPr>
          <a:xfrm xmlns:a="http://schemas.openxmlformats.org/drawingml/2006/main">
            <a:off x="609600" y="3171825"/>
            <a:ext cx="52197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short summary needs a route to the observations behind it and to a useful next action.</a:t>
            </a:r>
          </a:p>
        </p:txBody>
      </p:sp>
      <p:sp>
        <p:nvSpPr>
          <p:cNvPr id="4" name="proof-design">
            <a:extLst xmlns:a="http://schemas.openxmlformats.org/drawingml/2006/main">
              <a:ext uri="{FF2B5EF4-FFF2-40B4-BE49-F238E27FC236}">
                <a16:creationId xmlns:a16="http://schemas.microsoft.com/office/drawing/2014/main" id="{F04CD5EA-4706-49DA-AD56-B1791701ABE2}"/>
              </a:ext>
            </a:extLst>
          </p:cNvPr>
          <p:cNvSpPr>
            <a:spLocks xmlns:a="http://schemas.openxmlformats.org/drawingml/2006/main" noGrp="1"/>
          </p:cNvSpPr>
          <p:nvPr/>
        </p:nvSpPr>
        <p:spPr>
          <a:xfrm xmlns:a="http://schemas.openxmlformats.org/drawingml/2006/main">
            <a:off x="609600" y="5057775"/>
            <a:ext cx="5219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explored that connection before expanding the range of widgets and content on the page.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f1f530b4a46413d"/>
          <a:stretch xmlns:a="http://schemas.openxmlformats.org/drawingml/2006/main"/>
        </p:blipFill>
        <p:spPr>
          <a:xfrm xmlns:a="http://schemas.openxmlformats.org/drawingml/2006/main">
            <a:off x="7007315" y="2228850"/>
            <a:ext cx="4120970" cy="4048125"/>
          </a:xfrm>
          <a:prstGeom xmlns:a="http://schemas.openxmlformats.org/drawingml/2006/main" prst="rect">
            <a:avLst/>
          </a:prstGeom>
        </p:spPr>
      </p:pic>
      <p:sp>
        <p:nvSpPr>
          <p:cNvPr id="6" name="proof-caption">
            <a:extLst xmlns:a="http://schemas.openxmlformats.org/drawingml/2006/main">
              <a:ext uri="{FF2B5EF4-FFF2-40B4-BE49-F238E27FC236}">
                <a16:creationId xmlns:a16="http://schemas.microsoft.com/office/drawing/2014/main" id="{4BD2D24D-CA6D-4F80-88AC-EF094E8F1B9C}"/>
              </a:ext>
            </a:extLst>
          </p:cNvPr>
          <p:cNvSpPr>
            <a:spLocks xmlns:a="http://schemas.openxmlformats.org/drawingml/2006/main" noGrp="1"/>
          </p:cNvSpPr>
          <p:nvPr/>
        </p:nvSpPr>
        <p:spPr>
          <a:xfrm xmlns:a="http://schemas.openxmlformats.org/drawingml/2006/main">
            <a:off x="6705600" y="6391275"/>
            <a:ext cx="4724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direction exploration · sample content</a:t>
            </a:r>
          </a:p>
        </p:txBody>
      </p:sp>
      <p:sp>
        <p:nvSpPr>
          <p:cNvPr id="7" name="slide-number">
            <a:extLst xmlns:a="http://schemas.openxmlformats.org/drawingml/2006/main">
              <a:ext uri="{FF2B5EF4-FFF2-40B4-BE49-F238E27FC236}">
                <a16:creationId xmlns:a16="http://schemas.microsoft.com/office/drawing/2014/main" id="{E35E1C56-8930-45F8-B690-9351E37CB51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82183583"/>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74A0AE0C-1493-420C-9967-B2474CDC8C3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CCE2DC7A-45F4-4287-95A7-6379D8169F48}"/>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0A0EA294-3601-41B2-90F5-BE213C6D58B6}"/>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65B47371-262F-4AA6-A4FC-23F80DBB03C2}"/>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CDF9720D-ACF2-4B6D-890F-2DA600EC7EAA}"/>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9BD47452-4398-42A4-A909-B79E12558931}"/>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eca57cdb5a74905"/>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63c28146a184574"/>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9204F4CD-255F-4083-AD28-B875F14A35E5}"/>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5e0fbe84a6d48ae"/>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7C3B4B58-C939-4BB7-9EBD-103A6023D4BA}"/>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6AA93E36-EA79-4294-AB86-B0D15AD44BC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217564718"/>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20B1A4F-7BE8-44C3-B063-1A9DEE3ED46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1B07EF4A-841F-41C4-B45C-9E92905029DF}"/>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Consistent color roles</a:t>
            </a:r>
          </a:p>
        </p:txBody>
      </p:sp>
      <p:sp>
        <p:nvSpPr>
          <p:cNvPr id="3" name="color-purpose">
            <a:extLst xmlns:a="http://schemas.openxmlformats.org/drawingml/2006/main">
              <a:ext uri="{FF2B5EF4-FFF2-40B4-BE49-F238E27FC236}">
                <a16:creationId xmlns:a16="http://schemas.microsoft.com/office/drawing/2014/main" id="{6F609672-FF6B-48FE-80F4-1751DA829B53}"/>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11EEB4EB-72D1-49D3-9B63-E0CE0A62FB78}"/>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869b1a8e2c2412c"/>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72015803-EAE9-44B4-B32E-22B3EC6BCA0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2134515949"/>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56465CCC-076E-44EA-B67F-87C21D552CB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TOAST PAYROLL AND TEAM MANAGEMENT</a:t>
            </a:r>
          </a:p>
        </p:txBody>
      </p:sp>
      <p:sp>
        <p:nvSpPr>
          <p:cNvPr id="2" name="headline">
            <a:extLst xmlns:a="http://schemas.openxmlformats.org/drawingml/2006/main">
              <a:ext uri="{FF2B5EF4-FFF2-40B4-BE49-F238E27FC236}">
                <a16:creationId xmlns:a16="http://schemas.microsoft.com/office/drawing/2014/main" id="{B0C9BC06-AA4A-4163-9A03-FB5AEA6B66D3}"/>
              </a:ext>
            </a:extLst>
          </p:cNvPr>
          <p:cNvSpPr>
            <a:spLocks xmlns:a="http://schemas.openxmlformats.org/drawingml/2006/main" noGrp="1"/>
          </p:cNvSpPr>
          <p:nvPr/>
        </p:nvSpPr>
        <p:spPr>
          <a:xfrm xmlns:a="http://schemas.openxmlformats.org/drawingml/2006/main">
            <a:off x="609600" y="1076325"/>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A payroll task to investigate</a:t>
            </a:r>
          </a:p>
        </p:txBody>
      </p:sp>
      <p:sp>
        <p:nvSpPr>
          <p:cNvPr id="3" name="purpose-heading">
            <a:extLst xmlns:a="http://schemas.openxmlformats.org/drawingml/2006/main">
              <a:ext uri="{FF2B5EF4-FFF2-40B4-BE49-F238E27FC236}">
                <a16:creationId xmlns:a16="http://schemas.microsoft.com/office/drawing/2014/main" id="{F32756BC-FDE2-4D8B-AB5A-EF91137647BE}"/>
              </a:ext>
            </a:extLst>
          </p:cNvPr>
          <p:cNvSpPr>
            <a:spLocks xmlns:a="http://schemas.openxmlformats.org/drawingml/2006/main" noGrp="1"/>
          </p:cNvSpPr>
          <p:nvPr/>
        </p:nvSpPr>
        <p:spPr>
          <a:xfrm xmlns:a="http://schemas.openxmlformats.org/drawingml/2006/main">
            <a:off x="609600" y="2952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The manager’s immediate task</a:t>
            </a:r>
          </a:p>
        </p:txBody>
      </p:sp>
      <p:sp>
        <p:nvSpPr>
          <p:cNvPr id="4" name="purpose-body">
            <a:extLst xmlns:a="http://schemas.openxmlformats.org/drawingml/2006/main">
              <a:ext uri="{FF2B5EF4-FFF2-40B4-BE49-F238E27FC236}">
                <a16:creationId xmlns:a16="http://schemas.microsoft.com/office/drawing/2014/main" id="{7ECADA73-99D3-4CF9-879E-1DD51FDF4FBE}"/>
              </a:ext>
            </a:extLst>
          </p:cNvPr>
          <p:cNvSpPr>
            <a:spLocks xmlns:a="http://schemas.openxmlformats.org/drawingml/2006/main" noGrp="1"/>
          </p:cNvSpPr>
          <p:nvPr/>
        </p:nvSpPr>
        <p:spPr>
          <a:xfrm xmlns:a="http://schemas.openxmlformats.org/drawingml/2006/main">
            <a:off x="609600" y="35052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Observe one payroll-readiness task.</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Ask what the manager checks and what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keeps them from feeling ready to continue.</a:t>
            </a:r>
          </a:p>
        </p:txBody>
      </p:sp>
      <p:sp>
        <p:nvSpPr>
          <p:cNvPr id="5" name="structure-heading">
            <a:extLst xmlns:a="http://schemas.openxmlformats.org/drawingml/2006/main">
              <a:ext uri="{FF2B5EF4-FFF2-40B4-BE49-F238E27FC236}">
                <a16:creationId xmlns:a16="http://schemas.microsoft.com/office/drawing/2014/main" id="{6EB4318A-6CE2-47BF-9EF4-F3BB00FADCF8}"/>
              </a:ext>
            </a:extLst>
          </p:cNvPr>
          <p:cNvSpPr>
            <a:spLocks xmlns:a="http://schemas.openxmlformats.org/drawingml/2006/main" noGrp="1"/>
          </p:cNvSpPr>
          <p:nvPr/>
        </p:nvSpPr>
        <p:spPr>
          <a:xfrm xmlns:a="http://schemas.openxmlformats.org/drawingml/2006/main">
            <a:off x="6705600" y="2952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The underlying rules</a:t>
            </a:r>
          </a:p>
        </p:txBody>
      </p:sp>
      <p:sp>
        <p:nvSpPr>
          <p:cNvPr id="6" name="structure-body">
            <a:extLst xmlns:a="http://schemas.openxmlformats.org/drawingml/2006/main">
              <a:ext uri="{FF2B5EF4-FFF2-40B4-BE49-F238E27FC236}">
                <a16:creationId xmlns:a16="http://schemas.microsoft.com/office/drawing/2014/main" id="{91C11607-B84B-4929-917C-FE8FA3B91AC5}"/>
              </a:ext>
            </a:extLst>
          </p:cNvPr>
          <p:cNvSpPr>
            <a:spLocks xmlns:a="http://schemas.openxmlformats.org/drawingml/2006/main" noGrp="1"/>
          </p:cNvSpPr>
          <p:nvPr/>
        </p:nvSpPr>
        <p:spPr>
          <a:xfrm xmlns:a="http://schemas.openxmlformats.org/drawingml/2006/main">
            <a:off x="6705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Map the states with product and engineers.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Learn which checks are required and which</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parts of the task can safely be automated.</a:t>
            </a:r>
          </a:p>
        </p:txBody>
      </p:sp>
      <p:sp>
        <p:nvSpPr>
          <p:cNvPr id="7" name="compare-heading">
            <a:extLst xmlns:a="http://schemas.openxmlformats.org/drawingml/2006/main">
              <a:ext uri="{FF2B5EF4-FFF2-40B4-BE49-F238E27FC236}">
                <a16:creationId xmlns:a16="http://schemas.microsoft.com/office/drawing/2014/main" id="{DA42554E-22E9-4B1A-97EE-441653935D9E}"/>
              </a:ext>
            </a:extLst>
          </p:cNvPr>
          <p:cNvSpPr>
            <a:spLocks xmlns:a="http://schemas.openxmlformats.org/drawingml/2006/main" noGrp="1"/>
          </p:cNvSpPr>
          <p:nvPr/>
        </p:nvSpPr>
        <p:spPr>
          <a:xfrm xmlns:a="http://schemas.openxmlformats.org/drawingml/2006/main">
            <a:off x="609600" y="4857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A focused interface comparison</a:t>
            </a:r>
          </a:p>
        </p:txBody>
      </p:sp>
      <p:sp>
        <p:nvSpPr>
          <p:cNvPr id="8" name="compare-body">
            <a:extLst xmlns:a="http://schemas.openxmlformats.org/drawingml/2006/main">
              <a:ext uri="{FF2B5EF4-FFF2-40B4-BE49-F238E27FC236}">
                <a16:creationId xmlns:a16="http://schemas.microsoft.com/office/drawing/2014/main" id="{3052F419-5661-44C8-9B68-BDC680C53FA1}"/>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Use the existing design system to prototype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 issue explanation and its next action.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Compare ordinary guidance with AI assistance.</a:t>
            </a:r>
          </a:p>
        </p:txBody>
      </p:sp>
      <p:sp>
        <p:nvSpPr>
          <p:cNvPr id="9" name="handoff-heading">
            <a:extLst xmlns:a="http://schemas.openxmlformats.org/drawingml/2006/main">
              <a:ext uri="{FF2B5EF4-FFF2-40B4-BE49-F238E27FC236}">
                <a16:creationId xmlns:a16="http://schemas.microsoft.com/office/drawing/2014/main" id="{8845CF43-9F67-4F1F-AB3A-DA8B65140C47}"/>
              </a:ext>
            </a:extLst>
          </p:cNvPr>
          <p:cNvSpPr>
            <a:spLocks xmlns:a="http://schemas.openxmlformats.org/drawingml/2006/main" noGrp="1"/>
          </p:cNvSpPr>
          <p:nvPr/>
        </p:nvSpPr>
        <p:spPr>
          <a:xfrm xmlns:a="http://schemas.openxmlformats.org/drawingml/2006/main">
            <a:off x="6705600" y="4857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Customer feedback and handoff</a:t>
            </a:r>
          </a:p>
        </p:txBody>
      </p:sp>
      <p:sp>
        <p:nvSpPr>
          <p:cNvPr id="10" name="handoff-body">
            <a:extLst xmlns:a="http://schemas.openxmlformats.org/drawingml/2006/main">
              <a:ext uri="{FF2B5EF4-FFF2-40B4-BE49-F238E27FC236}">
                <a16:creationId xmlns:a16="http://schemas.microsoft.com/office/drawing/2014/main" id="{BF7553F7-00C8-4899-9C55-6A468B189897}"/>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what customers think will happen.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Revise the unclear states and document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behavior for the next engineering discussion.</a:t>
            </a:r>
          </a:p>
        </p:txBody>
      </p:sp>
      <p:sp>
        <p:nvSpPr>
          <p:cNvPr id="11" name="slide-number">
            <a:extLst xmlns:a="http://schemas.openxmlformats.org/drawingml/2006/main">
              <a:ext uri="{FF2B5EF4-FFF2-40B4-BE49-F238E27FC236}">
                <a16:creationId xmlns:a16="http://schemas.microsoft.com/office/drawing/2014/main" id="{78E4A323-B2E8-43FC-8F5B-FAF6F4BBCEA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661947561"/>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B1BCEC7-DABB-4DC1-A25E-BA78C305D2B9}"/>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TOAST ASSOCIATE PRODUCT DESIGNER</a:t>
            </a:r>
          </a:p>
        </p:txBody>
      </p:sp>
      <p:sp>
        <p:nvSpPr>
          <p:cNvPr id="2" name="headline">
            <a:extLst xmlns:a="http://schemas.openxmlformats.org/drawingml/2006/main">
              <a:ext uri="{FF2B5EF4-FFF2-40B4-BE49-F238E27FC236}">
                <a16:creationId xmlns:a16="http://schemas.microsoft.com/office/drawing/2014/main" id="{75D11169-FCFD-4E01-9D73-0230AA4A6AF5}"/>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Product design that</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helps people continue</a:t>
            </a:r>
          </a:p>
        </p:txBody>
      </p:sp>
      <p:sp>
        <p:nvSpPr>
          <p:cNvPr id="3" name="contact-intent">
            <a:extLst xmlns:a="http://schemas.openxmlformats.org/drawingml/2006/main">
              <a:ext uri="{FF2B5EF4-FFF2-40B4-BE49-F238E27FC236}">
                <a16:creationId xmlns:a16="http://schemas.microsoft.com/office/drawing/2014/main" id="{543089BC-898F-4AA0-8197-4B85D58E308C}"/>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3017FF2E-5106-4E7F-B3C2-27F4B174FEC2}"/>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2dbb40f746714c39"/>
              </a:rPr>
              <a:t>JonathanKyleHobson@gmail.com</a:t>
            </a:r>
          </a:p>
        </p:txBody>
      </p:sp>
      <p:sp>
        <p:nvSpPr>
          <p:cNvPr id="5" name="portfolio">
            <a:extLst xmlns:a="http://schemas.openxmlformats.org/drawingml/2006/main">
              <a:ext uri="{FF2B5EF4-FFF2-40B4-BE49-F238E27FC236}">
                <a16:creationId xmlns:a16="http://schemas.microsoft.com/office/drawing/2014/main" id="{B4FE83CF-9EC5-492D-9A58-12F9349E0B47}"/>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0592b3372a844797"/>
              </a:rPr>
              <a:t>jonathankhobson.github.io/application-portfolios/toast-associate-product-designer</a:t>
            </a:r>
          </a:p>
        </p:txBody>
      </p:sp>
      <p:sp>
        <p:nvSpPr>
          <p:cNvPr id="6" name="slide-number">
            <a:extLst xmlns:a="http://schemas.openxmlformats.org/drawingml/2006/main">
              <a:ext uri="{FF2B5EF4-FFF2-40B4-BE49-F238E27FC236}">
                <a16:creationId xmlns:a16="http://schemas.microsoft.com/office/drawing/2014/main" id="{1CAF6DD8-DB87-4276-B914-341671684EE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938275926"/>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2026-09-09T06:51:23.9620000Z</dcterms:created>
  <dcterms:modified xsi:type="dcterms:W3CDTF">2026-09-09T06:51:23.9620000Z</dcterms:modified>
</coreProperties>
</file>