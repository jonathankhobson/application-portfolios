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08fe2b23ab47f3" /><Relationship Type="http://schemas.openxmlformats.org/officeDocument/2006/relationships/extended-properties" Target="/docProps/app.xml" Id="R887e4ade91f04684" /><Relationship Type="http://schemas.openxmlformats.org/officeDocument/2006/relationships/officeDocument" Target="/ppt/presentation.xml" Id="R76cd89664a084ed4" /></Relationships>
</file>

<file path=ppt/presentation.xml><?xml version="1.0" encoding="utf-8"?>
<p:presentation xmlns:p="http://schemas.openxmlformats.org/presentationml/2006/main">
  <p:sldMasterIdLst>
    <p:sldMasterId xmlns:r="http://schemas.openxmlformats.org/officeDocument/2006/relationships" id="2147483648" r:id="Rc80000b72a124339"/>
  </p:sldMasterIdLst>
  <p:notesMasterIdLst>
    <p:notesMasterId xmlns:r="http://schemas.openxmlformats.org/officeDocument/2006/relationships" r:id="Rdcf6e67ff7a94e03"/>
  </p:notesMasterIdLst>
  <p:sldIdLst>
    <p:sldId xmlns:r="http://schemas.openxmlformats.org/officeDocument/2006/relationships" id="256" r:id="Rc289a51b037c40ea"/>
    <p:sldId xmlns:r="http://schemas.openxmlformats.org/officeDocument/2006/relationships" id="257" r:id="Rf31130aad868452e"/>
    <p:sldId xmlns:r="http://schemas.openxmlformats.org/officeDocument/2006/relationships" id="258" r:id="Ref0d06985f1f4494"/>
    <p:sldId xmlns:r="http://schemas.openxmlformats.org/officeDocument/2006/relationships" id="259" r:id="R2d72aefb24244c5f"/>
    <p:sldId xmlns:r="http://schemas.openxmlformats.org/officeDocument/2006/relationships" id="260" r:id="Rc32b8cde425143fc"/>
    <p:sldId xmlns:r="http://schemas.openxmlformats.org/officeDocument/2006/relationships" id="261" r:id="R59c024abe0e54934"/>
    <p:sldId xmlns:r="http://schemas.openxmlformats.org/officeDocument/2006/relationships" id="262" r:id="R6dcd5d1ec98743fb"/>
    <p:sldId xmlns:r="http://schemas.openxmlformats.org/officeDocument/2006/relationships" id="263" r:id="R1ccbfd4fd9c6435d"/>
    <p:sldId xmlns:r="http://schemas.openxmlformats.org/officeDocument/2006/relationships" id="264" r:id="R7ec2a69d1504447a"/>
    <p:sldId xmlns:r="http://schemas.openxmlformats.org/officeDocument/2006/relationships" id="265" r:id="R6db7ec9241cf4e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e72db37b434026" /><Relationship Type="http://schemas.openxmlformats.org/officeDocument/2006/relationships/slideMaster" Target="/ppt/slideMasters/slideMaster1.xml" Id="Rc80000b72a124339" /><Relationship Type="http://schemas.openxmlformats.org/officeDocument/2006/relationships/notesMaster" Target="/ppt/notesMasters/notesMaster1.xml" Id="Rdcf6e67ff7a94e03" /><Relationship Type="http://schemas.openxmlformats.org/officeDocument/2006/relationships/presProps" Target="/ppt/presProps.xml" Id="R36696960616040ba" /><Relationship Type="http://schemas.openxmlformats.org/officeDocument/2006/relationships/tableStyles" Target="/ppt/tableStyles.xml" Id="R2c9d7b2ff1394380" /><Relationship Type="http://schemas.openxmlformats.org/officeDocument/2006/relationships/slide" Target="/ppt/slides/slide1.xml" Id="Rc289a51b037c40ea" /><Relationship Type="http://schemas.openxmlformats.org/officeDocument/2006/relationships/slide" Target="/ppt/slides/slide2.xml" Id="Rf31130aad868452e" /><Relationship Type="http://schemas.openxmlformats.org/officeDocument/2006/relationships/slide" Target="/ppt/slides/slide3.xml" Id="Ref0d06985f1f4494" /><Relationship Type="http://schemas.openxmlformats.org/officeDocument/2006/relationships/slide" Target="/ppt/slides/slide4.xml" Id="R2d72aefb24244c5f" /><Relationship Type="http://schemas.openxmlformats.org/officeDocument/2006/relationships/slide" Target="/ppt/slides/slide5.xml" Id="Rc32b8cde425143fc" /><Relationship Type="http://schemas.openxmlformats.org/officeDocument/2006/relationships/slide" Target="/ppt/slides/slide6.xml" Id="R59c024abe0e54934" /><Relationship Type="http://schemas.openxmlformats.org/officeDocument/2006/relationships/slide" Target="/ppt/slides/slide7.xml" Id="R6dcd5d1ec98743fb" /><Relationship Type="http://schemas.openxmlformats.org/officeDocument/2006/relationships/slide" Target="/ppt/slides/slide8.xml" Id="R1ccbfd4fd9c6435d" /><Relationship Type="http://schemas.openxmlformats.org/officeDocument/2006/relationships/slide" Target="/ppt/slides/slide9.xml" Id="R7ec2a69d1504447a" /><Relationship Type="http://schemas.openxmlformats.org/officeDocument/2006/relationships/slide" Target="/ppt/slides/slide10.xml" Id="R6db7ec9241cf4e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6f2cd787fe4b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367b39956741f4" /><Relationship Type="http://schemas.openxmlformats.org/officeDocument/2006/relationships/notesMaster" Target="/ppt/notesMasters/notesMaster1.xml" Id="R1326188894d948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659e2443354338" /><Relationship Type="http://schemas.openxmlformats.org/officeDocument/2006/relationships/notesMaster" Target="/ppt/notesMasters/notesMaster1.xml" Id="Rb798703570cb4a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ef6b40f47a4b9b" /><Relationship Type="http://schemas.openxmlformats.org/officeDocument/2006/relationships/notesMaster" Target="/ppt/notesMasters/notesMaster1.xml" Id="R2837f93bbb8b46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87261d1b1b4af2" /><Relationship Type="http://schemas.openxmlformats.org/officeDocument/2006/relationships/notesMaster" Target="/ppt/notesMasters/notesMaster1.xml" Id="R51818d5d66cf43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e6fb98d92f439b" /><Relationship Type="http://schemas.openxmlformats.org/officeDocument/2006/relationships/notesMaster" Target="/ppt/notesMasters/notesMaster1.xml" Id="R833e2c69d4ed40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01ef6de71f4716" /><Relationship Type="http://schemas.openxmlformats.org/officeDocument/2006/relationships/notesMaster" Target="/ppt/notesMasters/notesMaster1.xml" Id="R0437956c73af47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33c0a112c34c86" /><Relationship Type="http://schemas.openxmlformats.org/officeDocument/2006/relationships/notesMaster" Target="/ppt/notesMasters/notesMaster1.xml" Id="R0c80e8ef4c5c42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1610f36f4d4c7a" /><Relationship Type="http://schemas.openxmlformats.org/officeDocument/2006/relationships/notesMaster" Target="/ppt/notesMasters/notesMaster1.xml" Id="Rd754606e50734a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9da3641b3c41df" /><Relationship Type="http://schemas.openxmlformats.org/officeDocument/2006/relationships/notesMaster" Target="/ppt/notesMasters/notesMaster1.xml" Id="Rc996622c5b4343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764b4cf4834d22" /><Relationship Type="http://schemas.openxmlformats.org/officeDocument/2006/relationships/notesMaster" Target="/ppt/notesMasters/notesMaster1.xml" Id="R49e2aa89a51e45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Product Designer, AI (Lattice Partners), https://jobs.ashbyhq.com/latticepartners/0d22eb9d-3a3b-4a21-86b6-99ba3f228173 . Lattice Partners is a prospective employer; the displayed projects are prior FactorLab and Oak work. Cover artwork is decorative; project screenshots provide the work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suggested-question state and project walkthroughs in the original portfolio case. Selecting a suggestion was intended to populate the input for review or editing. Design variant and engineering handoff; release of each variant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Compass: https://github.com/JonathanKHobson/prompt-compass/releases/tag/v0.1.0-beta.3 . Public prerelease April 27, 2026, with later local evaluation examples in May. Displayed excerpt comes from an original example session; it is a feature proposal, not deployed enterprise adoption. This illustrates Kyle’s judgment about preserving requirements when working with 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About Me original Figma design and April–May 2026 walkthroughs, the original portfolio case. Kyle developed page directions, content families and visual alternatives. Product lead and engineering clarified data availability, existing capabilities and routes into detail. Team release of web/server changes is confirmed September 2, 2026; the exact pictured layout is unverified. The crop preserves original source pixels.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widget-system direction and the original portfolio explanation of the summary decision. Source values and content are design examples, not measured user results. The screenshot shows View why and an action route. Exact released layout is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UI Kit V2 export tied to User Story 444 and the original portfolio case. Focused color specification; no complete design-system coverage or accessibility-compliance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discussion approach for Lattice Partners Product Designer, AI, https://jobs.ashbyhq.com/latticepartners/0d22eb9d-3a3b-4a21-86b6-99ba3f228173 . This is not prior Lattice delivery, a diagnosis of a client product or a measured outcome. Client needs and technical constraints require discovery with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work for Lattice Partners Product Designer, AI. Kyle’s experience combines research, interface design, applied AI tools and engineering handoff. The shown work distinguishes design and engineering handoff, original recommendations and local tool development from enterprise deployment ownership. Mesa, Arizona; full U.S. work authorization and availability as soon as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b73e57029b436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93ecccc52247fc" /><Relationship Type="http://schemas.openxmlformats.org/officeDocument/2006/relationships/slideLayout" Target="/ppt/slideLayouts/slideLayout1.xml" Id="R11dae6a45de348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dae6a45de348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0a8a7d9ca54fc0" /><Relationship Type="http://schemas.openxmlformats.org/officeDocument/2006/relationships/image" Target="/ppt/media/image.png" Id="R031dfc6b5d624e21" /><Relationship Type="http://schemas.openxmlformats.org/officeDocument/2006/relationships/notesSlide" Target="/ppt/notesSlides/notesSlide1.xml" Id="R68f018117da845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6ccfaca25cf401d" /><Relationship Type="http://schemas.openxmlformats.org/officeDocument/2006/relationships/image" Target="/ppt/media/image2.png" Id="R38a5e59a1be6435d" /><Relationship Type="http://schemas.openxmlformats.org/officeDocument/2006/relationships/notesSlide" Target="/ppt/notesSlides/notesSlide2.xml" Id="Rb3aac52cc8274f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47380779d743d9" /><Relationship Type="http://schemas.openxmlformats.org/officeDocument/2006/relationships/image" Target="/ppt/media/image3.png" Id="R8fd7efe67a354c58" /><Relationship Type="http://schemas.openxmlformats.org/officeDocument/2006/relationships/notesSlide" Target="/ppt/notesSlides/notesSlide3.xml" Id="Re939f4507ca141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ed0cea0b5004551" /><Relationship Type="http://schemas.openxmlformats.org/officeDocument/2006/relationships/image" Target="/ppt/media/image4.png" Id="R56f03ad2b5cb46ff" /><Relationship Type="http://schemas.openxmlformats.org/officeDocument/2006/relationships/image" Target="/ppt/media/image5.png" Id="R7222f6af961245b1" /><Relationship Type="http://schemas.openxmlformats.org/officeDocument/2006/relationships/notesSlide" Target="/ppt/notesSlides/notesSlide4.xml" Id="Re16754a4c86e42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36d448725f44787" /><Relationship Type="http://schemas.openxmlformats.org/officeDocument/2006/relationships/image" Target="/ppt/media/image6.png" Id="R587d8933668940a6" /><Relationship Type="http://schemas.openxmlformats.org/officeDocument/2006/relationships/notesSlide" Target="/ppt/notesSlides/notesSlide5.xml" Id="R01d4eea3dadd4c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567def23b740c1" /><Relationship Type="http://schemas.openxmlformats.org/officeDocument/2006/relationships/image" Target="/ppt/media/image7.png" Id="Rfcbd65f3f3ef42da" /><Relationship Type="http://schemas.openxmlformats.org/officeDocument/2006/relationships/notesSlide" Target="/ppt/notesSlides/notesSlide6.xml" Id="R027e5abbf1bb44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43ff6e3ffef455c" /><Relationship Type="http://schemas.openxmlformats.org/officeDocument/2006/relationships/image" Target="/ppt/media/image8.png" Id="Rde7837842d8849c6" /><Relationship Type="http://schemas.openxmlformats.org/officeDocument/2006/relationships/image" Target="/ppt/media/image9.png" Id="R7ee9f648df4b4bb8" /><Relationship Type="http://schemas.openxmlformats.org/officeDocument/2006/relationships/image" Target="/ppt/media/image10.png" Id="R75c85a58b390434d" /><Relationship Type="http://schemas.openxmlformats.org/officeDocument/2006/relationships/notesSlide" Target="/ppt/notesSlides/notesSlide7.xml" Id="Rfb0f6182fa4e49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82e09172f448cc" /><Relationship Type="http://schemas.openxmlformats.org/officeDocument/2006/relationships/image" Target="/ppt/media/image11.png" Id="Rff450b017323427b" /><Relationship Type="http://schemas.openxmlformats.org/officeDocument/2006/relationships/notesSlide" Target="/ppt/notesSlides/notesSlide8.xml" Id="R31ec615eaa9f4a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f02a27eb8142e6" /><Relationship Type="http://schemas.openxmlformats.org/officeDocument/2006/relationships/notesSlide" Target="/ppt/notesSlides/notesSlide9.xml" Id="R13ae60b2a5a545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a250539f574653" /><Relationship Type="http://schemas.openxmlformats.org/officeDocument/2006/relationships/hyperlink" Target="mailto:JonathanKyleHobson@gmail.com" TargetMode="External" Id="R9790796f51d946cd" /><Relationship Type="http://schemas.openxmlformats.org/officeDocument/2006/relationships/hyperlink" Target="https://jonathankhobson.github.io/application-portfolios/lattice-partners-product-designer/" TargetMode="External" Id="Ra677064342bc4a67" /><Relationship Type="http://schemas.openxmlformats.org/officeDocument/2006/relationships/notesSlide" Target="/ppt/notesSlides/notesSlide10.xml" Id="R7733a377065d40ca"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31dfc6b5d624e21"/>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E929A6D9-8610-4A5A-9845-EC2EF33B5519}"/>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LATTICE PARTNERS · PRODUCT DESIGNER, AI</a:t>
            </a:r>
          </a:p>
        </p:txBody>
      </p:sp>
      <p:sp>
        <p:nvSpPr>
          <p:cNvPr id="3" name="headline">
            <a:extLst xmlns:a="http://schemas.openxmlformats.org/drawingml/2006/main">
              <a:ext uri="{FF2B5EF4-FFF2-40B4-BE49-F238E27FC236}">
                <a16:creationId xmlns:a16="http://schemas.microsoft.com/office/drawing/2014/main" id="{8FA4BC1B-B8AB-487B-9894-537C9C6371DE}"/>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Useful AI needs</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clear interaction</a:t>
            </a:r>
          </a:p>
        </p:txBody>
      </p:sp>
      <p:sp>
        <p:nvSpPr>
          <p:cNvPr id="4" name="cover-intro">
            <a:extLst xmlns:a="http://schemas.openxmlformats.org/drawingml/2006/main">
              <a:ext uri="{FF2B5EF4-FFF2-40B4-BE49-F238E27FC236}">
                <a16:creationId xmlns:a16="http://schemas.microsoft.com/office/drawing/2014/main" id="{EE99D64C-402B-4C55-8F96-EE18E2C1A342}"/>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FactorLab interaction design, Oak research</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local AI tools.</a:t>
            </a:r>
          </a:p>
        </p:txBody>
      </p:sp>
      <p:sp>
        <p:nvSpPr>
          <p:cNvPr id="5" name="cover-role">
            <a:extLst xmlns:a="http://schemas.openxmlformats.org/drawingml/2006/main">
              <a:ext uri="{FF2B5EF4-FFF2-40B4-BE49-F238E27FC236}">
                <a16:creationId xmlns:a16="http://schemas.microsoft.com/office/drawing/2014/main" id="{6F4D15E8-A33A-4CB2-82C1-61FD3D4E3990}"/>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Product Designer, AI application · September 2026</a:t>
            </a:r>
          </a:p>
        </p:txBody>
      </p:sp>
      <p:sp>
        <p:nvSpPr>
          <p:cNvPr id="6" name="slide-number">
            <a:extLst xmlns:a="http://schemas.openxmlformats.org/drawingml/2006/main">
              <a:ext uri="{FF2B5EF4-FFF2-40B4-BE49-F238E27FC236}">
                <a16:creationId xmlns:a16="http://schemas.microsoft.com/office/drawing/2014/main" id="{FF27C6D6-2609-4DC4-A93B-6F280CB305E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691534829"/>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B4B2CC7-32B4-4919-8F4E-402ABAE2F3A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FLINT   /   INTERACTION DESIGN, 2026</a:t>
            </a:r>
          </a:p>
        </p:txBody>
      </p:sp>
      <p:sp>
        <p:nvSpPr>
          <p:cNvPr id="2" name="headline">
            <a:extLst xmlns:a="http://schemas.openxmlformats.org/drawingml/2006/main">
              <a:ext uri="{FF2B5EF4-FFF2-40B4-BE49-F238E27FC236}">
                <a16:creationId xmlns:a16="http://schemas.microsoft.com/office/drawing/2014/main" id="{F0C13B2E-AFEC-46E2-8AFF-1848B8ADD05F}"/>
              </a:ext>
            </a:extLst>
          </p:cNvPr>
          <p:cNvSpPr>
            <a:spLocks xmlns:a="http://schemas.openxmlformats.org/drawingml/2006/main" noGrp="1"/>
          </p:cNvSpPr>
          <p:nvPr/>
        </p:nvSpPr>
        <p:spPr>
          <a:xfrm xmlns:a="http://schemas.openxmlformats.org/drawingml/2006/main">
            <a:off x="609600" y="1104900"/>
            <a:ext cx="67246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Editable starting questions</a:t>
            </a:r>
          </a:p>
        </p:txBody>
      </p:sp>
      <p:sp>
        <p:nvSpPr>
          <p:cNvPr id="3" name="entry-decision">
            <a:extLst xmlns:a="http://schemas.openxmlformats.org/drawingml/2006/main">
              <a:ext uri="{FF2B5EF4-FFF2-40B4-BE49-F238E27FC236}">
                <a16:creationId xmlns:a16="http://schemas.microsoft.com/office/drawing/2014/main" id="{F9B743C5-45E4-4951-9160-2F52A2D668AF}"/>
              </a:ext>
            </a:extLst>
          </p:cNvPr>
          <p:cNvSpPr>
            <a:spLocks xmlns:a="http://schemas.openxmlformats.org/drawingml/2006/main" noGrp="1"/>
          </p:cNvSpPr>
          <p:nvPr/>
        </p:nvSpPr>
        <p:spPr>
          <a:xfrm xmlns:a="http://schemas.openxmlformats.org/drawingml/2006/main">
            <a:off x="609600" y="3152775"/>
            <a:ext cx="5905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Suggested questions offered a starting point while leaving the person free to edit or ask something else.</a:t>
            </a:r>
          </a:p>
        </p:txBody>
      </p:sp>
      <p:sp>
        <p:nvSpPr>
          <p:cNvPr id="4" name="entry-scope">
            <a:extLst xmlns:a="http://schemas.openxmlformats.org/drawingml/2006/main">
              <a:ext uri="{FF2B5EF4-FFF2-40B4-BE49-F238E27FC236}">
                <a16:creationId xmlns:a16="http://schemas.microsoft.com/office/drawing/2014/main" id="{9B9C2FCC-AEF8-4036-B6A8-B90844A9155D}"/>
              </a:ext>
            </a:extLst>
          </p:cNvPr>
          <p:cNvSpPr>
            <a:spLocks xmlns:a="http://schemas.openxmlformats.org/drawingml/2006/main" noGrp="1"/>
          </p:cNvSpPr>
          <p:nvPr/>
        </p:nvSpPr>
        <p:spPr>
          <a:xfrm xmlns:a="http://schemas.openxmlformats.org/drawingml/2006/main">
            <a:off x="609600" y="4991100"/>
            <a:ext cx="59055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worked within the existing product, keeping the answer layout and agreed phase scope in view.</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8a5e59a1be6435d"/>
          <a:stretch xmlns:a="http://schemas.openxmlformats.org/drawingml/2006/main"/>
        </p:blipFill>
        <p:spPr>
          <a:xfrm xmlns:a="http://schemas.openxmlformats.org/drawingml/2006/main">
            <a:off x="8143875" y="857695"/>
            <a:ext cx="2667000" cy="571411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61101E4E-2702-4C24-98E4-B6FE439AE68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320152550"/>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EB2457D8-4C81-4516-9D9D-A828707C9FD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APPLIED AI   /   PROMPT COMPASS, 2026</a:t>
            </a:r>
          </a:p>
        </p:txBody>
      </p:sp>
      <p:sp>
        <p:nvSpPr>
          <p:cNvPr id="2" name="headline">
            <a:extLst xmlns:a="http://schemas.openxmlformats.org/drawingml/2006/main">
              <a:ext uri="{FF2B5EF4-FFF2-40B4-BE49-F238E27FC236}">
                <a16:creationId xmlns:a16="http://schemas.microsoft.com/office/drawing/2014/main" id="{FCA70FAC-66D4-45BC-A045-34691CA2F95D}"/>
              </a:ext>
            </a:extLst>
          </p:cNvPr>
          <p:cNvSpPr>
            <a:spLocks xmlns:a="http://schemas.openxmlformats.org/drawingml/2006/main" noGrp="1"/>
          </p:cNvSpPr>
          <p:nvPr/>
        </p:nvSpPr>
        <p:spPr>
          <a:xfrm xmlns:a="http://schemas.openxmlformats.org/drawingml/2006/main">
            <a:off x="609600" y="1104900"/>
            <a:ext cx="5429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requirements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still need to hold</a:t>
            </a:r>
          </a:p>
        </p:txBody>
      </p:sp>
      <p:sp>
        <p:nvSpPr>
          <p:cNvPr id="3" name="ai-judgment">
            <a:extLst xmlns:a="http://schemas.openxmlformats.org/drawingml/2006/main">
              <a:ext uri="{FF2B5EF4-FFF2-40B4-BE49-F238E27FC236}">
                <a16:creationId xmlns:a16="http://schemas.microsoft.com/office/drawing/2014/main" id="{9F78A2F7-47BE-4E8A-AE5C-B913D1AAC0FD}"/>
              </a:ext>
            </a:extLst>
          </p:cNvPr>
          <p:cNvSpPr>
            <a:spLocks xmlns:a="http://schemas.openxmlformats.org/drawingml/2006/main" noGrp="1"/>
          </p:cNvSpPr>
          <p:nvPr/>
        </p:nvSpPr>
        <p:spPr>
          <a:xfrm xmlns:a="http://schemas.openxmlformats.org/drawingml/2006/main">
            <a:off x="609600" y="3190875"/>
            <a:ext cx="4857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built a tool for inspecting prompt requirements and comparing versions. A shorter instruction can lose an important review step.</a:t>
            </a:r>
          </a:p>
        </p:txBody>
      </p:sp>
      <p:sp>
        <p:nvSpPr>
          <p:cNvPr id="4" name="ai-boundary">
            <a:extLst xmlns:a="http://schemas.openxmlformats.org/drawingml/2006/main">
              <a:ext uri="{FF2B5EF4-FFF2-40B4-BE49-F238E27FC236}">
                <a16:creationId xmlns:a16="http://schemas.microsoft.com/office/drawing/2014/main" id="{2DA55007-EA62-48F9-94A2-B6F560DE5C58}"/>
              </a:ext>
            </a:extLst>
          </p:cNvPr>
          <p:cNvSpPr>
            <a:spLocks xmlns:a="http://schemas.openxmlformats.org/drawingml/2006/main" noGrp="1"/>
          </p:cNvSpPr>
          <p:nvPr/>
        </p:nvSpPr>
        <p:spPr>
          <a:xfrm xmlns:a="http://schemas.openxmlformats.org/drawingml/2006/main">
            <a:off x="609600" y="5172075"/>
            <a:ext cx="4857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Public beta release, April 2026. The example here shows a request clarified before a feature proposal.</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fd7efe67a354c58"/>
          <a:stretch xmlns:a="http://schemas.openxmlformats.org/drawingml/2006/main"/>
        </p:blipFill>
        <p:spPr>
          <a:xfrm xmlns:a="http://schemas.openxmlformats.org/drawingml/2006/main">
            <a:off x="6305550" y="2776782"/>
            <a:ext cx="5257800" cy="1742585"/>
          </a:xfrm>
          <a:prstGeom xmlns:a="http://schemas.openxmlformats.org/drawingml/2006/main" prst="rect">
            <a:avLst/>
          </a:prstGeom>
        </p:spPr>
      </p:pic>
      <p:sp>
        <p:nvSpPr>
          <p:cNvPr id="6" name="ai-caption">
            <a:extLst xmlns:a="http://schemas.openxmlformats.org/drawingml/2006/main">
              <a:ext uri="{FF2B5EF4-FFF2-40B4-BE49-F238E27FC236}">
                <a16:creationId xmlns:a16="http://schemas.microsoft.com/office/drawing/2014/main" id="{28911B99-E4EC-4654-8F81-94D74BD22813}"/>
              </a:ext>
            </a:extLst>
          </p:cNvPr>
          <p:cNvSpPr>
            <a:spLocks xmlns:a="http://schemas.openxmlformats.org/drawingml/2006/main" noGrp="1"/>
          </p:cNvSpPr>
          <p:nvPr/>
        </p:nvSpPr>
        <p:spPr>
          <a:xfrm xmlns:a="http://schemas.openxmlformats.org/drawingml/2006/main">
            <a:off x="6305550" y="5857875"/>
            <a:ext cx="525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example session · feature proposal</a:t>
            </a:r>
          </a:p>
        </p:txBody>
      </p:sp>
      <p:sp>
        <p:nvSpPr>
          <p:cNvPr id="7" name="slide-number">
            <a:extLst xmlns:a="http://schemas.openxmlformats.org/drawingml/2006/main">
              <a:ext uri="{FF2B5EF4-FFF2-40B4-BE49-F238E27FC236}">
                <a16:creationId xmlns:a16="http://schemas.microsoft.com/office/drawing/2014/main" id="{954F5BF0-D7D0-41C5-B329-DDED7BFBE668}"/>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059819409"/>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B809019D-D353-40BC-8CD3-F88549842D4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7E54EE71-9BE9-4192-B87E-EB357E6F1352}"/>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Different failures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need different actions</a:t>
            </a:r>
          </a:p>
        </p:txBody>
      </p:sp>
      <p:sp>
        <p:nvSpPr>
          <p:cNvPr id="3" name="recovery-decision">
            <a:extLst xmlns:a="http://schemas.openxmlformats.org/drawingml/2006/main">
              <a:ext uri="{FF2B5EF4-FFF2-40B4-BE49-F238E27FC236}">
                <a16:creationId xmlns:a16="http://schemas.microsoft.com/office/drawing/2014/main" id="{9CA2D5D6-5216-4826-BBEC-DCFD640DA334}"/>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6153BB9A-7573-400B-BFAB-C64E0B5E0503}"/>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FBD4176D-5E26-49CF-90A9-93DD4153F27A}"/>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33C60E64-FB23-4224-AC93-80BE74F7D523}"/>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6f03ad2b5cb46ff"/>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222f6af961245b1"/>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6EDACA70-242F-465E-9F4B-E0BBCFEAE08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94593363"/>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0C47487-D8D8-429F-8C30-7BFF785943E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INFORMATION ARCHITECTURE, 2026</a:t>
            </a:r>
          </a:p>
        </p:txBody>
      </p:sp>
      <p:sp>
        <p:nvSpPr>
          <p:cNvPr id="2" name="headline">
            <a:extLst xmlns:a="http://schemas.openxmlformats.org/drawingml/2006/main">
              <a:ext uri="{FF2B5EF4-FFF2-40B4-BE49-F238E27FC236}">
                <a16:creationId xmlns:a16="http://schemas.microsoft.com/office/drawing/2014/main" id="{93771C69-DFC1-4AE6-8957-D6DA241CF88C}"/>
              </a:ext>
            </a:extLst>
          </p:cNvPr>
          <p:cNvSpPr>
            <a:spLocks xmlns:a="http://schemas.openxmlformats.org/drawingml/2006/main" noGrp="1"/>
          </p:cNvSpPr>
          <p:nvPr/>
        </p:nvSpPr>
        <p:spPr>
          <a:xfrm xmlns:a="http://schemas.openxmlformats.org/drawingml/2006/main">
            <a:off x="609600" y="1104900"/>
            <a:ext cx="619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Feedback organized</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by purpose</a:t>
            </a:r>
          </a:p>
        </p:txBody>
      </p:sp>
      <p:sp>
        <p:nvSpPr>
          <p:cNvPr id="3" name="families">
            <a:extLst xmlns:a="http://schemas.openxmlformats.org/drawingml/2006/main">
              <a:ext uri="{FF2B5EF4-FFF2-40B4-BE49-F238E27FC236}">
                <a16:creationId xmlns:a16="http://schemas.microsoft.com/office/drawing/2014/main" id="{3F228CCE-224C-4D80-BCC8-2266339B662F}"/>
              </a:ext>
            </a:extLst>
          </p:cNvPr>
          <p:cNvSpPr>
            <a:spLocks xmlns:a="http://schemas.openxmlformats.org/drawingml/2006/main" noGrp="1"/>
          </p:cNvSpPr>
          <p:nvPr/>
        </p:nvSpPr>
        <p:spPr>
          <a:xfrm xmlns:a="http://schemas.openxmlformats.org/drawingml/2006/main">
            <a:off x="609600" y="3152775"/>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1">
                <a:solidFill>
                  <a:srgbClr val="192B25"/>
                </a:solidFill>
                <a:latin typeface="Helvetica Neue"/>
                <a:ea typeface="Helvetica Neue"/>
                <a:cs typeface="Helvetica Neue"/>
              </a:defRPr>
            </a:pPr>
            <a:r>
              <a:rPr sz="2100" b="1">
                <a:solidFill>
                  <a:srgbClr val="192B25"/>
                </a:solidFill>
                <a:latin typeface="Helvetica Neue"/>
                <a:ea typeface="Helvetica Neue"/>
                <a:cs typeface="Helvetica Neue"/>
              </a:rPr>
              <a:t>Summaries. Recommendations. Simple 7. Comparisons. Accomplishments.</a:t>
            </a:r>
          </a:p>
        </p:txBody>
      </p:sp>
      <p:sp>
        <p:nvSpPr>
          <p:cNvPr id="4" name="families-rationale">
            <a:extLst xmlns:a="http://schemas.openxmlformats.org/drawingml/2006/main">
              <a:ext uri="{FF2B5EF4-FFF2-40B4-BE49-F238E27FC236}">
                <a16:creationId xmlns:a16="http://schemas.microsoft.com/office/drawing/2014/main" id="{13A9A06A-E3BE-4F3D-B11F-A61449112186}"/>
              </a:ext>
            </a:extLst>
          </p:cNvPr>
          <p:cNvSpPr>
            <a:spLocks xmlns:a="http://schemas.openxmlformats.org/drawingml/2006/main" noGrp="1"/>
          </p:cNvSpPr>
          <p:nvPr/>
        </p:nvSpPr>
        <p:spPr>
          <a:xfrm xmlns:a="http://schemas.openxmlformats.org/drawingml/2006/main">
            <a:off x="609600" y="4610100"/>
            <a:ext cx="5381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58645D"/>
                </a:solidFill>
                <a:latin typeface="Helvetica Neue"/>
                <a:ea typeface="Helvetica Neue"/>
                <a:cs typeface="Helvetica Neue"/>
              </a:defRPr>
            </a:pPr>
            <a:r>
              <a:rPr sz="1875" b="0">
                <a:solidFill>
                  <a:srgbClr val="58645D"/>
                </a:solidFill>
                <a:latin typeface="Helvetica Neue"/>
                <a:ea typeface="Helvetica Neue"/>
                <a:cs typeface="Helvetica Neue"/>
              </a:rPr>
              <a:t>I explored content density and reusable widget structures, then worked with engineers on what each action opened.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87d8933668940a6"/>
          <a:stretch xmlns:a="http://schemas.openxmlformats.org/drawingml/2006/main"/>
        </p:blipFill>
        <p:spPr>
          <a:xfrm xmlns:a="http://schemas.openxmlformats.org/drawingml/2006/main">
            <a:off x="6896100" y="2241046"/>
            <a:ext cx="4648200" cy="2280659"/>
          </a:xfrm>
          <a:prstGeom xmlns:a="http://schemas.openxmlformats.org/drawingml/2006/main" prst="rect">
            <a:avLst/>
          </a:prstGeom>
        </p:spPr>
      </p:pic>
      <p:sp>
        <p:nvSpPr>
          <p:cNvPr id="6" name="families-caption">
            <a:extLst xmlns:a="http://schemas.openxmlformats.org/drawingml/2006/main">
              <a:ext uri="{FF2B5EF4-FFF2-40B4-BE49-F238E27FC236}">
                <a16:creationId xmlns:a16="http://schemas.microsoft.com/office/drawing/2014/main" id="{D6E72D4C-3F6D-40F7-B647-8EB0683F4F7A}"/>
              </a:ext>
            </a:extLst>
          </p:cNvPr>
          <p:cNvSpPr>
            <a:spLocks xmlns:a="http://schemas.openxmlformats.org/drawingml/2006/main" noGrp="1"/>
          </p:cNvSpPr>
          <p:nvPr/>
        </p:nvSpPr>
        <p:spPr>
          <a:xfrm xmlns:a="http://schemas.openxmlformats.org/drawingml/2006/main">
            <a:off x="6896100" y="4991100"/>
            <a:ext cx="4667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design detail · sample content</a:t>
            </a:r>
          </a:p>
        </p:txBody>
      </p:sp>
      <p:sp>
        <p:nvSpPr>
          <p:cNvPr id="7" name="slide-number">
            <a:extLst xmlns:a="http://schemas.openxmlformats.org/drawingml/2006/main">
              <a:ext uri="{FF2B5EF4-FFF2-40B4-BE49-F238E27FC236}">
                <a16:creationId xmlns:a16="http://schemas.microsoft.com/office/drawing/2014/main" id="{8D0A002A-B632-4E66-B68F-B47C1EFD611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927643419"/>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631B0875-A20C-4F77-B92F-A2F693CA250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FACTORLAB · ABOUT ME   /   SUMMARY TO SUPPORTING DETAIL</a:t>
            </a:r>
          </a:p>
        </p:txBody>
      </p:sp>
      <p:sp>
        <p:nvSpPr>
          <p:cNvPr id="2" name="headline">
            <a:extLst xmlns:a="http://schemas.openxmlformats.org/drawingml/2006/main">
              <a:ext uri="{FF2B5EF4-FFF2-40B4-BE49-F238E27FC236}">
                <a16:creationId xmlns:a16="http://schemas.microsoft.com/office/drawing/2014/main" id="{E69795CF-327C-42B9-913D-C1899299DD4E}"/>
              </a:ext>
            </a:extLst>
          </p:cNvPr>
          <p:cNvSpPr>
            <a:spLocks xmlns:a="http://schemas.openxmlformats.org/drawingml/2006/main" noGrp="1"/>
          </p:cNvSpPr>
          <p:nvPr/>
        </p:nvSpPr>
        <p:spPr>
          <a:xfrm xmlns:a="http://schemas.openxmlformats.org/drawingml/2006/main">
            <a:off x="609600" y="1104900"/>
            <a:ext cx="5886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detail behind</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recommendation</a:t>
            </a:r>
          </a:p>
        </p:txBody>
      </p:sp>
      <p:sp>
        <p:nvSpPr>
          <p:cNvPr id="3" name="proof-need">
            <a:extLst xmlns:a="http://schemas.openxmlformats.org/drawingml/2006/main">
              <a:ext uri="{FF2B5EF4-FFF2-40B4-BE49-F238E27FC236}">
                <a16:creationId xmlns:a16="http://schemas.microsoft.com/office/drawing/2014/main" id="{4EBBB3AB-48CB-4D0B-8666-8167FE79E618}"/>
              </a:ext>
            </a:extLst>
          </p:cNvPr>
          <p:cNvSpPr>
            <a:spLocks xmlns:a="http://schemas.openxmlformats.org/drawingml/2006/main" noGrp="1"/>
          </p:cNvSpPr>
          <p:nvPr/>
        </p:nvSpPr>
        <p:spPr>
          <a:xfrm xmlns:a="http://schemas.openxmlformats.org/drawingml/2006/main">
            <a:off x="609600" y="3171825"/>
            <a:ext cx="52197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 short summary needs a route to the observations behind it and to a useful next action.</a:t>
            </a:r>
          </a:p>
        </p:txBody>
      </p:sp>
      <p:sp>
        <p:nvSpPr>
          <p:cNvPr id="4" name="proof-design">
            <a:extLst xmlns:a="http://schemas.openxmlformats.org/drawingml/2006/main">
              <a:ext uri="{FF2B5EF4-FFF2-40B4-BE49-F238E27FC236}">
                <a16:creationId xmlns:a16="http://schemas.microsoft.com/office/drawing/2014/main" id="{D9D43A9E-4035-4A98-B018-3CB5779864A0}"/>
              </a:ext>
            </a:extLst>
          </p:cNvPr>
          <p:cNvSpPr>
            <a:spLocks xmlns:a="http://schemas.openxmlformats.org/drawingml/2006/main" noGrp="1"/>
          </p:cNvSpPr>
          <p:nvPr/>
        </p:nvSpPr>
        <p:spPr>
          <a:xfrm xmlns:a="http://schemas.openxmlformats.org/drawingml/2006/main">
            <a:off x="609600" y="5057775"/>
            <a:ext cx="5219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explored that connection before expanding the range of widgets and content on the page.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cbd65f3f3ef42da"/>
          <a:stretch xmlns:a="http://schemas.openxmlformats.org/drawingml/2006/main"/>
        </p:blipFill>
        <p:spPr>
          <a:xfrm xmlns:a="http://schemas.openxmlformats.org/drawingml/2006/main">
            <a:off x="7007315" y="2228850"/>
            <a:ext cx="4120970" cy="4048125"/>
          </a:xfrm>
          <a:prstGeom xmlns:a="http://schemas.openxmlformats.org/drawingml/2006/main" prst="rect">
            <a:avLst/>
          </a:prstGeom>
        </p:spPr>
      </p:pic>
      <p:sp>
        <p:nvSpPr>
          <p:cNvPr id="6" name="proof-caption">
            <a:extLst xmlns:a="http://schemas.openxmlformats.org/drawingml/2006/main">
              <a:ext uri="{FF2B5EF4-FFF2-40B4-BE49-F238E27FC236}">
                <a16:creationId xmlns:a16="http://schemas.microsoft.com/office/drawing/2014/main" id="{10A3CC90-ECAC-4072-9741-EBDFCC859AC5}"/>
              </a:ext>
            </a:extLst>
          </p:cNvPr>
          <p:cNvSpPr>
            <a:spLocks xmlns:a="http://schemas.openxmlformats.org/drawingml/2006/main" noGrp="1"/>
          </p:cNvSpPr>
          <p:nvPr/>
        </p:nvSpPr>
        <p:spPr>
          <a:xfrm xmlns:a="http://schemas.openxmlformats.org/drawingml/2006/main">
            <a:off x="6705600" y="6391275"/>
            <a:ext cx="4724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direction exploration · sample content</a:t>
            </a:r>
          </a:p>
        </p:txBody>
      </p:sp>
      <p:sp>
        <p:nvSpPr>
          <p:cNvPr id="7" name="slide-number">
            <a:extLst xmlns:a="http://schemas.openxmlformats.org/drawingml/2006/main">
              <a:ext uri="{FF2B5EF4-FFF2-40B4-BE49-F238E27FC236}">
                <a16:creationId xmlns:a16="http://schemas.microsoft.com/office/drawing/2014/main" id="{64BBAF9C-E625-41F4-895E-6C2B675954A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1055779351"/>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F00AA576-29DF-4EFB-874E-4703DC4DBC7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8B4FE8DA-74F4-4CC6-BACF-C94EFAA833AE}"/>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7742772B-888B-4909-AD27-ADD2EC3FC292}"/>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AD4F91C7-55D8-4633-A239-8C9447F37AF7}"/>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B2AB6F05-460C-417B-9206-17255E3A0F0C}"/>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F61ADA4C-7ACB-48D9-98F7-8A3082D228D4}"/>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e7837842d8849c6"/>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ee9f648df4b4bb8"/>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8A8C21FF-9A1E-44AB-ADA4-E5AFE8B52808}"/>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5c85a58b390434d"/>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F421F657-63AA-44B5-9F0B-15AF2316D145}"/>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4A3815DA-1149-4856-910E-09FB0061422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853543118"/>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EA2B53A-3F7B-47A0-B818-44787D7AD59E}"/>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VISUAL GUIDANCE</a:t>
            </a:r>
          </a:p>
        </p:txBody>
      </p:sp>
      <p:sp>
        <p:nvSpPr>
          <p:cNvPr id="2" name="headline">
            <a:extLst xmlns:a="http://schemas.openxmlformats.org/drawingml/2006/main">
              <a:ext uri="{FF2B5EF4-FFF2-40B4-BE49-F238E27FC236}">
                <a16:creationId xmlns:a16="http://schemas.microsoft.com/office/drawing/2014/main" id="{F36187CF-F8CB-4D6F-9031-473712FE651E}"/>
              </a:ext>
            </a:extLst>
          </p:cNvPr>
          <p:cNvSpPr>
            <a:spLocks xmlns:a="http://schemas.openxmlformats.org/drawingml/2006/main" noGrp="1"/>
          </p:cNvSpPr>
          <p:nvPr/>
        </p:nvSpPr>
        <p:spPr>
          <a:xfrm xmlns:a="http://schemas.openxmlformats.org/drawingml/2006/main">
            <a:off x="609600" y="1104900"/>
            <a:ext cx="49149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Consistent color roles</a:t>
            </a:r>
          </a:p>
        </p:txBody>
      </p:sp>
      <p:sp>
        <p:nvSpPr>
          <p:cNvPr id="3" name="color-purpose">
            <a:extLst xmlns:a="http://schemas.openxmlformats.org/drawingml/2006/main">
              <a:ext uri="{FF2B5EF4-FFF2-40B4-BE49-F238E27FC236}">
                <a16:creationId xmlns:a16="http://schemas.microsoft.com/office/drawing/2014/main" id="{6560DAB4-7D45-465B-8E35-B7B75C4CD8F2}"/>
              </a:ext>
            </a:extLst>
          </p:cNvPr>
          <p:cNvSpPr>
            <a:spLocks xmlns:a="http://schemas.openxmlformats.org/drawingml/2006/main" noGrp="1"/>
          </p:cNvSpPr>
          <p:nvPr/>
        </p:nvSpPr>
        <p:spPr>
          <a:xfrm xmlns:a="http://schemas.openxmlformats.org/drawingml/2006/main">
            <a:off x="609600" y="3009900"/>
            <a:ext cx="481012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Brand, backgrounds, text and feedback needed consistent roles across the interface.</a:t>
            </a:r>
          </a:p>
        </p:txBody>
      </p:sp>
      <p:sp>
        <p:nvSpPr>
          <p:cNvPr id="4" name="color-scope">
            <a:extLst xmlns:a="http://schemas.openxmlformats.org/drawingml/2006/main">
              <a:ext uri="{FF2B5EF4-FFF2-40B4-BE49-F238E27FC236}">
                <a16:creationId xmlns:a16="http://schemas.microsoft.com/office/drawing/2014/main" id="{2111E9E9-5DEB-4CDB-B148-E39282A2786B}"/>
              </a:ext>
            </a:extLst>
          </p:cNvPr>
          <p:cNvSpPr>
            <a:spLocks xmlns:a="http://schemas.openxmlformats.org/drawingml/2006/main" noGrp="1"/>
          </p:cNvSpPr>
          <p:nvPr/>
        </p:nvSpPr>
        <p:spPr>
          <a:xfrm xmlns:a="http://schemas.openxmlformats.org/drawingml/2006/main">
            <a:off x="609600" y="4762500"/>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documented those roles for the next design iteration. This focused guide did not establish a complete component library.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f450b017323427b"/>
          <a:stretch xmlns:a="http://schemas.openxmlformats.org/drawingml/2006/main"/>
        </p:blipFill>
        <p:spPr>
          <a:xfrm xmlns:a="http://schemas.openxmlformats.org/drawingml/2006/main">
            <a:off x="7081470" y="885825"/>
            <a:ext cx="3429734" cy="55626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38689B40-675A-4B12-B004-CAEBF224F2E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473905933"/>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6A17CBA8-9B9C-46F5-B95E-CB9CD632A89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A LATTICE PARTNERS CLIENT PROJECT</a:t>
            </a:r>
          </a:p>
        </p:txBody>
      </p:sp>
      <p:sp>
        <p:nvSpPr>
          <p:cNvPr id="2" name="headline">
            <a:extLst xmlns:a="http://schemas.openxmlformats.org/drawingml/2006/main">
              <a:ext uri="{FF2B5EF4-FFF2-40B4-BE49-F238E27FC236}">
                <a16:creationId xmlns:a16="http://schemas.microsoft.com/office/drawing/2014/main" id="{AF5D0B40-C78A-4635-9EE4-168ADECACE18}"/>
              </a:ext>
            </a:extLst>
          </p:cNvPr>
          <p:cNvSpPr>
            <a:spLocks xmlns:a="http://schemas.openxmlformats.org/drawingml/2006/main" noGrp="1"/>
          </p:cNvSpPr>
          <p:nvPr/>
        </p:nvSpPr>
        <p:spPr>
          <a:xfrm xmlns:a="http://schemas.openxmlformats.org/drawingml/2006/main">
            <a:off x="609600" y="1076325"/>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00" b="1">
                <a:solidFill>
                  <a:srgbClr val="192B25"/>
                </a:solidFill>
                <a:latin typeface="Helvetica Neue"/>
                <a:ea typeface="Helvetica Neue"/>
                <a:cs typeface="Helvetica Neue"/>
              </a:defRPr>
            </a:pPr>
            <a:r>
              <a:rPr sz="3300" b="1">
                <a:solidFill>
                  <a:srgbClr val="192B25"/>
                </a:solidFill>
                <a:latin typeface="Helvetica Neue"/>
                <a:ea typeface="Helvetica Neue"/>
                <a:cs typeface="Helvetica Neue"/>
              </a:rPr>
              <a:t>Define the task before the interface</a:t>
            </a:r>
          </a:p>
        </p:txBody>
      </p:sp>
      <p:sp>
        <p:nvSpPr>
          <p:cNvPr id="3" name="purpose-heading">
            <a:extLst xmlns:a="http://schemas.openxmlformats.org/drawingml/2006/main">
              <a:ext uri="{FF2B5EF4-FFF2-40B4-BE49-F238E27FC236}">
                <a16:creationId xmlns:a16="http://schemas.microsoft.com/office/drawing/2014/main" id="{F79776B8-EEA0-4CF7-ACF7-C6FF52D321F8}"/>
              </a:ext>
            </a:extLst>
          </p:cNvPr>
          <p:cNvSpPr>
            <a:spLocks xmlns:a="http://schemas.openxmlformats.org/drawingml/2006/main" noGrp="1"/>
          </p:cNvSpPr>
          <p:nvPr/>
        </p:nvSpPr>
        <p:spPr>
          <a:xfrm xmlns:a="http://schemas.openxmlformats.org/drawingml/2006/main">
            <a:off x="609600" y="2952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The client’s immediate task</a:t>
            </a:r>
          </a:p>
        </p:txBody>
      </p:sp>
      <p:sp>
        <p:nvSpPr>
          <p:cNvPr id="4" name="purpose-body">
            <a:extLst xmlns:a="http://schemas.openxmlformats.org/drawingml/2006/main">
              <a:ext uri="{FF2B5EF4-FFF2-40B4-BE49-F238E27FC236}">
                <a16:creationId xmlns:a16="http://schemas.microsoft.com/office/drawing/2014/main" id="{EA48AECB-2559-464E-9525-03B7E10D7E46}"/>
              </a:ext>
            </a:extLst>
          </p:cNvPr>
          <p:cNvSpPr>
            <a:spLocks xmlns:a="http://schemas.openxmlformats.org/drawingml/2006/main" noGrp="1"/>
          </p:cNvSpPr>
          <p:nvPr/>
        </p:nvSpPr>
        <p:spPr>
          <a:xfrm xmlns:a="http://schemas.openxmlformats.org/drawingml/2006/main">
            <a:off x="609600" y="35052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Observe one recurring task with the client.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Find what a person needs to review, edit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or compare before taking the next action.</a:t>
            </a:r>
          </a:p>
        </p:txBody>
      </p:sp>
      <p:sp>
        <p:nvSpPr>
          <p:cNvPr id="5" name="structure-heading">
            <a:extLst xmlns:a="http://schemas.openxmlformats.org/drawingml/2006/main">
              <a:ext uri="{FF2B5EF4-FFF2-40B4-BE49-F238E27FC236}">
                <a16:creationId xmlns:a16="http://schemas.microsoft.com/office/drawing/2014/main" id="{5815EA33-E7B7-4DFD-9C11-6F4A570FCFD1}"/>
              </a:ext>
            </a:extLst>
          </p:cNvPr>
          <p:cNvSpPr>
            <a:spLocks xmlns:a="http://schemas.openxmlformats.org/drawingml/2006/main" noGrp="1"/>
          </p:cNvSpPr>
          <p:nvPr/>
        </p:nvSpPr>
        <p:spPr>
          <a:xfrm xmlns:a="http://schemas.openxmlformats.org/drawingml/2006/main">
            <a:off x="6705600" y="2952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The interaction contract</a:t>
            </a:r>
          </a:p>
        </p:txBody>
      </p:sp>
      <p:sp>
        <p:nvSpPr>
          <p:cNvPr id="6" name="structure-body">
            <a:extLst xmlns:a="http://schemas.openxmlformats.org/drawingml/2006/main">
              <a:ext uri="{FF2B5EF4-FFF2-40B4-BE49-F238E27FC236}">
                <a16:creationId xmlns:a16="http://schemas.microsoft.com/office/drawing/2014/main" id="{6E71DC25-1B3C-45EF-8E26-15D9B65C9206}"/>
              </a:ext>
            </a:extLst>
          </p:cNvPr>
          <p:cNvSpPr>
            <a:spLocks xmlns:a="http://schemas.openxmlformats.org/drawingml/2006/main" noGrp="1"/>
          </p:cNvSpPr>
          <p:nvPr/>
        </p:nvSpPr>
        <p:spPr>
          <a:xfrm xmlns:a="http://schemas.openxmlformats.org/drawingml/2006/main">
            <a:off x="6705600" y="3505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Map inputs, generated results and failures.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Agree with engineers on permissions,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review steps and recoverable states.</a:t>
            </a:r>
          </a:p>
        </p:txBody>
      </p:sp>
      <p:sp>
        <p:nvSpPr>
          <p:cNvPr id="7" name="compare-heading">
            <a:extLst xmlns:a="http://schemas.openxmlformats.org/drawingml/2006/main">
              <a:ext uri="{FF2B5EF4-FFF2-40B4-BE49-F238E27FC236}">
                <a16:creationId xmlns:a16="http://schemas.microsoft.com/office/drawing/2014/main" id="{C854840E-4C8E-4EFF-A717-79289D6F9D3E}"/>
              </a:ext>
            </a:extLst>
          </p:cNvPr>
          <p:cNvSpPr>
            <a:spLocks xmlns:a="http://schemas.openxmlformats.org/drawingml/2006/main" noGrp="1"/>
          </p:cNvSpPr>
          <p:nvPr/>
        </p:nvSpPr>
        <p:spPr>
          <a:xfrm xmlns:a="http://schemas.openxmlformats.org/drawingml/2006/main">
            <a:off x="609600" y="4857750"/>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A focused interactive prototype</a:t>
            </a:r>
          </a:p>
        </p:txBody>
      </p:sp>
      <p:sp>
        <p:nvSpPr>
          <p:cNvPr id="8" name="compare-body">
            <a:extLst xmlns:a="http://schemas.openxmlformats.org/drawingml/2006/main">
              <a:ext uri="{FF2B5EF4-FFF2-40B4-BE49-F238E27FC236}">
                <a16:creationId xmlns:a16="http://schemas.microsoft.com/office/drawing/2014/main" id="{96DAB3C0-D4CF-40C7-9828-0917E387318A}"/>
              </a:ext>
            </a:extLst>
          </p:cNvPr>
          <p:cNvSpPr>
            <a:spLocks xmlns:a="http://schemas.openxmlformats.org/drawingml/2006/main" noGrp="1"/>
          </p:cNvSpPr>
          <p:nvPr/>
        </p:nvSpPr>
        <p:spPr>
          <a:xfrm xmlns:a="http://schemas.openxmlformats.org/drawingml/2006/main">
            <a:off x="609600" y="5410200"/>
            <a:ext cx="5429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Explore a small flow with AI-assisted tools.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generated behavior against the design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involve engineering in implementation.</a:t>
            </a:r>
          </a:p>
        </p:txBody>
      </p:sp>
      <p:sp>
        <p:nvSpPr>
          <p:cNvPr id="9" name="handoff-heading">
            <a:extLst xmlns:a="http://schemas.openxmlformats.org/drawingml/2006/main">
              <a:ext uri="{FF2B5EF4-FFF2-40B4-BE49-F238E27FC236}">
                <a16:creationId xmlns:a16="http://schemas.microsoft.com/office/drawing/2014/main" id="{CE8ADCFE-9442-49C7-92BF-4EA2F36D207A}"/>
              </a:ext>
            </a:extLst>
          </p:cNvPr>
          <p:cNvSpPr>
            <a:spLocks xmlns:a="http://schemas.openxmlformats.org/drawingml/2006/main" noGrp="1"/>
          </p:cNvSpPr>
          <p:nvPr/>
        </p:nvSpPr>
        <p:spPr>
          <a:xfrm xmlns:a="http://schemas.openxmlformats.org/drawingml/2006/main">
            <a:off x="6705600" y="48577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Evidence for the next decision</a:t>
            </a:r>
          </a:p>
        </p:txBody>
      </p:sp>
      <p:sp>
        <p:nvSpPr>
          <p:cNvPr id="10" name="handoff-body">
            <a:extLst xmlns:a="http://schemas.openxmlformats.org/drawingml/2006/main">
              <a:ext uri="{FF2B5EF4-FFF2-40B4-BE49-F238E27FC236}">
                <a16:creationId xmlns:a16="http://schemas.microsoft.com/office/drawing/2014/main" id="{E3FFC408-C7E9-4209-B84A-AFDE7BAEEB71}"/>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Watch people use the proposed flow.</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Revise unclear feedback and document</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what is agreed and what still needs testing.</a:t>
            </a:r>
          </a:p>
        </p:txBody>
      </p:sp>
      <p:sp>
        <p:nvSpPr>
          <p:cNvPr id="11" name="slide-number">
            <a:extLst xmlns:a="http://schemas.openxmlformats.org/drawingml/2006/main">
              <a:ext uri="{FF2B5EF4-FFF2-40B4-BE49-F238E27FC236}">
                <a16:creationId xmlns:a16="http://schemas.microsoft.com/office/drawing/2014/main" id="{5DB70922-0080-4EBC-90DB-D458ECE5F1F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836260880"/>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A31A993-D524-48AD-94A3-D33A0A377F75}"/>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LATTICE PARTNERS · PRODUCT DESIGNER, AI</a:t>
            </a:r>
          </a:p>
        </p:txBody>
      </p:sp>
      <p:sp>
        <p:nvSpPr>
          <p:cNvPr id="2" name="headline">
            <a:extLst xmlns:a="http://schemas.openxmlformats.org/drawingml/2006/main">
              <a:ext uri="{FF2B5EF4-FFF2-40B4-BE49-F238E27FC236}">
                <a16:creationId xmlns:a16="http://schemas.microsoft.com/office/drawing/2014/main" id="{D11B70F1-FC29-40B5-9A3E-7F9A5A2E9B5F}"/>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AI product design</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people can work with</a:t>
            </a:r>
          </a:p>
        </p:txBody>
      </p:sp>
      <p:sp>
        <p:nvSpPr>
          <p:cNvPr id="3" name="contact-intent">
            <a:extLst xmlns:a="http://schemas.openxmlformats.org/drawingml/2006/main">
              <a:ext uri="{FF2B5EF4-FFF2-40B4-BE49-F238E27FC236}">
                <a16:creationId xmlns:a16="http://schemas.microsoft.com/office/drawing/2014/main" id="{90D6D229-0DC6-4DE9-B0F5-734B573FF30D}"/>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EF88C406-33D8-43D8-91A5-C6472C97700A}"/>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9790796f51d946cd"/>
              </a:rPr>
              <a:t>JonathanKyleHobson@gmail.com</a:t>
            </a:r>
          </a:p>
        </p:txBody>
      </p:sp>
      <p:sp>
        <p:nvSpPr>
          <p:cNvPr id="5" name="portfolio">
            <a:extLst xmlns:a="http://schemas.openxmlformats.org/drawingml/2006/main">
              <a:ext uri="{FF2B5EF4-FFF2-40B4-BE49-F238E27FC236}">
                <a16:creationId xmlns:a16="http://schemas.microsoft.com/office/drawing/2014/main" id="{CBEB5C5C-7EAF-487E-A0B2-4E9603D346AA}"/>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u="sng">
                <a:solidFill>
                  <a:srgbClr val="DBEB89"/>
                </a:solidFill>
                <a:latin typeface="Helvetica Neue"/>
                <a:ea typeface="Helvetica Neue"/>
                <a:cs typeface="Helvetica Neue"/>
              </a:defRPr>
            </a:pPr>
            <a:r>
              <a:rPr sz="1575" b="0" u="sng">
                <a:solidFill>
                  <a:srgbClr val="DBEB89"/>
                </a:solidFill>
                <a:latin typeface="Helvetica Neue"/>
                <a:ea typeface="Helvetica Neue"/>
                <a:cs typeface="Helvetica Neue"/>
                <a:hlinkClick xmlns:r="http://schemas.openxmlformats.org/officeDocument/2006/relationships" r:id="Ra677064342bc4a67"/>
              </a:rPr>
              <a:t>jonathankhobson.github.io/application-portfolios/lattice-partners-product-designer</a:t>
            </a:r>
          </a:p>
        </p:txBody>
      </p:sp>
      <p:sp>
        <p:nvSpPr>
          <p:cNvPr id="6" name="slide-number">
            <a:extLst xmlns:a="http://schemas.openxmlformats.org/drawingml/2006/main">
              <a:ext uri="{FF2B5EF4-FFF2-40B4-BE49-F238E27FC236}">
                <a16:creationId xmlns:a16="http://schemas.microsoft.com/office/drawing/2014/main" id="{1C9D593E-F1B6-4972-A9BA-0CAF25000D0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94635719"/>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2026-09-09T07:26:16.8960000Z</dcterms:created>
  <dcterms:modified xsi:type="dcterms:W3CDTF">2026-09-09T07:26:16.8960000Z</dcterms:modified>
</coreProperties>
</file>