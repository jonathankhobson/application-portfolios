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8d74e64f9c44da" /><Relationship Type="http://schemas.openxmlformats.org/officeDocument/2006/relationships/extended-properties" Target="/docProps/app.xml" Id="R38eb7eb353034538" /><Relationship Type="http://schemas.openxmlformats.org/officeDocument/2006/relationships/officeDocument" Target="/ppt/presentation.xml" Id="Rf0a1901b5aaf4cc6" /></Relationships>
</file>

<file path=ppt/presentation.xml><?xml version="1.0" encoding="utf-8"?>
<p:presentation xmlns:p="http://schemas.openxmlformats.org/presentationml/2006/main">
  <p:sldMasterIdLst>
    <p:sldMasterId xmlns:r="http://schemas.openxmlformats.org/officeDocument/2006/relationships" id="2147483648" r:id="Rf7f6f4bbccfd4fc2"/>
  </p:sldMasterIdLst>
  <p:notesMasterIdLst>
    <p:notesMasterId xmlns:r="http://schemas.openxmlformats.org/officeDocument/2006/relationships" r:id="Rd7fecb225d5542dc"/>
  </p:notesMasterIdLst>
  <p:sldIdLst>
    <p:sldId xmlns:r="http://schemas.openxmlformats.org/officeDocument/2006/relationships" id="256" r:id="R286a1813a28f4524"/>
    <p:sldId xmlns:r="http://schemas.openxmlformats.org/officeDocument/2006/relationships" id="257" r:id="R9f1bfce4c2344625"/>
    <p:sldId xmlns:r="http://schemas.openxmlformats.org/officeDocument/2006/relationships" id="258" r:id="Rfa146f8a5aae46d6"/>
    <p:sldId xmlns:r="http://schemas.openxmlformats.org/officeDocument/2006/relationships" id="259" r:id="Rc5d4f8482a1f41c5"/>
    <p:sldId xmlns:r="http://schemas.openxmlformats.org/officeDocument/2006/relationships" id="260" r:id="R172d8a1feb3b4be2"/>
    <p:sldId xmlns:r="http://schemas.openxmlformats.org/officeDocument/2006/relationships" id="261" r:id="R77862ac398104689"/>
    <p:sldId xmlns:r="http://schemas.openxmlformats.org/officeDocument/2006/relationships" id="262" r:id="Rd3a6593de40b4288"/>
    <p:sldId xmlns:r="http://schemas.openxmlformats.org/officeDocument/2006/relationships" id="263" r:id="R25979a2c581c49f7"/>
    <p:sldId xmlns:r="http://schemas.openxmlformats.org/officeDocument/2006/relationships" id="264" r:id="Rb0a284bf0950439c"/>
    <p:sldId xmlns:r="http://schemas.openxmlformats.org/officeDocument/2006/relationships" id="265" r:id="R806c25997cee41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e817dc40f2494a" /><Relationship Type="http://schemas.openxmlformats.org/officeDocument/2006/relationships/slideMaster" Target="/ppt/slideMasters/slideMaster1.xml" Id="Rf7f6f4bbccfd4fc2" /><Relationship Type="http://schemas.openxmlformats.org/officeDocument/2006/relationships/notesMaster" Target="/ppt/notesMasters/notesMaster1.xml" Id="Rd7fecb225d5542dc" /><Relationship Type="http://schemas.openxmlformats.org/officeDocument/2006/relationships/presProps" Target="/ppt/presProps.xml" Id="R3d5190780d8649f6" /><Relationship Type="http://schemas.openxmlformats.org/officeDocument/2006/relationships/tableStyles" Target="/ppt/tableStyles.xml" Id="Rd4307a1b421e4623" /><Relationship Type="http://schemas.openxmlformats.org/officeDocument/2006/relationships/slide" Target="/ppt/slides/slide1.xml" Id="R286a1813a28f4524" /><Relationship Type="http://schemas.openxmlformats.org/officeDocument/2006/relationships/slide" Target="/ppt/slides/slide2.xml" Id="R9f1bfce4c2344625" /><Relationship Type="http://schemas.openxmlformats.org/officeDocument/2006/relationships/slide" Target="/ppt/slides/slide3.xml" Id="Rfa146f8a5aae46d6" /><Relationship Type="http://schemas.openxmlformats.org/officeDocument/2006/relationships/slide" Target="/ppt/slides/slide4.xml" Id="Rc5d4f8482a1f41c5" /><Relationship Type="http://schemas.openxmlformats.org/officeDocument/2006/relationships/slide" Target="/ppt/slides/slide5.xml" Id="R172d8a1feb3b4be2" /><Relationship Type="http://schemas.openxmlformats.org/officeDocument/2006/relationships/slide" Target="/ppt/slides/slide6.xml" Id="R77862ac398104689" /><Relationship Type="http://schemas.openxmlformats.org/officeDocument/2006/relationships/slide" Target="/ppt/slides/slide7.xml" Id="Rd3a6593de40b4288" /><Relationship Type="http://schemas.openxmlformats.org/officeDocument/2006/relationships/slide" Target="/ppt/slides/slide8.xml" Id="R25979a2c581c49f7" /><Relationship Type="http://schemas.openxmlformats.org/officeDocument/2006/relationships/slide" Target="/ppt/slides/slide9.xml" Id="Rb0a284bf0950439c" /><Relationship Type="http://schemas.openxmlformats.org/officeDocument/2006/relationships/slide" Target="/ppt/slides/slide10.xml" Id="R806c25997cee412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2c73e15d2246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7ec3b31c5b4229" /><Relationship Type="http://schemas.openxmlformats.org/officeDocument/2006/relationships/notesMaster" Target="/ppt/notesMasters/notesMaster1.xml" Id="R96b97d75251147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620c663b9d4df8" /><Relationship Type="http://schemas.openxmlformats.org/officeDocument/2006/relationships/notesMaster" Target="/ppt/notesMasters/notesMaster1.xml" Id="R4b94e4c66c614e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6a6b2e5f1e4707" /><Relationship Type="http://schemas.openxmlformats.org/officeDocument/2006/relationships/notesMaster" Target="/ppt/notesMasters/notesMaster1.xml" Id="R33e54ad5734a4f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7dc95b18fb4cd2" /><Relationship Type="http://schemas.openxmlformats.org/officeDocument/2006/relationships/notesMaster" Target="/ppt/notesMasters/notesMaster1.xml" Id="Rc61fef1ff4fc40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ed4b9dbe364b9d" /><Relationship Type="http://schemas.openxmlformats.org/officeDocument/2006/relationships/notesMaster" Target="/ppt/notesMasters/notesMaster1.xml" Id="R56c57fb0250e4a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9088c4b5a644c6" /><Relationship Type="http://schemas.openxmlformats.org/officeDocument/2006/relationships/notesMaster" Target="/ppt/notesMasters/notesMaster1.xml" Id="R36f639c5d7d74f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9125a555fe4d97" /><Relationship Type="http://schemas.openxmlformats.org/officeDocument/2006/relationships/notesMaster" Target="/ppt/notesMasters/notesMaster1.xml" Id="Ra02335c7063943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5cee14e48c400f" /><Relationship Type="http://schemas.openxmlformats.org/officeDocument/2006/relationships/notesMaster" Target="/ppt/notesMasters/notesMaster1.xml" Id="R6f1620628ecc4f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470100c2454b36" /><Relationship Type="http://schemas.openxmlformats.org/officeDocument/2006/relationships/notesMaster" Target="/ppt/notesMasters/notesMaster1.xml" Id="Ra23b293533f04e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daf754e09e489c" /><Relationship Type="http://schemas.openxmlformats.org/officeDocument/2006/relationships/notesMaster" Target="/ppt/notesMasters/notesMaster1.xml" Id="R4cf90b8724e545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Censys Technical Content Specialist, https://job-boards.greenhouse.io/censys/jobs/8760722002 . Displayed work belongs to prior ASU, Coursera, FactorLab and independent tool projects. Decorative cover is existing canonical art, not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ai.json teaching-ai case, original 2024 lesson material and https://www.coursera.org/projects/chatgpt-beginners . Kyle created and taught the published project ChatGPT 4o for Beginners: Create Social Media Content. The crop preserves all original Task 3 goal text without changing source pixels: ai-course-goals.png x80 y85 w650 h370. Learning sequence and teaching materials are direct evidence; enrollment is not a learning-gain measure.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October 1,2024 Course Shell Feedback rows16,19,20,22 and instructor-response notes. Four rows summarize actual concerns and recorded revisions. Completed appears in instructor-response status; separate QA ID Approval remains false. No final row-level signoff or measured learner gain claimed. Native editable two-column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teaching-ai case and original recorded revision instruction at 03:35. The screenshot preserves the historical interface and original text, including typos. Brew Bliss is fictional practice material. This slide shows teaching judgment, not a school deployment, controlled experiment or measured learner result. The retrospective check is a later reflection, not an assessment reported 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Canonical ai.json prompt-compass case. Original developer-authored regression fixture, reformatted for the portfolio. May2026 local work is separate from the April27 public beta. Deterministic literal-term checks report missing fields in the rewrite; they do not execute an LLM, parse its output or establish model accuracy. The low-confidence threshold is a test instruction, not a deployed enterprise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canonical prompt-compass case and public beta3 release. Kyle built and released the tool with installable packages and source downloads. Diagram is reconstructed from implementation, not an original product screenshot. Public beta and local work do not establish enterprise adoption or security-domain expertise.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Experience synthesis, not a new case study. ASU Instructional Designer Apr2022–Oct2024 and AI Analyst Feb–Oct2024 overlap. Coursera2024 also overlaps; no inflated elapsed training tenure. Last row is a proposed measure, not an observed enterprise adoption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approach for Censys Technical Content Specialist, https://job-boards.greenhouse.io/censys/jobs/8760722002 . Not prior Censys delivery, a diagnosed product issue, a security investigation or a measured learner outcome. Cybersecurity subject matter and Academy platform practices require onboarding and expert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Tailored Technical Content Specialist packet. Related experience spans ASU learning design, Coursera teaching and assessment revisions, Prompt Compass and product research. Course-authoring and product-documentation evidence are distinct from LMS administration or independent publishing-control ownership. Security-domain and CTF experience are not claimed. Mesa is disclosed.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5f4dcf7a624e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146cb46120425a" /><Relationship Type="http://schemas.openxmlformats.org/officeDocument/2006/relationships/slideLayout" Target="/ppt/slideLayouts/slideLayout1.xml" Id="Rb4e8976940014d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e8976940014d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202a83e3ff4ad1" /><Relationship Type="http://schemas.openxmlformats.org/officeDocument/2006/relationships/image" Target="/ppt/media/image.png" Id="R4729323d729d46be" /><Relationship Type="http://schemas.openxmlformats.org/officeDocument/2006/relationships/notesSlide" Target="/ppt/notesSlides/notesSlide1.xml" Id="Rd58d9af040fb41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f705c1450d402c" /><Relationship Type="http://schemas.openxmlformats.org/officeDocument/2006/relationships/image" Target="/ppt/media/image2.png" Id="Rf28f920d7f474815" /><Relationship Type="http://schemas.openxmlformats.org/officeDocument/2006/relationships/notesSlide" Target="/ppt/notesSlides/notesSlide2.xml" Id="R07b1ab202b6247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9a202750cf472d" /><Relationship Type="http://schemas.openxmlformats.org/officeDocument/2006/relationships/notesSlide" Target="/ppt/notesSlides/notesSlide3.xml" Id="R42c633a3f0574e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955cdde2d0a4dbc" /><Relationship Type="http://schemas.openxmlformats.org/officeDocument/2006/relationships/image" Target="/ppt/media/image3.png" Id="Rd0c8dec061cd4495" /><Relationship Type="http://schemas.openxmlformats.org/officeDocument/2006/relationships/notesSlide" Target="/ppt/notesSlides/notesSlide4.xml" Id="R0851459fcb5647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cba35fe33a4d5f" /><Relationship Type="http://schemas.openxmlformats.org/officeDocument/2006/relationships/image" Target="/ppt/media/image4.png" Id="Ra9a37e26f2e74bf3" /><Relationship Type="http://schemas.openxmlformats.org/officeDocument/2006/relationships/notesSlide" Target="/ppt/notesSlides/notesSlide5.xml" Id="Rdc1676e567e641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a59c34eed34a63" /><Relationship Type="http://schemas.openxmlformats.org/officeDocument/2006/relationships/image" Target="/ppt/media/image5.png" Id="R9febf15498bd4462" /><Relationship Type="http://schemas.openxmlformats.org/officeDocument/2006/relationships/image" Target="/ppt/media/image6.png" Id="R1ae1b3d052834fee" /><Relationship Type="http://schemas.openxmlformats.org/officeDocument/2006/relationships/notesSlide" Target="/ppt/notesSlides/notesSlide6.xml" Id="R2f178fe1a7e742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43838ea7944bd7" /><Relationship Type="http://schemas.openxmlformats.org/officeDocument/2006/relationships/image" Target="/ppt/media/image7.png" Id="R73cf18c76f3d4160" /><Relationship Type="http://schemas.openxmlformats.org/officeDocument/2006/relationships/notesSlide" Target="/ppt/notesSlides/notesSlide7.xml" Id="R21ff72a0e9fe49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fc4a6bda494d6c" /><Relationship Type="http://schemas.openxmlformats.org/officeDocument/2006/relationships/notesSlide" Target="/ppt/notesSlides/notesSlide8.xml" Id="R91e485caf73744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bbeb6748f7843a6" /><Relationship Type="http://schemas.openxmlformats.org/officeDocument/2006/relationships/notesSlide" Target="/ppt/notesSlides/notesSlide9.xml" Id="R3ed54b71cf2d41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c0983bf15f427c" /><Relationship Type="http://schemas.openxmlformats.org/officeDocument/2006/relationships/hyperlink" Target="mailto:JonathanKyleHobson@gmail.com" TargetMode="External" Id="Ra2ba33ea41b542d4" /><Relationship Type="http://schemas.openxmlformats.org/officeDocument/2006/relationships/hyperlink" Target="https://jonathankhobson.github.io/application-portfolios/censys-technical-content-specialist/" TargetMode="External" Id="R4e2e626ed50e4738" /><Relationship Type="http://schemas.openxmlformats.org/officeDocument/2006/relationships/notesSlide" Target="/ppt/notesSlides/notesSlide10.xml" Id="R38ec44351d7a461c"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729323d729d46be"/>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57BFE3D4-CB32-4113-9058-9925BB641CDA}"/>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Censys · TECHNICAL CONTENT SPECIALIST</a:t>
            </a:r>
          </a:p>
        </p:txBody>
      </p:sp>
      <p:sp>
        <p:nvSpPr>
          <p:cNvPr id="3" name="headline">
            <a:extLst xmlns:a="http://schemas.openxmlformats.org/drawingml/2006/main">
              <a:ext uri="{FF2B5EF4-FFF2-40B4-BE49-F238E27FC236}">
                <a16:creationId xmlns:a16="http://schemas.microsoft.com/office/drawing/2014/main" id="{23440543-7FD4-4CB3-8169-AEF6BB213809}"/>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Teach the task.</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Explain the decision.</a:t>
            </a:r>
          </a:p>
        </p:txBody>
      </p:sp>
      <p:sp>
        <p:nvSpPr>
          <p:cNvPr id="4" name="cover-intro">
            <a:extLst xmlns:a="http://schemas.openxmlformats.org/drawingml/2006/main">
              <a:ext uri="{FF2B5EF4-FFF2-40B4-BE49-F238E27FC236}">
                <a16:creationId xmlns:a16="http://schemas.microsoft.com/office/drawing/2014/main" id="{25AC05BC-C0E7-4BC9-A6AF-3A4E1100A144}"/>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ASU learning design, original Coursera lessons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technical workflow explanations.</a:t>
            </a:r>
          </a:p>
        </p:txBody>
      </p:sp>
      <p:sp>
        <p:nvSpPr>
          <p:cNvPr id="5" name="cover-role">
            <a:extLst xmlns:a="http://schemas.openxmlformats.org/drawingml/2006/main">
              <a:ext uri="{FF2B5EF4-FFF2-40B4-BE49-F238E27FC236}">
                <a16:creationId xmlns:a16="http://schemas.microsoft.com/office/drawing/2014/main" id="{91491532-F8D3-43EB-9708-D7F09773563D}"/>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Technical Content Specialist application · September 2026</a:t>
            </a:r>
          </a:p>
        </p:txBody>
      </p:sp>
      <p:sp>
        <p:nvSpPr>
          <p:cNvPr id="6" name="slide-number">
            <a:extLst xmlns:a="http://schemas.openxmlformats.org/drawingml/2006/main">
              <a:ext uri="{FF2B5EF4-FFF2-40B4-BE49-F238E27FC236}">
                <a16:creationId xmlns:a16="http://schemas.microsoft.com/office/drawing/2014/main" id="{55817B64-2B89-4E68-A9A2-492FA8B2EBF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905002264"/>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AC8E08A-B732-45D4-A12A-B9735C1542E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765F30C6-A81C-4826-A410-50789B75CD4C}"/>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Make revision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something the</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learner can see</a:t>
            </a:r>
          </a:p>
        </p:txBody>
      </p:sp>
      <p:sp>
        <p:nvSpPr>
          <p:cNvPr id="3" name="teaching-rationale">
            <a:extLst xmlns:a="http://schemas.openxmlformats.org/drawingml/2006/main">
              <a:ext uri="{FF2B5EF4-FFF2-40B4-BE49-F238E27FC236}">
                <a16:creationId xmlns:a16="http://schemas.microsoft.com/office/drawing/2014/main" id="{C439A7A3-B0FC-4944-8347-BAD827DCF668}"/>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C8D71106-0D02-4F09-A1B0-534E98D99CB8}"/>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28f920d7f474815"/>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7FF64374-5761-438B-878E-4DB66168D021}"/>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BD860130-2117-4144-9251-369ACAD0FB4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943778771"/>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FE394B6E-350E-4266-986C-EAD4C701361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BB8F8D9F-3F08-4CB9-B431-C33880BF0CE3}"/>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Make the review change the material</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76F2F008-9EEE-407A-95A8-78F981F6D2E2}"/>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C3BD6F0B-086D-4652-8B1E-2C74B38EF8B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19496550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8BCE3499-F7C3-406A-A5A9-F2AC8F6F3C1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354711C6-C688-4C55-AEA4-7BC070979C59}"/>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Review added detail</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before accepting it</a:t>
            </a:r>
          </a:p>
        </p:txBody>
      </p:sp>
      <p:sp>
        <p:nvSpPr>
          <p:cNvPr id="3" name="revision-need">
            <a:extLst xmlns:a="http://schemas.openxmlformats.org/drawingml/2006/main">
              <a:ext uri="{FF2B5EF4-FFF2-40B4-BE49-F238E27FC236}">
                <a16:creationId xmlns:a16="http://schemas.microsoft.com/office/drawing/2014/main" id="{746268B7-879B-4952-AB51-8B2C7B76F11E}"/>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B99C6DC4-1632-4B13-97F6-C53933BDD3B7}"/>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0c8dec061cd4495"/>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065E6752-0184-45B2-BB3F-394A400A7F13}"/>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90F9C7EA-1D62-426C-8A1B-96835F27AA6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304856909"/>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2CFA9E6A-C401-4595-A180-3FA87399376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A837CABE-DFD2-4E44-8ADB-DF8ECF0ED74F}"/>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 cleaner rewrite can lose the task</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9a37e26f2e74bf3"/>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53E42AAF-E12B-4682-9BD7-1B8972D266CF}"/>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80838418-FED0-4E7F-9802-0E1CB213A18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462861212"/>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C14EDB8A-A24A-4DAA-809C-254099BD938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F20E853B-E65B-4055-AF3A-8FEE06378978}"/>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84CF5405-84EF-46C7-8EA7-4E1C8FAFAC5D}"/>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717308E2-79C2-446A-8553-A007EEDB853D}"/>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DC45DA88-45AB-4F1D-B951-2E1859D03E60}"/>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A0F89FFF-F53D-491F-A08C-361CA6FEAA53}"/>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febf15498bd4462"/>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ae1b3d052834fee"/>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73CBABB0-3149-4E70-81C6-76A67E1077E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2059291365"/>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654599F-B31C-4236-AA38-10A63DDF260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B536F9D6-93BC-4DF3-96BD-EF6A8F372FB2}"/>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Give the tool a clear role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3cf18c76f3d4160"/>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DCEA9E34-5B30-494A-A551-E75D33C5D2F6}"/>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96396307-556D-4158-AE06-200C78DFCF8F}"/>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45DC0D2D-7F66-4B21-8028-D77FEAFC2CB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474175597"/>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89D348BB-32EC-4455-AB57-096A5E837A9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ASU · FACTORLAB · COURSERA   /   RELATED EXPERIENCE</a:t>
            </a:r>
          </a:p>
        </p:txBody>
      </p:sp>
      <p:sp>
        <p:nvSpPr>
          <p:cNvPr id="2" name="headline">
            <a:extLst xmlns:a="http://schemas.openxmlformats.org/drawingml/2006/main">
              <a:ext uri="{FF2B5EF4-FFF2-40B4-BE49-F238E27FC236}">
                <a16:creationId xmlns:a16="http://schemas.microsoft.com/office/drawing/2014/main" id="{A3A9C0D0-2536-48F9-9CFD-3EC9E6E36C5D}"/>
              </a:ext>
            </a:extLst>
          </p:cNvPr>
          <p:cNvSpPr>
            <a:spLocks xmlns:a="http://schemas.openxmlformats.org/drawingml/2006/main" noGrp="1"/>
          </p:cNvSpPr>
          <p:nvPr/>
        </p:nvSpPr>
        <p:spPr>
          <a:xfrm xmlns:a="http://schemas.openxmlformats.org/drawingml/2006/main">
            <a:off x="609600" y="11239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Use research to find</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the learning need</a:t>
            </a:r>
          </a:p>
        </p:txBody>
      </p:sp>
      <p:sp>
        <p:nvSpPr>
          <p:cNvPr id="3" name="learner-context">
            <a:extLst xmlns:a="http://schemas.openxmlformats.org/drawingml/2006/main">
              <a:ext uri="{FF2B5EF4-FFF2-40B4-BE49-F238E27FC236}">
                <a16:creationId xmlns:a16="http://schemas.microsoft.com/office/drawing/2014/main" id="{885CD513-4F2C-4B64-9170-7DD02BD68DCF}"/>
              </a:ext>
            </a:extLst>
          </p:cNvPr>
          <p:cNvSpPr>
            <a:spLocks xmlns:a="http://schemas.openxmlformats.org/drawingml/2006/main" noGrp="1"/>
          </p:cNvSpPr>
          <p:nvPr/>
        </p:nvSpPr>
        <p:spPr>
          <a:xfrm xmlns:a="http://schemas.openxmlformats.org/drawingml/2006/main">
            <a:off x="609600" y="3209925"/>
            <a:ext cx="5257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At ASU, I developed learning materials and workshops and evaluated voice and chat flows. Product research adds practice clarifying the task before proposing support.</a:t>
            </a:r>
          </a:p>
        </p:txBody>
      </p:sp>
      <p:sp>
        <p:nvSpPr>
          <p:cNvPr id="4" name="learning-limits">
            <a:extLst xmlns:a="http://schemas.openxmlformats.org/drawingml/2006/main">
              <a:ext uri="{FF2B5EF4-FFF2-40B4-BE49-F238E27FC236}">
                <a16:creationId xmlns:a16="http://schemas.microsoft.com/office/drawing/2014/main" id="{093A3D47-E81A-459F-AB53-5EF8E03B418E}"/>
              </a:ext>
            </a:extLst>
          </p:cNvPr>
          <p:cNvSpPr>
            <a:spLocks xmlns:a="http://schemas.openxmlformats.org/drawingml/2006/main" noGrp="1"/>
          </p:cNvSpPr>
          <p:nvPr/>
        </p:nvSpPr>
        <p:spPr>
          <a:xfrm xmlns:a="http://schemas.openxmlformats.org/drawingml/2006/main">
            <a:off x="609600" y="5362575"/>
            <a:ext cx="5257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My next step would be to test a teaching approach with staff doing real work and measure what changes.</a:t>
            </a:r>
          </a:p>
        </p:txBody>
      </p:sp>
      <p:sp>
        <p:nvSpPr>
          <p:cNvPr id="5" name="status-0">
            <a:extLst xmlns:a="http://schemas.openxmlformats.org/drawingml/2006/main">
              <a:ext uri="{FF2B5EF4-FFF2-40B4-BE49-F238E27FC236}">
                <a16:creationId xmlns:a16="http://schemas.microsoft.com/office/drawing/2014/main" id="{E0754757-E6F2-415D-90DA-0966F5E7712C}"/>
              </a:ext>
            </a:extLst>
          </p:cNvPr>
          <p:cNvSpPr>
            <a:spLocks xmlns:a="http://schemas.openxmlformats.org/drawingml/2006/main" noGrp="1"/>
          </p:cNvSpPr>
          <p:nvPr/>
        </p:nvSpPr>
        <p:spPr>
          <a:xfrm xmlns:a="http://schemas.openxmlformats.org/drawingml/2006/main">
            <a:off x="6800850" y="14859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Learning design</a:t>
            </a:r>
          </a:p>
        </p:txBody>
      </p:sp>
      <p:sp>
        <p:nvSpPr>
          <p:cNvPr id="6" name="status-description-0">
            <a:extLst xmlns:a="http://schemas.openxmlformats.org/drawingml/2006/main">
              <a:ext uri="{FF2B5EF4-FFF2-40B4-BE49-F238E27FC236}">
                <a16:creationId xmlns:a16="http://schemas.microsoft.com/office/drawing/2014/main" id="{C7EF2A93-4652-4A1A-801D-909E2F0200D5}"/>
              </a:ext>
            </a:extLst>
          </p:cNvPr>
          <p:cNvSpPr>
            <a:spLocks xmlns:a="http://schemas.openxmlformats.org/drawingml/2006/main" noGrp="1"/>
          </p:cNvSpPr>
          <p:nvPr/>
        </p:nvSpPr>
        <p:spPr>
          <a:xfrm xmlns:a="http://schemas.openxmlformats.org/drawingml/2006/main">
            <a:off x="6800850" y="19145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Objectives, demonstrations and practice</a:t>
            </a:r>
          </a:p>
        </p:txBody>
      </p:sp>
      <p:sp>
        <p:nvSpPr>
          <p:cNvPr id="7" name="status-1">
            <a:extLst xmlns:a="http://schemas.openxmlformats.org/drawingml/2006/main">
              <a:ext uri="{FF2B5EF4-FFF2-40B4-BE49-F238E27FC236}">
                <a16:creationId xmlns:a16="http://schemas.microsoft.com/office/drawing/2014/main" id="{9266098F-99E5-42CD-9E02-242E3E26D34F}"/>
              </a:ext>
            </a:extLst>
          </p:cNvPr>
          <p:cNvSpPr>
            <a:spLocks xmlns:a="http://schemas.openxmlformats.org/drawingml/2006/main" noGrp="1"/>
          </p:cNvSpPr>
          <p:nvPr/>
        </p:nvSpPr>
        <p:spPr>
          <a:xfrm xmlns:a="http://schemas.openxmlformats.org/drawingml/2006/main">
            <a:off x="6800850" y="27051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Research</a:t>
            </a:r>
          </a:p>
        </p:txBody>
      </p:sp>
      <p:sp>
        <p:nvSpPr>
          <p:cNvPr id="8" name="status-description-1">
            <a:extLst xmlns:a="http://schemas.openxmlformats.org/drawingml/2006/main">
              <a:ext uri="{FF2B5EF4-FFF2-40B4-BE49-F238E27FC236}">
                <a16:creationId xmlns:a16="http://schemas.microsoft.com/office/drawing/2014/main" id="{928F6068-EB52-4F5A-9768-356E34BE1D87}"/>
              </a:ext>
            </a:extLst>
          </p:cNvPr>
          <p:cNvSpPr>
            <a:spLocks xmlns:a="http://schemas.openxmlformats.org/drawingml/2006/main" noGrp="1"/>
          </p:cNvSpPr>
          <p:nvPr/>
        </p:nvSpPr>
        <p:spPr>
          <a:xfrm xmlns:a="http://schemas.openxmlformats.org/drawingml/2006/main">
            <a:off x="6800850" y="31337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Questions about context and friction</a:t>
            </a:r>
          </a:p>
        </p:txBody>
      </p:sp>
      <p:sp>
        <p:nvSpPr>
          <p:cNvPr id="9" name="status-2">
            <a:extLst xmlns:a="http://schemas.openxmlformats.org/drawingml/2006/main">
              <a:ext uri="{FF2B5EF4-FFF2-40B4-BE49-F238E27FC236}">
                <a16:creationId xmlns:a16="http://schemas.microsoft.com/office/drawing/2014/main" id="{7A50AAE6-2145-4C3B-AFA9-0927575F71DC}"/>
              </a:ext>
            </a:extLst>
          </p:cNvPr>
          <p:cNvSpPr>
            <a:spLocks xmlns:a="http://schemas.openxmlformats.org/drawingml/2006/main" noGrp="1"/>
          </p:cNvSpPr>
          <p:nvPr/>
        </p:nvSpPr>
        <p:spPr>
          <a:xfrm xmlns:a="http://schemas.openxmlformats.org/drawingml/2006/main">
            <a:off x="6800850" y="39243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Workflow design</a:t>
            </a:r>
          </a:p>
        </p:txBody>
      </p:sp>
      <p:sp>
        <p:nvSpPr>
          <p:cNvPr id="10" name="status-description-2">
            <a:extLst xmlns:a="http://schemas.openxmlformats.org/drawingml/2006/main">
              <a:ext uri="{FF2B5EF4-FFF2-40B4-BE49-F238E27FC236}">
                <a16:creationId xmlns:a16="http://schemas.microsoft.com/office/drawing/2014/main" id="{3169D0B1-FE6A-4B68-A08E-94D0F071B493}"/>
              </a:ext>
            </a:extLst>
          </p:cNvPr>
          <p:cNvSpPr>
            <a:spLocks xmlns:a="http://schemas.openxmlformats.org/drawingml/2006/main" noGrp="1"/>
          </p:cNvSpPr>
          <p:nvPr/>
        </p:nvSpPr>
        <p:spPr>
          <a:xfrm xmlns:a="http://schemas.openxmlformats.org/drawingml/2006/main">
            <a:off x="6800850" y="43529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Actions and recovery explained to engineering</a:t>
            </a:r>
          </a:p>
        </p:txBody>
      </p:sp>
      <p:sp>
        <p:nvSpPr>
          <p:cNvPr id="11" name="status-3">
            <a:extLst xmlns:a="http://schemas.openxmlformats.org/drawingml/2006/main">
              <a:ext uri="{FF2B5EF4-FFF2-40B4-BE49-F238E27FC236}">
                <a16:creationId xmlns:a16="http://schemas.microsoft.com/office/drawing/2014/main" id="{5E2D9F84-738B-468D-9B65-75ED884D1060}"/>
              </a:ext>
            </a:extLst>
          </p:cNvPr>
          <p:cNvSpPr>
            <a:spLocks xmlns:a="http://schemas.openxmlformats.org/drawingml/2006/main" noGrp="1"/>
          </p:cNvSpPr>
          <p:nvPr/>
        </p:nvSpPr>
        <p:spPr>
          <a:xfrm xmlns:a="http://schemas.openxmlformats.org/drawingml/2006/main">
            <a:off x="6800850" y="51435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Evaluation to propose</a:t>
            </a:r>
          </a:p>
        </p:txBody>
      </p:sp>
      <p:sp>
        <p:nvSpPr>
          <p:cNvPr id="12" name="status-description-3">
            <a:extLst xmlns:a="http://schemas.openxmlformats.org/drawingml/2006/main">
              <a:ext uri="{FF2B5EF4-FFF2-40B4-BE49-F238E27FC236}">
                <a16:creationId xmlns:a16="http://schemas.microsoft.com/office/drawing/2014/main" id="{0D00A35D-05BB-4976-B536-82167D8A04F6}"/>
              </a:ext>
            </a:extLst>
          </p:cNvPr>
          <p:cNvSpPr>
            <a:spLocks xmlns:a="http://schemas.openxmlformats.org/drawingml/2006/main" noGrp="1"/>
          </p:cNvSpPr>
          <p:nvPr/>
        </p:nvSpPr>
        <p:spPr>
          <a:xfrm xmlns:a="http://schemas.openxmlformats.org/drawingml/2006/main">
            <a:off x="6800850" y="55721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Completion, correction and repeat use</a:t>
            </a:r>
          </a:p>
        </p:txBody>
      </p:sp>
      <p:sp>
        <p:nvSpPr>
          <p:cNvPr id="13" name="slide-number">
            <a:extLst xmlns:a="http://schemas.openxmlformats.org/drawingml/2006/main">
              <a:ext uri="{FF2B5EF4-FFF2-40B4-BE49-F238E27FC236}">
                <a16:creationId xmlns:a16="http://schemas.microsoft.com/office/drawing/2014/main" id="{58263410-9FA1-4277-99F9-A204026112A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639766168"/>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65782950-0AD4-4AB2-87C3-5BDB393A1AD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CENSYS TECHNICAL CONTENT</a:t>
            </a:r>
          </a:p>
        </p:txBody>
      </p:sp>
      <p:sp>
        <p:nvSpPr>
          <p:cNvPr id="2" name="headline">
            <a:extLst xmlns:a="http://schemas.openxmlformats.org/drawingml/2006/main">
              <a:ext uri="{FF2B5EF4-FFF2-40B4-BE49-F238E27FC236}">
                <a16:creationId xmlns:a16="http://schemas.microsoft.com/office/drawing/2014/main" id="{253EC0A2-7ACD-4327-8CDC-EB36B791A79E}"/>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Connect the action to the decision</a:t>
            </a:r>
          </a:p>
        </p:txBody>
      </p:sp>
      <p:sp>
        <p:nvSpPr>
          <p:cNvPr id="3" name="purpose-heading">
            <a:extLst xmlns:a="http://schemas.openxmlformats.org/drawingml/2006/main">
              <a:ext uri="{FF2B5EF4-FFF2-40B4-BE49-F238E27FC236}">
                <a16:creationId xmlns:a16="http://schemas.microsoft.com/office/drawing/2014/main" id="{0A5EAFC3-C99A-4458-915E-2FE736490768}"/>
              </a:ext>
            </a:extLst>
          </p:cNvPr>
          <p:cNvSpPr>
            <a:spLocks xmlns:a="http://schemas.openxmlformats.org/drawingml/2006/main" noGrp="1"/>
          </p:cNvSpPr>
          <p:nvPr/>
        </p:nvSpPr>
        <p:spPr>
          <a:xfrm xmlns:a="http://schemas.openxmlformats.org/drawingml/2006/main">
            <a:off x="609600" y="2914650"/>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Choose one customer task</a:t>
            </a:r>
          </a:p>
        </p:txBody>
      </p:sp>
      <p:sp>
        <p:nvSpPr>
          <p:cNvPr id="4" name="purpose-body">
            <a:extLst xmlns:a="http://schemas.openxmlformats.org/drawingml/2006/main">
              <a:ext uri="{FF2B5EF4-FFF2-40B4-BE49-F238E27FC236}">
                <a16:creationId xmlns:a16="http://schemas.microsoft.com/office/drawing/2014/main" id="{E70A3508-D7FC-4405-81AA-25BD6E102DA2}"/>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Work with an expert to choose a useful task.</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Define what the learner needs to recognize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which result they should inspect.</a:t>
            </a:r>
          </a:p>
        </p:txBody>
      </p:sp>
      <p:sp>
        <p:nvSpPr>
          <p:cNvPr id="5" name="structure-heading">
            <a:extLst xmlns:a="http://schemas.openxmlformats.org/drawingml/2006/main">
              <a:ext uri="{FF2B5EF4-FFF2-40B4-BE49-F238E27FC236}">
                <a16:creationId xmlns:a16="http://schemas.microsoft.com/office/drawing/2014/main" id="{CE16279B-05BF-490A-A68E-AA6C38549224}"/>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Build a focused learning path</a:t>
            </a:r>
          </a:p>
        </p:txBody>
      </p:sp>
      <p:sp>
        <p:nvSpPr>
          <p:cNvPr id="6" name="structure-body">
            <a:extLst xmlns:a="http://schemas.openxmlformats.org/drawingml/2006/main">
              <a:ext uri="{FF2B5EF4-FFF2-40B4-BE49-F238E27FC236}">
                <a16:creationId xmlns:a16="http://schemas.microsoft.com/office/drawing/2014/main" id="{3F99FB3A-BD81-4DFF-A4FA-CA53559FB12E}"/>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Outline the goal, prerequisites and practice.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Use a short demonstration and a safe example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that the product team has verified.</a:t>
            </a:r>
          </a:p>
        </p:txBody>
      </p:sp>
      <p:sp>
        <p:nvSpPr>
          <p:cNvPr id="7" name="compare-heading">
            <a:extLst xmlns:a="http://schemas.openxmlformats.org/drawingml/2006/main">
              <a:ext uri="{FF2B5EF4-FFF2-40B4-BE49-F238E27FC236}">
                <a16:creationId xmlns:a16="http://schemas.microsoft.com/office/drawing/2014/main" id="{CA9A825C-F83F-4BE1-9973-4D154856E492}"/>
              </a:ext>
            </a:extLst>
          </p:cNvPr>
          <p:cNvSpPr>
            <a:spLocks xmlns:a="http://schemas.openxmlformats.org/drawingml/2006/main" noGrp="1"/>
          </p:cNvSpPr>
          <p:nvPr/>
        </p:nvSpPr>
        <p:spPr>
          <a:xfrm xmlns:a="http://schemas.openxmlformats.org/drawingml/2006/main">
            <a:off x="609600" y="4857750"/>
            <a:ext cx="509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Review accuracy and usability</a:t>
            </a:r>
          </a:p>
        </p:txBody>
      </p:sp>
      <p:sp>
        <p:nvSpPr>
          <p:cNvPr id="8" name="compare-body">
            <a:extLst xmlns:a="http://schemas.openxmlformats.org/drawingml/2006/main">
              <a:ext uri="{FF2B5EF4-FFF2-40B4-BE49-F238E27FC236}">
                <a16:creationId xmlns:a16="http://schemas.microsoft.com/office/drawing/2014/main" id="{FC27DD76-B9C9-4A07-AB9B-A86B5C2965F5}"/>
              </a:ext>
            </a:extLst>
          </p:cNvPr>
          <p:cNvSpPr>
            <a:spLocks xmlns:a="http://schemas.openxmlformats.org/drawingml/2006/main" noGrp="1"/>
          </p:cNvSpPr>
          <p:nvPr/>
        </p:nvSpPr>
        <p:spPr>
          <a:xfrm xmlns:a="http://schemas.openxmlformats.org/drawingml/2006/main">
            <a:off x="609600" y="5410200"/>
            <a:ext cx="5143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the content with domain experts.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Watch a learner try the task and note</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where the explanation leaves them uncertain.</a:t>
            </a:r>
          </a:p>
        </p:txBody>
      </p:sp>
      <p:sp>
        <p:nvSpPr>
          <p:cNvPr id="9" name="handoff-heading">
            <a:extLst xmlns:a="http://schemas.openxmlformats.org/drawingml/2006/main">
              <a:ext uri="{FF2B5EF4-FFF2-40B4-BE49-F238E27FC236}">
                <a16:creationId xmlns:a16="http://schemas.microsoft.com/office/drawing/2014/main" id="{7AF41328-B982-443A-A93D-85D1BE983578}"/>
              </a:ext>
            </a:extLst>
          </p:cNvPr>
          <p:cNvSpPr>
            <a:spLocks xmlns:a="http://schemas.openxmlformats.org/drawingml/2006/main" noGrp="1"/>
          </p:cNvSpPr>
          <p:nvPr/>
        </p:nvSpPr>
        <p:spPr>
          <a:xfrm xmlns:a="http://schemas.openxmlformats.org/drawingml/2006/main">
            <a:off x="6705600" y="48577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1">
                <a:solidFill>
                  <a:srgbClr val="244D3C"/>
                </a:solidFill>
                <a:latin typeface="Helvetica Neue"/>
                <a:ea typeface="Helvetica Neue"/>
                <a:cs typeface="Helvetica Neue"/>
              </a:defRPr>
            </a:pPr>
            <a:r>
              <a:rPr sz="1800" b="1">
                <a:solidFill>
                  <a:srgbClr val="244D3C"/>
                </a:solidFill>
                <a:latin typeface="Helvetica Neue"/>
                <a:ea typeface="Helvetica Neue"/>
                <a:cs typeface="Helvetica Neue"/>
              </a:rPr>
              <a:t>Publish through the team workflow</a:t>
            </a:r>
          </a:p>
        </p:txBody>
      </p:sp>
      <p:sp>
        <p:nvSpPr>
          <p:cNvPr id="10" name="handoff-body">
            <a:extLst xmlns:a="http://schemas.openxmlformats.org/drawingml/2006/main">
              <a:ext uri="{FF2B5EF4-FFF2-40B4-BE49-F238E27FC236}">
                <a16:creationId xmlns:a16="http://schemas.microsoft.com/office/drawing/2014/main" id="{81CDED21-3AE6-4DF3-A18C-747BC3724FD4}"/>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Learn the Academy tools and review process.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Document the feature/version dependencies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and revisit content when behavior changes.</a:t>
            </a:r>
          </a:p>
        </p:txBody>
      </p:sp>
      <p:sp>
        <p:nvSpPr>
          <p:cNvPr id="11" name="slide-number">
            <a:extLst xmlns:a="http://schemas.openxmlformats.org/drawingml/2006/main">
              <a:ext uri="{FF2B5EF4-FFF2-40B4-BE49-F238E27FC236}">
                <a16:creationId xmlns:a16="http://schemas.microsoft.com/office/drawing/2014/main" id="{88AB40DD-4C9B-44CA-AC87-8433262DFB17}"/>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844265142"/>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65CBD50-E454-4A7F-89FF-742D5DE25FB7}"/>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Censys · TECHNICAL CONTENT SPECIALIST</a:t>
            </a:r>
          </a:p>
        </p:txBody>
      </p:sp>
      <p:sp>
        <p:nvSpPr>
          <p:cNvPr id="2" name="headline">
            <a:extLst xmlns:a="http://schemas.openxmlformats.org/drawingml/2006/main">
              <a:ext uri="{FF2B5EF4-FFF2-40B4-BE49-F238E27FC236}">
                <a16:creationId xmlns:a16="http://schemas.microsoft.com/office/drawing/2014/main" id="{55BF402E-C895-4A08-9F99-FD9F95FA8017}"/>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technical work</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easier to learn</a:t>
            </a:r>
          </a:p>
        </p:txBody>
      </p:sp>
      <p:sp>
        <p:nvSpPr>
          <p:cNvPr id="3" name="contact-intent">
            <a:extLst xmlns:a="http://schemas.openxmlformats.org/drawingml/2006/main">
              <a:ext uri="{FF2B5EF4-FFF2-40B4-BE49-F238E27FC236}">
                <a16:creationId xmlns:a16="http://schemas.microsoft.com/office/drawing/2014/main" id="{3D522063-D7AF-48B2-853C-C68A76B6DB3B}"/>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A81E576B-B1DC-444A-B41E-9E67048FD05C}"/>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a2ba33ea41b542d4"/>
              </a:rPr>
              <a:t>JonathanKyleHobson@gmail.com</a:t>
            </a:r>
          </a:p>
        </p:txBody>
      </p:sp>
      <p:sp>
        <p:nvSpPr>
          <p:cNvPr id="5" name="portfolio">
            <a:extLst xmlns:a="http://schemas.openxmlformats.org/drawingml/2006/main">
              <a:ext uri="{FF2B5EF4-FFF2-40B4-BE49-F238E27FC236}">
                <a16:creationId xmlns:a16="http://schemas.microsoft.com/office/drawing/2014/main" id="{30A8D719-023C-4689-A875-CA8E43648D6E}"/>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4e2e626ed50e4738"/>
              </a:rPr>
              <a:t>jonathankhobson.github.io/application-portfolios/censys-technical-content-specialist</a:t>
            </a:r>
          </a:p>
        </p:txBody>
      </p:sp>
      <p:sp>
        <p:nvSpPr>
          <p:cNvPr id="6" name="slide-number">
            <a:extLst xmlns:a="http://schemas.openxmlformats.org/drawingml/2006/main">
              <a:ext uri="{FF2B5EF4-FFF2-40B4-BE49-F238E27FC236}">
                <a16:creationId xmlns:a16="http://schemas.microsoft.com/office/drawing/2014/main" id="{97121040-DB2F-4D80-871C-CC222A385BD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115790401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2026-09-09T08:16:55.3610000Z</dcterms:created>
  <dcterms:modified xsi:type="dcterms:W3CDTF">2026-09-09T08:16:55.3610000Z</dcterms:modified>
</coreProperties>
</file>