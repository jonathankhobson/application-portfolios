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fdb5525d87fb4ee0" /><Relationship Type="http://schemas.openxmlformats.org/officeDocument/2006/relationships/extended-properties" Target="/docProps/app.xml" Id="R990e82fbfd534c05" /><Relationship Type="http://schemas.openxmlformats.org/officeDocument/2006/relationships/officeDocument" Target="/ppt/presentation.xml" Id="R12c3f8052d9f4c21" /></Relationships>
</file>

<file path=ppt/presentation.xml><?xml version="1.0" encoding="utf-8"?>
<p:presentation xmlns:p="http://schemas.openxmlformats.org/presentationml/2006/main">
  <p:sldMasterIdLst>
    <p:sldMasterId xmlns:r="http://schemas.openxmlformats.org/officeDocument/2006/relationships" id="2147483648" r:id="R8146d84ab11545b4"/>
  </p:sldMasterIdLst>
  <p:notesMasterIdLst>
    <p:notesMasterId xmlns:r="http://schemas.openxmlformats.org/officeDocument/2006/relationships" r:id="R27d40efd18cc4c68"/>
  </p:notesMasterIdLst>
  <p:sldIdLst>
    <p:sldId xmlns:r="http://schemas.openxmlformats.org/officeDocument/2006/relationships" id="256" r:id="Raf17ffd1efdf43da"/>
    <p:sldId xmlns:r="http://schemas.openxmlformats.org/officeDocument/2006/relationships" id="257" r:id="R8745d79d7fb34ad9"/>
    <p:sldId xmlns:r="http://schemas.openxmlformats.org/officeDocument/2006/relationships" id="258" r:id="R0bdd67c382e544dc"/>
    <p:sldId xmlns:r="http://schemas.openxmlformats.org/officeDocument/2006/relationships" id="259" r:id="Rb4e062f984dc4b01"/>
    <p:sldId xmlns:r="http://schemas.openxmlformats.org/officeDocument/2006/relationships" id="260" r:id="R3b1357f0907247a6"/>
    <p:sldId xmlns:r="http://schemas.openxmlformats.org/officeDocument/2006/relationships" id="261" r:id="R473f487813e74ccf"/>
    <p:sldId xmlns:r="http://schemas.openxmlformats.org/officeDocument/2006/relationships" id="262" r:id="R66f96b40e0e24866"/>
    <p:sldId xmlns:r="http://schemas.openxmlformats.org/officeDocument/2006/relationships" id="263" r:id="Rc06630aae00e4d6c"/>
    <p:sldId xmlns:r="http://schemas.openxmlformats.org/officeDocument/2006/relationships" id="264" r:id="Re0ea3161d0ec4a61"/>
    <p:sldId xmlns:r="http://schemas.openxmlformats.org/officeDocument/2006/relationships" id="265" r:id="R2d8d33f66e2b4ddf"/>
    <p:sldId xmlns:r="http://schemas.openxmlformats.org/officeDocument/2006/relationships" id="266" r:id="Rdfb71d014da54a6f"/>
    <p:sldId xmlns:r="http://schemas.openxmlformats.org/officeDocument/2006/relationships" id="267" r:id="R7837be0f6c104ca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f55f8daa652432a" /><Relationship Type="http://schemas.openxmlformats.org/officeDocument/2006/relationships/slideMaster" Target="/ppt/slideMasters/slideMaster1.xml" Id="R8146d84ab11545b4" /><Relationship Type="http://schemas.openxmlformats.org/officeDocument/2006/relationships/notesMaster" Target="/ppt/notesMasters/notesMaster1.xml" Id="R27d40efd18cc4c68" /><Relationship Type="http://schemas.openxmlformats.org/officeDocument/2006/relationships/presProps" Target="/ppt/presProps.xml" Id="Rfed8fb9f27d94dac" /><Relationship Type="http://schemas.openxmlformats.org/officeDocument/2006/relationships/tableStyles" Target="/ppt/tableStyles.xml" Id="R2d378a17ac404372" /><Relationship Type="http://schemas.openxmlformats.org/officeDocument/2006/relationships/slide" Target="/ppt/slides/slide1.xml" Id="Raf17ffd1efdf43da" /><Relationship Type="http://schemas.openxmlformats.org/officeDocument/2006/relationships/slide" Target="/ppt/slides/slide2.xml" Id="R8745d79d7fb34ad9" /><Relationship Type="http://schemas.openxmlformats.org/officeDocument/2006/relationships/slide" Target="/ppt/slides/slide3.xml" Id="R0bdd67c382e544dc" /><Relationship Type="http://schemas.openxmlformats.org/officeDocument/2006/relationships/slide" Target="/ppt/slides/slide4.xml" Id="Rb4e062f984dc4b01" /><Relationship Type="http://schemas.openxmlformats.org/officeDocument/2006/relationships/slide" Target="/ppt/slides/slide5.xml" Id="R3b1357f0907247a6" /><Relationship Type="http://schemas.openxmlformats.org/officeDocument/2006/relationships/slide" Target="/ppt/slides/slide6.xml" Id="R473f487813e74ccf" /><Relationship Type="http://schemas.openxmlformats.org/officeDocument/2006/relationships/slide" Target="/ppt/slides/slide7.xml" Id="R66f96b40e0e24866" /><Relationship Type="http://schemas.openxmlformats.org/officeDocument/2006/relationships/slide" Target="/ppt/slides/slide8.xml" Id="Rc06630aae00e4d6c" /><Relationship Type="http://schemas.openxmlformats.org/officeDocument/2006/relationships/slide" Target="/ppt/slides/slide9.xml" Id="Re0ea3161d0ec4a61" /><Relationship Type="http://schemas.openxmlformats.org/officeDocument/2006/relationships/slide" Target="/ppt/slides/slide10.xml" Id="R2d8d33f66e2b4ddf" /><Relationship Type="http://schemas.openxmlformats.org/officeDocument/2006/relationships/slide" Target="/ppt/slides/slide11.xml" Id="Rdfb71d014da54a6f" /><Relationship Type="http://schemas.openxmlformats.org/officeDocument/2006/relationships/slide" Target="/ppt/slides/slide12.xml" Id="R7837be0f6c104ca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5ef61403cf5472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Kyle Portfolio">
      <a:dk1>
        <a:srgbClr val="192B25"/>
      </a:dk1>
      <a:lt1>
        <a:srgbClr val="FFFFFF"/>
      </a:lt1>
      <a:dk2>
        <a:srgbClr val="244D3C"/>
      </a:dk2>
      <a:lt2>
        <a:srgbClr val="F4F2E9"/>
      </a:lt2>
      <a:accent1>
        <a:srgbClr val="244D3C"/>
      </a:accent1>
      <a:accent2>
        <a:srgbClr val="DBEB89"/>
      </a:accent2>
      <a:accent3>
        <a:srgbClr val="E1E8DB"/>
      </a:accent3>
      <a:accent4>
        <a:srgbClr val="58645D"/>
      </a:accent4>
      <a:accent5>
        <a:srgbClr val="192B25"/>
      </a:accent5>
      <a:accent6>
        <a:srgbClr val="F4F2E9"/>
      </a:accent6>
      <a:hlink>
        <a:srgbClr val="DBEB89"/>
      </a:hlink>
      <a:folHlink>
        <a:srgbClr val="DBEB89"/>
      </a:folHlink>
    </a:clrScheme>
    <a:fontScheme name="Office">
      <a:majorFont>
        <a:latin typeface="Calibri Light"/>
        <a:ea typeface="Calibri Light"/>
        <a:cs typeface="Calibri Light"/>
      </a:majorFont>
      <a:minorFont>
        <a:latin typeface="Calibri"/>
        <a:ea typeface="Calibri"/>
        <a:cs typeface="Calibri"/>
      </a:minorFont>
    </a:fontScheme>
    <a:fmtScheme name="Kyle Portfoli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bc8822cdf1b4c22" /><Relationship Type="http://schemas.openxmlformats.org/officeDocument/2006/relationships/notesMaster" Target="/ppt/notesMasters/notesMaster1.xml" Id="R2f365b25d82247cc" /></Relationships>
</file>

<file path=ppt/notesSlides/_rels/notesSlide2.xml.rels>&#65279;<?xml version="1.0" encoding="utf-8"?><Relationships xmlns="http://schemas.openxmlformats.org/package/2006/relationships"><Relationship Type="http://schemas.openxmlformats.org/officeDocument/2006/relationships/slide" Target="/ppt/slides/slide2.xml" Id="R20a63a0f62014ce7" /><Relationship Type="http://schemas.openxmlformats.org/officeDocument/2006/relationships/notesMaster" Target="/ppt/notesMasters/notesMaster1.xml" Id="Rbc847a3632fb4dbb" /></Relationships>
</file>

<file path=ppt/notesSlides/_rels/notesSlide3.xml.rels>&#65279;<?xml version="1.0" encoding="utf-8"?><Relationships xmlns="http://schemas.openxmlformats.org/package/2006/relationships"><Relationship Type="http://schemas.openxmlformats.org/officeDocument/2006/relationships/slide" Target="/ppt/slides/slide3.xml" Id="R49173381c9d44f93" /><Relationship Type="http://schemas.openxmlformats.org/officeDocument/2006/relationships/notesMaster" Target="/ppt/notesMasters/notesMaster1.xml" Id="Rde5f8bce6ee245db" /></Relationships>
</file>

<file path=ppt/notesSlides/_rels/notesSlide4.xml.rels>&#65279;<?xml version="1.0" encoding="utf-8"?><Relationships xmlns="http://schemas.openxmlformats.org/package/2006/relationships"><Relationship Type="http://schemas.openxmlformats.org/officeDocument/2006/relationships/slide" Target="/ppt/slides/slide4.xml" Id="Rf3c2021fa2e34994" /><Relationship Type="http://schemas.openxmlformats.org/officeDocument/2006/relationships/notesMaster" Target="/ppt/notesMasters/notesMaster1.xml" Id="R45832765c6624e39" /></Relationships>
</file>

<file path=ppt/notesSlides/_rels/notesSlide5.xml.rels>&#65279;<?xml version="1.0" encoding="utf-8"?><Relationships xmlns="http://schemas.openxmlformats.org/package/2006/relationships"><Relationship Type="http://schemas.openxmlformats.org/officeDocument/2006/relationships/slide" Target="/ppt/slides/slide5.xml" Id="Rdf8585fc4f4e4f1d" /><Relationship Type="http://schemas.openxmlformats.org/officeDocument/2006/relationships/notesMaster" Target="/ppt/notesMasters/notesMaster1.xml" Id="R50cbe7a4317d4f13" /></Relationships>
</file>

<file path=ppt/notesSlides/_rels/notesSlide6.xml.rels>&#65279;<?xml version="1.0" encoding="utf-8"?><Relationships xmlns="http://schemas.openxmlformats.org/package/2006/relationships"><Relationship Type="http://schemas.openxmlformats.org/officeDocument/2006/relationships/slide" Target="/ppt/slides/slide6.xml" Id="R922e1ad11df743cf" /><Relationship Type="http://schemas.openxmlformats.org/officeDocument/2006/relationships/notesMaster" Target="/ppt/notesMasters/notesMaster1.xml" Id="R5da56085873d4f8d" /></Relationships>
</file>

<file path=ppt/notesSlides/_rels/notesSlide7.xml.rels>&#65279;<?xml version="1.0" encoding="utf-8"?><Relationships xmlns="http://schemas.openxmlformats.org/package/2006/relationships"><Relationship Type="http://schemas.openxmlformats.org/officeDocument/2006/relationships/slide" Target="/ppt/slides/slide7.xml" Id="R6923b5f1fac4494f" /><Relationship Type="http://schemas.openxmlformats.org/officeDocument/2006/relationships/notesMaster" Target="/ppt/notesMasters/notesMaster1.xml" Id="Rbe6e3ab7b8814f61" /></Relationships>
</file>

<file path=ppt/notesSlides/_rels/notesSlide8.xml.rels>&#65279;<?xml version="1.0" encoding="utf-8"?><Relationships xmlns="http://schemas.openxmlformats.org/package/2006/relationships"><Relationship Type="http://schemas.openxmlformats.org/officeDocument/2006/relationships/slide" Target="/ppt/slides/slide8.xml" Id="R1801459319ab49d7" /><Relationship Type="http://schemas.openxmlformats.org/officeDocument/2006/relationships/notesMaster" Target="/ppt/notesMasters/notesMaster1.xml" Id="R041a493171014745" /></Relationships>
</file>

<file path=ppt/notesSlides/_rels/notesSlide9.xml.rels>&#65279;<?xml version="1.0" encoding="utf-8"?><Relationships xmlns="http://schemas.openxmlformats.org/package/2006/relationships"><Relationship Type="http://schemas.openxmlformats.org/officeDocument/2006/relationships/slide" Target="/ppt/slides/slide9.xml" Id="Rac924fe4a99246fb" /><Relationship Type="http://schemas.openxmlformats.org/officeDocument/2006/relationships/notesMaster" Target="/ppt/notesMasters/notesMaster1.xml" Id="Rb76281cb7a83418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70a938d27ad4ea9" /><Relationship Type="http://schemas.openxmlformats.org/officeDocument/2006/relationships/notesMaster" Target="/ppt/notesMasters/notesMaster1.xml" Id="R91981f7c1d9f491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5dfcb766b924b75" /><Relationship Type="http://schemas.openxmlformats.org/officeDocument/2006/relationships/notesMaster" Target="/ppt/notesMasters/notesMaster1.xml" Id="Re8b2495272d643d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ac9b6802c3c40c7" /><Relationship Type="http://schemas.openxmlformats.org/officeDocument/2006/relationships/notesMaster" Target="/ppt/notesMasters/notesMaster1.xml" Id="R9baa6a9de23e4b5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Prepared for Playlab’s Senior Product Designer opening. Cover artwork is a reviewed decorative image, not evidence. Selected proof comprises product evaluation, an audience survey, a published 2024 Coursera Guided Project, formal ASU instructional-design and AI roles, and a documented ASU proposal. Professional product/UX roles are not inflated into fifteen years.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FactorLab is a contract role, Oct 2025–present. Oak dates follow the current reviewed portfolio, 2023–2025; exact end month is unavailable. The final column groups distinct activities: ASU Knowledge Enterprise Instructional Designer Apr 2022–Oct 2024; ASU Learning Innovations AI Analyst Feb–Oct 2024; Coursera Guided Project Instructor in 2024. These are not one employer, one continuous job or summed years. Full dates and titles appear in the resume.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official Coursera project, ChatGPT 4o for Beginners: Create Social Media Content, https://www.coursera.org/projects/chatgpt-beginners , checked September 8, 2026; original 2024 Task 3 lesson material. The course is beginner level, approximately one hour and publicly attributed to Jonathan “Kyle” Hobson. The original teaching slide is preserved with Coursera credit. It communicates learning goals; it does not establish completion, transfer or causal improvement. Moving enrollment/review counts are omitted.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2024 Coursera Task 3 recording at 03:35, preserved in the reviewed public source crop. The short prompt and initial draft are historical demonstration content. Brew Bliss is a fictional practice brand; model-generated business details are not verified client facts. This is a teaching artifact, not a marketing campaign, research finding or student outcome.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original 2024 Task 3 revision instruction at 03:35 and subsequent output at 04:00. The native prompt description paraphrases the visible instruction; the website retains the full original instruction including typos. The output crop shows the heading and first two paragraphs, not the complete answer. This retrospective interpretation discusses added detail and length. It is not a controlled experiment, verified marketing claim or proof of learner transfer.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reviewed 2024 ASU Learning Innovations proposal and accompanying source brief. Kyle proposed a prompt workflow that condensed learner context, included mentor validation of context, personalized a task template, generated and refined tasks, included mentor confirmation or revision, and prepared structured learner-facing output and feedback. This editable reconstruction groups the original steps into six stages while retaining both mentor review gates. It is a proposal, not a deployed clinical system or a measured efficiency or learning outcome. The human review pattern is adjacent evidence for discussing educator-built AI with Playlab; no prior Playlab engagement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Case: Oak + Qasim audience survey, March 2025. Kyle’s reviewed portfolio identifies his role as leading survey design, launch and analysis. Original source: Survey #1 Phase 2 — Findings Report: Understanding Audience Pain Points &amp; Value-Aligned Actions, page 4. The report records 1,459 complete submissions as of March 14, 2025 while the survey remained live. This is a voluntary creator/advocacy audience sample, with predominantly older, female and highly educated respondents. Self-reported needs and preferences do not establish future behavior.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original Oak + Qasim March 2025 findings report, page 14, shown unchanged at left. Native editable chart reproduces the report’s values: decision fatigue 60%; financial constraints 40%; time limitations 38%; lack of clear action steps 35%; trust issues 20%. The chart workbook is a new snapshot of these literal reported values, not the original response data. Per-item denominators, skip logic and response-level quality checks were not recovered. These are reported survey percentages, not independently recalculated estimates or population prevalence.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original Oak desktop evaluation and error-messaging recommendation artifact. The shown crops retain original interface pixels and exclude the identity-bearing example field. Original and Proposed labels distinguish the existing interface from the recommendation. The evaluation identified error feedback that did not explain recovery, and the recommendation made a specific correction visible near the password field. This is a recommendation, not a measured usability improvement or a claim that the exact variant shipped.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Task 3 summary slide from the 2024 Coursera lesson, with credit and historical wording preserved. The transfer check is a retrospective proposal from the reviewed portfolio: use a new task and ask the learner to explain the weakness, chosen revision and acceptance decision. These exact assessment questions are not claimed as administered in the course. The original summary’s general teaching claims are not presented as measured course outcomes.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research and design direction for Playlab, informed by the official Senior Product Designer listing and public product documentation reviewed September 8, 2026. It is not an audit finding, tested Playlab design, completed engagement, promised schedule or invented learner outcome. Start with educator context and the team’s priorities. No direct classroom use of Playlab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Prepared for Playlab’s Senior Product Designer opening. The intended portfolio destination is configured as a hyperlink. Live job listing: remote, full time, base salary USD120000–150000 per year. This presentation is an application, not an acceptance of an offer or compensation.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0b0f21c78004c0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ea2e2abceaf454c" /><Relationship Type="http://schemas.openxmlformats.org/officeDocument/2006/relationships/slideLayout" Target="/ppt/slideLayouts/slideLayout1.xml" Id="Re6ee058afa2d443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6ee058afa2d443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Kyle Portfolio">
      <a:dk1>
        <a:srgbClr val="192B25"/>
      </a:dk1>
      <a:lt1>
        <a:srgbClr val="FFFFFF"/>
      </a:lt1>
      <a:dk2>
        <a:srgbClr val="244D3C"/>
      </a:dk2>
      <a:lt2>
        <a:srgbClr val="F4F2E9"/>
      </a:lt2>
      <a:accent1>
        <a:srgbClr val="244D3C"/>
      </a:accent1>
      <a:accent2>
        <a:srgbClr val="DBEB89"/>
      </a:accent2>
      <a:accent3>
        <a:srgbClr val="E1E8DB"/>
      </a:accent3>
      <a:accent4>
        <a:srgbClr val="58645D"/>
      </a:accent4>
      <a:accent5>
        <a:srgbClr val="192B25"/>
      </a:accent5>
      <a:accent6>
        <a:srgbClr val="F4F2E9"/>
      </a:accent6>
      <a:hlink>
        <a:srgbClr val="DBEB89"/>
      </a:hlink>
      <a:folHlink>
        <a:srgbClr val="DBEB89"/>
      </a:folHlink>
    </a:clrScheme>
    <a:fontScheme name="Office">
      <a:majorFont>
        <a:latin typeface="Calibri Light"/>
        <a:ea typeface="Calibri Light"/>
        <a:cs typeface="Calibri Light"/>
      </a:majorFont>
      <a:minorFont>
        <a:latin typeface="Calibri"/>
        <a:ea typeface="Calibri"/>
        <a:cs typeface="Calibri"/>
      </a:minorFont>
    </a:fontScheme>
    <a:fmtScheme name="Kyle Portfoli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ab38eb2144e4ed0" /><Relationship Type="http://schemas.openxmlformats.org/officeDocument/2006/relationships/image" Target="/ppt/media/image.png" Id="Ra3bdc6df294d43c2" /><Relationship Type="http://schemas.openxmlformats.org/officeDocument/2006/relationships/notesSlide" Target="/ppt/notesSlides/notesSlide1.xml" Id="R84aa318604ef4b6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bfcdc78ff0c4b92" /><Relationship Type="http://schemas.openxmlformats.org/officeDocument/2006/relationships/notesSlide" Target="/ppt/notesSlides/notesSlide2.xml" Id="Rfe2229f9e59d45c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7409dd6b009468c" /><Relationship Type="http://schemas.openxmlformats.org/officeDocument/2006/relationships/image" Target="/ppt/media/image2.png" Id="R5b032dc0efe2481c" /><Relationship Type="http://schemas.openxmlformats.org/officeDocument/2006/relationships/notesSlide" Target="/ppt/notesSlides/notesSlide3.xml" Id="R7b36297cb5b842e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4786854719848ed" /><Relationship Type="http://schemas.openxmlformats.org/officeDocument/2006/relationships/image" Target="/ppt/media/image3.png" Id="Rf9f560e804b54a86" /><Relationship Type="http://schemas.openxmlformats.org/officeDocument/2006/relationships/notesSlide" Target="/ppt/notesSlides/notesSlide4.xml" Id="Rede142bf409d4d8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9e5e1977ad64dd9" /><Relationship Type="http://schemas.openxmlformats.org/officeDocument/2006/relationships/image" Target="/ppt/media/image4.png" Id="R09231294bc4c455a" /><Relationship Type="http://schemas.openxmlformats.org/officeDocument/2006/relationships/notesSlide" Target="/ppt/notesSlides/notesSlide5.xml" Id="R1ec4f2ca22f2431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541295bbc2c4f07" /><Relationship Type="http://schemas.openxmlformats.org/officeDocument/2006/relationships/notesSlide" Target="/ppt/notesSlides/notesSlide6.xml" Id="R07d4ba53ac72495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1b42af988714251" /><Relationship Type="http://schemas.openxmlformats.org/officeDocument/2006/relationships/image" Target="/ppt/media/image5.png" Id="R59686478008145dc" /><Relationship Type="http://schemas.openxmlformats.org/officeDocument/2006/relationships/notesSlide" Target="/ppt/notesSlides/notesSlide7.xml" Id="Rf841ce9f20764fd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a4deda2cbbb4446" /><Relationship Type="http://schemas.openxmlformats.org/officeDocument/2006/relationships/image" Target="/ppt/media/image6.png" Id="Rc25c10de6f694d94" /><Relationship Type="http://schemas.openxmlformats.org/officeDocument/2006/relationships/chart" Target="/ppt/slides/charts/chart1.xml" Id="R9cbb9631c3bc4545" /><Relationship Type="http://schemas.openxmlformats.org/officeDocument/2006/relationships/notesSlide" Target="/ppt/notesSlides/notesSlide8.xml" Id="R502a055f7013431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1ed2e7c3c8b49a1" /><Relationship Type="http://schemas.openxmlformats.org/officeDocument/2006/relationships/image" Target="/ppt/media/image7.png" Id="R740214813b72448d" /><Relationship Type="http://schemas.openxmlformats.org/officeDocument/2006/relationships/image" Target="/ppt/media/image8.png" Id="R14b72c7ecd1a46cd" /><Relationship Type="http://schemas.openxmlformats.org/officeDocument/2006/relationships/image" Target="/ppt/media/image9.png" Id="R79394ac8d2f14563" /><Relationship Type="http://schemas.openxmlformats.org/officeDocument/2006/relationships/notesSlide" Target="/ppt/notesSlides/notesSlide9.xml" Id="R5f0863d8fbd3421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da1c8c08d19a4783" /><Relationship Type="http://schemas.openxmlformats.org/officeDocument/2006/relationships/image" Target="/ppt/media/image10.png" Id="R17d2c762a6814571" /><Relationship Type="http://schemas.openxmlformats.org/officeDocument/2006/relationships/notesSlide" Target="/ppt/notesSlides/notesSlide10.xml" Id="R84e0bbbe1b8843b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469c72f2614a4c67" /><Relationship Type="http://schemas.openxmlformats.org/officeDocument/2006/relationships/image" Target="/ppt/media/image.jpeg" Id="R927275635916452b" /><Relationship Type="http://schemas.openxmlformats.org/officeDocument/2006/relationships/notesSlide" Target="/ppt/notesSlides/notesSlide11.xml" Id="R6817a5aab1b4441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acccd446592949c8" /><Relationship Type="http://schemas.openxmlformats.org/officeDocument/2006/relationships/hyperlink" Target="mailto:JonathanKyleHobson@gmail.com" TargetMode="External" Id="R2c69fa49f4784352" /><Relationship Type="http://schemas.openxmlformats.org/officeDocument/2006/relationships/hyperlink" Target="https://jonathankhobson.github.io/application-portfolios/playlab-product-designer/" TargetMode="External" Id="R345d41000bc24ac5" /><Relationship Type="http://schemas.openxmlformats.org/officeDocument/2006/relationships/notesSlide" Target="/ppt/notesSlides/notesSlide12.xml" Id="Rb58f26a6489a45d2"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Reported barrier</c:v>
          </c:tx>
          <c:spPr>
            <a:solidFill xmlns:a="http://schemas.openxmlformats.org/drawingml/2006/main">
              <a:srgbClr val="244D3C"/>
            </a:solidFill>
          </c:spPr>
          <c:cat>
            <c:strRef>
              <c:f>'Chart Data'!$A$2:$A$6</c:f>
              <c:strCache>
                <c:ptCount val="5"/>
                <c:pt idx="0">
                  <c:v>Trust issues</c:v>
                </c:pt>
                <c:pt idx="1">
                  <c:v>Unclear action steps</c:v>
                </c:pt>
                <c:pt idx="2">
                  <c:v>Time limitations</c:v>
                </c:pt>
                <c:pt idx="3">
                  <c:v>Financial constraints</c:v>
                </c:pt>
                <c:pt idx="4">
                  <c:v>Decision fatigue</c:v>
                </c:pt>
              </c:strCache>
            </c:strRef>
          </c:cat>
          <c:val>
            <c:numRef>
              <c:f>'Chart Data'!$B$2:$B$6</c:f>
              <c:numCache>
                <c:formatCode>0%</c:formatCode>
                <c:ptCount val="5"/>
                <c:pt idx="0">
                  <c:v>0.2</c:v>
                </c:pt>
                <c:pt idx="1">
                  <c:v>0.35</c:v>
                </c:pt>
                <c:pt idx="2">
                  <c:v>0.38</c:v>
                </c:pt>
                <c:pt idx="3">
                  <c:v>0.4</c:v>
                </c:pt>
                <c:pt idx="4">
                  <c:v>0.6</c:v>
                </c:pt>
              </c:numCache>
            </c:numRef>
          </c:val>
        </c:ser>
        <c:dLbls>
          <c:txPr>
            <a:bodyPr xmlns:a="http://schemas.openxmlformats.org/drawingml/2006/main" anchorCtr="1"/>
            <a:lstStyle xmlns:a="http://schemas.openxmlformats.org/drawingml/2006/main"/>
            <a:p xmlns:a="http://schemas.openxmlformats.org/drawingml/2006/main">
              <a:pPr>
                <a:defRPr sz="1800" b="1">
                  <a:solidFill>
                    <a:srgbClr val="244D3C"/>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62"/>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75">
                <a:solidFill>
                  <a:srgbClr val="192B25"/>
                </a:solidFill>
                <a:latin typeface="Helvetica Neue"/>
                <a:ea typeface="Helvetica Neue"/>
                <a:cs typeface="Helvetica Neue"/>
              </a:defRPr>
            </a:pPr>
          </a:p>
        </c:txPr>
        <c:crossAx val="48672768"/>
      </c:catAx>
      <c:valAx>
        <c:axId val="48672768"/>
        <c:scaling>
          <c:orientation val="minMax"/>
          <c:max val="0.7"/>
          <c:min val="0"/>
        </c:scaling>
        <c:delete val="0"/>
        <c:axPos val="b"/>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350">
                <a:solidFill>
                  <a:srgbClr val="58645D"/>
                </a:solidFill>
                <a:latin typeface="Helvetica Neue"/>
                <a:ea typeface="Helvetica Neue"/>
                <a:cs typeface="Helvetica Neue"/>
              </a:defRPr>
            </a:pPr>
          </a:p>
        </c:txPr>
        <c:crossAx val="48650112"/>
        <c:crossBetween val="between"/>
      </c:valAx>
      <c:spPr>
        <a:noFill xmlns:a="http://schemas.openxmlformats.org/drawingml/2006/main"/>
      </c:spPr>
    </c:plotArea>
    <c:plotVisOnly val="1"/>
  </c:chart>
  <c:spPr>
    <a:noFill xmlns:a="http://schemas.openxmlformats.org/drawingml/2006/mai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a3bdc6df294d43c2"/>
          <a:srcRect xmlns:a="http://schemas.openxmlformats.org/drawingml/2006/main" l="0" t="7813" r="0" b="7813"/>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section-label">
            <a:extLst xmlns:a="http://schemas.openxmlformats.org/drawingml/2006/main">
              <a:ext uri="{FF2B5EF4-FFF2-40B4-BE49-F238E27FC236}">
                <a16:creationId xmlns:a16="http://schemas.microsoft.com/office/drawing/2014/main" id="{B6811263-D183-448D-970D-8AE31B8B6F65}"/>
              </a:ext>
            </a:extLst>
          </p:cNvPr>
          <p:cNvSpPr>
            <a:spLocks xmlns:a="http://schemas.openxmlformats.org/drawingml/2006/main" noGrp="1"/>
          </p:cNvSpPr>
          <p:nvPr/>
        </p:nvSpPr>
        <p:spPr>
          <a:xfrm xmlns:a="http://schemas.openxmlformats.org/drawingml/2006/main">
            <a:off x="609600" y="5143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KYLE HOBSON   /   PLAYLAB · PRODUCT DESIGN</a:t>
            </a:r>
          </a:p>
        </p:txBody>
      </p:sp>
      <p:sp>
        <p:nvSpPr>
          <p:cNvPr id="3" name="headline">
            <a:extLst xmlns:a="http://schemas.openxmlformats.org/drawingml/2006/main">
              <a:ext uri="{FF2B5EF4-FFF2-40B4-BE49-F238E27FC236}">
                <a16:creationId xmlns:a16="http://schemas.microsoft.com/office/drawing/2014/main" id="{EEB522B5-357F-42E8-B059-2982BDB2B8C0}"/>
              </a:ext>
            </a:extLst>
          </p:cNvPr>
          <p:cNvSpPr>
            <a:spLocks xmlns:a="http://schemas.openxmlformats.org/drawingml/2006/main" noGrp="1"/>
          </p:cNvSpPr>
          <p:nvPr/>
        </p:nvSpPr>
        <p:spPr>
          <a:xfrm xmlns:a="http://schemas.openxmlformats.org/drawingml/2006/main">
            <a:off x="609600" y="1552575"/>
            <a:ext cx="9715500" cy="1752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4500" b="1">
                <a:solidFill>
                  <a:srgbClr val="192B25"/>
                </a:solidFill>
                <a:latin typeface="Helvetica Neue"/>
                <a:ea typeface="Helvetica Neue"/>
                <a:cs typeface="Helvetica Neue"/>
              </a:defRPr>
            </a:pPr>
            <a:r>
              <a:rPr sz="4500" b="1">
                <a:solidFill>
                  <a:srgbClr val="192B25"/>
                </a:solidFill>
                <a:latin typeface="Helvetica Neue"/>
                <a:ea typeface="Helvetica Neue"/>
                <a:cs typeface="Helvetica Neue"/>
              </a:rPr>
              <a:t>Help people shape</a:t>
            </a:r>
          </a:p>
          <a:p xmlns:a="http://schemas.openxmlformats.org/drawingml/2006/main">
            <a:pPr>
              <a:lnSpc>
                <a:spcPct val="110000"/>
              </a:lnSpc>
              <a:buNone/>
              <a:defRPr sz="4500" b="1">
                <a:solidFill>
                  <a:srgbClr val="192B25"/>
                </a:solidFill>
                <a:latin typeface="Helvetica Neue"/>
                <a:ea typeface="Helvetica Neue"/>
                <a:cs typeface="Helvetica Neue"/>
              </a:defRPr>
            </a:pPr>
            <a:r>
              <a:rPr sz="4500" b="1">
                <a:solidFill>
                  <a:srgbClr val="192B25"/>
                </a:solidFill>
                <a:latin typeface="Helvetica Neue"/>
                <a:ea typeface="Helvetica Neue"/>
                <a:cs typeface="Helvetica Neue"/>
              </a:rPr>
              <a:t>what comes next</a:t>
            </a:r>
          </a:p>
        </p:txBody>
      </p:sp>
      <p:sp>
        <p:nvSpPr>
          <p:cNvPr id="4" name="cover-intro">
            <a:extLst xmlns:a="http://schemas.openxmlformats.org/drawingml/2006/main">
              <a:ext uri="{FF2B5EF4-FFF2-40B4-BE49-F238E27FC236}">
                <a16:creationId xmlns:a16="http://schemas.microsoft.com/office/drawing/2014/main" id="{A692D3A8-FE76-481A-B8BB-E149F3EF455E}"/>
              </a:ext>
            </a:extLst>
          </p:cNvPr>
          <p:cNvSpPr>
            <a:spLocks xmlns:a="http://schemas.openxmlformats.org/drawingml/2006/main" noGrp="1"/>
          </p:cNvSpPr>
          <p:nvPr/>
        </p:nvSpPr>
        <p:spPr>
          <a:xfrm xmlns:a="http://schemas.openxmlformats.org/drawingml/2006/main">
            <a:off x="647700" y="3971925"/>
            <a:ext cx="9906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00" b="0">
                <a:solidFill>
                  <a:srgbClr val="192B25"/>
                </a:solidFill>
                <a:latin typeface="Helvetica Neue"/>
                <a:ea typeface="Helvetica Neue"/>
                <a:cs typeface="Helvetica Neue"/>
              </a:defRPr>
            </a:pPr>
            <a:r>
              <a:rPr sz="2100" b="0">
                <a:solidFill>
                  <a:srgbClr val="192B25"/>
                </a:solidFill>
                <a:latin typeface="Helvetica Neue"/>
                <a:ea typeface="Helvetica Neue"/>
                <a:cs typeface="Helvetica Neue"/>
              </a:rPr>
              <a:t>Product interfaces, research, and teaching</a:t>
            </a:r>
          </a:p>
          <a:p xmlns:a="http://schemas.openxmlformats.org/drawingml/2006/main">
            <a:pPr>
              <a:lnSpc>
                <a:spcPct val="110000"/>
              </a:lnSpc>
              <a:buNone/>
              <a:defRPr sz="2100" b="0">
                <a:solidFill>
                  <a:srgbClr val="192B25"/>
                </a:solidFill>
                <a:latin typeface="Helvetica Neue"/>
                <a:ea typeface="Helvetica Neue"/>
                <a:cs typeface="Helvetica Neue"/>
              </a:defRPr>
            </a:pPr>
            <a:r>
              <a:rPr sz="2100" b="0">
                <a:solidFill>
                  <a:srgbClr val="192B25"/>
                </a:solidFill>
                <a:latin typeface="Helvetica Neue"/>
                <a:ea typeface="Helvetica Neue"/>
                <a:cs typeface="Helvetica Neue"/>
              </a:rPr>
              <a:t>that help people make a deliberate choice.</a:t>
            </a:r>
          </a:p>
        </p:txBody>
      </p:sp>
      <p:sp>
        <p:nvSpPr>
          <p:cNvPr id="5" name="cover-scope">
            <a:extLst xmlns:a="http://schemas.openxmlformats.org/drawingml/2006/main">
              <a:ext uri="{FF2B5EF4-FFF2-40B4-BE49-F238E27FC236}">
                <a16:creationId xmlns:a16="http://schemas.microsoft.com/office/drawing/2014/main" id="{0019C10F-6D7A-41FF-A490-C87014D03B4D}"/>
              </a:ext>
            </a:extLst>
          </p:cNvPr>
          <p:cNvSpPr>
            <a:spLocks xmlns:a="http://schemas.openxmlformats.org/drawingml/2006/main" noGrp="1"/>
          </p:cNvSpPr>
          <p:nvPr/>
        </p:nvSpPr>
        <p:spPr>
          <a:xfrm xmlns:a="http://schemas.openxmlformats.org/drawingml/2006/main">
            <a:off x="647700" y="60007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425" b="0">
                <a:solidFill>
                  <a:srgbClr val="192B25"/>
                </a:solidFill>
                <a:latin typeface="Helvetica Neue"/>
                <a:ea typeface="Helvetica Neue"/>
                <a:cs typeface="Helvetica Neue"/>
              </a:defRPr>
            </a:pPr>
            <a:r>
              <a:rPr sz="1425" b="0">
                <a:solidFill>
                  <a:srgbClr val="192B25"/>
                </a:solidFill>
                <a:latin typeface="Helvetica Neue"/>
                <a:ea typeface="Helvetica Neue"/>
                <a:cs typeface="Helvetica Neue"/>
              </a:rPr>
              <a:t>Selected for Playlab · Senior Product Designer · September 2026</a:t>
            </a:r>
          </a:p>
        </p:txBody>
      </p:sp>
      <p:sp>
        <p:nvSpPr>
          <p:cNvPr id="6" name="slide-number">
            <a:extLst xmlns:a="http://schemas.openxmlformats.org/drawingml/2006/main">
              <a:ext uri="{FF2B5EF4-FFF2-40B4-BE49-F238E27FC236}">
                <a16:creationId xmlns:a16="http://schemas.microsoft.com/office/drawing/2014/main" id="{A77213F7-BE01-4318-89C6-74995D28AD46}"/>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01</a:t>
            </a:r>
          </a:p>
        </p:txBody>
      </p:sp>
    </p:spTree>
    <p:extLst>
      <p:ext uri="{BB962C8B-B14F-4D97-AF65-F5344CB8AC3E}">
        <p14:creationId xmlns:p14="http://schemas.microsoft.com/office/powerpoint/2010/main" val="994992733"/>
      </p:ext>
    </p:extLst>
  </p:cSld>
</p:sld>
</file>

<file path=ppt/slides/slide2.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16" name="section-label">
            <a:extLst xmlns:a="http://schemas.openxmlformats.org/drawingml/2006/main">
              <a:ext uri="{FF2B5EF4-FFF2-40B4-BE49-F238E27FC236}">
                <a16:creationId xmlns:a16="http://schemas.microsoft.com/office/drawing/2014/main" id="{4A14A672-911F-4DF9-AB18-9AB0F089B481}"/>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EXPERIENCE   /   PRODUCT DESIGN, RESEARCH AND LEARNING</a:t>
            </a:r>
          </a:p>
        </p:txBody>
      </p:sp>
      <p:sp>
        <p:nvSpPr>
          <p:cNvPr id="2" name="headline">
            <a:extLst xmlns:a="http://schemas.openxmlformats.org/drawingml/2006/main">
              <a:ext uri="{FF2B5EF4-FFF2-40B4-BE49-F238E27FC236}">
                <a16:creationId xmlns:a16="http://schemas.microsoft.com/office/drawing/2014/main" id="{EBB65F9F-85C8-4729-A51D-5D162DD571A4}"/>
              </a:ext>
            </a:extLst>
          </p:cNvPr>
          <p:cNvSpPr>
            <a:spLocks xmlns:a="http://schemas.openxmlformats.org/drawingml/2006/main" noGrp="1"/>
          </p:cNvSpPr>
          <p:nvPr/>
        </p:nvSpPr>
        <p:spPr>
          <a:xfrm xmlns:a="http://schemas.openxmlformats.org/drawingml/2006/main">
            <a:off x="609600" y="1095375"/>
            <a:ext cx="10896600"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600" b="1">
                <a:solidFill>
                  <a:srgbClr val="192B25"/>
                </a:solidFill>
                <a:latin typeface="Helvetica Neue"/>
                <a:ea typeface="Helvetica Neue"/>
                <a:cs typeface="Helvetica Neue"/>
              </a:defRPr>
            </a:pPr>
            <a:r>
              <a:rPr sz="3600" b="1">
                <a:solidFill>
                  <a:srgbClr val="192B25"/>
                </a:solidFill>
                <a:latin typeface="Helvetica Neue"/>
                <a:ea typeface="Helvetica Neue"/>
                <a:cs typeface="Helvetica Neue"/>
              </a:rPr>
              <a:t>Product work shaped by</a:t>
            </a:r>
          </a:p>
          <a:p xmlns:a="http://schemas.openxmlformats.org/drawingml/2006/main">
            <a:pPr>
              <a:lnSpc>
                <a:spcPct val="110000"/>
              </a:lnSpc>
              <a:buNone/>
              <a:defRPr sz="3600" b="1">
                <a:solidFill>
                  <a:srgbClr val="192B25"/>
                </a:solidFill>
                <a:latin typeface="Helvetica Neue"/>
                <a:ea typeface="Helvetica Neue"/>
                <a:cs typeface="Helvetica Neue"/>
              </a:defRPr>
            </a:pPr>
            <a:r>
              <a:rPr sz="3600" b="1">
                <a:solidFill>
                  <a:srgbClr val="192B25"/>
                </a:solidFill>
                <a:latin typeface="Helvetica Neue"/>
                <a:ea typeface="Helvetica Neue"/>
                <a:cs typeface="Helvetica Neue"/>
              </a:rPr>
              <a:t>research and teaching</a:t>
            </a:r>
          </a:p>
        </p:txBody>
      </p:sp>
      <p:sp>
        <p:nvSpPr>
          <p:cNvPr id="3" name="date-0">
            <a:extLst xmlns:a="http://schemas.openxmlformats.org/drawingml/2006/main">
              <a:ext uri="{FF2B5EF4-FFF2-40B4-BE49-F238E27FC236}">
                <a16:creationId xmlns:a16="http://schemas.microsoft.com/office/drawing/2014/main" id="{7D874C99-1158-4BE4-8115-E038A6079EE3}"/>
              </a:ext>
            </a:extLst>
          </p:cNvPr>
          <p:cNvSpPr>
            <a:spLocks xmlns:a="http://schemas.openxmlformats.org/drawingml/2006/main" noGrp="1"/>
          </p:cNvSpPr>
          <p:nvPr/>
        </p:nvSpPr>
        <p:spPr>
          <a:xfrm xmlns:a="http://schemas.openxmlformats.org/drawingml/2006/main">
            <a:off x="609600" y="3114675"/>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OCT 2025–PRESENT</a:t>
            </a:r>
          </a:p>
        </p:txBody>
      </p:sp>
      <p:sp>
        <p:nvSpPr>
          <p:cNvPr id="4" name="org-0">
            <a:extLst xmlns:a="http://schemas.openxmlformats.org/drawingml/2006/main">
              <a:ext uri="{FF2B5EF4-FFF2-40B4-BE49-F238E27FC236}">
                <a16:creationId xmlns:a16="http://schemas.microsoft.com/office/drawing/2014/main" id="{B86E0F28-6ADC-4AF4-997E-4A6753C1773F}"/>
              </a:ext>
            </a:extLst>
          </p:cNvPr>
          <p:cNvSpPr>
            <a:spLocks xmlns:a="http://schemas.openxmlformats.org/drawingml/2006/main" noGrp="1"/>
          </p:cNvSpPr>
          <p:nvPr/>
        </p:nvSpPr>
        <p:spPr>
          <a:xfrm xmlns:a="http://schemas.openxmlformats.org/drawingml/2006/main">
            <a:off x="609600" y="36099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75" b="1">
                <a:solidFill>
                  <a:srgbClr val="192B25"/>
                </a:solidFill>
                <a:latin typeface="Helvetica Neue"/>
                <a:ea typeface="Helvetica Neue"/>
                <a:cs typeface="Helvetica Neue"/>
              </a:defRPr>
            </a:pPr>
            <a:r>
              <a:rPr sz="2175" b="1">
                <a:solidFill>
                  <a:srgbClr val="192B25"/>
                </a:solidFill>
                <a:latin typeface="Helvetica Neue"/>
                <a:ea typeface="Helvetica Neue"/>
                <a:cs typeface="Helvetica Neue"/>
              </a:rPr>
              <a:t>FactorLab</a:t>
            </a:r>
          </a:p>
        </p:txBody>
      </p:sp>
      <p:sp>
        <p:nvSpPr>
          <p:cNvPr id="5" name="role-0">
            <a:extLst xmlns:a="http://schemas.openxmlformats.org/drawingml/2006/main">
              <a:ext uri="{FF2B5EF4-FFF2-40B4-BE49-F238E27FC236}">
                <a16:creationId xmlns:a16="http://schemas.microsoft.com/office/drawing/2014/main" id="{7D46C53A-2F8E-4EA8-8883-988BC7271625}"/>
              </a:ext>
            </a:extLst>
          </p:cNvPr>
          <p:cNvSpPr>
            <a:spLocks xmlns:a="http://schemas.openxmlformats.org/drawingml/2006/main" noGrp="1"/>
          </p:cNvSpPr>
          <p:nvPr/>
        </p:nvSpPr>
        <p:spPr>
          <a:xfrm xmlns:a="http://schemas.openxmlformats.org/drawingml/2006/main">
            <a:off x="609600" y="4476750"/>
            <a:ext cx="333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575" b="1">
                <a:solidFill>
                  <a:srgbClr val="244D3C"/>
                </a:solidFill>
                <a:latin typeface="Helvetica Neue"/>
                <a:ea typeface="Helvetica Neue"/>
                <a:cs typeface="Helvetica Neue"/>
              </a:defRPr>
            </a:pPr>
            <a:r>
              <a:rPr sz="1575" b="1">
                <a:solidFill>
                  <a:srgbClr val="244D3C"/>
                </a:solidFill>
                <a:latin typeface="Helvetica Neue"/>
                <a:ea typeface="Helvetica Neue"/>
                <a:cs typeface="Helvetica Neue"/>
              </a:rPr>
              <a:t>UX Designer &amp; Researcher</a:t>
            </a:r>
          </a:p>
        </p:txBody>
      </p:sp>
      <p:sp>
        <p:nvSpPr>
          <p:cNvPr id="6" name="scope-0">
            <a:extLst xmlns:a="http://schemas.openxmlformats.org/drawingml/2006/main">
              <a:ext uri="{FF2B5EF4-FFF2-40B4-BE49-F238E27FC236}">
                <a16:creationId xmlns:a16="http://schemas.microsoft.com/office/drawing/2014/main" id="{1031E054-E471-4D22-BA37-CB778B7DE56C}"/>
              </a:ext>
            </a:extLst>
          </p:cNvPr>
          <p:cNvSpPr>
            <a:spLocks xmlns:a="http://schemas.openxmlformats.org/drawingml/2006/main" noGrp="1"/>
          </p:cNvSpPr>
          <p:nvPr/>
        </p:nvSpPr>
        <p:spPr>
          <a:xfrm xmlns:a="http://schemas.openxmlformats.org/drawingml/2006/main">
            <a:off x="609600" y="5229225"/>
            <a:ext cx="333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a:solidFill>
                  <a:srgbClr val="58645D"/>
                </a:solidFill>
                <a:latin typeface="Helvetica Neue"/>
                <a:ea typeface="Helvetica Neue"/>
                <a:cs typeface="Helvetica Neue"/>
              </a:defRPr>
            </a:pPr>
            <a:r>
              <a:rPr sz="1725" b="0">
                <a:solidFill>
                  <a:srgbClr val="58645D"/>
                </a:solidFill>
                <a:latin typeface="Helvetica Neue"/>
                <a:ea typeface="Helvetica Neue"/>
                <a:cs typeface="Helvetica Neue"/>
              </a:rPr>
              <a:t>Figma mockups, web/mobile interactions, and engineering partnership.</a:t>
            </a:r>
          </a:p>
        </p:txBody>
      </p:sp>
      <p:sp>
        <p:nvSpPr>
          <p:cNvPr id="7" name="date-1">
            <a:extLst xmlns:a="http://schemas.openxmlformats.org/drawingml/2006/main">
              <a:ext uri="{FF2B5EF4-FFF2-40B4-BE49-F238E27FC236}">
                <a16:creationId xmlns:a16="http://schemas.microsoft.com/office/drawing/2014/main" id="{DB97D49A-70A5-44DD-9317-F752C260EC80}"/>
              </a:ext>
            </a:extLst>
          </p:cNvPr>
          <p:cNvSpPr>
            <a:spLocks xmlns:a="http://schemas.openxmlformats.org/drawingml/2006/main" noGrp="1"/>
          </p:cNvSpPr>
          <p:nvPr/>
        </p:nvSpPr>
        <p:spPr>
          <a:xfrm xmlns:a="http://schemas.openxmlformats.org/drawingml/2006/main">
            <a:off x="4400550" y="3114675"/>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2023–2025</a:t>
            </a:r>
          </a:p>
        </p:txBody>
      </p:sp>
      <p:sp>
        <p:nvSpPr>
          <p:cNvPr id="8" name="org-1">
            <a:extLst xmlns:a="http://schemas.openxmlformats.org/drawingml/2006/main">
              <a:ext uri="{FF2B5EF4-FFF2-40B4-BE49-F238E27FC236}">
                <a16:creationId xmlns:a16="http://schemas.microsoft.com/office/drawing/2014/main" id="{0C3F3F51-CDB2-40CE-8A6E-EE6CB0B5D125}"/>
              </a:ext>
            </a:extLst>
          </p:cNvPr>
          <p:cNvSpPr>
            <a:spLocks xmlns:a="http://schemas.openxmlformats.org/drawingml/2006/main" noGrp="1"/>
          </p:cNvSpPr>
          <p:nvPr/>
        </p:nvSpPr>
        <p:spPr>
          <a:xfrm xmlns:a="http://schemas.openxmlformats.org/drawingml/2006/main">
            <a:off x="4400550" y="36099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75" b="1">
                <a:solidFill>
                  <a:srgbClr val="192B25"/>
                </a:solidFill>
                <a:latin typeface="Helvetica Neue"/>
                <a:ea typeface="Helvetica Neue"/>
                <a:cs typeface="Helvetica Neue"/>
              </a:defRPr>
            </a:pPr>
            <a:r>
              <a:rPr sz="2175" b="1">
                <a:solidFill>
                  <a:srgbClr val="192B25"/>
                </a:solidFill>
                <a:latin typeface="Helvetica Neue"/>
                <a:ea typeface="Helvetica Neue"/>
                <a:cs typeface="Helvetica Neue"/>
              </a:rPr>
              <a:t>Oak AI</a:t>
            </a:r>
          </a:p>
        </p:txBody>
      </p:sp>
      <p:sp>
        <p:nvSpPr>
          <p:cNvPr id="9" name="role-1">
            <a:extLst xmlns:a="http://schemas.openxmlformats.org/drawingml/2006/main">
              <a:ext uri="{FF2B5EF4-FFF2-40B4-BE49-F238E27FC236}">
                <a16:creationId xmlns:a16="http://schemas.microsoft.com/office/drawing/2014/main" id="{8480A2A5-8CDB-4411-A372-E845EB6614DA}"/>
              </a:ext>
            </a:extLst>
          </p:cNvPr>
          <p:cNvSpPr>
            <a:spLocks xmlns:a="http://schemas.openxmlformats.org/drawingml/2006/main" noGrp="1"/>
          </p:cNvSpPr>
          <p:nvPr/>
        </p:nvSpPr>
        <p:spPr>
          <a:xfrm xmlns:a="http://schemas.openxmlformats.org/drawingml/2006/main">
            <a:off x="4400550" y="4476750"/>
            <a:ext cx="333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575" b="1">
                <a:solidFill>
                  <a:srgbClr val="244D3C"/>
                </a:solidFill>
                <a:latin typeface="Helvetica Neue"/>
                <a:ea typeface="Helvetica Neue"/>
                <a:cs typeface="Helvetica Neue"/>
              </a:defRPr>
            </a:pPr>
            <a:r>
              <a:rPr sz="1575" b="1">
                <a:solidFill>
                  <a:srgbClr val="244D3C"/>
                </a:solidFill>
                <a:latin typeface="Helvetica Neue"/>
                <a:ea typeface="Helvetica Neue"/>
                <a:cs typeface="Helvetica Neue"/>
              </a:rPr>
              <a:t>Lead UX Researcher</a:t>
            </a:r>
          </a:p>
        </p:txBody>
      </p:sp>
      <p:sp>
        <p:nvSpPr>
          <p:cNvPr id="10" name="scope-1">
            <a:extLst xmlns:a="http://schemas.openxmlformats.org/drawingml/2006/main">
              <a:ext uri="{FF2B5EF4-FFF2-40B4-BE49-F238E27FC236}">
                <a16:creationId xmlns:a16="http://schemas.microsoft.com/office/drawing/2014/main" id="{2C6ED32E-4FF9-4B45-8A08-7FE7A3622FD5}"/>
              </a:ext>
            </a:extLst>
          </p:cNvPr>
          <p:cNvSpPr>
            <a:spLocks xmlns:a="http://schemas.openxmlformats.org/drawingml/2006/main" noGrp="1"/>
          </p:cNvSpPr>
          <p:nvPr/>
        </p:nvSpPr>
        <p:spPr>
          <a:xfrm xmlns:a="http://schemas.openxmlformats.org/drawingml/2006/main">
            <a:off x="4400550" y="5229225"/>
            <a:ext cx="333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a:solidFill>
                  <a:srgbClr val="58645D"/>
                </a:solidFill>
                <a:latin typeface="Helvetica Neue"/>
                <a:ea typeface="Helvetica Neue"/>
                <a:cs typeface="Helvetica Neue"/>
              </a:defRPr>
            </a:pPr>
            <a:r>
              <a:rPr sz="1725" b="0">
                <a:solidFill>
                  <a:srgbClr val="58645D"/>
                </a:solidFill>
                <a:latin typeface="Helvetica Neue"/>
                <a:ea typeface="Helvetica Neue"/>
                <a:cs typeface="Helvetica Neue"/>
              </a:rPr>
              <a:t>Product evaluation, survey research, navigation and recovery recommendations.</a:t>
            </a:r>
          </a:p>
        </p:txBody>
      </p:sp>
      <p:sp>
        <p:nvSpPr>
          <p:cNvPr id="11" name="date-2">
            <a:extLst xmlns:a="http://schemas.openxmlformats.org/drawingml/2006/main">
              <a:ext uri="{FF2B5EF4-FFF2-40B4-BE49-F238E27FC236}">
                <a16:creationId xmlns:a16="http://schemas.microsoft.com/office/drawing/2014/main" id="{94F307FC-5391-4794-8CA4-D55E4E83AE31}"/>
              </a:ext>
            </a:extLst>
          </p:cNvPr>
          <p:cNvSpPr>
            <a:spLocks xmlns:a="http://schemas.openxmlformats.org/drawingml/2006/main" noGrp="1"/>
          </p:cNvSpPr>
          <p:nvPr/>
        </p:nvSpPr>
        <p:spPr>
          <a:xfrm xmlns:a="http://schemas.openxmlformats.org/drawingml/2006/main">
            <a:off x="8191500" y="3114675"/>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2022–2024</a:t>
            </a:r>
          </a:p>
        </p:txBody>
      </p:sp>
      <p:sp>
        <p:nvSpPr>
          <p:cNvPr id="12" name="org-2">
            <a:extLst xmlns:a="http://schemas.openxmlformats.org/drawingml/2006/main">
              <a:ext uri="{FF2B5EF4-FFF2-40B4-BE49-F238E27FC236}">
                <a16:creationId xmlns:a16="http://schemas.microsoft.com/office/drawing/2014/main" id="{DDBB6BE0-D891-45A5-AB4D-6C1B2B503DFD}"/>
              </a:ext>
            </a:extLst>
          </p:cNvPr>
          <p:cNvSpPr>
            <a:spLocks xmlns:a="http://schemas.openxmlformats.org/drawingml/2006/main" noGrp="1"/>
          </p:cNvSpPr>
          <p:nvPr/>
        </p:nvSpPr>
        <p:spPr>
          <a:xfrm xmlns:a="http://schemas.openxmlformats.org/drawingml/2006/main">
            <a:off x="8191500" y="36099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75" b="1">
                <a:solidFill>
                  <a:srgbClr val="192B25"/>
                </a:solidFill>
                <a:latin typeface="Helvetica Neue"/>
                <a:ea typeface="Helvetica Neue"/>
                <a:cs typeface="Helvetica Neue"/>
              </a:defRPr>
            </a:pPr>
            <a:r>
              <a:rPr sz="2175" b="1">
                <a:solidFill>
                  <a:srgbClr val="192B25"/>
                </a:solidFill>
                <a:latin typeface="Helvetica Neue"/>
                <a:ea typeface="Helvetica Neue"/>
                <a:cs typeface="Helvetica Neue"/>
              </a:rPr>
              <a:t>ASU + Coursera</a:t>
            </a:r>
          </a:p>
        </p:txBody>
      </p:sp>
      <p:sp>
        <p:nvSpPr>
          <p:cNvPr id="13" name="role-2">
            <a:extLst xmlns:a="http://schemas.openxmlformats.org/drawingml/2006/main">
              <a:ext uri="{FF2B5EF4-FFF2-40B4-BE49-F238E27FC236}">
                <a16:creationId xmlns:a16="http://schemas.microsoft.com/office/drawing/2014/main" id="{77CD06D5-5A82-4ACA-A48C-7F1617F0E731}"/>
              </a:ext>
            </a:extLst>
          </p:cNvPr>
          <p:cNvSpPr>
            <a:spLocks xmlns:a="http://schemas.openxmlformats.org/drawingml/2006/main" noGrp="1"/>
          </p:cNvSpPr>
          <p:nvPr/>
        </p:nvSpPr>
        <p:spPr>
          <a:xfrm xmlns:a="http://schemas.openxmlformats.org/drawingml/2006/main">
            <a:off x="8191500" y="4476750"/>
            <a:ext cx="333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575" b="1">
                <a:solidFill>
                  <a:srgbClr val="244D3C"/>
                </a:solidFill>
                <a:latin typeface="Helvetica Neue"/>
                <a:ea typeface="Helvetica Neue"/>
                <a:cs typeface="Helvetica Neue"/>
              </a:defRPr>
            </a:pPr>
            <a:r>
              <a:rPr sz="1575" b="1">
                <a:solidFill>
                  <a:srgbClr val="244D3C"/>
                </a:solidFill>
                <a:latin typeface="Helvetica Neue"/>
                <a:ea typeface="Helvetica Neue"/>
                <a:cs typeface="Helvetica Neue"/>
              </a:rPr>
              <a:t>Learning and applied AI</a:t>
            </a:r>
          </a:p>
        </p:txBody>
      </p:sp>
      <p:sp>
        <p:nvSpPr>
          <p:cNvPr id="14" name="scope-2">
            <a:extLst xmlns:a="http://schemas.openxmlformats.org/drawingml/2006/main">
              <a:ext uri="{FF2B5EF4-FFF2-40B4-BE49-F238E27FC236}">
                <a16:creationId xmlns:a16="http://schemas.microsoft.com/office/drawing/2014/main" id="{B6A33DB4-29FF-49B1-87A4-1C323791A703}"/>
              </a:ext>
            </a:extLst>
          </p:cNvPr>
          <p:cNvSpPr>
            <a:spLocks xmlns:a="http://schemas.openxmlformats.org/drawingml/2006/main" noGrp="1"/>
          </p:cNvSpPr>
          <p:nvPr/>
        </p:nvSpPr>
        <p:spPr>
          <a:xfrm xmlns:a="http://schemas.openxmlformats.org/drawingml/2006/main">
            <a:off x="8191500" y="5229225"/>
            <a:ext cx="333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a:solidFill>
                  <a:srgbClr val="58645D"/>
                </a:solidFill>
                <a:latin typeface="Helvetica Neue"/>
                <a:ea typeface="Helvetica Neue"/>
                <a:cs typeface="Helvetica Neue"/>
              </a:defRPr>
            </a:pPr>
            <a:r>
              <a:rPr sz="1725" b="0">
                <a:solidFill>
                  <a:srgbClr val="58645D"/>
                </a:solidFill>
                <a:latin typeface="Helvetica Neue"/>
                <a:ea typeface="Helvetica Neue"/>
                <a:cs typeface="Helvetica Neue"/>
              </a:rPr>
              <a:t>Digital materials, conversational flows, and a published beginner project.</a:t>
            </a:r>
          </a:p>
        </p:txBody>
      </p:sp>
      <p:sp>
        <p:nvSpPr>
          <p:cNvPr id="15" name="slide-number">
            <a:extLst xmlns:a="http://schemas.openxmlformats.org/drawingml/2006/main">
              <a:ext uri="{FF2B5EF4-FFF2-40B4-BE49-F238E27FC236}">
                <a16:creationId xmlns:a16="http://schemas.microsoft.com/office/drawing/2014/main" id="{EEB1F011-CB87-4C14-944F-C460118147DB}"/>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02</a:t>
            </a:r>
          </a:p>
        </p:txBody>
      </p:sp>
    </p:spTree>
    <p:extLst>
      <p:ext uri="{BB962C8B-B14F-4D97-AF65-F5344CB8AC3E}">
        <p14:creationId xmlns:p14="http://schemas.microsoft.com/office/powerpoint/2010/main" val="1162694247"/>
      </p:ext>
    </p:extLst>
  </p:cSld>
</p:sld>
</file>

<file path=ppt/slides/slide3.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8" name="section-label">
            <a:extLst xmlns:a="http://schemas.openxmlformats.org/drawingml/2006/main">
              <a:ext uri="{FF2B5EF4-FFF2-40B4-BE49-F238E27FC236}">
                <a16:creationId xmlns:a16="http://schemas.microsoft.com/office/drawing/2014/main" id="{838EE4A8-2FD2-4E32-9379-231231BB9A47}"/>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COURSERA   /   PUBLISHED GUIDED PROJECT, 2024</a:t>
            </a:r>
          </a:p>
        </p:txBody>
      </p:sp>
      <p:sp>
        <p:nvSpPr>
          <p:cNvPr id="2" name="headline">
            <a:extLst xmlns:a="http://schemas.openxmlformats.org/drawingml/2006/main">
              <a:ext uri="{FF2B5EF4-FFF2-40B4-BE49-F238E27FC236}">
                <a16:creationId xmlns:a16="http://schemas.microsoft.com/office/drawing/2014/main" id="{44DC9E8C-BA27-48BE-8ED7-D5FA35790ECA}"/>
              </a:ext>
            </a:extLst>
          </p:cNvPr>
          <p:cNvSpPr>
            <a:spLocks xmlns:a="http://schemas.openxmlformats.org/drawingml/2006/main" noGrp="1"/>
          </p:cNvSpPr>
          <p:nvPr/>
        </p:nvSpPr>
        <p:spPr>
          <a:xfrm xmlns:a="http://schemas.openxmlformats.org/drawingml/2006/main">
            <a:off x="609600" y="1104900"/>
            <a:ext cx="6000750" cy="1343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375" b="1">
                <a:solidFill>
                  <a:srgbClr val="192B25"/>
                </a:solidFill>
                <a:latin typeface="Helvetica Neue"/>
                <a:ea typeface="Helvetica Neue"/>
                <a:cs typeface="Helvetica Neue"/>
              </a:defRPr>
            </a:pPr>
            <a:r>
              <a:rPr sz="3375" b="1">
                <a:solidFill>
                  <a:srgbClr val="192B25"/>
                </a:solidFill>
                <a:latin typeface="Helvetica Neue"/>
                <a:ea typeface="Helvetica Neue"/>
                <a:cs typeface="Helvetica Neue"/>
              </a:rPr>
              <a:t>Give beginners a task</a:t>
            </a:r>
          </a:p>
          <a:p xmlns:a="http://schemas.openxmlformats.org/drawingml/2006/main">
            <a:pPr>
              <a:lnSpc>
                <a:spcPct val="110000"/>
              </a:lnSpc>
              <a:buNone/>
              <a:defRPr sz="3375" b="1">
                <a:solidFill>
                  <a:srgbClr val="192B25"/>
                </a:solidFill>
                <a:latin typeface="Helvetica Neue"/>
                <a:ea typeface="Helvetica Neue"/>
                <a:cs typeface="Helvetica Neue"/>
              </a:defRPr>
            </a:pPr>
            <a:r>
              <a:rPr sz="3375" b="1">
                <a:solidFill>
                  <a:srgbClr val="192B25"/>
                </a:solidFill>
                <a:latin typeface="Helvetica Neue"/>
                <a:ea typeface="Helvetica Neue"/>
                <a:cs typeface="Helvetica Neue"/>
              </a:rPr>
              <a:t>they can practice</a:t>
            </a:r>
          </a:p>
        </p:txBody>
      </p:sp>
      <p:sp>
        <p:nvSpPr>
          <p:cNvPr id="3" name="course-role">
            <a:extLst xmlns:a="http://schemas.openxmlformats.org/drawingml/2006/main">
              <a:ext uri="{FF2B5EF4-FFF2-40B4-BE49-F238E27FC236}">
                <a16:creationId xmlns:a16="http://schemas.microsoft.com/office/drawing/2014/main" id="{D997C4B4-878A-4BD3-9B84-418A68429802}"/>
              </a:ext>
            </a:extLst>
          </p:cNvPr>
          <p:cNvSpPr>
            <a:spLocks xmlns:a="http://schemas.openxmlformats.org/drawingml/2006/main" noGrp="1"/>
          </p:cNvSpPr>
          <p:nvPr/>
        </p:nvSpPr>
        <p:spPr>
          <a:xfrm xmlns:a="http://schemas.openxmlformats.org/drawingml/2006/main">
            <a:off x="609600" y="3105150"/>
            <a:ext cx="4505325"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0">
                <a:solidFill>
                  <a:srgbClr val="192B25"/>
                </a:solidFill>
                <a:latin typeface="Helvetica Neue"/>
                <a:ea typeface="Helvetica Neue"/>
                <a:cs typeface="Helvetica Neue"/>
              </a:defRPr>
            </a:pPr>
            <a:r>
              <a:rPr sz="1950" b="0">
                <a:solidFill>
                  <a:srgbClr val="192B25"/>
                </a:solidFill>
                <a:latin typeface="Helvetica Neue"/>
                <a:ea typeface="Helvetica Neue"/>
                <a:cs typeface="Helvetica Neue"/>
              </a:rPr>
              <a:t>I created and taught a one-hour beginner project on AI-assisted social content.</a:t>
            </a:r>
          </a:p>
        </p:txBody>
      </p:sp>
      <p:sp>
        <p:nvSpPr>
          <p:cNvPr id="4" name="course-method">
            <a:extLst xmlns:a="http://schemas.openxmlformats.org/drawingml/2006/main">
              <a:ext uri="{FF2B5EF4-FFF2-40B4-BE49-F238E27FC236}">
                <a16:creationId xmlns:a16="http://schemas.microsoft.com/office/drawing/2014/main" id="{6C5A8CDB-BEA7-4B7A-8256-D61C9FF494E6}"/>
              </a:ext>
            </a:extLst>
          </p:cNvPr>
          <p:cNvSpPr>
            <a:spLocks xmlns:a="http://schemas.openxmlformats.org/drawingml/2006/main" noGrp="1"/>
          </p:cNvSpPr>
          <p:nvPr/>
        </p:nvSpPr>
        <p:spPr>
          <a:xfrm xmlns:a="http://schemas.openxmlformats.org/drawingml/2006/main">
            <a:off x="609600" y="4810125"/>
            <a:ext cx="4505325"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0">
                <a:solidFill>
                  <a:srgbClr val="58645D"/>
                </a:solidFill>
                <a:latin typeface="Helvetica Neue"/>
                <a:ea typeface="Helvetica Neue"/>
                <a:cs typeface="Helvetica Neue"/>
              </a:defRPr>
            </a:pPr>
            <a:r>
              <a:rPr sz="1800" b="0">
                <a:solidFill>
                  <a:srgbClr val="58645D"/>
                </a:solidFill>
                <a:latin typeface="Helvetica Neue"/>
                <a:ea typeface="Helvetica Neue"/>
                <a:cs typeface="Helvetica Neue"/>
              </a:rPr>
              <a:t>Learners draft, compare and revise content, then organize a weekly calendar.</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5b032dc0efe2481c"/>
          <a:stretch xmlns:a="http://schemas.openxmlformats.org/drawingml/2006/main"/>
        </p:blipFill>
        <p:spPr>
          <a:xfrm xmlns:a="http://schemas.openxmlformats.org/drawingml/2006/main">
            <a:off x="5638800" y="2439195"/>
            <a:ext cx="5915025" cy="3332160"/>
          </a:xfrm>
          <a:prstGeom xmlns:a="http://schemas.openxmlformats.org/drawingml/2006/main" prst="rect">
            <a:avLst/>
          </a:prstGeom>
        </p:spPr>
      </p:pic>
      <p:sp>
        <p:nvSpPr>
          <p:cNvPr id="6" name="course-caption">
            <a:extLst xmlns:a="http://schemas.openxmlformats.org/drawingml/2006/main">
              <a:ext uri="{FF2B5EF4-FFF2-40B4-BE49-F238E27FC236}">
                <a16:creationId xmlns:a16="http://schemas.microsoft.com/office/drawing/2014/main" id="{8F2F1AAE-5380-457B-A465-69D8DE6672F1}"/>
              </a:ext>
            </a:extLst>
          </p:cNvPr>
          <p:cNvSpPr>
            <a:spLocks xmlns:a="http://schemas.openxmlformats.org/drawingml/2006/main" noGrp="1"/>
          </p:cNvSpPr>
          <p:nvPr/>
        </p:nvSpPr>
        <p:spPr>
          <a:xfrm xmlns:a="http://schemas.openxmlformats.org/drawingml/2006/main">
            <a:off x="5638800" y="6019800"/>
            <a:ext cx="59150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75" b="0">
                <a:solidFill>
                  <a:srgbClr val="58645D"/>
                </a:solidFill>
                <a:latin typeface="Helvetica Neue"/>
                <a:ea typeface="Helvetica Neue"/>
                <a:cs typeface="Helvetica Neue"/>
              </a:defRPr>
            </a:pPr>
            <a:r>
              <a:rPr sz="1275" b="0">
                <a:solidFill>
                  <a:srgbClr val="58645D"/>
                </a:solidFill>
                <a:latin typeface="Helvetica Neue"/>
                <a:ea typeface="Helvetica Neue"/>
                <a:cs typeface="Helvetica Neue"/>
              </a:rPr>
              <a:t>Original lesson goals · Published teaching, not measured learner improvement</a:t>
            </a:r>
          </a:p>
        </p:txBody>
      </p:sp>
      <p:sp>
        <p:nvSpPr>
          <p:cNvPr id="7" name="slide-number">
            <a:extLst xmlns:a="http://schemas.openxmlformats.org/drawingml/2006/main">
              <a:ext uri="{FF2B5EF4-FFF2-40B4-BE49-F238E27FC236}">
                <a16:creationId xmlns:a16="http://schemas.microsoft.com/office/drawing/2014/main" id="{A7D8871A-77D8-41D4-B214-4090FDF44C72}"/>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03</a:t>
            </a:r>
          </a:p>
        </p:txBody>
      </p:sp>
    </p:spTree>
    <p:extLst>
      <p:ext uri="{BB962C8B-B14F-4D97-AF65-F5344CB8AC3E}">
        <p14:creationId xmlns:p14="http://schemas.microsoft.com/office/powerpoint/2010/main" val="746640804"/>
      </p:ext>
    </p:extLst>
  </p:cSld>
</p:sld>
</file>

<file path=ppt/slides/slide4.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8" name="section-label">
            <a:extLst xmlns:a="http://schemas.openxmlformats.org/drawingml/2006/main">
              <a:ext uri="{FF2B5EF4-FFF2-40B4-BE49-F238E27FC236}">
                <a16:creationId xmlns:a16="http://schemas.microsoft.com/office/drawing/2014/main" id="{32953CA6-6067-487D-9E93-86C311B742F6}"/>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COURSERA   /   RECORDED PRACTICE SEQUENCE</a:t>
            </a:r>
          </a:p>
        </p:txBody>
      </p:sp>
      <p:sp>
        <p:nvSpPr>
          <p:cNvPr id="2" name="headline">
            <a:extLst xmlns:a="http://schemas.openxmlformats.org/drawingml/2006/main">
              <a:ext uri="{FF2B5EF4-FFF2-40B4-BE49-F238E27FC236}">
                <a16:creationId xmlns:a16="http://schemas.microsoft.com/office/drawing/2014/main" id="{5E5A9927-577B-48AF-B9D5-B718084A5099}"/>
              </a:ext>
            </a:extLst>
          </p:cNvPr>
          <p:cNvSpPr>
            <a:spLocks xmlns:a="http://schemas.openxmlformats.org/drawingml/2006/main" noGrp="1"/>
          </p:cNvSpPr>
          <p:nvPr/>
        </p:nvSpPr>
        <p:spPr>
          <a:xfrm xmlns:a="http://schemas.openxmlformats.org/drawingml/2006/main">
            <a:off x="609600" y="1095375"/>
            <a:ext cx="108966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450" b="1">
                <a:solidFill>
                  <a:srgbClr val="192B25"/>
                </a:solidFill>
                <a:latin typeface="Helvetica Neue"/>
                <a:ea typeface="Helvetica Neue"/>
                <a:cs typeface="Helvetica Neue"/>
              </a:defRPr>
            </a:pPr>
            <a:r>
              <a:rPr sz="3450" b="1">
                <a:solidFill>
                  <a:srgbClr val="192B25"/>
                </a:solidFill>
                <a:latin typeface="Helvetica Neue"/>
                <a:ea typeface="Helvetica Neue"/>
                <a:cs typeface="Helvetica Neue"/>
              </a:rPr>
              <a:t>Start with a draft a learner can inspect</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f9f560e804b54a86"/>
          <a:stretch xmlns:a="http://schemas.openxmlformats.org/drawingml/2006/main"/>
        </p:blipFill>
        <p:spPr>
          <a:xfrm xmlns:a="http://schemas.openxmlformats.org/drawingml/2006/main">
            <a:off x="609600" y="2479576"/>
            <a:ext cx="7429500" cy="3460947"/>
          </a:xfrm>
          <a:prstGeom xmlns:a="http://schemas.openxmlformats.org/drawingml/2006/main" prst="rect">
            <a:avLst/>
          </a:prstGeom>
        </p:spPr>
      </p:pic>
      <p:sp>
        <p:nvSpPr>
          <p:cNvPr id="4" name="draft-review">
            <a:extLst xmlns:a="http://schemas.openxmlformats.org/drawingml/2006/main">
              <a:ext uri="{FF2B5EF4-FFF2-40B4-BE49-F238E27FC236}">
                <a16:creationId xmlns:a16="http://schemas.microsoft.com/office/drawing/2014/main" id="{C85AFF66-9761-4354-A035-74FD08290CB3}"/>
              </a:ext>
            </a:extLst>
          </p:cNvPr>
          <p:cNvSpPr>
            <a:spLocks xmlns:a="http://schemas.openxmlformats.org/drawingml/2006/main" noGrp="1"/>
          </p:cNvSpPr>
          <p:nvPr/>
        </p:nvSpPr>
        <p:spPr>
          <a:xfrm xmlns:a="http://schemas.openxmlformats.org/drawingml/2006/main">
            <a:off x="8524875" y="2571750"/>
            <a:ext cx="30003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1">
                <a:solidFill>
                  <a:srgbClr val="244D3C"/>
                </a:solidFill>
                <a:latin typeface="Helvetica Neue"/>
                <a:ea typeface="Helvetica Neue"/>
                <a:cs typeface="Helvetica Neue"/>
              </a:defRPr>
            </a:pPr>
            <a:r>
              <a:rPr sz="2025" b="1">
                <a:solidFill>
                  <a:srgbClr val="244D3C"/>
                </a:solidFill>
                <a:latin typeface="Helvetica Neue"/>
                <a:ea typeface="Helvetica Neue"/>
                <a:cs typeface="Helvetica Neue"/>
              </a:rPr>
              <a:t>A familiar café task gives the learner something concrete to examine.</a:t>
            </a:r>
          </a:p>
        </p:txBody>
      </p:sp>
      <p:sp>
        <p:nvSpPr>
          <p:cNvPr id="5" name="draft-limit">
            <a:extLst xmlns:a="http://schemas.openxmlformats.org/drawingml/2006/main">
              <a:ext uri="{FF2B5EF4-FFF2-40B4-BE49-F238E27FC236}">
                <a16:creationId xmlns:a16="http://schemas.microsoft.com/office/drawing/2014/main" id="{D5E22F02-AE49-486E-A523-9121013E1866}"/>
              </a:ext>
            </a:extLst>
          </p:cNvPr>
          <p:cNvSpPr>
            <a:spLocks xmlns:a="http://schemas.openxmlformats.org/drawingml/2006/main" noGrp="1"/>
          </p:cNvSpPr>
          <p:nvPr/>
        </p:nvSpPr>
        <p:spPr>
          <a:xfrm xmlns:a="http://schemas.openxmlformats.org/drawingml/2006/main">
            <a:off x="8524875" y="4333875"/>
            <a:ext cx="3000375"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0">
                <a:solidFill>
                  <a:srgbClr val="58645D"/>
                </a:solidFill>
                <a:latin typeface="Helvetica Neue"/>
                <a:ea typeface="Helvetica Neue"/>
                <a:cs typeface="Helvetica Neue"/>
              </a:defRPr>
            </a:pPr>
            <a:r>
              <a:rPr sz="1800" b="0">
                <a:solidFill>
                  <a:srgbClr val="58645D"/>
                </a:solidFill>
                <a:latin typeface="Helvetica Neue"/>
                <a:ea typeface="Helvetica Neue"/>
                <a:cs typeface="Helvetica Neue"/>
              </a:rPr>
              <a:t>The model adds business details that the prompt did not establish. Those details need judgment.</a:t>
            </a:r>
          </a:p>
        </p:txBody>
      </p:sp>
      <p:sp>
        <p:nvSpPr>
          <p:cNvPr id="6" name="draft-caption">
            <a:extLst xmlns:a="http://schemas.openxmlformats.org/drawingml/2006/main">
              <a:ext uri="{FF2B5EF4-FFF2-40B4-BE49-F238E27FC236}">
                <a16:creationId xmlns:a16="http://schemas.microsoft.com/office/drawing/2014/main" id="{A3641311-B121-4A55-A4C9-9CE438DBF73A}"/>
              </a:ext>
            </a:extLst>
          </p:cNvPr>
          <p:cNvSpPr>
            <a:spLocks xmlns:a="http://schemas.openxmlformats.org/drawingml/2006/main" noGrp="1"/>
          </p:cNvSpPr>
          <p:nvPr/>
        </p:nvSpPr>
        <p:spPr>
          <a:xfrm xmlns:a="http://schemas.openxmlformats.org/drawingml/2006/main">
            <a:off x="609600" y="6191250"/>
            <a:ext cx="10906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425" b="0">
                <a:solidFill>
                  <a:srgbClr val="58645D"/>
                </a:solidFill>
                <a:latin typeface="Helvetica Neue"/>
                <a:ea typeface="Helvetica Neue"/>
                <a:cs typeface="Helvetica Neue"/>
              </a:defRPr>
            </a:pPr>
            <a:r>
              <a:rPr sz="1425" b="0">
                <a:solidFill>
                  <a:srgbClr val="58645D"/>
                </a:solidFill>
                <a:latin typeface="Helvetica Neue"/>
                <a:ea typeface="Helvetica Neue"/>
                <a:cs typeface="Helvetica Neue"/>
              </a:rPr>
              <a:t>Original recording · Task 3 at 03:35 · Brew Bliss is fictional practice material</a:t>
            </a:r>
          </a:p>
        </p:txBody>
      </p:sp>
      <p:sp>
        <p:nvSpPr>
          <p:cNvPr id="7" name="slide-number">
            <a:extLst xmlns:a="http://schemas.openxmlformats.org/drawingml/2006/main">
              <a:ext uri="{FF2B5EF4-FFF2-40B4-BE49-F238E27FC236}">
                <a16:creationId xmlns:a16="http://schemas.microsoft.com/office/drawing/2014/main" id="{B268ABC0-8240-4E36-8015-0847038432E3}"/>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04</a:t>
            </a:r>
          </a:p>
        </p:txBody>
      </p:sp>
    </p:spTree>
    <p:extLst>
      <p:ext uri="{BB962C8B-B14F-4D97-AF65-F5344CB8AC3E}">
        <p14:creationId xmlns:p14="http://schemas.microsoft.com/office/powerpoint/2010/main" val="174510023"/>
      </p:ext>
    </p:extLst>
  </p:cSld>
</p:sld>
</file>

<file path=ppt/slides/slide5.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8" name="section-label">
            <a:extLst xmlns:a="http://schemas.openxmlformats.org/drawingml/2006/main">
              <a:ext uri="{FF2B5EF4-FFF2-40B4-BE49-F238E27FC236}">
                <a16:creationId xmlns:a16="http://schemas.microsoft.com/office/drawing/2014/main" id="{022DDB8D-3357-41E1-8841-625E2F842B1F}"/>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COURSERA   /   REVISION AND REVIEW</a:t>
            </a:r>
          </a:p>
        </p:txBody>
      </p:sp>
      <p:sp>
        <p:nvSpPr>
          <p:cNvPr id="2" name="headline">
            <a:extLst xmlns:a="http://schemas.openxmlformats.org/drawingml/2006/main">
              <a:ext uri="{FF2B5EF4-FFF2-40B4-BE49-F238E27FC236}">
                <a16:creationId xmlns:a16="http://schemas.microsoft.com/office/drawing/2014/main" id="{CD63B90B-C2EC-4F4B-A25F-32B843406A64}"/>
              </a:ext>
            </a:extLst>
          </p:cNvPr>
          <p:cNvSpPr>
            <a:spLocks xmlns:a="http://schemas.openxmlformats.org/drawingml/2006/main" noGrp="1"/>
          </p:cNvSpPr>
          <p:nvPr/>
        </p:nvSpPr>
        <p:spPr>
          <a:xfrm xmlns:a="http://schemas.openxmlformats.org/drawingml/2006/main">
            <a:off x="609600" y="1095375"/>
            <a:ext cx="108966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Make the revision visible</a:t>
            </a:r>
          </a:p>
        </p:txBody>
      </p:sp>
      <p:sp>
        <p:nvSpPr>
          <p:cNvPr id="3" name="revision-prompt">
            <a:extLst xmlns:a="http://schemas.openxmlformats.org/drawingml/2006/main">
              <a:ext uri="{FF2B5EF4-FFF2-40B4-BE49-F238E27FC236}">
                <a16:creationId xmlns:a16="http://schemas.microsoft.com/office/drawing/2014/main" id="{F90A2AC5-2D16-4F1D-B740-2C87B8ECFA7C}"/>
              </a:ext>
            </a:extLst>
          </p:cNvPr>
          <p:cNvSpPr>
            <a:spLocks xmlns:a="http://schemas.openxmlformats.org/drawingml/2006/main" noGrp="1"/>
          </p:cNvSpPr>
          <p:nvPr/>
        </p:nvSpPr>
        <p:spPr>
          <a:xfrm xmlns:a="http://schemas.openxmlformats.org/drawingml/2006/main">
            <a:off x="609600" y="2133600"/>
            <a:ext cx="10896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1">
                <a:solidFill>
                  <a:srgbClr val="244D3C"/>
                </a:solidFill>
                <a:latin typeface="Helvetica Neue"/>
                <a:ea typeface="Helvetica Neue"/>
                <a:cs typeface="Helvetica Neue"/>
              </a:defRPr>
            </a:pPr>
            <a:r>
              <a:rPr sz="1875" b="1">
                <a:solidFill>
                  <a:srgbClr val="244D3C"/>
                </a:solidFill>
                <a:latin typeface="Helvetica Neue"/>
                <a:ea typeface="Helvetica Neue"/>
                <a:cs typeface="Helvetica Neue"/>
              </a:rPr>
              <a:t>Recorded revision: ask for sensory detail and a friendly invitation.</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09231294bc4c455a"/>
          <a:stretch xmlns:a="http://schemas.openxmlformats.org/drawingml/2006/main"/>
        </p:blipFill>
        <p:spPr>
          <a:xfrm xmlns:a="http://schemas.openxmlformats.org/drawingml/2006/main">
            <a:off x="612246" y="2867025"/>
            <a:ext cx="7471833" cy="3362325"/>
          </a:xfrm>
          <a:prstGeom xmlns:a="http://schemas.openxmlformats.org/drawingml/2006/main" prst="rect">
            <a:avLst/>
          </a:prstGeom>
        </p:spPr>
      </p:pic>
      <p:sp>
        <p:nvSpPr>
          <p:cNvPr id="5" name="revision-review">
            <a:extLst xmlns:a="http://schemas.openxmlformats.org/drawingml/2006/main">
              <a:ext uri="{FF2B5EF4-FFF2-40B4-BE49-F238E27FC236}">
                <a16:creationId xmlns:a16="http://schemas.microsoft.com/office/drawing/2014/main" id="{BC57A364-7861-45A7-AD49-E02062DEFBE3}"/>
              </a:ext>
            </a:extLst>
          </p:cNvPr>
          <p:cNvSpPr>
            <a:spLocks xmlns:a="http://schemas.openxmlformats.org/drawingml/2006/main" noGrp="1"/>
          </p:cNvSpPr>
          <p:nvPr/>
        </p:nvSpPr>
        <p:spPr>
          <a:xfrm xmlns:a="http://schemas.openxmlformats.org/drawingml/2006/main">
            <a:off x="8524875" y="2990850"/>
            <a:ext cx="3000375"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00" b="1">
                <a:solidFill>
                  <a:srgbClr val="192B25"/>
                </a:solidFill>
                <a:latin typeface="Helvetica Neue"/>
                <a:ea typeface="Helvetica Neue"/>
                <a:cs typeface="Helvetica Neue"/>
              </a:defRPr>
            </a:pPr>
            <a:r>
              <a:rPr sz="2100" b="1">
                <a:solidFill>
                  <a:srgbClr val="192B25"/>
                </a:solidFill>
                <a:latin typeface="Helvetica Neue"/>
                <a:ea typeface="Helvetica Neue"/>
                <a:cs typeface="Helvetica Neue"/>
              </a:rPr>
              <a:t>The next draft is richer—and longer.</a:t>
            </a:r>
          </a:p>
        </p:txBody>
      </p:sp>
      <p:sp>
        <p:nvSpPr>
          <p:cNvPr id="6" name="revision-judgment">
            <a:extLst xmlns:a="http://schemas.openxmlformats.org/drawingml/2006/main">
              <a:ext uri="{FF2B5EF4-FFF2-40B4-BE49-F238E27FC236}">
                <a16:creationId xmlns:a16="http://schemas.microsoft.com/office/drawing/2014/main" id="{2E6A972B-F779-4BA4-BBEF-0395E6D5F8B1}"/>
              </a:ext>
            </a:extLst>
          </p:cNvPr>
          <p:cNvSpPr>
            <a:spLocks xmlns:a="http://schemas.openxmlformats.org/drawingml/2006/main" noGrp="1"/>
          </p:cNvSpPr>
          <p:nvPr/>
        </p:nvSpPr>
        <p:spPr>
          <a:xfrm xmlns:a="http://schemas.openxmlformats.org/drawingml/2006/main">
            <a:off x="8524875" y="4657725"/>
            <a:ext cx="3000375"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0">
                <a:solidFill>
                  <a:srgbClr val="58645D"/>
                </a:solidFill>
                <a:latin typeface="Helvetica Neue"/>
                <a:ea typeface="Helvetica Neue"/>
                <a:cs typeface="Helvetica Neue"/>
              </a:defRPr>
            </a:pPr>
            <a:r>
              <a:rPr sz="1800" b="0">
                <a:solidFill>
                  <a:srgbClr val="58645D"/>
                </a:solidFill>
                <a:latin typeface="Helvetica Neue"/>
                <a:ea typeface="Helvetica Neue"/>
                <a:cs typeface="Helvetica Neue"/>
              </a:rPr>
              <a:t>Review the added claims, the audience and the length before deciding what to change next.</a:t>
            </a:r>
          </a:p>
        </p:txBody>
      </p:sp>
      <p:sp>
        <p:nvSpPr>
          <p:cNvPr id="7" name="slide-number">
            <a:extLst xmlns:a="http://schemas.openxmlformats.org/drawingml/2006/main">
              <a:ext uri="{FF2B5EF4-FFF2-40B4-BE49-F238E27FC236}">
                <a16:creationId xmlns:a16="http://schemas.microsoft.com/office/drawing/2014/main" id="{1CBAC792-96EA-41D4-8CF3-421219CE658D}"/>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05</a:t>
            </a:r>
          </a:p>
        </p:txBody>
      </p:sp>
    </p:spTree>
    <p:extLst>
      <p:ext uri="{BB962C8B-B14F-4D97-AF65-F5344CB8AC3E}">
        <p14:creationId xmlns:p14="http://schemas.microsoft.com/office/powerpoint/2010/main" val="420106879"/>
      </p:ext>
    </p:extLst>
  </p:cSld>
</p:sld>
</file>

<file path=ppt/slides/slide6.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35" name="section-label">
            <a:extLst xmlns:a="http://schemas.openxmlformats.org/drawingml/2006/main">
              <a:ext uri="{FF2B5EF4-FFF2-40B4-BE49-F238E27FC236}">
                <a16:creationId xmlns:a16="http://schemas.microsoft.com/office/drawing/2014/main" id="{E53C6BCD-0E9F-4BF4-AF65-F7B47D000F9B}"/>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ASU LEARNING INNOVATIONS   /   2024 WORKFLOW PROPOSAL</a:t>
            </a:r>
          </a:p>
        </p:txBody>
      </p:sp>
      <p:sp>
        <p:nvSpPr>
          <p:cNvPr id="2" name="headline">
            <a:extLst xmlns:a="http://schemas.openxmlformats.org/drawingml/2006/main">
              <a:ext uri="{FF2B5EF4-FFF2-40B4-BE49-F238E27FC236}">
                <a16:creationId xmlns:a16="http://schemas.microsoft.com/office/drawing/2014/main" id="{444C047B-8484-4A3E-B0E3-C4D19A45671E}"/>
              </a:ext>
            </a:extLst>
          </p:cNvPr>
          <p:cNvSpPr>
            <a:spLocks xmlns:a="http://schemas.openxmlformats.org/drawingml/2006/main" noGrp="1"/>
          </p:cNvSpPr>
          <p:nvPr/>
        </p:nvSpPr>
        <p:spPr>
          <a:xfrm xmlns:a="http://schemas.openxmlformats.org/drawingml/2006/main">
            <a:off x="609600" y="1095375"/>
            <a:ext cx="10953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300" b="1">
                <a:solidFill>
                  <a:srgbClr val="192B25"/>
                </a:solidFill>
                <a:latin typeface="Helvetica Neue"/>
                <a:ea typeface="Helvetica Neue"/>
                <a:cs typeface="Helvetica Neue"/>
              </a:defRPr>
            </a:pPr>
            <a:r>
              <a:rPr sz="3300" b="1">
                <a:solidFill>
                  <a:srgbClr val="192B25"/>
                </a:solidFill>
                <a:latin typeface="Helvetica Neue"/>
                <a:ea typeface="Helvetica Neue"/>
                <a:cs typeface="Helvetica Neue"/>
              </a:rPr>
              <a:t>Human review before learner-facing tasks</a:t>
            </a:r>
          </a:p>
        </p:txBody>
      </p:sp>
      <p:sp>
        <p:nvSpPr>
          <p:cNvPr id="3" name="asu-context">
            <a:extLst xmlns:a="http://schemas.openxmlformats.org/drawingml/2006/main">
              <a:ext uri="{FF2B5EF4-FFF2-40B4-BE49-F238E27FC236}">
                <a16:creationId xmlns:a16="http://schemas.microsoft.com/office/drawing/2014/main" id="{DFADFF23-EE63-49DC-BDC3-09C0CDCA56DB}"/>
              </a:ext>
            </a:extLst>
          </p:cNvPr>
          <p:cNvSpPr>
            <a:spLocks xmlns:a="http://schemas.openxmlformats.org/drawingml/2006/main" noGrp="1"/>
          </p:cNvSpPr>
          <p:nvPr/>
        </p:nvSpPr>
        <p:spPr>
          <a:xfrm xmlns:a="http://schemas.openxmlformats.org/drawingml/2006/main">
            <a:off x="609600" y="2047875"/>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A staged prompt workflow for personalized learner tasks.</a:t>
            </a:r>
          </a:p>
        </p:txBody>
      </p:sp>
      <p:sp>
        <p:nvSpPr>
          <p:cNvPr id="4" name="workflow-node-01">
            <a:extLst xmlns:a="http://schemas.openxmlformats.org/drawingml/2006/main">
              <a:ext uri="{FF2B5EF4-FFF2-40B4-BE49-F238E27FC236}">
                <a16:creationId xmlns:a16="http://schemas.microsoft.com/office/drawing/2014/main" id="{492D630C-DCC1-4A3B-B75F-303EEFEEF1B1}"/>
              </a:ext>
            </a:extLst>
          </p:cNvPr>
          <p:cNvSpPr>
            <a:spLocks xmlns:a="http://schemas.openxmlformats.org/drawingml/2006/main" noGrp="1"/>
          </p:cNvSpPr>
          <p:nvPr/>
        </p:nvSpPr>
        <p:spPr>
          <a:xfrm xmlns:a="http://schemas.openxmlformats.org/drawingml/2006/main">
            <a:off x="609600" y="2895600"/>
            <a:ext cx="3333750" cy="12477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5" name="node-index-01">
            <a:extLst xmlns:a="http://schemas.openxmlformats.org/drawingml/2006/main">
              <a:ext uri="{FF2B5EF4-FFF2-40B4-BE49-F238E27FC236}">
                <a16:creationId xmlns:a16="http://schemas.microsoft.com/office/drawing/2014/main" id="{7917CAD2-6E4A-4366-83F3-52E1419DFEFC}"/>
              </a:ext>
            </a:extLst>
          </p:cNvPr>
          <p:cNvSpPr>
            <a:spLocks xmlns:a="http://schemas.openxmlformats.org/drawingml/2006/main" noGrp="1"/>
          </p:cNvSpPr>
          <p:nvPr/>
        </p:nvSpPr>
        <p:spPr>
          <a:xfrm xmlns:a="http://schemas.openxmlformats.org/drawingml/2006/main">
            <a:off x="781050" y="3028950"/>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01</a:t>
            </a:r>
          </a:p>
        </p:txBody>
      </p:sp>
      <p:sp>
        <p:nvSpPr>
          <p:cNvPr id="6" name="node-label-01">
            <a:extLst xmlns:a="http://schemas.openxmlformats.org/drawingml/2006/main">
              <a:ext uri="{FF2B5EF4-FFF2-40B4-BE49-F238E27FC236}">
                <a16:creationId xmlns:a16="http://schemas.microsoft.com/office/drawing/2014/main" id="{287228DE-C70C-4818-9084-EFF3CD60D38C}"/>
              </a:ext>
            </a:extLst>
          </p:cNvPr>
          <p:cNvSpPr>
            <a:spLocks xmlns:a="http://schemas.openxmlformats.org/drawingml/2006/main" noGrp="1"/>
          </p:cNvSpPr>
          <p:nvPr/>
        </p:nvSpPr>
        <p:spPr>
          <a:xfrm xmlns:a="http://schemas.openxmlformats.org/drawingml/2006/main">
            <a:off x="781050" y="3305175"/>
            <a:ext cx="29908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50" b="1">
                <a:solidFill>
                  <a:srgbClr val="192B25"/>
                </a:solidFill>
                <a:latin typeface="Helvetica Neue"/>
                <a:ea typeface="Helvetica Neue"/>
                <a:cs typeface="Helvetica Neue"/>
              </a:defRPr>
            </a:pPr>
            <a:r>
              <a:rPr sz="1650" b="1">
                <a:solidFill>
                  <a:srgbClr val="192B25"/>
                </a:solidFill>
                <a:latin typeface="Helvetica Neue"/>
                <a:ea typeface="Helvetica Neue"/>
                <a:cs typeface="Helvetica Neue"/>
              </a:rPr>
              <a:t>Condense learner context</a:t>
            </a:r>
          </a:p>
        </p:txBody>
      </p:sp>
      <p:sp>
        <p:nvSpPr>
          <p:cNvPr id="7" name="node-detail-01">
            <a:extLst xmlns:a="http://schemas.openxmlformats.org/drawingml/2006/main">
              <a:ext uri="{FF2B5EF4-FFF2-40B4-BE49-F238E27FC236}">
                <a16:creationId xmlns:a16="http://schemas.microsoft.com/office/drawing/2014/main" id="{753027D5-B253-4CD6-AC06-C8680AE5DE2C}"/>
              </a:ext>
            </a:extLst>
          </p:cNvPr>
          <p:cNvSpPr>
            <a:spLocks xmlns:a="http://schemas.openxmlformats.org/drawingml/2006/main" noGrp="1"/>
          </p:cNvSpPr>
          <p:nvPr/>
        </p:nvSpPr>
        <p:spPr>
          <a:xfrm xmlns:a="http://schemas.openxmlformats.org/drawingml/2006/main">
            <a:off x="781050" y="3800475"/>
            <a:ext cx="29908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75" b="0">
                <a:solidFill>
                  <a:srgbClr val="58645D"/>
                </a:solidFill>
                <a:latin typeface="Helvetica Neue"/>
                <a:ea typeface="Helvetica Neue"/>
                <a:cs typeface="Helvetica Neue"/>
              </a:defRPr>
            </a:pPr>
            <a:r>
              <a:rPr sz="1275" b="0">
                <a:solidFill>
                  <a:srgbClr val="58645D"/>
                </a:solidFill>
                <a:latin typeface="Helvetica Neue"/>
                <a:ea typeface="Helvetica Neue"/>
                <a:cs typeface="Helvetica Neue"/>
              </a:rPr>
              <a:t>Prepare context for review.</a:t>
            </a:r>
          </a:p>
        </p:txBody>
      </p:sp>
      <p:sp>
        <p:nvSpPr>
          <p:cNvPr id="8" name="workflow-node-02">
            <a:extLst xmlns:a="http://schemas.openxmlformats.org/drawingml/2006/main">
              <a:ext uri="{FF2B5EF4-FFF2-40B4-BE49-F238E27FC236}">
                <a16:creationId xmlns:a16="http://schemas.microsoft.com/office/drawing/2014/main" id="{A712A023-C827-4272-BF2B-8A2D844C6CAF}"/>
              </a:ext>
            </a:extLst>
          </p:cNvPr>
          <p:cNvSpPr>
            <a:spLocks xmlns:a="http://schemas.openxmlformats.org/drawingml/2006/main" noGrp="1"/>
          </p:cNvSpPr>
          <p:nvPr/>
        </p:nvSpPr>
        <p:spPr>
          <a:xfrm xmlns:a="http://schemas.openxmlformats.org/drawingml/2006/main">
            <a:off x="4324350" y="2895600"/>
            <a:ext cx="3333750" cy="1247775"/>
          </a:xfrm>
          <a:prstGeom xmlns:a="http://schemas.openxmlformats.org/drawingml/2006/main" prst="rect">
            <a:avLst/>
          </a:prstGeom>
          <a:solidFill xmlns:a="http://schemas.openxmlformats.org/drawingml/2006/main">
            <a:srgbClr val="E1E8DB"/>
          </a:solidFill>
          <a:ln xmlns:a="http://schemas.openxmlformats.org/drawingml/2006/main" w="19050">
            <a:solidFill>
              <a:srgbClr val="244D3C"/>
            </a:solidFill>
          </a:ln>
        </p:spPr>
      </p:sp>
      <p:sp>
        <p:nvSpPr>
          <p:cNvPr id="9" name="node-index-02">
            <a:extLst xmlns:a="http://schemas.openxmlformats.org/drawingml/2006/main">
              <a:ext uri="{FF2B5EF4-FFF2-40B4-BE49-F238E27FC236}">
                <a16:creationId xmlns:a16="http://schemas.microsoft.com/office/drawing/2014/main" id="{0F26AE49-A7D5-47CF-ABB0-E70C6AF90A03}"/>
              </a:ext>
            </a:extLst>
          </p:cNvPr>
          <p:cNvSpPr>
            <a:spLocks xmlns:a="http://schemas.openxmlformats.org/drawingml/2006/main" noGrp="1"/>
          </p:cNvSpPr>
          <p:nvPr/>
        </p:nvSpPr>
        <p:spPr>
          <a:xfrm xmlns:a="http://schemas.openxmlformats.org/drawingml/2006/main">
            <a:off x="4495800" y="3028950"/>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02</a:t>
            </a:r>
          </a:p>
        </p:txBody>
      </p:sp>
      <p:sp>
        <p:nvSpPr>
          <p:cNvPr id="10" name="node-label-02">
            <a:extLst xmlns:a="http://schemas.openxmlformats.org/drawingml/2006/main">
              <a:ext uri="{FF2B5EF4-FFF2-40B4-BE49-F238E27FC236}">
                <a16:creationId xmlns:a16="http://schemas.microsoft.com/office/drawing/2014/main" id="{5F64DEC2-DB08-4B20-925E-7FE7065498D2}"/>
              </a:ext>
            </a:extLst>
          </p:cNvPr>
          <p:cNvSpPr>
            <a:spLocks xmlns:a="http://schemas.openxmlformats.org/drawingml/2006/main" noGrp="1"/>
          </p:cNvSpPr>
          <p:nvPr/>
        </p:nvSpPr>
        <p:spPr>
          <a:xfrm xmlns:a="http://schemas.openxmlformats.org/drawingml/2006/main">
            <a:off x="4495800" y="3305175"/>
            <a:ext cx="29908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50" b="1">
                <a:solidFill>
                  <a:srgbClr val="192B25"/>
                </a:solidFill>
                <a:latin typeface="Helvetica Neue"/>
                <a:ea typeface="Helvetica Neue"/>
                <a:cs typeface="Helvetica Neue"/>
              </a:defRPr>
            </a:pPr>
            <a:r>
              <a:rPr sz="1650" b="1">
                <a:solidFill>
                  <a:srgbClr val="192B25"/>
                </a:solidFill>
                <a:latin typeface="Helvetica Neue"/>
                <a:ea typeface="Helvetica Neue"/>
                <a:cs typeface="Helvetica Neue"/>
              </a:rPr>
              <a:t>Mentor validates context</a:t>
            </a:r>
          </a:p>
        </p:txBody>
      </p:sp>
      <p:sp>
        <p:nvSpPr>
          <p:cNvPr id="11" name="node-detail-02">
            <a:extLst xmlns:a="http://schemas.openxmlformats.org/drawingml/2006/main">
              <a:ext uri="{FF2B5EF4-FFF2-40B4-BE49-F238E27FC236}">
                <a16:creationId xmlns:a16="http://schemas.microsoft.com/office/drawing/2014/main" id="{E7A6A927-0F64-4CD0-8F92-D12B2676F6F0}"/>
              </a:ext>
            </a:extLst>
          </p:cNvPr>
          <p:cNvSpPr>
            <a:spLocks xmlns:a="http://schemas.openxmlformats.org/drawingml/2006/main" noGrp="1"/>
          </p:cNvSpPr>
          <p:nvPr/>
        </p:nvSpPr>
        <p:spPr>
          <a:xfrm xmlns:a="http://schemas.openxmlformats.org/drawingml/2006/main">
            <a:off x="4495800" y="3800475"/>
            <a:ext cx="29908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75" b="0">
                <a:solidFill>
                  <a:srgbClr val="58645D"/>
                </a:solidFill>
                <a:latin typeface="Helvetica Neue"/>
                <a:ea typeface="Helvetica Neue"/>
                <a:cs typeface="Helvetica Neue"/>
              </a:defRPr>
            </a:pPr>
            <a:r>
              <a:rPr sz="1275" b="0">
                <a:solidFill>
                  <a:srgbClr val="58645D"/>
                </a:solidFill>
                <a:latin typeface="Helvetica Neue"/>
                <a:ea typeface="Helvetica Neue"/>
                <a:cs typeface="Helvetica Neue"/>
              </a:rPr>
              <a:t>Check the interpretation.</a:t>
            </a:r>
          </a:p>
        </p:txBody>
      </p:sp>
      <p:sp>
        <p:nvSpPr>
          <p:cNvPr id="12" name="workflow-node-03">
            <a:extLst xmlns:a="http://schemas.openxmlformats.org/drawingml/2006/main">
              <a:ext uri="{FF2B5EF4-FFF2-40B4-BE49-F238E27FC236}">
                <a16:creationId xmlns:a16="http://schemas.microsoft.com/office/drawing/2014/main" id="{ED68445B-B072-406F-BABD-170BCAC1B1DD}"/>
              </a:ext>
            </a:extLst>
          </p:cNvPr>
          <p:cNvSpPr>
            <a:spLocks xmlns:a="http://schemas.openxmlformats.org/drawingml/2006/main" noGrp="1"/>
          </p:cNvSpPr>
          <p:nvPr/>
        </p:nvSpPr>
        <p:spPr>
          <a:xfrm xmlns:a="http://schemas.openxmlformats.org/drawingml/2006/main">
            <a:off x="8039100" y="2895600"/>
            <a:ext cx="3333750" cy="12477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3" name="node-index-03">
            <a:extLst xmlns:a="http://schemas.openxmlformats.org/drawingml/2006/main">
              <a:ext uri="{FF2B5EF4-FFF2-40B4-BE49-F238E27FC236}">
                <a16:creationId xmlns:a16="http://schemas.microsoft.com/office/drawing/2014/main" id="{68099C64-9D37-46E2-984C-ACEB12B6800E}"/>
              </a:ext>
            </a:extLst>
          </p:cNvPr>
          <p:cNvSpPr>
            <a:spLocks xmlns:a="http://schemas.openxmlformats.org/drawingml/2006/main" noGrp="1"/>
          </p:cNvSpPr>
          <p:nvPr/>
        </p:nvSpPr>
        <p:spPr>
          <a:xfrm xmlns:a="http://schemas.openxmlformats.org/drawingml/2006/main">
            <a:off x="8210550" y="3028950"/>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03</a:t>
            </a:r>
          </a:p>
        </p:txBody>
      </p:sp>
      <p:sp>
        <p:nvSpPr>
          <p:cNvPr id="14" name="node-label-03">
            <a:extLst xmlns:a="http://schemas.openxmlformats.org/drawingml/2006/main">
              <a:ext uri="{FF2B5EF4-FFF2-40B4-BE49-F238E27FC236}">
                <a16:creationId xmlns:a16="http://schemas.microsoft.com/office/drawing/2014/main" id="{2ED4ABEC-B085-4A30-884D-8993FE4C36D1}"/>
              </a:ext>
            </a:extLst>
          </p:cNvPr>
          <p:cNvSpPr>
            <a:spLocks xmlns:a="http://schemas.openxmlformats.org/drawingml/2006/main" noGrp="1"/>
          </p:cNvSpPr>
          <p:nvPr/>
        </p:nvSpPr>
        <p:spPr>
          <a:xfrm xmlns:a="http://schemas.openxmlformats.org/drawingml/2006/main">
            <a:off x="8210550" y="3305175"/>
            <a:ext cx="29908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50" b="1">
                <a:solidFill>
                  <a:srgbClr val="192B25"/>
                </a:solidFill>
                <a:latin typeface="Helvetica Neue"/>
                <a:ea typeface="Helvetica Neue"/>
                <a:cs typeface="Helvetica Neue"/>
              </a:defRPr>
            </a:pPr>
            <a:r>
              <a:rPr sz="1650" b="1">
                <a:solidFill>
                  <a:srgbClr val="192B25"/>
                </a:solidFill>
                <a:latin typeface="Helvetica Neue"/>
                <a:ea typeface="Helvetica Neue"/>
                <a:cs typeface="Helvetica Neue"/>
              </a:rPr>
              <a:t>Personalize task template</a:t>
            </a:r>
          </a:p>
        </p:txBody>
      </p:sp>
      <p:sp>
        <p:nvSpPr>
          <p:cNvPr id="15" name="node-detail-03">
            <a:extLst xmlns:a="http://schemas.openxmlformats.org/drawingml/2006/main">
              <a:ext uri="{FF2B5EF4-FFF2-40B4-BE49-F238E27FC236}">
                <a16:creationId xmlns:a16="http://schemas.microsoft.com/office/drawing/2014/main" id="{263D4A17-FB44-4A5B-8964-8D0C09E846C8}"/>
              </a:ext>
            </a:extLst>
          </p:cNvPr>
          <p:cNvSpPr>
            <a:spLocks xmlns:a="http://schemas.openxmlformats.org/drawingml/2006/main" noGrp="1"/>
          </p:cNvSpPr>
          <p:nvPr/>
        </p:nvSpPr>
        <p:spPr>
          <a:xfrm xmlns:a="http://schemas.openxmlformats.org/drawingml/2006/main">
            <a:off x="8210550" y="3800475"/>
            <a:ext cx="29908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75" b="0">
                <a:solidFill>
                  <a:srgbClr val="58645D"/>
                </a:solidFill>
                <a:latin typeface="Helvetica Neue"/>
                <a:ea typeface="Helvetica Neue"/>
                <a:cs typeface="Helvetica Neue"/>
              </a:defRPr>
            </a:pPr>
            <a:r>
              <a:rPr sz="1275" b="0">
                <a:solidFill>
                  <a:srgbClr val="58645D"/>
                </a:solidFill>
                <a:latin typeface="Helvetica Neue"/>
                <a:ea typeface="Helvetica Neue"/>
                <a:cs typeface="Helvetica Neue"/>
              </a:rPr>
              <a:t>Use the reviewed context.</a:t>
            </a:r>
          </a:p>
        </p:txBody>
      </p:sp>
      <p:sp>
        <p:nvSpPr>
          <p:cNvPr id="16" name="workflow-node-04">
            <a:extLst xmlns:a="http://schemas.openxmlformats.org/drawingml/2006/main">
              <a:ext uri="{FF2B5EF4-FFF2-40B4-BE49-F238E27FC236}">
                <a16:creationId xmlns:a16="http://schemas.microsoft.com/office/drawing/2014/main" id="{1080E719-D98B-48A6-A05E-DC542A184906}"/>
              </a:ext>
            </a:extLst>
          </p:cNvPr>
          <p:cNvSpPr>
            <a:spLocks xmlns:a="http://schemas.openxmlformats.org/drawingml/2006/main" noGrp="1"/>
          </p:cNvSpPr>
          <p:nvPr/>
        </p:nvSpPr>
        <p:spPr>
          <a:xfrm xmlns:a="http://schemas.openxmlformats.org/drawingml/2006/main">
            <a:off x="8039100" y="4657725"/>
            <a:ext cx="3333750" cy="12477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7" name="node-index-04">
            <a:extLst xmlns:a="http://schemas.openxmlformats.org/drawingml/2006/main">
              <a:ext uri="{FF2B5EF4-FFF2-40B4-BE49-F238E27FC236}">
                <a16:creationId xmlns:a16="http://schemas.microsoft.com/office/drawing/2014/main" id="{3C9A64EF-FB59-4466-9AD3-57B87F5F7280}"/>
              </a:ext>
            </a:extLst>
          </p:cNvPr>
          <p:cNvSpPr>
            <a:spLocks xmlns:a="http://schemas.openxmlformats.org/drawingml/2006/main" noGrp="1"/>
          </p:cNvSpPr>
          <p:nvPr/>
        </p:nvSpPr>
        <p:spPr>
          <a:xfrm xmlns:a="http://schemas.openxmlformats.org/drawingml/2006/main">
            <a:off x="8210550" y="4791075"/>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04</a:t>
            </a:r>
          </a:p>
        </p:txBody>
      </p:sp>
      <p:sp>
        <p:nvSpPr>
          <p:cNvPr id="18" name="node-label-04">
            <a:extLst xmlns:a="http://schemas.openxmlformats.org/drawingml/2006/main">
              <a:ext uri="{FF2B5EF4-FFF2-40B4-BE49-F238E27FC236}">
                <a16:creationId xmlns:a16="http://schemas.microsoft.com/office/drawing/2014/main" id="{07381DED-14C7-4B67-BC20-F9120EB0FA75}"/>
              </a:ext>
            </a:extLst>
          </p:cNvPr>
          <p:cNvSpPr>
            <a:spLocks xmlns:a="http://schemas.openxmlformats.org/drawingml/2006/main" noGrp="1"/>
          </p:cNvSpPr>
          <p:nvPr/>
        </p:nvSpPr>
        <p:spPr>
          <a:xfrm xmlns:a="http://schemas.openxmlformats.org/drawingml/2006/main">
            <a:off x="8210550" y="5067300"/>
            <a:ext cx="29908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50" b="1">
                <a:solidFill>
                  <a:srgbClr val="192B25"/>
                </a:solidFill>
                <a:latin typeface="Helvetica Neue"/>
                <a:ea typeface="Helvetica Neue"/>
                <a:cs typeface="Helvetica Neue"/>
              </a:defRPr>
            </a:pPr>
            <a:r>
              <a:rPr sz="1650" b="1">
                <a:solidFill>
                  <a:srgbClr val="192B25"/>
                </a:solidFill>
                <a:latin typeface="Helvetica Neue"/>
                <a:ea typeface="Helvetica Neue"/>
                <a:cs typeface="Helvetica Neue"/>
              </a:rPr>
              <a:t>Generate and refine tasks</a:t>
            </a:r>
          </a:p>
        </p:txBody>
      </p:sp>
      <p:sp>
        <p:nvSpPr>
          <p:cNvPr id="19" name="node-detail-04">
            <a:extLst xmlns:a="http://schemas.openxmlformats.org/drawingml/2006/main">
              <a:ext uri="{FF2B5EF4-FFF2-40B4-BE49-F238E27FC236}">
                <a16:creationId xmlns:a16="http://schemas.microsoft.com/office/drawing/2014/main" id="{7902A2D9-4458-4DD1-A55E-09CA7A5544BB}"/>
              </a:ext>
            </a:extLst>
          </p:cNvPr>
          <p:cNvSpPr>
            <a:spLocks xmlns:a="http://schemas.openxmlformats.org/drawingml/2006/main" noGrp="1"/>
          </p:cNvSpPr>
          <p:nvPr/>
        </p:nvSpPr>
        <p:spPr>
          <a:xfrm xmlns:a="http://schemas.openxmlformats.org/drawingml/2006/main">
            <a:off x="8210550" y="5562600"/>
            <a:ext cx="29908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75" b="0">
                <a:solidFill>
                  <a:srgbClr val="58645D"/>
                </a:solidFill>
                <a:latin typeface="Helvetica Neue"/>
                <a:ea typeface="Helvetica Neue"/>
                <a:cs typeface="Helvetica Neue"/>
              </a:defRPr>
            </a:pPr>
            <a:r>
              <a:rPr sz="1275" b="0">
                <a:solidFill>
                  <a:srgbClr val="58645D"/>
                </a:solidFill>
                <a:latin typeface="Helvetica Neue"/>
                <a:ea typeface="Helvetica Neue"/>
                <a:cs typeface="Helvetica Neue"/>
              </a:rPr>
              <a:t>Prepare candidate tasks.</a:t>
            </a:r>
          </a:p>
        </p:txBody>
      </p:sp>
      <p:sp>
        <p:nvSpPr>
          <p:cNvPr id="20" name="workflow-node-05">
            <a:extLst xmlns:a="http://schemas.openxmlformats.org/drawingml/2006/main">
              <a:ext uri="{FF2B5EF4-FFF2-40B4-BE49-F238E27FC236}">
                <a16:creationId xmlns:a16="http://schemas.microsoft.com/office/drawing/2014/main" id="{A9D86D4F-E864-4577-9E40-21FF0C22B0DF}"/>
              </a:ext>
            </a:extLst>
          </p:cNvPr>
          <p:cNvSpPr>
            <a:spLocks xmlns:a="http://schemas.openxmlformats.org/drawingml/2006/main" noGrp="1"/>
          </p:cNvSpPr>
          <p:nvPr/>
        </p:nvSpPr>
        <p:spPr>
          <a:xfrm xmlns:a="http://schemas.openxmlformats.org/drawingml/2006/main">
            <a:off x="4324350" y="4657725"/>
            <a:ext cx="3333750" cy="1247775"/>
          </a:xfrm>
          <a:prstGeom xmlns:a="http://schemas.openxmlformats.org/drawingml/2006/main" prst="rect">
            <a:avLst/>
          </a:prstGeom>
          <a:solidFill xmlns:a="http://schemas.openxmlformats.org/drawingml/2006/main">
            <a:srgbClr val="E1E8DB"/>
          </a:solidFill>
          <a:ln xmlns:a="http://schemas.openxmlformats.org/drawingml/2006/main" w="19050">
            <a:solidFill>
              <a:srgbClr val="244D3C"/>
            </a:solidFill>
          </a:ln>
        </p:spPr>
      </p:sp>
      <p:sp>
        <p:nvSpPr>
          <p:cNvPr id="21" name="node-index-05">
            <a:extLst xmlns:a="http://schemas.openxmlformats.org/drawingml/2006/main">
              <a:ext uri="{FF2B5EF4-FFF2-40B4-BE49-F238E27FC236}">
                <a16:creationId xmlns:a16="http://schemas.microsoft.com/office/drawing/2014/main" id="{690D043B-C00E-41C9-9249-5A89A467ACC6}"/>
              </a:ext>
            </a:extLst>
          </p:cNvPr>
          <p:cNvSpPr>
            <a:spLocks xmlns:a="http://schemas.openxmlformats.org/drawingml/2006/main" noGrp="1"/>
          </p:cNvSpPr>
          <p:nvPr/>
        </p:nvSpPr>
        <p:spPr>
          <a:xfrm xmlns:a="http://schemas.openxmlformats.org/drawingml/2006/main">
            <a:off x="4495800" y="4791075"/>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05</a:t>
            </a:r>
          </a:p>
        </p:txBody>
      </p:sp>
      <p:sp>
        <p:nvSpPr>
          <p:cNvPr id="22" name="node-label-05">
            <a:extLst xmlns:a="http://schemas.openxmlformats.org/drawingml/2006/main">
              <a:ext uri="{FF2B5EF4-FFF2-40B4-BE49-F238E27FC236}">
                <a16:creationId xmlns:a16="http://schemas.microsoft.com/office/drawing/2014/main" id="{A99F0437-2B1B-4238-A180-E526C0E5C386}"/>
              </a:ext>
            </a:extLst>
          </p:cNvPr>
          <p:cNvSpPr>
            <a:spLocks xmlns:a="http://schemas.openxmlformats.org/drawingml/2006/main" noGrp="1"/>
          </p:cNvSpPr>
          <p:nvPr/>
        </p:nvSpPr>
        <p:spPr>
          <a:xfrm xmlns:a="http://schemas.openxmlformats.org/drawingml/2006/main">
            <a:off x="4495800" y="5067300"/>
            <a:ext cx="29908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50" b="1">
                <a:solidFill>
                  <a:srgbClr val="192B25"/>
                </a:solidFill>
                <a:latin typeface="Helvetica Neue"/>
                <a:ea typeface="Helvetica Neue"/>
                <a:cs typeface="Helvetica Neue"/>
              </a:defRPr>
            </a:pPr>
            <a:r>
              <a:rPr sz="1650" b="1">
                <a:solidFill>
                  <a:srgbClr val="192B25"/>
                </a:solidFill>
                <a:latin typeface="Helvetica Neue"/>
                <a:ea typeface="Helvetica Neue"/>
                <a:cs typeface="Helvetica Neue"/>
              </a:rPr>
              <a:t>Mentor confirms tasks</a:t>
            </a:r>
          </a:p>
        </p:txBody>
      </p:sp>
      <p:sp>
        <p:nvSpPr>
          <p:cNvPr id="23" name="node-detail-05">
            <a:extLst xmlns:a="http://schemas.openxmlformats.org/drawingml/2006/main">
              <a:ext uri="{FF2B5EF4-FFF2-40B4-BE49-F238E27FC236}">
                <a16:creationId xmlns:a16="http://schemas.microsoft.com/office/drawing/2014/main" id="{CBF72969-1F3E-45F5-814D-41D597526276}"/>
              </a:ext>
            </a:extLst>
          </p:cNvPr>
          <p:cNvSpPr>
            <a:spLocks xmlns:a="http://schemas.openxmlformats.org/drawingml/2006/main" noGrp="1"/>
          </p:cNvSpPr>
          <p:nvPr/>
        </p:nvSpPr>
        <p:spPr>
          <a:xfrm xmlns:a="http://schemas.openxmlformats.org/drawingml/2006/main">
            <a:off x="4495800" y="5562600"/>
            <a:ext cx="29908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75" b="0">
                <a:solidFill>
                  <a:srgbClr val="58645D"/>
                </a:solidFill>
                <a:latin typeface="Helvetica Neue"/>
                <a:ea typeface="Helvetica Neue"/>
                <a:cs typeface="Helvetica Neue"/>
              </a:defRPr>
            </a:pPr>
            <a:r>
              <a:rPr sz="1275" b="0">
                <a:solidFill>
                  <a:srgbClr val="58645D"/>
                </a:solidFill>
                <a:latin typeface="Helvetica Neue"/>
                <a:ea typeface="Helvetica Neue"/>
                <a:cs typeface="Helvetica Neue"/>
              </a:rPr>
              <a:t>Approve or revise the tasks.</a:t>
            </a:r>
          </a:p>
        </p:txBody>
      </p:sp>
      <p:sp>
        <p:nvSpPr>
          <p:cNvPr id="24" name="workflow-node-06">
            <a:extLst xmlns:a="http://schemas.openxmlformats.org/drawingml/2006/main">
              <a:ext uri="{FF2B5EF4-FFF2-40B4-BE49-F238E27FC236}">
                <a16:creationId xmlns:a16="http://schemas.microsoft.com/office/drawing/2014/main" id="{491BA6FC-6EEE-42C5-8668-925F110C4C92}"/>
              </a:ext>
            </a:extLst>
          </p:cNvPr>
          <p:cNvSpPr>
            <a:spLocks xmlns:a="http://schemas.openxmlformats.org/drawingml/2006/main" noGrp="1"/>
          </p:cNvSpPr>
          <p:nvPr/>
        </p:nvSpPr>
        <p:spPr>
          <a:xfrm xmlns:a="http://schemas.openxmlformats.org/drawingml/2006/main">
            <a:off x="609600" y="4657725"/>
            <a:ext cx="3333750" cy="12477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5" name="node-index-06">
            <a:extLst xmlns:a="http://schemas.openxmlformats.org/drawingml/2006/main">
              <a:ext uri="{FF2B5EF4-FFF2-40B4-BE49-F238E27FC236}">
                <a16:creationId xmlns:a16="http://schemas.microsoft.com/office/drawing/2014/main" id="{686781AB-071D-467F-BFEA-B6040BDDBE84}"/>
              </a:ext>
            </a:extLst>
          </p:cNvPr>
          <p:cNvSpPr>
            <a:spLocks xmlns:a="http://schemas.openxmlformats.org/drawingml/2006/main" noGrp="1"/>
          </p:cNvSpPr>
          <p:nvPr/>
        </p:nvSpPr>
        <p:spPr>
          <a:xfrm xmlns:a="http://schemas.openxmlformats.org/drawingml/2006/main">
            <a:off x="781050" y="4791075"/>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06</a:t>
            </a:r>
          </a:p>
        </p:txBody>
      </p:sp>
      <p:sp>
        <p:nvSpPr>
          <p:cNvPr id="26" name="node-label-06">
            <a:extLst xmlns:a="http://schemas.openxmlformats.org/drawingml/2006/main">
              <a:ext uri="{FF2B5EF4-FFF2-40B4-BE49-F238E27FC236}">
                <a16:creationId xmlns:a16="http://schemas.microsoft.com/office/drawing/2014/main" id="{C2EC0234-87B8-490D-85A9-7A2474E95CF1}"/>
              </a:ext>
            </a:extLst>
          </p:cNvPr>
          <p:cNvSpPr>
            <a:spLocks xmlns:a="http://schemas.openxmlformats.org/drawingml/2006/main" noGrp="1"/>
          </p:cNvSpPr>
          <p:nvPr/>
        </p:nvSpPr>
        <p:spPr>
          <a:xfrm xmlns:a="http://schemas.openxmlformats.org/drawingml/2006/main">
            <a:off x="781050" y="5067300"/>
            <a:ext cx="29908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50" b="1">
                <a:solidFill>
                  <a:srgbClr val="192B25"/>
                </a:solidFill>
                <a:latin typeface="Helvetica Neue"/>
                <a:ea typeface="Helvetica Neue"/>
                <a:cs typeface="Helvetica Neue"/>
              </a:defRPr>
            </a:pPr>
            <a:r>
              <a:rPr sz="1650" b="1">
                <a:solidFill>
                  <a:srgbClr val="192B25"/>
                </a:solidFill>
                <a:latin typeface="Helvetica Neue"/>
                <a:ea typeface="Helvetica Neue"/>
                <a:cs typeface="Helvetica Neue"/>
              </a:rPr>
              <a:t>Prepare learner-facing output</a:t>
            </a:r>
          </a:p>
        </p:txBody>
      </p:sp>
      <p:sp>
        <p:nvSpPr>
          <p:cNvPr id="27" name="node-detail-06">
            <a:extLst xmlns:a="http://schemas.openxmlformats.org/drawingml/2006/main">
              <a:ext uri="{FF2B5EF4-FFF2-40B4-BE49-F238E27FC236}">
                <a16:creationId xmlns:a16="http://schemas.microsoft.com/office/drawing/2014/main" id="{ED615EAF-BA0F-4BD1-84FA-A450A69CFF0B}"/>
              </a:ext>
            </a:extLst>
          </p:cNvPr>
          <p:cNvSpPr>
            <a:spLocks xmlns:a="http://schemas.openxmlformats.org/drawingml/2006/main" noGrp="1"/>
          </p:cNvSpPr>
          <p:nvPr/>
        </p:nvSpPr>
        <p:spPr>
          <a:xfrm xmlns:a="http://schemas.openxmlformats.org/drawingml/2006/main">
            <a:off x="781050" y="5562600"/>
            <a:ext cx="29908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75" b="0">
                <a:solidFill>
                  <a:srgbClr val="58645D"/>
                </a:solidFill>
                <a:latin typeface="Helvetica Neue"/>
                <a:ea typeface="Helvetica Neue"/>
                <a:cs typeface="Helvetica Neue"/>
              </a:defRPr>
            </a:pPr>
            <a:r>
              <a:rPr sz="1275" b="0">
                <a:solidFill>
                  <a:srgbClr val="58645D"/>
                </a:solidFill>
                <a:latin typeface="Helvetica Neue"/>
                <a:ea typeface="Helvetica Neue"/>
                <a:cs typeface="Helvetica Neue"/>
              </a:rPr>
              <a:t>Structured output and feedback.</a:t>
            </a:r>
          </a:p>
        </p:txBody>
      </p:sp>
      <p:sp>
        <p:nvSpPr>
          <p:cNvPr id="28" name="workflow-arrow-0">
            <a:extLst xmlns:a="http://schemas.openxmlformats.org/drawingml/2006/main">
              <a:ext uri="{FF2B5EF4-FFF2-40B4-BE49-F238E27FC236}">
                <a16:creationId xmlns:a16="http://schemas.microsoft.com/office/drawing/2014/main" id="{E5CC57F7-0370-4A22-8CC5-83D341BDA77C}"/>
              </a:ext>
            </a:extLst>
          </p:cNvPr>
          <p:cNvSpPr>
            <a:spLocks xmlns:a="http://schemas.openxmlformats.org/drawingml/2006/main" noGrp="1"/>
          </p:cNvSpPr>
          <p:nvPr/>
        </p:nvSpPr>
        <p:spPr>
          <a:xfrm xmlns:a="http://schemas.openxmlformats.org/drawingml/2006/main">
            <a:off x="4000500" y="3324225"/>
            <a:ext cx="285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1">
                <a:solidFill>
                  <a:srgbClr val="244D3C"/>
                </a:solidFill>
                <a:latin typeface="Helvetica Neue"/>
                <a:ea typeface="Helvetica Neue"/>
                <a:cs typeface="Helvetica Neue"/>
              </a:defRPr>
            </a:pPr>
            <a:r>
              <a:rPr sz="1875" b="1">
                <a:solidFill>
                  <a:srgbClr val="244D3C"/>
                </a:solidFill>
                <a:latin typeface="Helvetica Neue"/>
                <a:ea typeface="Helvetica Neue"/>
                <a:cs typeface="Helvetica Neue"/>
              </a:rPr>
              <a:t>→</a:t>
            </a:r>
          </a:p>
        </p:txBody>
      </p:sp>
      <p:sp>
        <p:nvSpPr>
          <p:cNvPr id="29" name="workflow-arrow-1">
            <a:extLst xmlns:a="http://schemas.openxmlformats.org/drawingml/2006/main">
              <a:ext uri="{FF2B5EF4-FFF2-40B4-BE49-F238E27FC236}">
                <a16:creationId xmlns:a16="http://schemas.microsoft.com/office/drawing/2014/main" id="{2D8A8BA9-73B8-442D-AE36-1A5494C349EF}"/>
              </a:ext>
            </a:extLst>
          </p:cNvPr>
          <p:cNvSpPr>
            <a:spLocks xmlns:a="http://schemas.openxmlformats.org/drawingml/2006/main" noGrp="1"/>
          </p:cNvSpPr>
          <p:nvPr/>
        </p:nvSpPr>
        <p:spPr>
          <a:xfrm xmlns:a="http://schemas.openxmlformats.org/drawingml/2006/main">
            <a:off x="7715250" y="3324225"/>
            <a:ext cx="285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1">
                <a:solidFill>
                  <a:srgbClr val="244D3C"/>
                </a:solidFill>
                <a:latin typeface="Helvetica Neue"/>
                <a:ea typeface="Helvetica Neue"/>
                <a:cs typeface="Helvetica Neue"/>
              </a:defRPr>
            </a:pPr>
            <a:r>
              <a:rPr sz="1875" b="1">
                <a:solidFill>
                  <a:srgbClr val="244D3C"/>
                </a:solidFill>
                <a:latin typeface="Helvetica Neue"/>
                <a:ea typeface="Helvetica Neue"/>
                <a:cs typeface="Helvetica Neue"/>
              </a:rPr>
              <a:t>→</a:t>
            </a:r>
          </a:p>
        </p:txBody>
      </p:sp>
      <p:sp>
        <p:nvSpPr>
          <p:cNvPr id="30" name="workflow-arrow-2">
            <a:extLst xmlns:a="http://schemas.openxmlformats.org/drawingml/2006/main">
              <a:ext uri="{FF2B5EF4-FFF2-40B4-BE49-F238E27FC236}">
                <a16:creationId xmlns:a16="http://schemas.microsoft.com/office/drawing/2014/main" id="{9BC1B95B-37B7-4F38-AA00-AB71BAE99004}"/>
              </a:ext>
            </a:extLst>
          </p:cNvPr>
          <p:cNvSpPr>
            <a:spLocks xmlns:a="http://schemas.openxmlformats.org/drawingml/2006/main" noGrp="1"/>
          </p:cNvSpPr>
          <p:nvPr/>
        </p:nvSpPr>
        <p:spPr>
          <a:xfrm xmlns:a="http://schemas.openxmlformats.org/drawingml/2006/main">
            <a:off x="9525000" y="4257675"/>
            <a:ext cx="285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1">
                <a:solidFill>
                  <a:srgbClr val="244D3C"/>
                </a:solidFill>
                <a:latin typeface="Helvetica Neue"/>
                <a:ea typeface="Helvetica Neue"/>
                <a:cs typeface="Helvetica Neue"/>
              </a:defRPr>
            </a:pPr>
            <a:r>
              <a:rPr sz="1875" b="1">
                <a:solidFill>
                  <a:srgbClr val="244D3C"/>
                </a:solidFill>
                <a:latin typeface="Helvetica Neue"/>
                <a:ea typeface="Helvetica Neue"/>
                <a:cs typeface="Helvetica Neue"/>
              </a:rPr>
              <a:t>↓</a:t>
            </a:r>
          </a:p>
        </p:txBody>
      </p:sp>
      <p:sp>
        <p:nvSpPr>
          <p:cNvPr id="31" name="workflow-arrow-3">
            <a:extLst xmlns:a="http://schemas.openxmlformats.org/drawingml/2006/main">
              <a:ext uri="{FF2B5EF4-FFF2-40B4-BE49-F238E27FC236}">
                <a16:creationId xmlns:a16="http://schemas.microsoft.com/office/drawing/2014/main" id="{6DFDB9F9-0008-49DB-9F6C-3DEBB6151CDA}"/>
              </a:ext>
            </a:extLst>
          </p:cNvPr>
          <p:cNvSpPr>
            <a:spLocks xmlns:a="http://schemas.openxmlformats.org/drawingml/2006/main" noGrp="1"/>
          </p:cNvSpPr>
          <p:nvPr/>
        </p:nvSpPr>
        <p:spPr>
          <a:xfrm xmlns:a="http://schemas.openxmlformats.org/drawingml/2006/main">
            <a:off x="7715250" y="5086350"/>
            <a:ext cx="285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1">
                <a:solidFill>
                  <a:srgbClr val="244D3C"/>
                </a:solidFill>
                <a:latin typeface="Helvetica Neue"/>
                <a:ea typeface="Helvetica Neue"/>
                <a:cs typeface="Helvetica Neue"/>
              </a:defRPr>
            </a:pPr>
            <a:r>
              <a:rPr sz="1875" b="1">
                <a:solidFill>
                  <a:srgbClr val="244D3C"/>
                </a:solidFill>
                <a:latin typeface="Helvetica Neue"/>
                <a:ea typeface="Helvetica Neue"/>
                <a:cs typeface="Helvetica Neue"/>
              </a:rPr>
              <a:t>←</a:t>
            </a:r>
          </a:p>
        </p:txBody>
      </p:sp>
      <p:sp>
        <p:nvSpPr>
          <p:cNvPr id="32" name="workflow-arrow-4">
            <a:extLst xmlns:a="http://schemas.openxmlformats.org/drawingml/2006/main">
              <a:ext uri="{FF2B5EF4-FFF2-40B4-BE49-F238E27FC236}">
                <a16:creationId xmlns:a16="http://schemas.microsoft.com/office/drawing/2014/main" id="{1F1042E8-E42B-4F0C-9EA2-37047246BD2A}"/>
              </a:ext>
            </a:extLst>
          </p:cNvPr>
          <p:cNvSpPr>
            <a:spLocks xmlns:a="http://schemas.openxmlformats.org/drawingml/2006/main" noGrp="1"/>
          </p:cNvSpPr>
          <p:nvPr/>
        </p:nvSpPr>
        <p:spPr>
          <a:xfrm xmlns:a="http://schemas.openxmlformats.org/drawingml/2006/main">
            <a:off x="4000500" y="5086350"/>
            <a:ext cx="285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1">
                <a:solidFill>
                  <a:srgbClr val="244D3C"/>
                </a:solidFill>
                <a:latin typeface="Helvetica Neue"/>
                <a:ea typeface="Helvetica Neue"/>
                <a:cs typeface="Helvetica Neue"/>
              </a:defRPr>
            </a:pPr>
            <a:r>
              <a:rPr sz="1875" b="1">
                <a:solidFill>
                  <a:srgbClr val="244D3C"/>
                </a:solidFill>
                <a:latin typeface="Helvetica Neue"/>
                <a:ea typeface="Helvetica Neue"/>
                <a:cs typeface="Helvetica Neue"/>
              </a:rPr>
              <a:t>←</a:t>
            </a:r>
          </a:p>
        </p:txBody>
      </p:sp>
      <p:sp>
        <p:nvSpPr>
          <p:cNvPr id="33" name="asu-limit">
            <a:extLst xmlns:a="http://schemas.openxmlformats.org/drawingml/2006/main">
              <a:ext uri="{FF2B5EF4-FFF2-40B4-BE49-F238E27FC236}">
                <a16:creationId xmlns:a16="http://schemas.microsoft.com/office/drawing/2014/main" id="{873E94B4-A5CA-4D4D-9186-CB9B3EA36C61}"/>
              </a:ext>
            </a:extLst>
          </p:cNvPr>
          <p:cNvSpPr>
            <a:spLocks xmlns:a="http://schemas.openxmlformats.org/drawingml/2006/main" noGrp="1"/>
          </p:cNvSpPr>
          <p:nvPr/>
        </p:nvSpPr>
        <p:spPr>
          <a:xfrm xmlns:a="http://schemas.openxmlformats.org/drawingml/2006/main">
            <a:off x="609600" y="6191250"/>
            <a:ext cx="109347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425" b="0">
                <a:solidFill>
                  <a:srgbClr val="58645D"/>
                </a:solidFill>
                <a:latin typeface="Helvetica Neue"/>
                <a:ea typeface="Helvetica Neue"/>
                <a:cs typeface="Helvetica Neue"/>
              </a:defRPr>
            </a:pPr>
            <a:r>
              <a:rPr sz="1425" b="0">
                <a:solidFill>
                  <a:srgbClr val="58645D"/>
                </a:solidFill>
                <a:latin typeface="Helvetica Neue"/>
                <a:ea typeface="Helvetica Neue"/>
                <a:cs typeface="Helvetica Neue"/>
              </a:rPr>
              <a:t>Simplified reconstruction · Documented proposal; no deployment or measured efficiency claimed.</a:t>
            </a:r>
          </a:p>
        </p:txBody>
      </p:sp>
      <p:sp>
        <p:nvSpPr>
          <p:cNvPr id="34" name="slide-number">
            <a:extLst xmlns:a="http://schemas.openxmlformats.org/drawingml/2006/main">
              <a:ext uri="{FF2B5EF4-FFF2-40B4-BE49-F238E27FC236}">
                <a16:creationId xmlns:a16="http://schemas.microsoft.com/office/drawing/2014/main" id="{0B49FF09-5EC5-4BF6-A90A-930A7E5E125A}"/>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06</a:t>
            </a:r>
          </a:p>
        </p:txBody>
      </p:sp>
    </p:spTree>
    <p:extLst>
      <p:ext uri="{BB962C8B-B14F-4D97-AF65-F5344CB8AC3E}">
        <p14:creationId xmlns:p14="http://schemas.microsoft.com/office/powerpoint/2010/main" val="1708345324"/>
      </p:ext>
    </p:extLst>
  </p:cSld>
</p:sld>
</file>

<file path=ppt/slides/slide7.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9" name="section-label">
            <a:extLst xmlns:a="http://schemas.openxmlformats.org/drawingml/2006/main">
              <a:ext uri="{FF2B5EF4-FFF2-40B4-BE49-F238E27FC236}">
                <a16:creationId xmlns:a16="http://schemas.microsoft.com/office/drawing/2014/main" id="{A13D475A-2503-4B73-BC0C-A491BA281F74}"/>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OAK + QASIM   /   AUDIENCE SURVEY, MARCH 2025</a:t>
            </a:r>
          </a:p>
        </p:txBody>
      </p:sp>
      <p:sp>
        <p:nvSpPr>
          <p:cNvPr id="2" name="headline">
            <a:extLst xmlns:a="http://schemas.openxmlformats.org/drawingml/2006/main">
              <a:ext uri="{FF2B5EF4-FFF2-40B4-BE49-F238E27FC236}">
                <a16:creationId xmlns:a16="http://schemas.microsoft.com/office/drawing/2014/main" id="{9D169FDE-2E07-45C0-95E3-830FC85F3568}"/>
              </a:ext>
            </a:extLst>
          </p:cNvPr>
          <p:cNvSpPr>
            <a:spLocks xmlns:a="http://schemas.openxmlformats.org/drawingml/2006/main" noGrp="1"/>
          </p:cNvSpPr>
          <p:nvPr/>
        </p:nvSpPr>
        <p:spPr>
          <a:xfrm xmlns:a="http://schemas.openxmlformats.org/drawingml/2006/main">
            <a:off x="609600" y="1104900"/>
            <a:ext cx="541972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600" b="1">
                <a:solidFill>
                  <a:srgbClr val="192B25"/>
                </a:solidFill>
                <a:latin typeface="Helvetica Neue"/>
                <a:ea typeface="Helvetica Neue"/>
                <a:cs typeface="Helvetica Neue"/>
              </a:defRPr>
            </a:pPr>
            <a:r>
              <a:rPr sz="3600" b="1">
                <a:solidFill>
                  <a:srgbClr val="192B25"/>
                </a:solidFill>
                <a:latin typeface="Helvetica Neue"/>
                <a:ea typeface="Helvetica Neue"/>
                <a:cs typeface="Helvetica Neue"/>
              </a:rPr>
              <a:t>What keeps interest</a:t>
            </a:r>
          </a:p>
          <a:p xmlns:a="http://schemas.openxmlformats.org/drawingml/2006/main">
            <a:pPr>
              <a:lnSpc>
                <a:spcPct val="110000"/>
              </a:lnSpc>
              <a:buNone/>
              <a:defRPr sz="3600" b="1">
                <a:solidFill>
                  <a:srgbClr val="192B25"/>
                </a:solidFill>
                <a:latin typeface="Helvetica Neue"/>
                <a:ea typeface="Helvetica Neue"/>
                <a:cs typeface="Helvetica Neue"/>
              </a:defRPr>
            </a:pPr>
            <a:r>
              <a:rPr sz="3600" b="1">
                <a:solidFill>
                  <a:srgbClr val="192B25"/>
                </a:solidFill>
                <a:latin typeface="Helvetica Neue"/>
                <a:ea typeface="Helvetica Neue"/>
                <a:cs typeface="Helvetica Neue"/>
              </a:rPr>
              <a:t>from becoming action?</a:t>
            </a:r>
          </a:p>
        </p:txBody>
      </p:sp>
      <p:sp>
        <p:nvSpPr>
          <p:cNvPr id="3" name="survey-role">
            <a:extLst xmlns:a="http://schemas.openxmlformats.org/drawingml/2006/main">
              <a:ext uri="{FF2B5EF4-FFF2-40B4-BE49-F238E27FC236}">
                <a16:creationId xmlns:a16="http://schemas.microsoft.com/office/drawing/2014/main" id="{9FCEEB83-4912-42ED-8EF0-F4F7BCEDE8CC}"/>
              </a:ext>
            </a:extLst>
          </p:cNvPr>
          <p:cNvSpPr>
            <a:spLocks xmlns:a="http://schemas.openxmlformats.org/drawingml/2006/main" noGrp="1"/>
          </p:cNvSpPr>
          <p:nvPr/>
        </p:nvSpPr>
        <p:spPr>
          <a:xfrm xmlns:a="http://schemas.openxmlformats.org/drawingml/2006/main">
            <a:off x="609600" y="2781300"/>
            <a:ext cx="52673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575" b="1">
                <a:solidFill>
                  <a:srgbClr val="244D3C"/>
                </a:solidFill>
                <a:latin typeface="Helvetica Neue"/>
                <a:ea typeface="Helvetica Neue"/>
                <a:cs typeface="Helvetica Neue"/>
              </a:defRPr>
            </a:pPr>
            <a:r>
              <a:rPr sz="1575" b="1">
                <a:solidFill>
                  <a:srgbClr val="244D3C"/>
                </a:solidFill>
                <a:latin typeface="Helvetica Neue"/>
                <a:ea typeface="Helvetica Neue"/>
                <a:cs typeface="Helvetica Neue"/>
              </a:rPr>
              <a:t>I led survey design, launch and analysis.</a:t>
            </a:r>
          </a:p>
        </p:txBody>
      </p:sp>
      <p:sp>
        <p:nvSpPr>
          <p:cNvPr id="4" name="survey-method">
            <a:extLst xmlns:a="http://schemas.openxmlformats.org/drawingml/2006/main">
              <a:ext uri="{FF2B5EF4-FFF2-40B4-BE49-F238E27FC236}">
                <a16:creationId xmlns:a16="http://schemas.microsoft.com/office/drawing/2014/main" id="{3FECDEBD-88C8-4E59-ACBB-F7363CB188AE}"/>
              </a:ext>
            </a:extLst>
          </p:cNvPr>
          <p:cNvSpPr>
            <a:spLocks xmlns:a="http://schemas.openxmlformats.org/drawingml/2006/main" noGrp="1"/>
          </p:cNvSpPr>
          <p:nvPr/>
        </p:nvSpPr>
        <p:spPr>
          <a:xfrm xmlns:a="http://schemas.openxmlformats.org/drawingml/2006/main">
            <a:off x="609600" y="3533775"/>
            <a:ext cx="4943475"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0">
                <a:solidFill>
                  <a:srgbClr val="192B25"/>
                </a:solidFill>
                <a:latin typeface="Helvetica Neue"/>
                <a:ea typeface="Helvetica Neue"/>
                <a:cs typeface="Helvetica Neue"/>
              </a:defRPr>
            </a:pPr>
            <a:r>
              <a:rPr sz="1950" b="0">
                <a:solidFill>
                  <a:srgbClr val="192B25"/>
                </a:solidFill>
                <a:latin typeface="Helvetica Neue"/>
                <a:ea typeface="Helvetica Neue"/>
                <a:cs typeface="Helvetica Neue"/>
              </a:rPr>
              <a:t>I combined structured questions about barriers with open responses about what would help.</a:t>
            </a:r>
          </a:p>
        </p:txBody>
      </p:sp>
      <p:sp>
        <p:nvSpPr>
          <p:cNvPr id="5" name="survey-tradeoff">
            <a:extLst xmlns:a="http://schemas.openxmlformats.org/drawingml/2006/main">
              <a:ext uri="{FF2B5EF4-FFF2-40B4-BE49-F238E27FC236}">
                <a16:creationId xmlns:a16="http://schemas.microsoft.com/office/drawing/2014/main" id="{1FE5AD75-2226-4834-BB87-96F00185102B}"/>
              </a:ext>
            </a:extLst>
          </p:cNvPr>
          <p:cNvSpPr>
            <a:spLocks xmlns:a="http://schemas.openxmlformats.org/drawingml/2006/main" noGrp="1"/>
          </p:cNvSpPr>
          <p:nvPr/>
        </p:nvSpPr>
        <p:spPr>
          <a:xfrm xmlns:a="http://schemas.openxmlformats.org/drawingml/2006/main">
            <a:off x="609600" y="5019675"/>
            <a:ext cx="49434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50" b="0">
                <a:solidFill>
                  <a:srgbClr val="58645D"/>
                </a:solidFill>
                <a:latin typeface="Helvetica Neue"/>
                <a:ea typeface="Helvetica Neue"/>
                <a:cs typeface="Helvetica Neue"/>
              </a:defRPr>
            </a:pPr>
            <a:r>
              <a:rPr sz="1650" b="0">
                <a:solidFill>
                  <a:srgbClr val="58645D"/>
                </a:solidFill>
                <a:latin typeface="Helvetica Neue"/>
                <a:ea typeface="Helvetica Neue"/>
                <a:cs typeface="Helvetica Neue"/>
              </a:rPr>
              <a:t>A voluntary audience sample surfaced reported needs. It could not establish future use or purchase.</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59686478008145dc"/>
          <a:stretch xmlns:a="http://schemas.openxmlformats.org/drawingml/2006/main"/>
        </p:blipFill>
        <p:spPr>
          <a:xfrm xmlns:a="http://schemas.openxmlformats.org/drawingml/2006/main">
            <a:off x="6438900" y="1896618"/>
            <a:ext cx="5086350" cy="3255264"/>
          </a:xfrm>
          <a:prstGeom xmlns:a="http://schemas.openxmlformats.org/drawingml/2006/main" prst="rect">
            <a:avLst/>
          </a:prstGeom>
        </p:spPr>
      </p:pic>
      <p:sp>
        <p:nvSpPr>
          <p:cNvPr id="7" name="sample-caption">
            <a:extLst xmlns:a="http://schemas.openxmlformats.org/drawingml/2006/main">
              <a:ext uri="{FF2B5EF4-FFF2-40B4-BE49-F238E27FC236}">
                <a16:creationId xmlns:a16="http://schemas.microsoft.com/office/drawing/2014/main" id="{56F08580-CB0D-4B8F-9B55-0E241A2CB8FB}"/>
              </a:ext>
            </a:extLst>
          </p:cNvPr>
          <p:cNvSpPr>
            <a:spLocks xmlns:a="http://schemas.openxmlformats.org/drawingml/2006/main" noGrp="1"/>
          </p:cNvSpPr>
          <p:nvPr/>
        </p:nvSpPr>
        <p:spPr>
          <a:xfrm xmlns:a="http://schemas.openxmlformats.org/drawingml/2006/main">
            <a:off x="6477000" y="5629275"/>
            <a:ext cx="49434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500" b="1">
                <a:solidFill>
                  <a:srgbClr val="244D3C"/>
                </a:solidFill>
                <a:latin typeface="Helvetica Neue"/>
                <a:ea typeface="Helvetica Neue"/>
                <a:cs typeface="Helvetica Neue"/>
              </a:defRPr>
            </a:pPr>
            <a:r>
              <a:rPr sz="1500" b="1">
                <a:solidFill>
                  <a:srgbClr val="244D3C"/>
                </a:solidFill>
                <a:latin typeface="Helvetica Neue"/>
                <a:ea typeface="Helvetica Neue"/>
                <a:cs typeface="Helvetica Neue"/>
              </a:rPr>
              <a:t>1,459 complete submissions</a:t>
            </a:r>
          </a:p>
          <a:p xmlns:a="http://schemas.openxmlformats.org/drawingml/2006/main">
            <a:pPr>
              <a:lnSpc>
                <a:spcPct val="110000"/>
              </a:lnSpc>
              <a:buNone/>
              <a:defRPr sz="1500" b="1">
                <a:solidFill>
                  <a:srgbClr val="244D3C"/>
                </a:solidFill>
                <a:latin typeface="Helvetica Neue"/>
                <a:ea typeface="Helvetica Neue"/>
                <a:cs typeface="Helvetica Neue"/>
              </a:defRPr>
            </a:pPr>
            <a:r>
              <a:rPr sz="1500" b="1">
                <a:solidFill>
                  <a:srgbClr val="244D3C"/>
                </a:solidFill>
                <a:latin typeface="Helvetica Neue"/>
                <a:ea typeface="Helvetica Neue"/>
                <a:cs typeface="Helvetica Neue"/>
              </a:rPr>
              <a:t>March 14, 2025 · survey still live</a:t>
            </a:r>
          </a:p>
        </p:txBody>
      </p:sp>
      <p:sp>
        <p:nvSpPr>
          <p:cNvPr id="8" name="slide-number">
            <a:extLst xmlns:a="http://schemas.openxmlformats.org/drawingml/2006/main">
              <a:ext uri="{FF2B5EF4-FFF2-40B4-BE49-F238E27FC236}">
                <a16:creationId xmlns:a16="http://schemas.microsoft.com/office/drawing/2014/main" id="{7523A34A-63F8-4E0F-8FBD-997160C8A22F}"/>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07</a:t>
            </a:r>
          </a:p>
        </p:txBody>
      </p:sp>
    </p:spTree>
    <p:extLst>
      <p:ext uri="{BB962C8B-B14F-4D97-AF65-F5344CB8AC3E}">
        <p14:creationId xmlns:p14="http://schemas.microsoft.com/office/powerpoint/2010/main" val="1570599489"/>
      </p:ext>
    </p:extLst>
  </p:cSld>
</p:sld>
</file>

<file path=ppt/slides/slide8.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8" name="section-label">
            <a:extLst xmlns:a="http://schemas.openxmlformats.org/drawingml/2006/main">
              <a:ext uri="{FF2B5EF4-FFF2-40B4-BE49-F238E27FC236}">
                <a16:creationId xmlns:a16="http://schemas.microsoft.com/office/drawing/2014/main" id="{99D9F3F2-5065-4CFF-8838-4AB0E0B8C1BB}"/>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OAK + QASIM   /   REPORTED BARRIERS</a:t>
            </a:r>
          </a:p>
        </p:txBody>
      </p:sp>
      <p:sp>
        <p:nvSpPr>
          <p:cNvPr id="2" name="headline">
            <a:extLst xmlns:a="http://schemas.openxmlformats.org/drawingml/2006/main">
              <a:ext uri="{FF2B5EF4-FFF2-40B4-BE49-F238E27FC236}">
                <a16:creationId xmlns:a16="http://schemas.microsoft.com/office/drawing/2014/main" id="{AAE5F14F-48DC-4DE5-A849-F06EE1A40DA2}"/>
              </a:ext>
            </a:extLst>
          </p:cNvPr>
          <p:cNvSpPr>
            <a:spLocks xmlns:a="http://schemas.openxmlformats.org/drawingml/2006/main" noGrp="1"/>
          </p:cNvSpPr>
          <p:nvPr/>
        </p:nvSpPr>
        <p:spPr>
          <a:xfrm xmlns:a="http://schemas.openxmlformats.org/drawingml/2006/main">
            <a:off x="609600" y="1104900"/>
            <a:ext cx="109442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750" b="1">
                <a:solidFill>
                  <a:srgbClr val="192B25"/>
                </a:solidFill>
                <a:latin typeface="Helvetica Neue"/>
                <a:ea typeface="Helvetica Neue"/>
                <a:cs typeface="Helvetica Neue"/>
              </a:defRPr>
            </a:pPr>
            <a:r>
              <a:rPr sz="3750" b="1">
                <a:solidFill>
                  <a:srgbClr val="192B25"/>
                </a:solidFill>
                <a:latin typeface="Helvetica Neue"/>
                <a:ea typeface="Helvetica Neue"/>
                <a:cs typeface="Helvetica Neue"/>
              </a:rPr>
              <a:t>Reported barriers to taking action</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c25c10de6f694d94"/>
          <a:stretch xmlns:a="http://schemas.openxmlformats.org/drawingml/2006/main"/>
        </p:blipFill>
        <p:spPr>
          <a:xfrm xmlns:a="http://schemas.openxmlformats.org/drawingml/2006/main">
            <a:off x="612246" y="2752725"/>
            <a:ext cx="4233333" cy="2381250"/>
          </a:xfrm>
          <a:prstGeom xmlns:a="http://schemas.openxmlformats.org/drawingml/2006/main" prst="rect">
            <a:avLst/>
          </a:prstGeom>
        </p:spPr>
      </p:pic>
      <p:sp>
        <p:nvSpPr>
          <p:cNvPr id="4" name="original-report-caption">
            <a:extLst xmlns:a="http://schemas.openxmlformats.org/drawingml/2006/main">
              <a:ext uri="{FF2B5EF4-FFF2-40B4-BE49-F238E27FC236}">
                <a16:creationId xmlns:a16="http://schemas.microsoft.com/office/drawing/2014/main" id="{F3F3926F-19F5-44A0-B981-1E0A54CAAFE8}"/>
              </a:ext>
            </a:extLst>
          </p:cNvPr>
          <p:cNvSpPr>
            <a:spLocks xmlns:a="http://schemas.openxmlformats.org/drawingml/2006/main" noGrp="1"/>
          </p:cNvSpPr>
          <p:nvPr/>
        </p:nvSpPr>
        <p:spPr>
          <a:xfrm xmlns:a="http://schemas.openxmlformats.org/drawingml/2006/main">
            <a:off x="609600" y="5410200"/>
            <a:ext cx="42386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0">
                <a:solidFill>
                  <a:srgbClr val="58645D"/>
                </a:solidFill>
                <a:latin typeface="Helvetica Neue"/>
                <a:ea typeface="Helvetica Neue"/>
                <a:cs typeface="Helvetica Neue"/>
              </a:defRPr>
            </a:pPr>
            <a:r>
              <a:rPr sz="1350" b="0">
                <a:solidFill>
                  <a:srgbClr val="58645D"/>
                </a:solidFill>
                <a:latin typeface="Helvetica Neue"/>
                <a:ea typeface="Helvetica Neue"/>
                <a:cs typeface="Helvetica Neue"/>
              </a:rPr>
              <a:t>Original findings report · March 2025</a:t>
            </a:r>
          </a:p>
        </p:txBody>
      </p:sp>
      <p:graphicFrame>
        <p:nvGraphicFramePr>
          <p:cNvPr id="12" name="Chart"/>
          <p:cNvGraphicFramePr/>
          <p:nvPr/>
        </p:nvGraphicFramePr>
        <p:xfrm>
          <a:off xmlns:a="http://schemas.openxmlformats.org/drawingml/2006/main" x="5114925" y="2143125"/>
          <a:ext xmlns:a="http://schemas.openxmlformats.org/drawingml/2006/main" cx="6457950" cy="3590925"/>
        </p:xfrm>
        <a:graphic xmlns:a="http://schemas.openxmlformats.org/drawingml/2006/main">
          <a:graphicData uri="http://schemas.openxmlformats.org/drawingml/2006/chart">
            <c:chart xmlns:r="http://schemas.openxmlformats.org/officeDocument/2006/relationships" xmlns:c="http://schemas.openxmlformats.org/drawingml/2006/chart" r:id="R9cbb9631c3bc4545"/>
          </a:graphicData>
        </a:graphic>
      </p:graphicFrame>
      <p:sp>
        <p:nvSpPr>
          <p:cNvPr id="6" name="barrier-limit">
            <a:extLst xmlns:a="http://schemas.openxmlformats.org/drawingml/2006/main">
              <a:ext uri="{FF2B5EF4-FFF2-40B4-BE49-F238E27FC236}">
                <a16:creationId xmlns:a16="http://schemas.microsoft.com/office/drawing/2014/main" id="{3C939D49-8910-4451-B8CE-5320DB32E359}"/>
              </a:ext>
            </a:extLst>
          </p:cNvPr>
          <p:cNvSpPr>
            <a:spLocks xmlns:a="http://schemas.openxmlformats.org/drawingml/2006/main" noGrp="1"/>
          </p:cNvSpPr>
          <p:nvPr/>
        </p:nvSpPr>
        <p:spPr>
          <a:xfrm xmlns:a="http://schemas.openxmlformats.org/drawingml/2006/main">
            <a:off x="609600" y="6096000"/>
            <a:ext cx="109442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425" b="0">
                <a:solidFill>
                  <a:srgbClr val="58645D"/>
                </a:solidFill>
                <a:latin typeface="Helvetica Neue"/>
                <a:ea typeface="Helvetica Neue"/>
                <a:cs typeface="Helvetica Neue"/>
              </a:defRPr>
            </a:pPr>
            <a:r>
              <a:rPr sz="1425" b="0">
                <a:solidFill>
                  <a:srgbClr val="58645D"/>
                </a:solidFill>
                <a:latin typeface="Helvetica Neue"/>
                <a:ea typeface="Helvetica Neue"/>
                <a:cs typeface="Helvetica Neue"/>
              </a:rPr>
              <a:t>Reported percentages · per-item response base unavailable · voluntary audience sample</a:t>
            </a:r>
          </a:p>
        </p:txBody>
      </p:sp>
      <p:sp>
        <p:nvSpPr>
          <p:cNvPr id="7" name="slide-number">
            <a:extLst xmlns:a="http://schemas.openxmlformats.org/drawingml/2006/main">
              <a:ext uri="{FF2B5EF4-FFF2-40B4-BE49-F238E27FC236}">
                <a16:creationId xmlns:a16="http://schemas.microsoft.com/office/drawing/2014/main" id="{CD7696FF-28B1-48AA-8DB3-0EC57FB8B264}"/>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08</a:t>
            </a:r>
          </a:p>
        </p:txBody>
      </p:sp>
    </p:spTree>
    <p:extLst>
      <p:ext uri="{BB962C8B-B14F-4D97-AF65-F5344CB8AC3E}">
        <p14:creationId xmlns:p14="http://schemas.microsoft.com/office/powerpoint/2010/main" val="53471862"/>
      </p:ext>
    </p:extLst>
  </p:cSld>
</p:sld>
</file>

<file path=ppt/slides/slide9.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12" name="section-label">
            <a:extLst xmlns:a="http://schemas.openxmlformats.org/drawingml/2006/main">
              <a:ext uri="{FF2B5EF4-FFF2-40B4-BE49-F238E27FC236}">
                <a16:creationId xmlns:a16="http://schemas.microsoft.com/office/drawing/2014/main" id="{DB45F393-25DB-4CCF-95C1-9917C4BB51CE}"/>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OAK AI   /   ERROR RECOVERY RECOMMENDATION</a:t>
            </a:r>
          </a:p>
        </p:txBody>
      </p:sp>
      <p:sp>
        <p:nvSpPr>
          <p:cNvPr id="2" name="headline">
            <a:extLst xmlns:a="http://schemas.openxmlformats.org/drawingml/2006/main">
              <a:ext uri="{FF2B5EF4-FFF2-40B4-BE49-F238E27FC236}">
                <a16:creationId xmlns:a16="http://schemas.microsoft.com/office/drawing/2014/main" id="{F3359577-AF89-4411-90A9-75F89BB3DCB7}"/>
              </a:ext>
            </a:extLst>
          </p:cNvPr>
          <p:cNvSpPr>
            <a:spLocks xmlns:a="http://schemas.openxmlformats.org/drawingml/2006/main" noGrp="1"/>
          </p:cNvSpPr>
          <p:nvPr/>
        </p:nvSpPr>
        <p:spPr>
          <a:xfrm xmlns:a="http://schemas.openxmlformats.org/drawingml/2006/main">
            <a:off x="609600" y="1104900"/>
            <a:ext cx="557212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450" b="1">
                <a:solidFill>
                  <a:srgbClr val="192B25"/>
                </a:solidFill>
                <a:latin typeface="Helvetica Neue"/>
                <a:ea typeface="Helvetica Neue"/>
                <a:cs typeface="Helvetica Neue"/>
              </a:defRPr>
            </a:pPr>
            <a:r>
              <a:rPr sz="3450" b="1">
                <a:solidFill>
                  <a:srgbClr val="192B25"/>
                </a:solidFill>
                <a:latin typeface="Helvetica Neue"/>
                <a:ea typeface="Helvetica Neue"/>
                <a:cs typeface="Helvetica Neue"/>
              </a:rPr>
              <a:t>Recovery feedback</a:t>
            </a:r>
          </a:p>
          <a:p xmlns:a="http://schemas.openxmlformats.org/drawingml/2006/main">
            <a:pPr>
              <a:lnSpc>
                <a:spcPct val="110000"/>
              </a:lnSpc>
              <a:buNone/>
              <a:defRPr sz="3450" b="1">
                <a:solidFill>
                  <a:srgbClr val="192B25"/>
                </a:solidFill>
                <a:latin typeface="Helvetica Neue"/>
                <a:ea typeface="Helvetica Neue"/>
                <a:cs typeface="Helvetica Neue"/>
              </a:defRPr>
            </a:pPr>
            <a:r>
              <a:rPr sz="3450" b="1">
                <a:solidFill>
                  <a:srgbClr val="192B25"/>
                </a:solidFill>
                <a:latin typeface="Helvetica Neue"/>
                <a:ea typeface="Helvetica Neue"/>
                <a:cs typeface="Helvetica Neue"/>
              </a:rPr>
              <a:t>needed a clearer location</a:t>
            </a:r>
          </a:p>
        </p:txBody>
      </p:sp>
      <p:sp>
        <p:nvSpPr>
          <p:cNvPr id="3" name="error-observation">
            <a:extLst xmlns:a="http://schemas.openxmlformats.org/drawingml/2006/main">
              <a:ext uri="{FF2B5EF4-FFF2-40B4-BE49-F238E27FC236}">
                <a16:creationId xmlns:a16="http://schemas.microsoft.com/office/drawing/2014/main" id="{425B7822-03AF-4380-829F-ECBE64D88F07}"/>
              </a:ext>
            </a:extLst>
          </p:cNvPr>
          <p:cNvSpPr>
            <a:spLocks xmlns:a="http://schemas.openxmlformats.org/drawingml/2006/main" noGrp="1"/>
          </p:cNvSpPr>
          <p:nvPr/>
        </p:nvSpPr>
        <p:spPr>
          <a:xfrm xmlns:a="http://schemas.openxmlformats.org/drawingml/2006/main">
            <a:off x="609600" y="3105150"/>
            <a:ext cx="3400425"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The existing error appeared at the page footer, away from the login fields.</a:t>
            </a:r>
          </a:p>
        </p:txBody>
      </p:sp>
      <p:sp>
        <p:nvSpPr>
          <p:cNvPr id="4" name="error-recommendation">
            <a:extLst xmlns:a="http://schemas.openxmlformats.org/drawingml/2006/main">
              <a:ext uri="{FF2B5EF4-FFF2-40B4-BE49-F238E27FC236}">
                <a16:creationId xmlns:a16="http://schemas.microsoft.com/office/drawing/2014/main" id="{A60480A4-71F1-43AA-AC6D-78BD3BB287DE}"/>
              </a:ext>
            </a:extLst>
          </p:cNvPr>
          <p:cNvSpPr>
            <a:spLocks xmlns:a="http://schemas.openxmlformats.org/drawingml/2006/main" noGrp="1"/>
          </p:cNvSpPr>
          <p:nvPr/>
        </p:nvSpPr>
        <p:spPr>
          <a:xfrm xmlns:a="http://schemas.openxmlformats.org/drawingml/2006/main">
            <a:off x="609600" y="4819650"/>
            <a:ext cx="340042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1">
                <a:solidFill>
                  <a:srgbClr val="244D3C"/>
                </a:solidFill>
                <a:latin typeface="Helvetica Neue"/>
                <a:ea typeface="Helvetica Neue"/>
                <a:cs typeface="Helvetica Neue"/>
              </a:defRPr>
            </a:pPr>
            <a:r>
              <a:rPr sz="1800" b="1">
                <a:solidFill>
                  <a:srgbClr val="244D3C"/>
                </a:solidFill>
                <a:latin typeface="Helvetica Neue"/>
                <a:ea typeface="Helvetica Neue"/>
                <a:cs typeface="Helvetica Neue"/>
              </a:rPr>
              <a:t>I recommended placing the correction beside the field where someone could act.</a:t>
            </a:r>
          </a:p>
        </p:txBody>
      </p:sp>
      <p:sp>
        <p:nvSpPr>
          <p:cNvPr id="5" name="original-label">
            <a:extLst xmlns:a="http://schemas.openxmlformats.org/drawingml/2006/main">
              <a:ext uri="{FF2B5EF4-FFF2-40B4-BE49-F238E27FC236}">
                <a16:creationId xmlns:a16="http://schemas.microsoft.com/office/drawing/2014/main" id="{6DAB195F-08DB-4E06-A2DC-A4B4B16CD1CB}"/>
              </a:ext>
            </a:extLst>
          </p:cNvPr>
          <p:cNvSpPr>
            <a:spLocks xmlns:a="http://schemas.openxmlformats.org/drawingml/2006/main" noGrp="1"/>
          </p:cNvSpPr>
          <p:nvPr/>
        </p:nvSpPr>
        <p:spPr>
          <a:xfrm xmlns:a="http://schemas.openxmlformats.org/drawingml/2006/main">
            <a:off x="4419600" y="2609850"/>
            <a:ext cx="3257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Original</a:t>
            </a:r>
          </a:p>
        </p:txBody>
      </p:sp>
      <p:sp>
        <p:nvSpPr>
          <p:cNvPr id="6" name="proposed-label">
            <a:extLst xmlns:a="http://schemas.openxmlformats.org/drawingml/2006/main">
              <a:ext uri="{FF2B5EF4-FFF2-40B4-BE49-F238E27FC236}">
                <a16:creationId xmlns:a16="http://schemas.microsoft.com/office/drawing/2014/main" id="{E13E1D4D-71E5-4953-B03B-351527C07E77}"/>
              </a:ext>
            </a:extLst>
          </p:cNvPr>
          <p:cNvSpPr>
            <a:spLocks xmlns:a="http://schemas.openxmlformats.org/drawingml/2006/main" noGrp="1"/>
          </p:cNvSpPr>
          <p:nvPr/>
        </p:nvSpPr>
        <p:spPr>
          <a:xfrm xmlns:a="http://schemas.openxmlformats.org/drawingml/2006/main">
            <a:off x="8086725" y="2609850"/>
            <a:ext cx="3257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Proposed</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740214813b72448d"/>
          <a:stretch xmlns:a="http://schemas.openxmlformats.org/drawingml/2006/main"/>
        </p:blipFill>
        <p:spPr>
          <a:xfrm xmlns:a="http://schemas.openxmlformats.org/drawingml/2006/main">
            <a:off x="4419600" y="3079091"/>
            <a:ext cx="3257550" cy="2642918"/>
          </a:xfrm>
          <a:prstGeom xmlns:a="http://schemas.openxmlformats.org/drawingml/2006/main" prst="rect">
            <a:avLst/>
          </a:prstGeom>
        </p:spPr>
      </p:pic>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14b72c7ecd1a46cd"/>
          <a:stretch xmlns:a="http://schemas.openxmlformats.org/drawingml/2006/main"/>
        </p:blipFill>
        <p:spPr>
          <a:xfrm xmlns:a="http://schemas.openxmlformats.org/drawingml/2006/main">
            <a:off x="8086725" y="3233261"/>
            <a:ext cx="3257550" cy="2334578"/>
          </a:xfrm>
          <a:prstGeom xmlns:a="http://schemas.openxmlformats.org/drawingml/2006/main" prst="rect">
            <a:avLst/>
          </a:prstGeom>
        </p:spPr>
      </p:pic>
      <p:sp>
        <p:nvSpPr>
          <p:cNvPr id="9" name="footer-label">
            <a:extLst xmlns:a="http://schemas.openxmlformats.org/drawingml/2006/main">
              <a:ext uri="{FF2B5EF4-FFF2-40B4-BE49-F238E27FC236}">
                <a16:creationId xmlns:a16="http://schemas.microsoft.com/office/drawing/2014/main" id="{9A0D0F2B-9CBB-4A47-AA9B-4EF945A54104}"/>
              </a:ext>
            </a:extLst>
          </p:cNvPr>
          <p:cNvSpPr>
            <a:spLocks xmlns:a="http://schemas.openxmlformats.org/drawingml/2006/main" noGrp="1"/>
          </p:cNvSpPr>
          <p:nvPr/>
        </p:nvSpPr>
        <p:spPr>
          <a:xfrm xmlns:a="http://schemas.openxmlformats.org/drawingml/2006/main">
            <a:off x="4419600" y="5876925"/>
            <a:ext cx="3257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0">
                <a:solidFill>
                  <a:srgbClr val="58645D"/>
                </a:solidFill>
                <a:latin typeface="Helvetica Neue"/>
                <a:ea typeface="Helvetica Neue"/>
                <a:cs typeface="Helvetica Neue"/>
              </a:defRPr>
            </a:pPr>
            <a:r>
              <a:rPr sz="1200" b="0">
                <a:solidFill>
                  <a:srgbClr val="58645D"/>
                </a:solidFill>
                <a:latin typeface="Helvetica Neue"/>
                <a:ea typeface="Helvetica Neue"/>
                <a:cs typeface="Helvetica Neue"/>
              </a:rPr>
              <a:t>Original page-footer error</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79394ac8d2f14563"/>
          <a:stretch xmlns:a="http://schemas.openxmlformats.org/drawingml/2006/main"/>
        </p:blipFill>
        <p:spPr>
          <a:xfrm xmlns:a="http://schemas.openxmlformats.org/drawingml/2006/main">
            <a:off x="4419600" y="6182704"/>
            <a:ext cx="3257550" cy="312368"/>
          </a:xfrm>
          <a:prstGeom xmlns:a="http://schemas.openxmlformats.org/drawingml/2006/main" prst="rect">
            <a:avLst/>
          </a:prstGeom>
        </p:spPr>
      </p:pic>
      <p:sp>
        <p:nvSpPr>
          <p:cNvPr id="11" name="slide-number">
            <a:extLst xmlns:a="http://schemas.openxmlformats.org/drawingml/2006/main">
              <a:ext uri="{FF2B5EF4-FFF2-40B4-BE49-F238E27FC236}">
                <a16:creationId xmlns:a16="http://schemas.microsoft.com/office/drawing/2014/main" id="{82A18A39-1719-4AC7-A5BE-2BC9E0A2E9E8}"/>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09</a:t>
            </a:r>
          </a:p>
        </p:txBody>
      </p:sp>
    </p:spTree>
    <p:extLst>
      <p:ext uri="{BB962C8B-B14F-4D97-AF65-F5344CB8AC3E}">
        <p14:creationId xmlns:p14="http://schemas.microsoft.com/office/powerpoint/2010/main" val="1377364760"/>
      </p:ext>
    </p:extLst>
  </p:cSld>
</p:sld>
</file>

<file path=ppt/slides/slide10.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9A426070-6E8C-432F-8EAC-8C76AFDD164B}"/>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COURSERA   /   ORIGINAL SUMMARY AND PROPOSED NEXT CHECK</a:t>
            </a:r>
          </a:p>
        </p:txBody>
      </p:sp>
      <p:sp>
        <p:nvSpPr>
          <p:cNvPr id="2" name="headline">
            <a:extLst xmlns:a="http://schemas.openxmlformats.org/drawingml/2006/main">
              <a:ext uri="{FF2B5EF4-FFF2-40B4-BE49-F238E27FC236}">
                <a16:creationId xmlns:a16="http://schemas.microsoft.com/office/drawing/2014/main" id="{4EA87450-C051-45AD-84E2-B1CA91F0EC2E}"/>
              </a:ext>
            </a:extLst>
          </p:cNvPr>
          <p:cNvSpPr>
            <a:spLocks xmlns:a="http://schemas.openxmlformats.org/drawingml/2006/main" noGrp="1"/>
          </p:cNvSpPr>
          <p:nvPr/>
        </p:nvSpPr>
        <p:spPr>
          <a:xfrm xmlns:a="http://schemas.openxmlformats.org/drawingml/2006/main">
            <a:off x="609600" y="1104900"/>
            <a:ext cx="5429250" cy="1343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525" b="1">
                <a:solidFill>
                  <a:srgbClr val="192B25"/>
                </a:solidFill>
                <a:latin typeface="Helvetica Neue"/>
                <a:ea typeface="Helvetica Neue"/>
                <a:cs typeface="Helvetica Neue"/>
              </a:defRPr>
            </a:pPr>
            <a:r>
              <a:rPr sz="3525" b="1">
                <a:solidFill>
                  <a:srgbClr val="192B25"/>
                </a:solidFill>
                <a:latin typeface="Helvetica Neue"/>
                <a:ea typeface="Helvetica Neue"/>
                <a:cs typeface="Helvetica Neue"/>
              </a:rPr>
              <a:t>Check whether</a:t>
            </a:r>
          </a:p>
          <a:p xmlns:a="http://schemas.openxmlformats.org/drawingml/2006/main">
            <a:pPr>
              <a:lnSpc>
                <a:spcPct val="110000"/>
              </a:lnSpc>
              <a:buNone/>
              <a:defRPr sz="3525" b="1">
                <a:solidFill>
                  <a:srgbClr val="192B25"/>
                </a:solidFill>
                <a:latin typeface="Helvetica Neue"/>
                <a:ea typeface="Helvetica Neue"/>
                <a:cs typeface="Helvetica Neue"/>
              </a:defRPr>
            </a:pPr>
            <a:r>
              <a:rPr sz="3525" b="1">
                <a:solidFill>
                  <a:srgbClr val="192B25"/>
                </a:solidFill>
                <a:latin typeface="Helvetica Neue"/>
                <a:ea typeface="Helvetica Neue"/>
                <a:cs typeface="Helvetica Neue"/>
              </a:rPr>
              <a:t>the skill transfers</a:t>
            </a:r>
          </a:p>
        </p:txBody>
      </p:sp>
      <p:sp>
        <p:nvSpPr>
          <p:cNvPr id="3" name="transfer-proposal">
            <a:extLst xmlns:a="http://schemas.openxmlformats.org/drawingml/2006/main">
              <a:ext uri="{FF2B5EF4-FFF2-40B4-BE49-F238E27FC236}">
                <a16:creationId xmlns:a16="http://schemas.microsoft.com/office/drawing/2014/main" id="{D62F0805-EF41-46D1-9B6A-3B9187384193}"/>
              </a:ext>
            </a:extLst>
          </p:cNvPr>
          <p:cNvSpPr>
            <a:spLocks xmlns:a="http://schemas.openxmlformats.org/drawingml/2006/main" noGrp="1"/>
          </p:cNvSpPr>
          <p:nvPr/>
        </p:nvSpPr>
        <p:spPr>
          <a:xfrm xmlns:a="http://schemas.openxmlformats.org/drawingml/2006/main">
            <a:off x="609600" y="3171825"/>
            <a:ext cx="451485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0">
                <a:solidFill>
                  <a:srgbClr val="192B25"/>
                </a:solidFill>
                <a:latin typeface="Helvetica Neue"/>
                <a:ea typeface="Helvetica Neue"/>
                <a:cs typeface="Helvetica Neue"/>
              </a:defRPr>
            </a:pPr>
            <a:r>
              <a:rPr sz="1950" b="0">
                <a:solidFill>
                  <a:srgbClr val="192B25"/>
                </a:solidFill>
                <a:latin typeface="Helvetica Neue"/>
                <a:ea typeface="Helvetica Neue"/>
                <a:cs typeface="Helvetica Neue"/>
              </a:rPr>
              <a:t>For a different task, I would ask a learner to identify an unsupported detail, choose a revision, and explain why the next draft serves the goal.</a:t>
            </a:r>
          </a:p>
        </p:txBody>
      </p:sp>
      <p:sp>
        <p:nvSpPr>
          <p:cNvPr id="4" name="transfer-limit">
            <a:extLst xmlns:a="http://schemas.openxmlformats.org/drawingml/2006/main">
              <a:ext uri="{FF2B5EF4-FFF2-40B4-BE49-F238E27FC236}">
                <a16:creationId xmlns:a16="http://schemas.microsoft.com/office/drawing/2014/main" id="{35C01F3F-01EE-4EB3-AAB5-64A6E999836B}"/>
              </a:ext>
            </a:extLst>
          </p:cNvPr>
          <p:cNvSpPr>
            <a:spLocks xmlns:a="http://schemas.openxmlformats.org/drawingml/2006/main" noGrp="1"/>
          </p:cNvSpPr>
          <p:nvPr/>
        </p:nvSpPr>
        <p:spPr>
          <a:xfrm xmlns:a="http://schemas.openxmlformats.org/drawingml/2006/main">
            <a:off x="609600" y="5457825"/>
            <a:ext cx="45148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50" b="0">
                <a:solidFill>
                  <a:srgbClr val="58645D"/>
                </a:solidFill>
                <a:latin typeface="Helvetica Neue"/>
                <a:ea typeface="Helvetica Neue"/>
                <a:cs typeface="Helvetica Neue"/>
              </a:defRPr>
            </a:pPr>
            <a:r>
              <a:rPr sz="1650" b="0">
                <a:solidFill>
                  <a:srgbClr val="58645D"/>
                </a:solidFill>
                <a:latin typeface="Helvetica Neue"/>
                <a:ea typeface="Helvetica Neue"/>
                <a:cs typeface="Helvetica Neue"/>
              </a:rPr>
              <a:t>This is a proposed assessment drawn from the lesson, not a reported learner study.</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17d2c762a6814571"/>
          <a:stretch xmlns:a="http://schemas.openxmlformats.org/drawingml/2006/main"/>
        </p:blipFill>
        <p:spPr>
          <a:xfrm xmlns:a="http://schemas.openxmlformats.org/drawingml/2006/main">
            <a:off x="5621856" y="2619375"/>
            <a:ext cx="5920339" cy="3352800"/>
          </a:xfrm>
          <a:prstGeom xmlns:a="http://schemas.openxmlformats.org/drawingml/2006/main" prst="rect">
            <a:avLst/>
          </a:prstGeom>
        </p:spPr>
      </p:pic>
      <p:sp>
        <p:nvSpPr>
          <p:cNvPr id="6" name="slide-number">
            <a:extLst xmlns:a="http://schemas.openxmlformats.org/drawingml/2006/main">
              <a:ext uri="{FF2B5EF4-FFF2-40B4-BE49-F238E27FC236}">
                <a16:creationId xmlns:a16="http://schemas.microsoft.com/office/drawing/2014/main" id="{CD3DEC30-6B31-4D5E-8BBA-1E2746DA22D4}"/>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10</a:t>
            </a:r>
          </a:p>
        </p:txBody>
      </p:sp>
    </p:spTree>
    <p:extLst>
      <p:ext uri="{BB962C8B-B14F-4D97-AF65-F5344CB8AC3E}">
        <p14:creationId xmlns:p14="http://schemas.microsoft.com/office/powerpoint/2010/main" val="1320833854"/>
      </p:ext>
    </p:extLst>
  </p:cSld>
</p:sld>
</file>

<file path=ppt/slides/slide11.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3C86FB80-348C-4DE0-9759-14E219A41DB0}"/>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PROPOSED APPROACH   /   PLAYLAB</a:t>
            </a:r>
          </a:p>
        </p:txBody>
      </p:sp>
      <p:sp>
        <p:nvSpPr>
          <p:cNvPr id="2" name="headline">
            <a:extLst xmlns:a="http://schemas.openxmlformats.org/drawingml/2006/main">
              <a:ext uri="{FF2B5EF4-FFF2-40B4-BE49-F238E27FC236}">
                <a16:creationId xmlns:a16="http://schemas.microsoft.com/office/drawing/2014/main" id="{1E590AA8-E370-49EE-A62C-9D654E788E85}"/>
              </a:ext>
            </a:extLst>
          </p:cNvPr>
          <p:cNvSpPr>
            <a:spLocks xmlns:a="http://schemas.openxmlformats.org/drawingml/2006/main" noGrp="1"/>
          </p:cNvSpPr>
          <p:nvPr/>
        </p:nvSpPr>
        <p:spPr>
          <a:xfrm xmlns:a="http://schemas.openxmlformats.org/drawingml/2006/main">
            <a:off x="609600" y="1323975"/>
            <a:ext cx="6343650" cy="1514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525" b="1">
                <a:solidFill>
                  <a:srgbClr val="192B25"/>
                </a:solidFill>
                <a:latin typeface="Helvetica Neue"/>
                <a:ea typeface="Helvetica Neue"/>
                <a:cs typeface="Helvetica Neue"/>
              </a:defRPr>
            </a:pPr>
            <a:r>
              <a:rPr sz="3525" b="1">
                <a:solidFill>
                  <a:srgbClr val="192B25"/>
                </a:solidFill>
                <a:latin typeface="Helvetica Neue"/>
                <a:ea typeface="Helvetica Neue"/>
                <a:cs typeface="Helvetica Neue"/>
              </a:rPr>
              <a:t>Watch an educator</a:t>
            </a:r>
          </a:p>
          <a:p xmlns:a="http://schemas.openxmlformats.org/drawingml/2006/main">
            <a:pPr>
              <a:lnSpc>
                <a:spcPct val="110000"/>
              </a:lnSpc>
              <a:buNone/>
              <a:defRPr sz="3525" b="1">
                <a:solidFill>
                  <a:srgbClr val="192B25"/>
                </a:solidFill>
                <a:latin typeface="Helvetica Neue"/>
                <a:ea typeface="Helvetica Neue"/>
                <a:cs typeface="Helvetica Neue"/>
              </a:defRPr>
            </a:pPr>
            <a:r>
              <a:rPr sz="3525" b="1">
                <a:solidFill>
                  <a:srgbClr val="192B25"/>
                </a:solidFill>
                <a:latin typeface="Helvetica Neue"/>
                <a:ea typeface="Helvetica Neue"/>
                <a:cs typeface="Helvetica Neue"/>
              </a:rPr>
              <a:t>make the next change</a:t>
            </a:r>
          </a:p>
        </p:txBody>
      </p:sp>
      <p:sp>
        <p:nvSpPr>
          <p:cNvPr id="3" name="design-question">
            <a:extLst xmlns:a="http://schemas.openxmlformats.org/drawingml/2006/main">
              <a:ext uri="{FF2B5EF4-FFF2-40B4-BE49-F238E27FC236}">
                <a16:creationId xmlns:a16="http://schemas.microsoft.com/office/drawing/2014/main" id="{1DB74570-1F7E-49CE-AEE9-134062B76ECB}"/>
              </a:ext>
            </a:extLst>
          </p:cNvPr>
          <p:cNvSpPr>
            <a:spLocks xmlns:a="http://schemas.openxmlformats.org/drawingml/2006/main" noGrp="1"/>
          </p:cNvSpPr>
          <p:nvPr/>
        </p:nvSpPr>
        <p:spPr>
          <a:xfrm xmlns:a="http://schemas.openxmlformats.org/drawingml/2006/main">
            <a:off x="609600" y="3333750"/>
            <a:ext cx="545782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When an AI draft misses the learning goal, can a first-time builder decide what to change?</a:t>
            </a:r>
          </a:p>
        </p:txBody>
      </p:sp>
      <p:sp>
        <p:nvSpPr>
          <p:cNvPr id="4" name="design-plan">
            <a:extLst xmlns:a="http://schemas.openxmlformats.org/drawingml/2006/main">
              <a:ext uri="{FF2B5EF4-FFF2-40B4-BE49-F238E27FC236}">
                <a16:creationId xmlns:a16="http://schemas.microsoft.com/office/drawing/2014/main" id="{F2A5477B-90C3-4218-BA98-4DAB0011A31E}"/>
              </a:ext>
            </a:extLst>
          </p:cNvPr>
          <p:cNvSpPr>
            <a:spLocks xmlns:a="http://schemas.openxmlformats.org/drawingml/2006/main" noGrp="1"/>
          </p:cNvSpPr>
          <p:nvPr/>
        </p:nvSpPr>
        <p:spPr>
          <a:xfrm xmlns:a="http://schemas.openxmlformats.org/drawingml/2006/main">
            <a:off x="609600" y="4953000"/>
            <a:ext cx="5457825"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a:solidFill>
                  <a:srgbClr val="58645D"/>
                </a:solidFill>
                <a:latin typeface="Helvetica Neue"/>
                <a:ea typeface="Helvetica Neue"/>
                <a:cs typeface="Helvetica Neue"/>
              </a:defRPr>
            </a:pPr>
            <a:r>
              <a:rPr sz="1725" b="0">
                <a:solidFill>
                  <a:srgbClr val="58645D"/>
                </a:solidFill>
                <a:latin typeface="Helvetica Neue"/>
                <a:ea typeface="Helvetica Neue"/>
                <a:cs typeface="Helvetica Neue"/>
              </a:rPr>
              <a:t>Observe a real task. Prototype one revision step with an engineer. Test whether the educator can explain the change and judge its result.</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927275635916452b"/>
          <a:stretch xmlns:a="http://schemas.openxmlformats.org/drawingml/2006/main"/>
        </p:blipFill>
        <p:spPr>
          <a:xfrm xmlns:a="http://schemas.openxmlformats.org/drawingml/2006/main">
            <a:off x="7010400" y="1447800"/>
            <a:ext cx="4876800" cy="4876800"/>
          </a:xfrm>
          <a:prstGeom xmlns:a="http://schemas.openxmlformats.org/drawingml/2006/main" prst="rect">
            <a:avLst/>
          </a:prstGeom>
        </p:spPr>
      </p:pic>
      <p:sp>
        <p:nvSpPr>
          <p:cNvPr id="6" name="slide-number">
            <a:extLst xmlns:a="http://schemas.openxmlformats.org/drawingml/2006/main">
              <a:ext uri="{FF2B5EF4-FFF2-40B4-BE49-F238E27FC236}">
                <a16:creationId xmlns:a16="http://schemas.microsoft.com/office/drawing/2014/main" id="{E3854016-E0C0-483E-B544-A4A20CBCE977}"/>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11</a:t>
            </a:r>
          </a:p>
        </p:txBody>
      </p:sp>
    </p:spTree>
    <p:extLst>
      <p:ext uri="{BB962C8B-B14F-4D97-AF65-F5344CB8AC3E}">
        <p14:creationId xmlns:p14="http://schemas.microsoft.com/office/powerpoint/2010/main" val="1610343301"/>
      </p:ext>
    </p:extLst>
  </p:cSld>
</p:sld>
</file>

<file path=ppt/slides/slide12.xml><?xml version="1.0" encoding="utf-8"?>
<p:sld xmlns:p="http://schemas.openxmlformats.org/presentationml/2006/main">
  <p:cSld>
    <p:bg>
      <p:bgPr>
        <a:solidFill xmlns:a="http://schemas.openxmlformats.org/drawingml/2006/main">
          <a:srgbClr val="244D3C"/>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30E9A713-EC20-4C62-909B-1503E7799D04}"/>
              </a:ext>
            </a:extLst>
          </p:cNvPr>
          <p:cNvSpPr>
            <a:spLocks xmlns:a="http://schemas.openxmlformats.org/drawingml/2006/main" noGrp="1"/>
          </p:cNvSpPr>
          <p:nvPr/>
        </p:nvSpPr>
        <p:spPr>
          <a:xfrm xmlns:a="http://schemas.openxmlformats.org/drawingml/2006/main">
            <a:off x="609600" y="52387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DBEB89"/>
                </a:solidFill>
                <a:latin typeface="Helvetica Neue"/>
                <a:ea typeface="Helvetica Neue"/>
                <a:cs typeface="Helvetica Neue"/>
              </a:defRPr>
            </a:pPr>
            <a:r>
              <a:rPr sz="1200" b="1">
                <a:solidFill>
                  <a:srgbClr val="DBEB89"/>
                </a:solidFill>
                <a:latin typeface="Helvetica Neue"/>
                <a:ea typeface="Helvetica Neue"/>
                <a:cs typeface="Helvetica Neue"/>
              </a:rPr>
              <a:t>KYLE HOBSON   /   PLAYLAB · PRODUCT DESIGN</a:t>
            </a:r>
          </a:p>
        </p:txBody>
      </p:sp>
      <p:sp>
        <p:nvSpPr>
          <p:cNvPr id="2" name="headline">
            <a:extLst xmlns:a="http://schemas.openxmlformats.org/drawingml/2006/main">
              <a:ext uri="{FF2B5EF4-FFF2-40B4-BE49-F238E27FC236}">
                <a16:creationId xmlns:a16="http://schemas.microsoft.com/office/drawing/2014/main" id="{941C1D39-9DAE-46FC-8DBA-76BFF4D17CB0}"/>
              </a:ext>
            </a:extLst>
          </p:cNvPr>
          <p:cNvSpPr>
            <a:spLocks xmlns:a="http://schemas.openxmlformats.org/drawingml/2006/main" noGrp="1"/>
          </p:cNvSpPr>
          <p:nvPr/>
        </p:nvSpPr>
        <p:spPr>
          <a:xfrm xmlns:a="http://schemas.openxmlformats.org/drawingml/2006/main">
            <a:off x="609600" y="1647825"/>
            <a:ext cx="10287000" cy="1885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4800" b="1">
                <a:solidFill>
                  <a:srgbClr val="F4F2E9"/>
                </a:solidFill>
                <a:latin typeface="Helvetica Neue"/>
                <a:ea typeface="Helvetica Neue"/>
                <a:cs typeface="Helvetica Neue"/>
              </a:defRPr>
            </a:pPr>
            <a:r>
              <a:rPr sz="4800" b="1">
                <a:solidFill>
                  <a:srgbClr val="F4F2E9"/>
                </a:solidFill>
                <a:latin typeface="Helvetica Neue"/>
                <a:ea typeface="Helvetica Neue"/>
                <a:cs typeface="Helvetica Neue"/>
              </a:rPr>
              <a:t>Let’s make the</a:t>
            </a:r>
          </a:p>
          <a:p xmlns:a="http://schemas.openxmlformats.org/drawingml/2006/main">
            <a:pPr>
              <a:lnSpc>
                <a:spcPct val="110000"/>
              </a:lnSpc>
              <a:buNone/>
              <a:defRPr sz="4800" b="1">
                <a:solidFill>
                  <a:srgbClr val="F4F2E9"/>
                </a:solidFill>
                <a:latin typeface="Helvetica Neue"/>
                <a:ea typeface="Helvetica Neue"/>
                <a:cs typeface="Helvetica Neue"/>
              </a:defRPr>
            </a:pPr>
            <a:r>
              <a:rPr sz="4800" b="1">
                <a:solidFill>
                  <a:srgbClr val="F4F2E9"/>
                </a:solidFill>
                <a:latin typeface="Helvetica Neue"/>
                <a:ea typeface="Helvetica Neue"/>
                <a:cs typeface="Helvetica Neue"/>
              </a:rPr>
              <a:t>next step clearer</a:t>
            </a:r>
          </a:p>
        </p:txBody>
      </p:sp>
      <p:sp>
        <p:nvSpPr>
          <p:cNvPr id="3" name="contact-intent">
            <a:extLst xmlns:a="http://schemas.openxmlformats.org/drawingml/2006/main">
              <a:ext uri="{FF2B5EF4-FFF2-40B4-BE49-F238E27FC236}">
                <a16:creationId xmlns:a16="http://schemas.microsoft.com/office/drawing/2014/main" id="{03F184F5-A5CA-4669-9F8A-4DB64F17480D}"/>
              </a:ext>
            </a:extLst>
          </p:cNvPr>
          <p:cNvSpPr>
            <a:spLocks xmlns:a="http://schemas.openxmlformats.org/drawingml/2006/main" noGrp="1"/>
          </p:cNvSpPr>
          <p:nvPr/>
        </p:nvSpPr>
        <p:spPr>
          <a:xfrm xmlns:a="http://schemas.openxmlformats.org/drawingml/2006/main">
            <a:off x="647700" y="3943350"/>
            <a:ext cx="100203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F4F2E9"/>
                </a:solidFill>
                <a:latin typeface="Helvetica Neue"/>
                <a:ea typeface="Helvetica Neue"/>
                <a:cs typeface="Helvetica Neue"/>
              </a:defRPr>
            </a:pPr>
            <a:r>
              <a:rPr sz="2025" b="0">
                <a:solidFill>
                  <a:srgbClr val="F4F2E9"/>
                </a:solidFill>
                <a:latin typeface="Helvetica Neue"/>
                <a:ea typeface="Helvetica Neue"/>
                <a:cs typeface="Helvetica Neue"/>
              </a:rPr>
              <a:t>Based in Mesa, Arizona. Available for remote work in the United States and ready to start as soon as possible.</a:t>
            </a:r>
          </a:p>
        </p:txBody>
      </p:sp>
      <p:sp>
        <p:nvSpPr>
          <p:cNvPr id="4" name="email">
            <a:extLst xmlns:a="http://schemas.openxmlformats.org/drawingml/2006/main">
              <a:ext uri="{FF2B5EF4-FFF2-40B4-BE49-F238E27FC236}">
                <a16:creationId xmlns:a16="http://schemas.microsoft.com/office/drawing/2014/main" id="{6A6E7EE2-B74C-49E2-9C33-A9723880EDA9}"/>
              </a:ext>
            </a:extLst>
          </p:cNvPr>
          <p:cNvSpPr>
            <a:spLocks xmlns:a="http://schemas.openxmlformats.org/drawingml/2006/main" noGrp="1"/>
          </p:cNvSpPr>
          <p:nvPr/>
        </p:nvSpPr>
        <p:spPr>
          <a:xfrm xmlns:a="http://schemas.openxmlformats.org/drawingml/2006/main">
            <a:off x="647700" y="5057775"/>
            <a:ext cx="10191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0" u="sng">
                <a:solidFill>
                  <a:srgbClr val="DBEB89"/>
                </a:solidFill>
                <a:latin typeface="Helvetica Neue"/>
                <a:ea typeface="Helvetica Neue"/>
                <a:cs typeface="Helvetica Neue"/>
              </a:defRPr>
            </a:pPr>
            <a:r>
              <a:rPr sz="1875" b="0" u="sng">
                <a:solidFill>
                  <a:srgbClr val="DBEB89"/>
                </a:solidFill>
                <a:latin typeface="Helvetica Neue"/>
                <a:ea typeface="Helvetica Neue"/>
                <a:cs typeface="Helvetica Neue"/>
                <a:hlinkClick xmlns:r="http://schemas.openxmlformats.org/officeDocument/2006/relationships" r:id="R2c69fa49f4784352"/>
              </a:rPr>
              <a:t>JonathanKyleHobson@gmail.com</a:t>
            </a:r>
          </a:p>
        </p:txBody>
      </p:sp>
      <p:sp>
        <p:nvSpPr>
          <p:cNvPr id="5" name="portfolio">
            <a:extLst xmlns:a="http://schemas.openxmlformats.org/drawingml/2006/main">
              <a:ext uri="{FF2B5EF4-FFF2-40B4-BE49-F238E27FC236}">
                <a16:creationId xmlns:a16="http://schemas.microsoft.com/office/drawing/2014/main" id="{7F80CF81-62C2-4D2E-B2AD-75C2A66326D9}"/>
              </a:ext>
            </a:extLst>
          </p:cNvPr>
          <p:cNvSpPr>
            <a:spLocks xmlns:a="http://schemas.openxmlformats.org/drawingml/2006/main" noGrp="1"/>
          </p:cNvSpPr>
          <p:nvPr/>
        </p:nvSpPr>
        <p:spPr>
          <a:xfrm xmlns:a="http://schemas.openxmlformats.org/drawingml/2006/main">
            <a:off x="647700" y="5705475"/>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575" b="0" u="sng">
                <a:solidFill>
                  <a:srgbClr val="DBEB89"/>
                </a:solidFill>
                <a:latin typeface="Helvetica Neue"/>
                <a:ea typeface="Helvetica Neue"/>
                <a:cs typeface="Helvetica Neue"/>
              </a:defRPr>
            </a:pPr>
            <a:r>
              <a:rPr sz="1575" b="0" u="sng">
                <a:solidFill>
                  <a:srgbClr val="DBEB89"/>
                </a:solidFill>
                <a:latin typeface="Helvetica Neue"/>
                <a:ea typeface="Helvetica Neue"/>
                <a:cs typeface="Helvetica Neue"/>
                <a:hlinkClick xmlns:r="http://schemas.openxmlformats.org/officeDocument/2006/relationships" r:id="R345d41000bc24ac5"/>
              </a:rPr>
              <a:t>jonathankhobson.github.io/application-portfolios/playlab-product-designer</a:t>
            </a:r>
          </a:p>
        </p:txBody>
      </p:sp>
      <p:sp>
        <p:nvSpPr>
          <p:cNvPr id="6" name="slide-number">
            <a:extLst xmlns:a="http://schemas.openxmlformats.org/drawingml/2006/main">
              <a:ext uri="{FF2B5EF4-FFF2-40B4-BE49-F238E27FC236}">
                <a16:creationId xmlns:a16="http://schemas.microsoft.com/office/drawing/2014/main" id="{8AD6763B-AB67-4C65-A517-AE03D05B6E2A}"/>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DBEB89"/>
                </a:solidFill>
                <a:latin typeface="Helvetica Neue"/>
                <a:ea typeface="Helvetica Neue"/>
                <a:cs typeface="Helvetica Neue"/>
              </a:defRPr>
            </a:pPr>
            <a:r>
              <a:rPr sz="1050" b="0">
                <a:solidFill>
                  <a:srgbClr val="DBEB89"/>
                </a:solidFill>
                <a:latin typeface="Helvetica Neue"/>
                <a:ea typeface="Helvetica Neue"/>
                <a:cs typeface="Helvetica Neue"/>
              </a:rPr>
              <a:t>12</a:t>
            </a:r>
          </a:p>
        </p:txBody>
      </p:sp>
    </p:spTree>
    <p:extLst>
      <p:ext uri="{BB962C8B-B14F-4D97-AF65-F5344CB8AC3E}">
        <p14:creationId xmlns:p14="http://schemas.microsoft.com/office/powerpoint/2010/main" val="1643170016"/>
      </p:ext>
    </p:extLst>
  </p:cSld>
</p:sld>
</file>

<file path=ppt/theme/theme1.xml><?xml version="1.0" encoding="utf-8"?>
<a:theme xmlns:a="http://schemas.openxmlformats.org/drawingml/2006/main" name="ChatGPT">
  <a:themeElements>
    <a:clrScheme name="Kyle Portfolio">
      <a:dk1>
        <a:srgbClr val="192B25"/>
      </a:dk1>
      <a:lt1>
        <a:srgbClr val="FFFFFF"/>
      </a:lt1>
      <a:dk2>
        <a:srgbClr val="244D3C"/>
      </a:dk2>
      <a:lt2>
        <a:srgbClr val="F4F2E9"/>
      </a:lt2>
      <a:accent1>
        <a:srgbClr val="244D3C"/>
      </a:accent1>
      <a:accent2>
        <a:srgbClr val="DBEB89"/>
      </a:accent2>
      <a:accent3>
        <a:srgbClr val="E1E8DB"/>
      </a:accent3>
      <a:accent4>
        <a:srgbClr val="58645D"/>
      </a:accent4>
      <a:accent5>
        <a:srgbClr val="192B25"/>
      </a:accent5>
      <a:accent6>
        <a:srgbClr val="F4F2E9"/>
      </a:accent6>
      <a:hlink>
        <a:srgbClr val="DBEB89"/>
      </a:hlink>
      <a:folHlink>
        <a:srgbClr val="DBEB89"/>
      </a:folHlink>
    </a:clrScheme>
    <a:fontScheme name="Office">
      <a:majorFont>
        <a:latin typeface="Calibri Light"/>
        <a:ea typeface="Calibri Light"/>
        <a:cs typeface="Calibri Light"/>
      </a:majorFont>
      <a:minorFont>
        <a:latin typeface="Calibri"/>
        <a:ea typeface="Calibri"/>
        <a:cs typeface="Calibri"/>
      </a:minorFont>
    </a:fontScheme>
    <a:fmtScheme name="Kyle Portfoli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2026-09-08T23:09:02.2270000Z</dcterms:created>
  <dcterms:modified xsi:type="dcterms:W3CDTF">2026-09-08T23:09:02.2270000Z</dcterms:modified>
</coreProperties>
</file>