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d44bf03b4c42ff" /><Relationship Type="http://schemas.openxmlformats.org/officeDocument/2006/relationships/extended-properties" Target="/docProps/app.xml" Id="R02db695a2b9e4c5e" /><Relationship Type="http://schemas.openxmlformats.org/officeDocument/2006/relationships/officeDocument" Target="/ppt/presentation.xml" Id="R6af1380d0b9a465f" /></Relationships>
</file>

<file path=ppt/presentation.xml><?xml version="1.0" encoding="utf-8"?>
<p:presentation xmlns:p="http://schemas.openxmlformats.org/presentationml/2006/main">
  <p:sldMasterIdLst>
    <p:sldMasterId xmlns:r="http://schemas.openxmlformats.org/officeDocument/2006/relationships" id="2147483648" r:id="Rf58e6679486a4a34"/>
  </p:sldMasterIdLst>
  <p:notesMasterIdLst>
    <p:notesMasterId xmlns:r="http://schemas.openxmlformats.org/officeDocument/2006/relationships" r:id="R1fe19105b18e444a"/>
  </p:notesMasterIdLst>
  <p:sldIdLst>
    <p:sldId xmlns:r="http://schemas.openxmlformats.org/officeDocument/2006/relationships" id="256" r:id="Rc3634d48ce3f4de1"/>
    <p:sldId xmlns:r="http://schemas.openxmlformats.org/officeDocument/2006/relationships" id="257" r:id="R11fd7aebb75a43a2"/>
    <p:sldId xmlns:r="http://schemas.openxmlformats.org/officeDocument/2006/relationships" id="258" r:id="Rbaac0ce72f2b4bfe"/>
    <p:sldId xmlns:r="http://schemas.openxmlformats.org/officeDocument/2006/relationships" id="259" r:id="R946cd567d50943b3"/>
    <p:sldId xmlns:r="http://schemas.openxmlformats.org/officeDocument/2006/relationships" id="260" r:id="Ra8abf964a6f0417d"/>
    <p:sldId xmlns:r="http://schemas.openxmlformats.org/officeDocument/2006/relationships" id="261" r:id="R7cbf6ad547124547"/>
    <p:sldId xmlns:r="http://schemas.openxmlformats.org/officeDocument/2006/relationships" id="262" r:id="R97d7d80163854fa1"/>
    <p:sldId xmlns:r="http://schemas.openxmlformats.org/officeDocument/2006/relationships" id="263" r:id="R9640b07762f1496d"/>
    <p:sldId xmlns:r="http://schemas.openxmlformats.org/officeDocument/2006/relationships" id="264" r:id="Rec703622fb174d9c"/>
    <p:sldId xmlns:r="http://schemas.openxmlformats.org/officeDocument/2006/relationships" id="265" r:id="Rab208707008845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b3b48b9c124436" /><Relationship Type="http://schemas.openxmlformats.org/officeDocument/2006/relationships/slideMaster" Target="/ppt/slideMasters/slideMaster1.xml" Id="Rf58e6679486a4a34" /><Relationship Type="http://schemas.openxmlformats.org/officeDocument/2006/relationships/notesMaster" Target="/ppt/notesMasters/notesMaster1.xml" Id="R1fe19105b18e444a" /><Relationship Type="http://schemas.openxmlformats.org/officeDocument/2006/relationships/presProps" Target="/ppt/presProps.xml" Id="R187a7cd716a041db" /><Relationship Type="http://schemas.openxmlformats.org/officeDocument/2006/relationships/tableStyles" Target="/ppt/tableStyles.xml" Id="Rc9258b70b58146ea" /><Relationship Type="http://schemas.openxmlformats.org/officeDocument/2006/relationships/slide" Target="/ppt/slides/slide1.xml" Id="Rc3634d48ce3f4de1" /><Relationship Type="http://schemas.openxmlformats.org/officeDocument/2006/relationships/slide" Target="/ppt/slides/slide2.xml" Id="R11fd7aebb75a43a2" /><Relationship Type="http://schemas.openxmlformats.org/officeDocument/2006/relationships/slide" Target="/ppt/slides/slide3.xml" Id="Rbaac0ce72f2b4bfe" /><Relationship Type="http://schemas.openxmlformats.org/officeDocument/2006/relationships/slide" Target="/ppt/slides/slide4.xml" Id="R946cd567d50943b3" /><Relationship Type="http://schemas.openxmlformats.org/officeDocument/2006/relationships/slide" Target="/ppt/slides/slide5.xml" Id="Ra8abf964a6f0417d" /><Relationship Type="http://schemas.openxmlformats.org/officeDocument/2006/relationships/slide" Target="/ppt/slides/slide6.xml" Id="R7cbf6ad547124547" /><Relationship Type="http://schemas.openxmlformats.org/officeDocument/2006/relationships/slide" Target="/ppt/slides/slide7.xml" Id="R97d7d80163854fa1" /><Relationship Type="http://schemas.openxmlformats.org/officeDocument/2006/relationships/slide" Target="/ppt/slides/slide8.xml" Id="R9640b07762f1496d" /><Relationship Type="http://schemas.openxmlformats.org/officeDocument/2006/relationships/slide" Target="/ppt/slides/slide9.xml" Id="Rec703622fb174d9c" /><Relationship Type="http://schemas.openxmlformats.org/officeDocument/2006/relationships/slide" Target="/ppt/slides/slide10.xml" Id="Rab208707008845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386913006f41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719dc86743437a" /><Relationship Type="http://schemas.openxmlformats.org/officeDocument/2006/relationships/notesMaster" Target="/ppt/notesMasters/notesMaster1.xml" Id="Rf237ef200c8347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7c5a4f496f4b27" /><Relationship Type="http://schemas.openxmlformats.org/officeDocument/2006/relationships/notesMaster" Target="/ppt/notesMasters/notesMaster1.xml" Id="R970333bdb2a142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611906e11c4fbf" /><Relationship Type="http://schemas.openxmlformats.org/officeDocument/2006/relationships/notesMaster" Target="/ppt/notesMasters/notesMaster1.xml" Id="R317e041dd13b4e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40fea349f24725" /><Relationship Type="http://schemas.openxmlformats.org/officeDocument/2006/relationships/notesMaster" Target="/ppt/notesMasters/notesMaster1.xml" Id="R49162116d7a345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bec2790d72452c" /><Relationship Type="http://schemas.openxmlformats.org/officeDocument/2006/relationships/notesMaster" Target="/ppt/notesMasters/notesMaster1.xml" Id="Re468fa42227649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732a870a524f3b" /><Relationship Type="http://schemas.openxmlformats.org/officeDocument/2006/relationships/notesMaster" Target="/ppt/notesMasters/notesMaster1.xml" Id="R74f56a2944a74c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fe7261c84c4cd2" /><Relationship Type="http://schemas.openxmlformats.org/officeDocument/2006/relationships/notesMaster" Target="/ppt/notesMasters/notesMaster1.xml" Id="R64a15a25809449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c560b0cb4a4f60" /><Relationship Type="http://schemas.openxmlformats.org/officeDocument/2006/relationships/notesMaster" Target="/ppt/notesMasters/notesMaster1.xml" Id="R1917a3ef972447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3960fc9f584f03" /><Relationship Type="http://schemas.openxmlformats.org/officeDocument/2006/relationships/notesMaster" Target="/ppt/notesMasters/notesMaster1.xml" Id="R85f37b730d6448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6b179459e841bf" /><Relationship Type="http://schemas.openxmlformats.org/officeDocument/2006/relationships/notesMaster" Target="/ppt/notesMasters/notesMaster1.xml" Id="R80b049e8fe104a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Juniper Square AI Enablement Lead, https://jobs.ashbyhq.com/junipersquare/7fb4a94f-7098-4a5f-a205-6772649f8da6 . Displayed work belongs to prior Coursera, FactorLab and Oak experience. Decorative cover is existing canonical art, not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ai.json teaching-ai case, original 2024 lesson material and https://www.coursera.org/projects/chatgpt-beginners . Kyle created and taught the published project ChatGPT 4o for Beginners: Create Social Media Content. The crop preserves all original Task 3 goal text without changing source pixels: ai-course-goals.png x80 y85 w650 h370. Learning sequence and teaching materials are direct evidence; enrollment is not a learning-gain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October 1,2024 Course Shell Feedback rows16,19,20,22 and instructor-response notes. Four rows summarize actual concerns and recorded revisions. Completed appears in instructor-response status; separate QA ID Approval remains false. No final row-level signoff or measured learner gain claimed. Native editable two-column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teaching-ai case and original recorded revision instruction at 03:35. The screenshot preserves the historical interface and original text, including typos. Brew Bliss is fictional practice material. This slide shows teaching judgment, not a school deployment, controlled experiment or measured learner result. The retrospective check is a later reflection, not an assessment reported 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Canonical ai.json prompt-compass case. Original developer-authored regression fixture, reformatted for the portfolio. May2026 local work is separate from the April27 public beta. Deterministic literal-term checks report missing fields in the rewrite; they do not execute an LLM, parse its output or establish model accuracy. The low-confidence threshold is a test instruction, not a deployed enterprise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prompt-compass case and public beta3 release. Kyle built and released the tool with installable packages and source downloads. Diagram is reconstructed from implementation, not an original product screenshot. Does not establish customer adoption, employee use, or daily mastery of every Claude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Experience synthesis, not a new case study. ASU Instructional Designer Apr2022–Oct2024 and AI Analyst Feb–Oct2024 overlap. Coursera2024 also overlaps; no inflated elapsed training tenure. Last row is a proposed measure, not an observed enterprise adoption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discussion, informed by Juniper Square AI Enablement Lead requirements. Not prior Juniper work, an agreed rollout, a time-savings guarantee or reported adoption result. Work within company data, permissions and tool-use rules; validate task-specific methods with the AI Guild.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Tailored AI Enablement Lead packet. Related experience spans ASU learning design, Coursera teaching and assessment revisions, Prompt Compass and product research. No enterprise adoption metrics, company-wide training ownership, financial-domain expertise or mastery of each Claude product asserted. Mesa disclosed; Arizona payroll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a78b74d30140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c15dc3b3924031" /><Relationship Type="http://schemas.openxmlformats.org/officeDocument/2006/relationships/slideLayout" Target="/ppt/slideLayouts/slideLayout1.xml" Id="Rda572b154c6145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572b154c6145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e716c389c3e4b42" /><Relationship Type="http://schemas.openxmlformats.org/officeDocument/2006/relationships/image" Target="/ppt/media/image.png" Id="Rf137a8368ea94e41" /><Relationship Type="http://schemas.openxmlformats.org/officeDocument/2006/relationships/notesSlide" Target="/ppt/notesSlides/notesSlide1.xml" Id="R58626de5fc8841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d6a50ffe5814cce" /><Relationship Type="http://schemas.openxmlformats.org/officeDocument/2006/relationships/image" Target="/ppt/media/image2.png" Id="R3bc7cce541514184" /><Relationship Type="http://schemas.openxmlformats.org/officeDocument/2006/relationships/notesSlide" Target="/ppt/notesSlides/notesSlide2.xml" Id="R4173eb3503374f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552bb090ff4867" /><Relationship Type="http://schemas.openxmlformats.org/officeDocument/2006/relationships/notesSlide" Target="/ppt/notesSlides/notesSlide3.xml" Id="R699222b10b9448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06b5d4a7d44a27" /><Relationship Type="http://schemas.openxmlformats.org/officeDocument/2006/relationships/image" Target="/ppt/media/image3.png" Id="Rf90f92fc36e34272" /><Relationship Type="http://schemas.openxmlformats.org/officeDocument/2006/relationships/notesSlide" Target="/ppt/notesSlides/notesSlide4.xml" Id="R058d357988e04c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3c48bd1fea48df" /><Relationship Type="http://schemas.openxmlformats.org/officeDocument/2006/relationships/image" Target="/ppt/media/image4.png" Id="R7a06d2aacf734022" /><Relationship Type="http://schemas.openxmlformats.org/officeDocument/2006/relationships/notesSlide" Target="/ppt/notesSlides/notesSlide5.xml" Id="Re119fe7d4c7f49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c9a998e2574751" /><Relationship Type="http://schemas.openxmlformats.org/officeDocument/2006/relationships/image" Target="/ppt/media/image5.png" Id="R68cb7eaa5a884661" /><Relationship Type="http://schemas.openxmlformats.org/officeDocument/2006/relationships/image" Target="/ppt/media/image6.png" Id="Rbd5acb24c8444c25" /><Relationship Type="http://schemas.openxmlformats.org/officeDocument/2006/relationships/notesSlide" Target="/ppt/notesSlides/notesSlide6.xml" Id="R77a5d714c0c44a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f2ef25e9b14f2a" /><Relationship Type="http://schemas.openxmlformats.org/officeDocument/2006/relationships/image" Target="/ppt/media/image7.png" Id="R4fdb0b0aa6484e3a" /><Relationship Type="http://schemas.openxmlformats.org/officeDocument/2006/relationships/notesSlide" Target="/ppt/notesSlides/notesSlide7.xml" Id="Re082d98816bb47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6af2ea2e224450" /><Relationship Type="http://schemas.openxmlformats.org/officeDocument/2006/relationships/notesSlide" Target="/ppt/notesSlides/notesSlide8.xml" Id="R220dfc7a30334b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21d49ed53f4c60" /><Relationship Type="http://schemas.openxmlformats.org/officeDocument/2006/relationships/notesSlide" Target="/ppt/notesSlides/notesSlide9.xml" Id="R5d5d44d7924b40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a9afabb7ea54080" /><Relationship Type="http://schemas.openxmlformats.org/officeDocument/2006/relationships/hyperlink" Target="mailto:JonathanKyleHobson@gmail.com" TargetMode="External" Id="R20e3af534afe4407" /><Relationship Type="http://schemas.openxmlformats.org/officeDocument/2006/relationships/hyperlink" Target="https://jonathankhobson.github.io/application-portfolios/juniper-square-ai-enablement/" TargetMode="External" Id="Ra04a8e2633244744" /><Relationship Type="http://schemas.openxmlformats.org/officeDocument/2006/relationships/notesSlide" Target="/ppt/notesSlides/notesSlide10.xml" Id="R02158a63f9d04362"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137a8368ea94e41"/>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4EE33E39-E8B4-4CA3-BA6F-27AD9A11B9F2}"/>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Juniper Square · AI ENABLEMENT LEAD</a:t>
            </a:r>
          </a:p>
        </p:txBody>
      </p:sp>
      <p:sp>
        <p:nvSpPr>
          <p:cNvPr id="3" name="headline">
            <a:extLst xmlns:a="http://schemas.openxmlformats.org/drawingml/2006/main">
              <a:ext uri="{FF2B5EF4-FFF2-40B4-BE49-F238E27FC236}">
                <a16:creationId xmlns:a16="http://schemas.microsoft.com/office/drawing/2014/main" id="{EBC6CEB3-D4CE-44E5-B498-F881DC143CBE}"/>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Teach the workflow.</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Make judgment part of it.</a:t>
            </a:r>
          </a:p>
        </p:txBody>
      </p:sp>
      <p:sp>
        <p:nvSpPr>
          <p:cNvPr id="4" name="cover-intro">
            <a:extLst xmlns:a="http://schemas.openxmlformats.org/drawingml/2006/main">
              <a:ext uri="{FF2B5EF4-FFF2-40B4-BE49-F238E27FC236}">
                <a16:creationId xmlns:a16="http://schemas.microsoft.com/office/drawing/2014/main" id="{90F70687-F75D-485B-B45E-2A8FCE3A2F4A}"/>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Practical AI teaching, prompt checks</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research-informed workflow design.</a:t>
            </a:r>
          </a:p>
        </p:txBody>
      </p:sp>
      <p:sp>
        <p:nvSpPr>
          <p:cNvPr id="5" name="cover-role">
            <a:extLst xmlns:a="http://schemas.openxmlformats.org/drawingml/2006/main">
              <a:ext uri="{FF2B5EF4-FFF2-40B4-BE49-F238E27FC236}">
                <a16:creationId xmlns:a16="http://schemas.microsoft.com/office/drawing/2014/main" id="{F7A7103E-0F27-4916-B6A9-B03234F8900D}"/>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AI Enablement Lead application · September 2026</a:t>
            </a:r>
          </a:p>
        </p:txBody>
      </p:sp>
      <p:sp>
        <p:nvSpPr>
          <p:cNvPr id="6" name="slide-number">
            <a:extLst xmlns:a="http://schemas.openxmlformats.org/drawingml/2006/main">
              <a:ext uri="{FF2B5EF4-FFF2-40B4-BE49-F238E27FC236}">
                <a16:creationId xmlns:a16="http://schemas.microsoft.com/office/drawing/2014/main" id="{6261AB31-33DF-4CD3-8F86-61379C3D597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280327532"/>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7530040C-2F4E-4B96-B42C-63C1CBC3530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   ORIGINAL TEACHING, 2024</a:t>
            </a:r>
          </a:p>
        </p:txBody>
      </p:sp>
      <p:sp>
        <p:nvSpPr>
          <p:cNvPr id="2" name="headline">
            <a:extLst xmlns:a="http://schemas.openxmlformats.org/drawingml/2006/main">
              <a:ext uri="{FF2B5EF4-FFF2-40B4-BE49-F238E27FC236}">
                <a16:creationId xmlns:a16="http://schemas.microsoft.com/office/drawing/2014/main" id="{18F7E851-C12A-42FA-8219-2AD2B4D7889E}"/>
              </a:ext>
            </a:extLst>
          </p:cNvPr>
          <p:cNvSpPr>
            <a:spLocks xmlns:a="http://schemas.openxmlformats.org/drawingml/2006/main" noGrp="1"/>
          </p:cNvSpPr>
          <p:nvPr/>
        </p:nvSpPr>
        <p:spPr>
          <a:xfrm xmlns:a="http://schemas.openxmlformats.org/drawingml/2006/main">
            <a:off x="609600" y="1104900"/>
            <a:ext cx="5000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Make revision</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something the</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learner can see</a:t>
            </a:r>
          </a:p>
        </p:txBody>
      </p:sp>
      <p:sp>
        <p:nvSpPr>
          <p:cNvPr id="3" name="teaching-rationale">
            <a:extLst xmlns:a="http://schemas.openxmlformats.org/drawingml/2006/main">
              <a:ext uri="{FF2B5EF4-FFF2-40B4-BE49-F238E27FC236}">
                <a16:creationId xmlns:a16="http://schemas.microsoft.com/office/drawing/2014/main" id="{39122F66-4CFE-40AF-8CE6-047A50D5375E}"/>
              </a:ext>
            </a:extLst>
          </p:cNvPr>
          <p:cNvSpPr>
            <a:spLocks xmlns:a="http://schemas.openxmlformats.org/drawingml/2006/main" noGrp="1"/>
          </p:cNvSpPr>
          <p:nvPr/>
        </p:nvSpPr>
        <p:spPr>
          <a:xfrm xmlns:a="http://schemas.openxmlformats.org/drawingml/2006/main">
            <a:off x="609600" y="3714750"/>
            <a:ext cx="47815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created a beginner project around drafting, reviewing and refining content against a goal.</a:t>
            </a:r>
          </a:p>
        </p:txBody>
      </p:sp>
      <p:sp>
        <p:nvSpPr>
          <p:cNvPr id="4" name="teaching-boundary">
            <a:extLst xmlns:a="http://schemas.openxmlformats.org/drawingml/2006/main">
              <a:ext uri="{FF2B5EF4-FFF2-40B4-BE49-F238E27FC236}">
                <a16:creationId xmlns:a16="http://schemas.microsoft.com/office/drawing/2014/main" id="{B380ADE2-D399-4C55-9156-5336C483A855}"/>
              </a:ext>
            </a:extLst>
          </p:cNvPr>
          <p:cNvSpPr>
            <a:spLocks xmlns:a="http://schemas.openxmlformats.org/drawingml/2006/main" noGrp="1"/>
          </p:cNvSpPr>
          <p:nvPr/>
        </p:nvSpPr>
        <p:spPr>
          <a:xfrm xmlns:a="http://schemas.openxmlformats.org/drawingml/2006/main">
            <a:off x="609600" y="5438775"/>
            <a:ext cx="4781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Published teaching activity. Learner improvement is not measured here.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bc7cce541514184"/>
          <a:stretch xmlns:a="http://schemas.openxmlformats.org/drawingml/2006/main"/>
        </p:blipFill>
        <p:spPr>
          <a:xfrm xmlns:a="http://schemas.openxmlformats.org/drawingml/2006/main">
            <a:off x="6068841" y="2466975"/>
            <a:ext cx="5454993" cy="3105150"/>
          </a:xfrm>
          <a:prstGeom xmlns:a="http://schemas.openxmlformats.org/drawingml/2006/main" prst="rect">
            <a:avLst/>
          </a:prstGeom>
        </p:spPr>
      </p:pic>
      <p:sp>
        <p:nvSpPr>
          <p:cNvPr id="6" name="teaching-caption">
            <a:extLst xmlns:a="http://schemas.openxmlformats.org/drawingml/2006/main">
              <a:ext uri="{FF2B5EF4-FFF2-40B4-BE49-F238E27FC236}">
                <a16:creationId xmlns:a16="http://schemas.microsoft.com/office/drawing/2014/main" id="{DF9CB670-85EA-40D7-BA5A-75B99B58596B}"/>
              </a:ext>
            </a:extLst>
          </p:cNvPr>
          <p:cNvSpPr>
            <a:spLocks xmlns:a="http://schemas.openxmlformats.org/drawingml/2006/main" noGrp="1"/>
          </p:cNvSpPr>
          <p:nvPr/>
        </p:nvSpPr>
        <p:spPr>
          <a:xfrm xmlns:a="http://schemas.openxmlformats.org/drawingml/2006/main">
            <a:off x="6067425" y="5953125"/>
            <a:ext cx="5457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2024 lesson material · goals excerpt</a:t>
            </a:r>
          </a:p>
        </p:txBody>
      </p:sp>
      <p:sp>
        <p:nvSpPr>
          <p:cNvPr id="7" name="slide-number">
            <a:extLst xmlns:a="http://schemas.openxmlformats.org/drawingml/2006/main">
              <a:ext uri="{FF2B5EF4-FFF2-40B4-BE49-F238E27FC236}">
                <a16:creationId xmlns:a16="http://schemas.microsoft.com/office/drawing/2014/main" id="{FAE7C299-CA66-45A5-A2E0-6AE7FA0026D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936872492"/>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97737A4C-2AAA-4AF9-900E-B9747BB86E6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ASSESSMENT REVIEW, OCTOBER 2024</a:t>
            </a:r>
          </a:p>
        </p:txBody>
      </p:sp>
      <p:sp>
        <p:nvSpPr>
          <p:cNvPr id="2" name="headline">
            <a:extLst xmlns:a="http://schemas.openxmlformats.org/drawingml/2006/main">
              <a:ext uri="{FF2B5EF4-FFF2-40B4-BE49-F238E27FC236}">
                <a16:creationId xmlns:a16="http://schemas.microsoft.com/office/drawing/2014/main" id="{64FBE2B6-C73D-41FB-9D0B-5D6707A5FEAC}"/>
              </a:ext>
            </a:extLst>
          </p:cNvPr>
          <p:cNvSpPr>
            <a:spLocks xmlns:a="http://schemas.openxmlformats.org/drawingml/2006/main" noGrp="1"/>
          </p:cNvSpPr>
          <p:nvPr/>
        </p:nvSpPr>
        <p:spPr>
          <a:xfrm xmlns:a="http://schemas.openxmlformats.org/drawingml/2006/main">
            <a:off x="609600" y="10763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Make the review change the material</a:t>
            </a:r>
          </a:p>
        </p:txBody>
      </p:sp>
      <p:graphicFrame>
        <p:nvGraphicFramePr>
          <p:cNvPr id="8" name=""/>
          <p:cNvGraphicFramePr/>
          <p:nvPr/>
        </p:nvGraphicFramePr>
        <p:xfrm>
          <a:off xmlns:a="http://schemas.openxmlformats.org/drawingml/2006/main" x="609600" y="2219325"/>
          <a:ext xmlns:a="http://schemas.openxmlformats.org/drawingml/2006/main" cx="10972800" cy="3695700"/>
        </p:xfrm>
        <a:graphic xmlns:a="http://schemas.openxmlformats.org/drawingml/2006/main">
          <a:graphicData uri="http://schemas.openxmlformats.org/drawingml/2006/table">
            <a:tbl>
              <a:tblPr/>
              <a:tblGrid>
                <a:gridCol w="3886200"/>
                <a:gridCol w="7086600"/>
              </a:tblGrid>
              <a:tr h="495300">
                <a:tc>
                  <a:txBody>
                    <a:bodyPr wrap="square" lIns="152400" tIns="114300" rIns="152400" bIns="114300">
                      <a:noAutofit/>
                    </a:bodyPr>
                    <a:lstStyle/>
                    <a:p>
                      <a:r>
                        <a:rPr sz="1650" b="1">
                          <a:solidFill>
                            <a:srgbClr val="F4F2E9"/>
                          </a:solidFill>
                          <a:latin typeface="Helvetica Neue"/>
                          <a:ea typeface="Helvetica Neue"/>
                          <a:cs typeface="Helvetica Neue"/>
                        </a:rPr>
                        <a:t>Review finding</a:t>
                      </a:r>
                    </a:p>
                  </a:txBody>
                  <a:tcPr marL="91440" marR="91440" marT="45720" marB="45720" anchor="ctr">
                    <a:solidFill>
                      <a:srgbClr val="244D3C"/>
                    </a:solidFill>
                  </a:tcPr>
                </a:tc>
                <a:tc>
                  <a:txBody>
                    <a:bodyPr wrap="square" lIns="152400" tIns="114300" rIns="152400" bIns="114300">
                      <a:noAutofit/>
                    </a:bodyPr>
                    <a:lstStyle/>
                    <a:p>
                      <a:r>
                        <a:rPr sz="1650" b="1">
                          <a:solidFill>
                            <a:srgbClr val="F4F2E9"/>
                          </a:solidFill>
                          <a:latin typeface="Helvetica Neue"/>
                          <a:ea typeface="Helvetica Neue"/>
                          <a:cs typeface="Helvetica Neue"/>
                        </a:rPr>
                        <a:t>My documented revision</a:t>
                      </a:r>
                    </a:p>
                  </a:txBody>
                  <a:tcPr marL="91440" marR="91440" marT="45720" marB="45720" anchor="ctr">
                    <a:solidFill>
                      <a:srgbClr val="244D3C"/>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Choices were easy to eliminate</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Reworked distractors, especially Questions 7, 8 and 10.</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Question 7 tested only a definition</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Added application of the concept alongside the definition.</a:t>
                      </a:r>
                    </a:p>
                  </a:txBody>
                  <a:tcPr marL="91440" marR="91440" marT="45720" marB="45720" anchor="ctr">
                    <a:solidFill>
                      <a:srgbClr val="E1E8DB"/>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Retry feedback revealed answers</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Made feedback more neutral and referred learners to the lesson task.</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Task references were incorrect</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Corrected references across the assessment.</a:t>
                      </a:r>
                    </a:p>
                  </a:txBody>
                  <a:tcPr marL="91440" marR="91440" marT="45720" marB="45720" anchor="ctr">
                    <a:solidFill>
                      <a:srgbClr val="E1E8DB"/>
                    </a:solidFill>
                  </a:tcPr>
                </a:tc>
              </a:tr>
            </a:tbl>
          </a:graphicData>
        </a:graphic>
      </p:graphicFrame>
      <p:sp>
        <p:nvSpPr>
          <p:cNvPr id="4" name="review-source">
            <a:extLst xmlns:a="http://schemas.openxmlformats.org/drawingml/2006/main">
              <a:ext uri="{FF2B5EF4-FFF2-40B4-BE49-F238E27FC236}">
                <a16:creationId xmlns:a16="http://schemas.microsoft.com/office/drawing/2014/main" id="{3A55A1FD-424F-448F-B5ED-1C2A02C205DD}"/>
              </a:ext>
            </a:extLst>
          </p:cNvPr>
          <p:cNvSpPr>
            <a:spLocks xmlns:a="http://schemas.openxmlformats.org/drawingml/2006/main" noGrp="1"/>
          </p:cNvSpPr>
          <p:nvPr/>
        </p:nvSpPr>
        <p:spPr>
          <a:xfrm xmlns:a="http://schemas.openxmlformats.org/drawingml/2006/main">
            <a:off x="609600" y="62579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Paraphrased original review and instructor-response notes · revisions, not final QA signoff</a:t>
            </a:r>
          </a:p>
        </p:txBody>
      </p:sp>
      <p:sp>
        <p:nvSpPr>
          <p:cNvPr id="5" name="slide-number">
            <a:extLst xmlns:a="http://schemas.openxmlformats.org/drawingml/2006/main">
              <a:ext uri="{FF2B5EF4-FFF2-40B4-BE49-F238E27FC236}">
                <a16:creationId xmlns:a16="http://schemas.microsoft.com/office/drawing/2014/main" id="{E8E2CE49-9E6F-4080-A90F-B4DF6722D02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488591054"/>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09C4A055-DED5-43D9-8D8D-2310619E138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RECORDED PRACTICE SEQUENCE</a:t>
            </a:r>
          </a:p>
        </p:txBody>
      </p:sp>
      <p:sp>
        <p:nvSpPr>
          <p:cNvPr id="2" name="headline">
            <a:extLst xmlns:a="http://schemas.openxmlformats.org/drawingml/2006/main">
              <a:ext uri="{FF2B5EF4-FFF2-40B4-BE49-F238E27FC236}">
                <a16:creationId xmlns:a16="http://schemas.microsoft.com/office/drawing/2014/main" id="{73141F35-92C4-4D66-8CB5-D6888CA7F40F}"/>
              </a:ext>
            </a:extLst>
          </p:cNvPr>
          <p:cNvSpPr>
            <a:spLocks xmlns:a="http://schemas.openxmlformats.org/drawingml/2006/main" noGrp="1"/>
          </p:cNvSpPr>
          <p:nvPr/>
        </p:nvSpPr>
        <p:spPr>
          <a:xfrm xmlns:a="http://schemas.openxmlformats.org/drawingml/2006/main">
            <a:off x="609600" y="1085850"/>
            <a:ext cx="6000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Review added detail</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before accepting it</a:t>
            </a:r>
          </a:p>
        </p:txBody>
      </p:sp>
      <p:sp>
        <p:nvSpPr>
          <p:cNvPr id="3" name="revision-need">
            <a:extLst xmlns:a="http://schemas.openxmlformats.org/drawingml/2006/main">
              <a:ext uri="{FF2B5EF4-FFF2-40B4-BE49-F238E27FC236}">
                <a16:creationId xmlns:a16="http://schemas.microsoft.com/office/drawing/2014/main" id="{DEDB56A6-4A21-4AC6-BAE0-725075A9D3FB}"/>
              </a:ext>
            </a:extLst>
          </p:cNvPr>
          <p:cNvSpPr>
            <a:spLocks xmlns:a="http://schemas.openxmlformats.org/drawingml/2006/main" noGrp="1"/>
          </p:cNvSpPr>
          <p:nvPr/>
        </p:nvSpPr>
        <p:spPr>
          <a:xfrm xmlns:a="http://schemas.openxmlformats.org/drawingml/2006/main">
            <a:off x="609600" y="3019425"/>
            <a:ext cx="523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lesson made an instruction visible beside the result it changed. That gave learners something concrete to inspect.</a:t>
            </a:r>
          </a:p>
        </p:txBody>
      </p:sp>
      <p:sp>
        <p:nvSpPr>
          <p:cNvPr id="4" name="revision-check">
            <a:extLst xmlns:a="http://schemas.openxmlformats.org/drawingml/2006/main">
              <a:ext uri="{FF2B5EF4-FFF2-40B4-BE49-F238E27FC236}">
                <a16:creationId xmlns:a16="http://schemas.microsoft.com/office/drawing/2014/main" id="{CFB435FD-BF2C-4EC7-9ECB-9341B8B41732}"/>
              </a:ext>
            </a:extLst>
          </p:cNvPr>
          <p:cNvSpPr>
            <a:spLocks xmlns:a="http://schemas.openxmlformats.org/drawingml/2006/main" noGrp="1"/>
          </p:cNvSpPr>
          <p:nvPr/>
        </p:nvSpPr>
        <p:spPr>
          <a:xfrm xmlns:a="http://schemas.openxmlformats.org/drawingml/2006/main">
            <a:off x="609600" y="4772025"/>
            <a:ext cx="5238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The revised answer added detail. In my retrospective, I would make factual checks and length limits more explicit.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90f92fc36e34272"/>
          <a:stretch xmlns:a="http://schemas.openxmlformats.org/drawingml/2006/main"/>
        </p:blipFill>
        <p:spPr>
          <a:xfrm xmlns:a="http://schemas.openxmlformats.org/drawingml/2006/main">
            <a:off x="6572250" y="3478584"/>
            <a:ext cx="4991100" cy="681883"/>
          </a:xfrm>
          <a:prstGeom xmlns:a="http://schemas.openxmlformats.org/drawingml/2006/main" prst="rect">
            <a:avLst/>
          </a:prstGeom>
        </p:spPr>
      </p:pic>
      <p:sp>
        <p:nvSpPr>
          <p:cNvPr id="6" name="revision-caption">
            <a:extLst xmlns:a="http://schemas.openxmlformats.org/drawingml/2006/main">
              <a:ext uri="{FF2B5EF4-FFF2-40B4-BE49-F238E27FC236}">
                <a16:creationId xmlns:a16="http://schemas.microsoft.com/office/drawing/2014/main" id="{0139898D-B9D7-4259-9F07-C98EE39220A3}"/>
              </a:ext>
            </a:extLst>
          </p:cNvPr>
          <p:cNvSpPr>
            <a:spLocks xmlns:a="http://schemas.openxmlformats.org/drawingml/2006/main" noGrp="1"/>
          </p:cNvSpPr>
          <p:nvPr/>
        </p:nvSpPr>
        <p:spPr>
          <a:xfrm xmlns:a="http://schemas.openxmlformats.org/drawingml/2006/main">
            <a:off x="6572250" y="6115050"/>
            <a:ext cx="4991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2024 recording, Task 3 · 03:35</a:t>
            </a:r>
          </a:p>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Fictional practice brand · unchanged source excerpt</a:t>
            </a:r>
          </a:p>
        </p:txBody>
      </p:sp>
      <p:sp>
        <p:nvSpPr>
          <p:cNvPr id="7" name="slide-number">
            <a:extLst xmlns:a="http://schemas.openxmlformats.org/drawingml/2006/main">
              <a:ext uri="{FF2B5EF4-FFF2-40B4-BE49-F238E27FC236}">
                <a16:creationId xmlns:a16="http://schemas.microsoft.com/office/drawing/2014/main" id="{67271527-F490-43A1-93E0-11668073E48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934169264"/>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3AAC60EC-9C2C-4DC9-8925-215457472B5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LOCAL REGRESSION EXAMPLE, MAY 2026</a:t>
            </a:r>
          </a:p>
        </p:txBody>
      </p:sp>
      <p:sp>
        <p:nvSpPr>
          <p:cNvPr id="2" name="headline">
            <a:extLst xmlns:a="http://schemas.openxmlformats.org/drawingml/2006/main">
              <a:ext uri="{FF2B5EF4-FFF2-40B4-BE49-F238E27FC236}">
                <a16:creationId xmlns:a16="http://schemas.microsoft.com/office/drawing/2014/main" id="{2C364B07-7102-4155-8B50-D00DD714BC3A}"/>
              </a:ext>
            </a:extLst>
          </p:cNvPr>
          <p:cNvSpPr>
            <a:spLocks xmlns:a="http://schemas.openxmlformats.org/drawingml/2006/main" noGrp="1"/>
          </p:cNvSpPr>
          <p:nvPr/>
        </p:nvSpPr>
        <p:spPr>
          <a:xfrm xmlns:a="http://schemas.openxmlformats.org/drawingml/2006/main">
            <a:off x="609600" y="103822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 cleaner rewrite can lose the task</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a06d2aacf734022"/>
          <a:stretch xmlns:a="http://schemas.openxmlformats.org/drawingml/2006/main"/>
        </p:blipFill>
        <p:spPr>
          <a:xfrm xmlns:a="http://schemas.openxmlformats.org/drawingml/2006/main">
            <a:off x="741293" y="2009775"/>
            <a:ext cx="10709413" cy="4105275"/>
          </a:xfrm>
          <a:prstGeom xmlns:a="http://schemas.openxmlformats.org/drawingml/2006/main" prst="rect">
            <a:avLst/>
          </a:prstGeom>
        </p:spPr>
      </p:pic>
      <p:sp>
        <p:nvSpPr>
          <p:cNvPr id="4" name="prompt-test-purpose">
            <a:extLst xmlns:a="http://schemas.openxmlformats.org/drawingml/2006/main">
              <a:ext uri="{FF2B5EF4-FFF2-40B4-BE49-F238E27FC236}">
                <a16:creationId xmlns:a16="http://schemas.microsoft.com/office/drawing/2014/main" id="{40543F63-5C22-401C-841E-2CC6B9A29347}"/>
              </a:ext>
            </a:extLst>
          </p:cNvPr>
          <p:cNvSpPr>
            <a:spLocks xmlns:a="http://schemas.openxmlformats.org/drawingml/2006/main" noGrp="1"/>
          </p:cNvSpPr>
          <p:nvPr/>
        </p:nvSpPr>
        <p:spPr>
          <a:xfrm xmlns:a="http://schemas.openxmlformats.org/drawingml/2006/main">
            <a:off x="609600" y="6238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test inputs, excerpted from the portfolio rendering · expected winner: original prompt</a:t>
            </a:r>
          </a:p>
        </p:txBody>
      </p:sp>
      <p:sp>
        <p:nvSpPr>
          <p:cNvPr id="5" name="slide-number">
            <a:extLst xmlns:a="http://schemas.openxmlformats.org/drawingml/2006/main">
              <a:ext uri="{FF2B5EF4-FFF2-40B4-BE49-F238E27FC236}">
                <a16:creationId xmlns:a16="http://schemas.microsoft.com/office/drawing/2014/main" id="{8A51487E-A1AE-48A3-90CD-0A10AE844B0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286637173"/>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177BCC8F-E70A-41C8-A97B-7EED2D2382E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B39FAD92-BCA0-4DCA-AF38-FBCCFE628014}"/>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3" name="recovery-decision">
            <a:extLst xmlns:a="http://schemas.openxmlformats.org/drawingml/2006/main">
              <a:ext uri="{FF2B5EF4-FFF2-40B4-BE49-F238E27FC236}">
                <a16:creationId xmlns:a16="http://schemas.microsoft.com/office/drawing/2014/main" id="{7732EB46-5807-46DD-9367-7065652B761C}"/>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8DA5ACC0-DA58-4F69-9067-3458334F5034}"/>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EE63BD72-7029-4F83-AFBB-4CD1AB81CF9D}"/>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4BE1723C-9F71-466D-9F5A-A2B9CFD21816}"/>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8cb7eaa5a884661"/>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d5acb24c8444c25"/>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01D81258-C831-4C4B-B6B9-37BE345590B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755662238"/>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7F388FE-4FE6-4506-BAE5-10DAC059074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RELEASED TOOL AND WORKFLOW DESIGN</a:t>
            </a:r>
          </a:p>
        </p:txBody>
      </p:sp>
      <p:sp>
        <p:nvSpPr>
          <p:cNvPr id="2" name="headline">
            <a:extLst xmlns:a="http://schemas.openxmlformats.org/drawingml/2006/main">
              <a:ext uri="{FF2B5EF4-FFF2-40B4-BE49-F238E27FC236}">
                <a16:creationId xmlns:a16="http://schemas.microsoft.com/office/drawing/2014/main" id="{A60F78A0-9726-4815-972D-C1DAB24CAD5A}"/>
              </a:ext>
            </a:extLst>
          </p:cNvPr>
          <p:cNvSpPr>
            <a:spLocks xmlns:a="http://schemas.openxmlformats.org/drawingml/2006/main" noGrp="1"/>
          </p:cNvSpPr>
          <p:nvPr/>
        </p:nvSpPr>
        <p:spPr>
          <a:xfrm xmlns:a="http://schemas.openxmlformats.org/drawingml/2006/main">
            <a:off x="609600" y="104775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Give the tool a clear role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fdb0b0aa6484e3a"/>
          <a:stretch xmlns:a="http://schemas.openxmlformats.org/drawingml/2006/main"/>
        </p:blipFill>
        <p:spPr>
          <a:xfrm xmlns:a="http://schemas.openxmlformats.org/drawingml/2006/main">
            <a:off x="863819" y="2019300"/>
            <a:ext cx="10464362" cy="3371850"/>
          </a:xfrm>
          <a:prstGeom xmlns:a="http://schemas.openxmlformats.org/drawingml/2006/main" prst="rect">
            <a:avLst/>
          </a:prstGeom>
        </p:spPr>
      </p:pic>
      <p:sp>
        <p:nvSpPr>
          <p:cNvPr id="4" name="tool-boundary">
            <a:extLst xmlns:a="http://schemas.openxmlformats.org/drawingml/2006/main">
              <a:ext uri="{FF2B5EF4-FFF2-40B4-BE49-F238E27FC236}">
                <a16:creationId xmlns:a16="http://schemas.microsoft.com/office/drawing/2014/main" id="{C5D8EE7A-2FD2-4511-9791-434E7542B784}"/>
              </a:ext>
            </a:extLst>
          </p:cNvPr>
          <p:cNvSpPr>
            <a:spLocks xmlns:a="http://schemas.openxmlformats.org/drawingml/2006/main" noGrp="1"/>
          </p:cNvSpPr>
          <p:nvPr/>
        </p:nvSpPr>
        <p:spPr>
          <a:xfrm xmlns:a="http://schemas.openxmlformats.org/drawingml/2006/main">
            <a:off x="609600" y="56673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The local tool returns structured checks and routing.</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The host assistant handles the conversation and final wording.</a:t>
            </a:r>
          </a:p>
        </p:txBody>
      </p:sp>
      <p:sp>
        <p:nvSpPr>
          <p:cNvPr id="5" name="tool-source">
            <a:extLst xmlns:a="http://schemas.openxmlformats.org/drawingml/2006/main">
              <a:ext uri="{FF2B5EF4-FFF2-40B4-BE49-F238E27FC236}">
                <a16:creationId xmlns:a16="http://schemas.microsoft.com/office/drawing/2014/main" id="{9B785E5E-340B-47F0-A335-B866F522A6BC}"/>
              </a:ext>
            </a:extLst>
          </p:cNvPr>
          <p:cNvSpPr>
            <a:spLocks xmlns:a="http://schemas.openxmlformats.org/drawingml/2006/main" noGrp="1"/>
          </p:cNvSpPr>
          <p:nvPr/>
        </p:nvSpPr>
        <p:spPr>
          <a:xfrm xmlns:a="http://schemas.openxmlformats.org/drawingml/2006/main">
            <a:off x="609600" y="64103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Implementation-based portfolio diagram · public beta release, April 2026</a:t>
            </a:r>
          </a:p>
        </p:txBody>
      </p:sp>
      <p:sp>
        <p:nvSpPr>
          <p:cNvPr id="6" name="slide-number">
            <a:extLst xmlns:a="http://schemas.openxmlformats.org/drawingml/2006/main">
              <a:ext uri="{FF2B5EF4-FFF2-40B4-BE49-F238E27FC236}">
                <a16:creationId xmlns:a16="http://schemas.microsoft.com/office/drawing/2014/main" id="{CEE04949-89FE-4F4E-ABFB-E77AB4525C9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617318961"/>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BE9C5E69-52F9-48B0-8B13-F615177181F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 FACTORLAB · COURSERA   /   RELATED EXPERIENCE</a:t>
            </a:r>
          </a:p>
        </p:txBody>
      </p:sp>
      <p:sp>
        <p:nvSpPr>
          <p:cNvPr id="2" name="headline">
            <a:extLst xmlns:a="http://schemas.openxmlformats.org/drawingml/2006/main">
              <a:ext uri="{FF2B5EF4-FFF2-40B4-BE49-F238E27FC236}">
                <a16:creationId xmlns:a16="http://schemas.microsoft.com/office/drawing/2014/main" id="{F1B581E6-894A-412A-9508-F24D5625D54F}"/>
              </a:ext>
            </a:extLst>
          </p:cNvPr>
          <p:cNvSpPr>
            <a:spLocks xmlns:a="http://schemas.openxmlformats.org/drawingml/2006/main" noGrp="1"/>
          </p:cNvSpPr>
          <p:nvPr/>
        </p:nvSpPr>
        <p:spPr>
          <a:xfrm xmlns:a="http://schemas.openxmlformats.org/drawingml/2006/main">
            <a:off x="609600" y="1123950"/>
            <a:ext cx="571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Use research to find</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the learning need</a:t>
            </a:r>
          </a:p>
        </p:txBody>
      </p:sp>
      <p:sp>
        <p:nvSpPr>
          <p:cNvPr id="3" name="learner-context">
            <a:extLst xmlns:a="http://schemas.openxmlformats.org/drawingml/2006/main">
              <a:ext uri="{FF2B5EF4-FFF2-40B4-BE49-F238E27FC236}">
                <a16:creationId xmlns:a16="http://schemas.microsoft.com/office/drawing/2014/main" id="{FC0F6501-C56F-4684-9A6A-4A15CC822151}"/>
              </a:ext>
            </a:extLst>
          </p:cNvPr>
          <p:cNvSpPr>
            <a:spLocks xmlns:a="http://schemas.openxmlformats.org/drawingml/2006/main" noGrp="1"/>
          </p:cNvSpPr>
          <p:nvPr/>
        </p:nvSpPr>
        <p:spPr>
          <a:xfrm xmlns:a="http://schemas.openxmlformats.org/drawingml/2006/main">
            <a:off x="609600" y="3209925"/>
            <a:ext cx="52578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At ASU, I developed learning materials and workshops and evaluated voice and chat flows. Product research adds practice clarifying the task before proposing support.</a:t>
            </a:r>
          </a:p>
        </p:txBody>
      </p:sp>
      <p:sp>
        <p:nvSpPr>
          <p:cNvPr id="4" name="learning-limits">
            <a:extLst xmlns:a="http://schemas.openxmlformats.org/drawingml/2006/main">
              <a:ext uri="{FF2B5EF4-FFF2-40B4-BE49-F238E27FC236}">
                <a16:creationId xmlns:a16="http://schemas.microsoft.com/office/drawing/2014/main" id="{AB3C8869-CBBF-4D50-B5A0-90466BC6B26E}"/>
              </a:ext>
            </a:extLst>
          </p:cNvPr>
          <p:cNvSpPr>
            <a:spLocks xmlns:a="http://schemas.openxmlformats.org/drawingml/2006/main" noGrp="1"/>
          </p:cNvSpPr>
          <p:nvPr/>
        </p:nvSpPr>
        <p:spPr>
          <a:xfrm xmlns:a="http://schemas.openxmlformats.org/drawingml/2006/main">
            <a:off x="609600" y="5362575"/>
            <a:ext cx="5257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My next step would be to test a teaching approach with staff doing real work and measure what changes.</a:t>
            </a:r>
          </a:p>
        </p:txBody>
      </p:sp>
      <p:sp>
        <p:nvSpPr>
          <p:cNvPr id="5" name="status-0">
            <a:extLst xmlns:a="http://schemas.openxmlformats.org/drawingml/2006/main">
              <a:ext uri="{FF2B5EF4-FFF2-40B4-BE49-F238E27FC236}">
                <a16:creationId xmlns:a16="http://schemas.microsoft.com/office/drawing/2014/main" id="{F2974568-31D5-43D2-B64D-1DB09510767C}"/>
              </a:ext>
            </a:extLst>
          </p:cNvPr>
          <p:cNvSpPr>
            <a:spLocks xmlns:a="http://schemas.openxmlformats.org/drawingml/2006/main" noGrp="1"/>
          </p:cNvSpPr>
          <p:nvPr/>
        </p:nvSpPr>
        <p:spPr>
          <a:xfrm xmlns:a="http://schemas.openxmlformats.org/drawingml/2006/main">
            <a:off x="6800850" y="14859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Learning design</a:t>
            </a:r>
          </a:p>
        </p:txBody>
      </p:sp>
      <p:sp>
        <p:nvSpPr>
          <p:cNvPr id="6" name="status-description-0">
            <a:extLst xmlns:a="http://schemas.openxmlformats.org/drawingml/2006/main">
              <a:ext uri="{FF2B5EF4-FFF2-40B4-BE49-F238E27FC236}">
                <a16:creationId xmlns:a16="http://schemas.microsoft.com/office/drawing/2014/main" id="{39BCEEA5-C3EC-43B0-B1DB-FEEFDC02BEFA}"/>
              </a:ext>
            </a:extLst>
          </p:cNvPr>
          <p:cNvSpPr>
            <a:spLocks xmlns:a="http://schemas.openxmlformats.org/drawingml/2006/main" noGrp="1"/>
          </p:cNvSpPr>
          <p:nvPr/>
        </p:nvSpPr>
        <p:spPr>
          <a:xfrm xmlns:a="http://schemas.openxmlformats.org/drawingml/2006/main">
            <a:off x="6800850" y="19145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Objectives, demonstrations and practice</a:t>
            </a:r>
          </a:p>
        </p:txBody>
      </p:sp>
      <p:sp>
        <p:nvSpPr>
          <p:cNvPr id="7" name="status-1">
            <a:extLst xmlns:a="http://schemas.openxmlformats.org/drawingml/2006/main">
              <a:ext uri="{FF2B5EF4-FFF2-40B4-BE49-F238E27FC236}">
                <a16:creationId xmlns:a16="http://schemas.microsoft.com/office/drawing/2014/main" id="{CE014AD7-01D6-4871-A22F-C17603AB569F}"/>
              </a:ext>
            </a:extLst>
          </p:cNvPr>
          <p:cNvSpPr>
            <a:spLocks xmlns:a="http://schemas.openxmlformats.org/drawingml/2006/main" noGrp="1"/>
          </p:cNvSpPr>
          <p:nvPr/>
        </p:nvSpPr>
        <p:spPr>
          <a:xfrm xmlns:a="http://schemas.openxmlformats.org/drawingml/2006/main">
            <a:off x="6800850" y="27051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Research</a:t>
            </a:r>
          </a:p>
        </p:txBody>
      </p:sp>
      <p:sp>
        <p:nvSpPr>
          <p:cNvPr id="8" name="status-description-1">
            <a:extLst xmlns:a="http://schemas.openxmlformats.org/drawingml/2006/main">
              <a:ext uri="{FF2B5EF4-FFF2-40B4-BE49-F238E27FC236}">
                <a16:creationId xmlns:a16="http://schemas.microsoft.com/office/drawing/2014/main" id="{062F16F2-6785-4EC4-88E5-6698F96AD594}"/>
              </a:ext>
            </a:extLst>
          </p:cNvPr>
          <p:cNvSpPr>
            <a:spLocks xmlns:a="http://schemas.openxmlformats.org/drawingml/2006/main" noGrp="1"/>
          </p:cNvSpPr>
          <p:nvPr/>
        </p:nvSpPr>
        <p:spPr>
          <a:xfrm xmlns:a="http://schemas.openxmlformats.org/drawingml/2006/main">
            <a:off x="6800850" y="31337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Questions about context and friction</a:t>
            </a:r>
          </a:p>
        </p:txBody>
      </p:sp>
      <p:sp>
        <p:nvSpPr>
          <p:cNvPr id="9" name="status-2">
            <a:extLst xmlns:a="http://schemas.openxmlformats.org/drawingml/2006/main">
              <a:ext uri="{FF2B5EF4-FFF2-40B4-BE49-F238E27FC236}">
                <a16:creationId xmlns:a16="http://schemas.microsoft.com/office/drawing/2014/main" id="{ADB05E19-6652-4325-A83D-1F187A6DABFF}"/>
              </a:ext>
            </a:extLst>
          </p:cNvPr>
          <p:cNvSpPr>
            <a:spLocks xmlns:a="http://schemas.openxmlformats.org/drawingml/2006/main" noGrp="1"/>
          </p:cNvSpPr>
          <p:nvPr/>
        </p:nvSpPr>
        <p:spPr>
          <a:xfrm xmlns:a="http://schemas.openxmlformats.org/drawingml/2006/main">
            <a:off x="6800850" y="39243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Workflow design</a:t>
            </a:r>
          </a:p>
        </p:txBody>
      </p:sp>
      <p:sp>
        <p:nvSpPr>
          <p:cNvPr id="10" name="status-description-2">
            <a:extLst xmlns:a="http://schemas.openxmlformats.org/drawingml/2006/main">
              <a:ext uri="{FF2B5EF4-FFF2-40B4-BE49-F238E27FC236}">
                <a16:creationId xmlns:a16="http://schemas.microsoft.com/office/drawing/2014/main" id="{298334EA-B9F2-4605-9A90-8364EBC9B08E}"/>
              </a:ext>
            </a:extLst>
          </p:cNvPr>
          <p:cNvSpPr>
            <a:spLocks xmlns:a="http://schemas.openxmlformats.org/drawingml/2006/main" noGrp="1"/>
          </p:cNvSpPr>
          <p:nvPr/>
        </p:nvSpPr>
        <p:spPr>
          <a:xfrm xmlns:a="http://schemas.openxmlformats.org/drawingml/2006/main">
            <a:off x="6800850" y="43529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Actions and recovery explained to engineering</a:t>
            </a:r>
          </a:p>
        </p:txBody>
      </p:sp>
      <p:sp>
        <p:nvSpPr>
          <p:cNvPr id="11" name="status-3">
            <a:extLst xmlns:a="http://schemas.openxmlformats.org/drawingml/2006/main">
              <a:ext uri="{FF2B5EF4-FFF2-40B4-BE49-F238E27FC236}">
                <a16:creationId xmlns:a16="http://schemas.microsoft.com/office/drawing/2014/main" id="{E88FB6CF-AC65-43A8-BE1F-18214DC1B68E}"/>
              </a:ext>
            </a:extLst>
          </p:cNvPr>
          <p:cNvSpPr>
            <a:spLocks xmlns:a="http://schemas.openxmlformats.org/drawingml/2006/main" noGrp="1"/>
          </p:cNvSpPr>
          <p:nvPr/>
        </p:nvSpPr>
        <p:spPr>
          <a:xfrm xmlns:a="http://schemas.openxmlformats.org/drawingml/2006/main">
            <a:off x="6800850" y="51435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Evaluation to propose</a:t>
            </a:r>
          </a:p>
        </p:txBody>
      </p:sp>
      <p:sp>
        <p:nvSpPr>
          <p:cNvPr id="12" name="status-description-3">
            <a:extLst xmlns:a="http://schemas.openxmlformats.org/drawingml/2006/main">
              <a:ext uri="{FF2B5EF4-FFF2-40B4-BE49-F238E27FC236}">
                <a16:creationId xmlns:a16="http://schemas.microsoft.com/office/drawing/2014/main" id="{77538F37-B9B4-4D12-8EEC-2AB10E88F973}"/>
              </a:ext>
            </a:extLst>
          </p:cNvPr>
          <p:cNvSpPr>
            <a:spLocks xmlns:a="http://schemas.openxmlformats.org/drawingml/2006/main" noGrp="1"/>
          </p:cNvSpPr>
          <p:nvPr/>
        </p:nvSpPr>
        <p:spPr>
          <a:xfrm xmlns:a="http://schemas.openxmlformats.org/drawingml/2006/main">
            <a:off x="6800850" y="55721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Completion, correction and repeat use</a:t>
            </a:r>
          </a:p>
        </p:txBody>
      </p:sp>
      <p:sp>
        <p:nvSpPr>
          <p:cNvPr id="13" name="slide-number">
            <a:extLst xmlns:a="http://schemas.openxmlformats.org/drawingml/2006/main">
              <a:ext uri="{FF2B5EF4-FFF2-40B4-BE49-F238E27FC236}">
                <a16:creationId xmlns:a16="http://schemas.microsoft.com/office/drawing/2014/main" id="{0E85A490-8D55-4E6D-9B91-9D1601DC972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25780509"/>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73DD2F2B-AD08-4835-99E0-755944912D9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JUNIPER SQUARE AI GUILD</a:t>
            </a:r>
          </a:p>
        </p:txBody>
      </p:sp>
      <p:sp>
        <p:nvSpPr>
          <p:cNvPr id="2" name="headline">
            <a:extLst xmlns:a="http://schemas.openxmlformats.org/drawingml/2006/main">
              <a:ext uri="{FF2B5EF4-FFF2-40B4-BE49-F238E27FC236}">
                <a16:creationId xmlns:a16="http://schemas.microsoft.com/office/drawing/2014/main" id="{4CF12F62-95AF-4D1E-B732-B8D2A7F771DC}"/>
              </a:ext>
            </a:extLst>
          </p:cNvPr>
          <p:cNvSpPr>
            <a:spLocks xmlns:a="http://schemas.openxmlformats.org/drawingml/2006/main" noGrp="1"/>
          </p:cNvSpPr>
          <p:nvPr/>
        </p:nvSpPr>
        <p:spPr>
          <a:xfrm xmlns:a="http://schemas.openxmlformats.org/drawingml/2006/main">
            <a:off x="609600" y="1076325"/>
            <a:ext cx="10858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225" b="1">
                <a:solidFill>
                  <a:srgbClr val="192B25"/>
                </a:solidFill>
                <a:latin typeface="Helvetica Neue"/>
                <a:ea typeface="Helvetica Neue"/>
                <a:cs typeface="Helvetica Neue"/>
              </a:defRPr>
            </a:pPr>
            <a:r>
              <a:rPr sz="3225" b="1">
                <a:solidFill>
                  <a:srgbClr val="192B25"/>
                </a:solidFill>
                <a:latin typeface="Helvetica Neue"/>
                <a:ea typeface="Helvetica Neue"/>
                <a:cs typeface="Helvetica Neue"/>
              </a:rPr>
              <a:t>Start with a task staff already need to do</a:t>
            </a:r>
          </a:p>
        </p:txBody>
      </p:sp>
      <p:sp>
        <p:nvSpPr>
          <p:cNvPr id="3" name="purpose-heading">
            <a:extLst xmlns:a="http://schemas.openxmlformats.org/drawingml/2006/main">
              <a:ext uri="{FF2B5EF4-FFF2-40B4-BE49-F238E27FC236}">
                <a16:creationId xmlns:a16="http://schemas.microsoft.com/office/drawing/2014/main" id="{5F78B6B3-C239-4F5D-9E99-81C131606AE8}"/>
              </a:ext>
            </a:extLst>
          </p:cNvPr>
          <p:cNvSpPr>
            <a:spLocks xmlns:a="http://schemas.openxmlformats.org/drawingml/2006/main" noGrp="1"/>
          </p:cNvSpPr>
          <p:nvPr/>
        </p:nvSpPr>
        <p:spPr>
          <a:xfrm xmlns:a="http://schemas.openxmlformats.org/drawingml/2006/main">
            <a:off x="609600" y="2914650"/>
            <a:ext cx="500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Understand one workflow</a:t>
            </a:r>
          </a:p>
        </p:txBody>
      </p:sp>
      <p:sp>
        <p:nvSpPr>
          <p:cNvPr id="4" name="purpose-body">
            <a:extLst xmlns:a="http://schemas.openxmlformats.org/drawingml/2006/main">
              <a:ext uri="{FF2B5EF4-FFF2-40B4-BE49-F238E27FC236}">
                <a16:creationId xmlns:a16="http://schemas.microsoft.com/office/drawing/2014/main" id="{2C09D8C0-6827-4889-96E5-3DFE230E0BC2}"/>
              </a:ext>
            </a:extLst>
          </p:cNvPr>
          <p:cNvSpPr>
            <a:spLocks xmlns:a="http://schemas.openxmlformats.org/drawingml/2006/main" noGrp="1"/>
          </p:cNvSpPr>
          <p:nvPr/>
        </p:nvSpPr>
        <p:spPr>
          <a:xfrm xmlns:a="http://schemas.openxmlformats.org/drawingml/2006/main">
            <a:off x="609600" y="3457575"/>
            <a:ext cx="5143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Ask about the task, data and current effort.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Agree on a safe practice example and what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 useful result must preserve.</a:t>
            </a:r>
          </a:p>
        </p:txBody>
      </p:sp>
      <p:sp>
        <p:nvSpPr>
          <p:cNvPr id="5" name="structure-heading">
            <a:extLst xmlns:a="http://schemas.openxmlformats.org/drawingml/2006/main">
              <a:ext uri="{FF2B5EF4-FFF2-40B4-BE49-F238E27FC236}">
                <a16:creationId xmlns:a16="http://schemas.microsoft.com/office/drawing/2014/main" id="{81B767EA-8987-4D28-98FF-31DE6D93D840}"/>
              </a:ext>
            </a:extLst>
          </p:cNvPr>
          <p:cNvSpPr>
            <a:spLocks xmlns:a="http://schemas.openxmlformats.org/drawingml/2006/main" noGrp="1"/>
          </p:cNvSpPr>
          <p:nvPr/>
        </p:nvSpPr>
        <p:spPr>
          <a:xfrm xmlns:a="http://schemas.openxmlformats.org/drawingml/2006/main">
            <a:off x="6705600" y="29146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Teach through practice</a:t>
            </a:r>
          </a:p>
        </p:txBody>
      </p:sp>
      <p:sp>
        <p:nvSpPr>
          <p:cNvPr id="6" name="structure-body">
            <a:extLst xmlns:a="http://schemas.openxmlformats.org/drawingml/2006/main">
              <a:ext uri="{FF2B5EF4-FFF2-40B4-BE49-F238E27FC236}">
                <a16:creationId xmlns:a16="http://schemas.microsoft.com/office/drawing/2014/main" id="{83405B21-904E-4E05-9C6A-C282A8F37A1E}"/>
              </a:ext>
            </a:extLst>
          </p:cNvPr>
          <p:cNvSpPr>
            <a:spLocks xmlns:a="http://schemas.openxmlformats.org/drawingml/2006/main" noGrp="1"/>
          </p:cNvSpPr>
          <p:nvPr/>
        </p:nvSpPr>
        <p:spPr>
          <a:xfrm xmlns:a="http://schemas.openxmlformats.org/drawingml/2006/main">
            <a:off x="6705600" y="3457575"/>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Demonstrate the workflow, then let staff try.</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Make source checks, output review and</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escalation part of the exercise.</a:t>
            </a:r>
          </a:p>
        </p:txBody>
      </p:sp>
      <p:sp>
        <p:nvSpPr>
          <p:cNvPr id="7" name="compare-heading">
            <a:extLst xmlns:a="http://schemas.openxmlformats.org/drawingml/2006/main">
              <a:ext uri="{FF2B5EF4-FFF2-40B4-BE49-F238E27FC236}">
                <a16:creationId xmlns:a16="http://schemas.microsoft.com/office/drawing/2014/main" id="{B7B66B52-20C6-411B-AEBE-05867D6176CC}"/>
              </a:ext>
            </a:extLst>
          </p:cNvPr>
          <p:cNvSpPr>
            <a:spLocks xmlns:a="http://schemas.openxmlformats.org/drawingml/2006/main" noGrp="1"/>
          </p:cNvSpPr>
          <p:nvPr/>
        </p:nvSpPr>
        <p:spPr>
          <a:xfrm xmlns:a="http://schemas.openxmlformats.org/drawingml/2006/main">
            <a:off x="609600" y="4857750"/>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Support the next attempt</a:t>
            </a:r>
          </a:p>
        </p:txBody>
      </p:sp>
      <p:sp>
        <p:nvSpPr>
          <p:cNvPr id="8" name="compare-body">
            <a:extLst xmlns:a="http://schemas.openxmlformats.org/drawingml/2006/main">
              <a:ext uri="{FF2B5EF4-FFF2-40B4-BE49-F238E27FC236}">
                <a16:creationId xmlns:a16="http://schemas.microsoft.com/office/drawing/2014/main" id="{4D315303-AE02-41F6-B78B-E56B6618DA38}"/>
              </a:ext>
            </a:extLst>
          </p:cNvPr>
          <p:cNvSpPr>
            <a:spLocks xmlns:a="http://schemas.openxmlformats.org/drawingml/2006/main" noGrp="1"/>
          </p:cNvSpPr>
          <p:nvPr/>
        </p:nvSpPr>
        <p:spPr>
          <a:xfrm xmlns:a="http://schemas.openxmlformats.org/drawingml/2006/main">
            <a:off x="609600" y="5410200"/>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Use office hours to inspect stuck points.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Turn recurring questions into brief guidance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and improve the practice material.</a:t>
            </a:r>
          </a:p>
        </p:txBody>
      </p:sp>
      <p:sp>
        <p:nvSpPr>
          <p:cNvPr id="9" name="handoff-heading">
            <a:extLst xmlns:a="http://schemas.openxmlformats.org/drawingml/2006/main">
              <a:ext uri="{FF2B5EF4-FFF2-40B4-BE49-F238E27FC236}">
                <a16:creationId xmlns:a16="http://schemas.microsoft.com/office/drawing/2014/main" id="{41DCD0FE-CCC2-40CE-8F3F-CC59A7A5051B}"/>
              </a:ext>
            </a:extLst>
          </p:cNvPr>
          <p:cNvSpPr>
            <a:spLocks xmlns:a="http://schemas.openxmlformats.org/drawingml/2006/main" noGrp="1"/>
          </p:cNvSpPr>
          <p:nvPr/>
        </p:nvSpPr>
        <p:spPr>
          <a:xfrm xmlns:a="http://schemas.openxmlformats.org/drawingml/2006/main">
            <a:off x="6705600" y="485775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Check what changed</a:t>
            </a:r>
          </a:p>
        </p:txBody>
      </p:sp>
      <p:sp>
        <p:nvSpPr>
          <p:cNvPr id="10" name="handoff-body">
            <a:extLst xmlns:a="http://schemas.openxmlformats.org/drawingml/2006/main">
              <a:ext uri="{FF2B5EF4-FFF2-40B4-BE49-F238E27FC236}">
                <a16:creationId xmlns:a16="http://schemas.microsoft.com/office/drawing/2014/main" id="{0F21D5ED-AC81-4CE7-9149-00720C9F0DDE}"/>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Compare completion and correction effort.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Ask whether people use the workflow again.</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Keep self-reports separate from observed use.</a:t>
            </a:r>
          </a:p>
        </p:txBody>
      </p:sp>
      <p:sp>
        <p:nvSpPr>
          <p:cNvPr id="11" name="slide-number">
            <a:extLst xmlns:a="http://schemas.openxmlformats.org/drawingml/2006/main">
              <a:ext uri="{FF2B5EF4-FFF2-40B4-BE49-F238E27FC236}">
                <a16:creationId xmlns:a16="http://schemas.microsoft.com/office/drawing/2014/main" id="{DC121CA3-4A77-4221-8A8B-C570F736FB5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474767079"/>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643FE24-F918-4FA6-B91C-C5B683787AD2}"/>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Juniper Square · AI ENABLEMENT LEAD</a:t>
            </a:r>
          </a:p>
        </p:txBody>
      </p:sp>
      <p:sp>
        <p:nvSpPr>
          <p:cNvPr id="2" name="headline">
            <a:extLst xmlns:a="http://schemas.openxmlformats.org/drawingml/2006/main">
              <a:ext uri="{FF2B5EF4-FFF2-40B4-BE49-F238E27FC236}">
                <a16:creationId xmlns:a16="http://schemas.microsoft.com/office/drawing/2014/main" id="{CE54B080-DAF0-4A11-A266-1CB150AF87AB}"/>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Let’s make AI use easier</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to learn and evaluate</a:t>
            </a:r>
          </a:p>
        </p:txBody>
      </p:sp>
      <p:sp>
        <p:nvSpPr>
          <p:cNvPr id="3" name="contact-intent">
            <a:extLst xmlns:a="http://schemas.openxmlformats.org/drawingml/2006/main">
              <a:ext uri="{FF2B5EF4-FFF2-40B4-BE49-F238E27FC236}">
                <a16:creationId xmlns:a16="http://schemas.microsoft.com/office/drawing/2014/main" id="{9C14CF6F-6A1A-462A-88BD-ADA6DFEB4C7A}"/>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37F23063-3337-42C5-9ABE-CD1307917BD9}"/>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20e3af534afe4407"/>
              </a:rPr>
              <a:t>JonathanKyleHobson@gmail.com</a:t>
            </a:r>
          </a:p>
        </p:txBody>
      </p:sp>
      <p:sp>
        <p:nvSpPr>
          <p:cNvPr id="5" name="portfolio">
            <a:extLst xmlns:a="http://schemas.openxmlformats.org/drawingml/2006/main">
              <a:ext uri="{FF2B5EF4-FFF2-40B4-BE49-F238E27FC236}">
                <a16:creationId xmlns:a16="http://schemas.microsoft.com/office/drawing/2014/main" id="{278EE26A-EEFF-43BD-9ACE-7B60887B492B}"/>
              </a:ext>
            </a:extLst>
          </p:cNvPr>
          <p:cNvSpPr>
            <a:spLocks xmlns:a="http://schemas.openxmlformats.org/drawingml/2006/main" noGrp="1"/>
          </p:cNvSpPr>
          <p:nvPr/>
        </p:nvSpPr>
        <p:spPr>
          <a:xfrm xmlns:a="http://schemas.openxmlformats.org/drawingml/2006/main">
            <a:off x="647700" y="570547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u="sng">
                <a:solidFill>
                  <a:srgbClr val="DBEB89"/>
                </a:solidFill>
                <a:latin typeface="Helvetica Neue"/>
                <a:ea typeface="Helvetica Neue"/>
                <a:cs typeface="Helvetica Neue"/>
              </a:defRPr>
            </a:pPr>
            <a:r>
              <a:rPr sz="1275" b="0" u="sng">
                <a:solidFill>
                  <a:srgbClr val="DBEB89"/>
                </a:solidFill>
                <a:latin typeface="Helvetica Neue"/>
                <a:ea typeface="Helvetica Neue"/>
                <a:cs typeface="Helvetica Neue"/>
                <a:hlinkClick xmlns:r="http://schemas.openxmlformats.org/officeDocument/2006/relationships" r:id="Ra04a8e2633244744"/>
              </a:rPr>
              <a:t>jonathankhobson.github.io/application-portfolios/juniper-square-ai-enablement</a:t>
            </a:r>
          </a:p>
        </p:txBody>
      </p:sp>
      <p:sp>
        <p:nvSpPr>
          <p:cNvPr id="6" name="slide-number">
            <a:extLst xmlns:a="http://schemas.openxmlformats.org/drawingml/2006/main">
              <a:ext uri="{FF2B5EF4-FFF2-40B4-BE49-F238E27FC236}">
                <a16:creationId xmlns:a16="http://schemas.microsoft.com/office/drawing/2014/main" id="{DFEC051D-EEA3-4DB3-858B-E0091C97186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711560437"/>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2026-09-09T04:39:40.4410000Z</dcterms:created>
  <dcterms:modified xsi:type="dcterms:W3CDTF">2026-09-09T04:39:40.4410000Z</dcterms:modified>
</coreProperties>
</file>